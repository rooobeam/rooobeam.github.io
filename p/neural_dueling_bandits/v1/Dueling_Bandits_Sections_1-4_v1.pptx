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页｜从成对偏好到置信上界</a:t>
            </a:r>
          </a:p>
          <a:p>
            <a:r>
              <a:t>建议用时：10 秒</a:t>
            </a:r>
          </a:p>
          <a:p>
            <a:r>
              <a:t>核心信息：偏好反馈 → 参数估计 → 带置信保证的比较</a:t>
            </a:r>
          </a:p>
          <a:p/>
          <a:p>
            <a:r>
              <a:t>今天用十分钟介绍文稿的前四节，主线是从成对偏好出发，走到有置信保证的选臂策略。</a:t>
            </a:r>
          </a:p>
          <a:p/>
          <a:p>
            <a:r>
              <a:t>来源：原稿 §§1–4，pp.1–7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页｜目录</a:t>
            </a:r>
          </a:p>
          <a:p>
            <a:r>
              <a:t>建议用时：20 秒</a:t>
            </a:r>
          </a:p>
          <a:p>
            <a:r>
              <a:t>核心信息：问题设定 → 假设 → 算法 → 置信界</a:t>
            </a:r>
          </a:p>
          <a:p/>
          <a:p>
            <a:r>
              <a:t>讲解分成四部分：先说明能观察什么、希望优化什么；再看有界性和曲率假设；接着介绍参数估计和两个候选的选择；最后用置信界解释探索项为什么成立。四部分各用两分钟左右。</a:t>
            </a:r>
          </a:p>
          <a:p/>
          <a:p>
            <a:r>
              <a:t>来源：原稿 §§1–4，pp.1–7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页｜每轮比较两个候选，只收到一个偏好标签</a:t>
            </a:r>
          </a:p>
          <a:p>
            <a:r>
              <a:t>建议用时：65 秒</a:t>
            </a:r>
          </a:p>
          <a:p>
            <a:r>
              <a:t>核心信息：一轮交互的可观测量与潜在效用必须区分</a:t>
            </a:r>
          </a:p>
          <a:p/>
          <a:p>
            <a:r>
              <a:t>先看一轮交互。学习者在第 t 轮拿到候选集合，每个候选是一个 d 维特征向量。这里的 contextual 指决策依赖这些特征，而且每一轮的候选集合可以变化。学习者选择两个候选，环境只返回一个零一标签：一表示第一个胜出，零表示第二个胜出。</a:t>
            </a:r>
          </a:p>
          <a:p/>
          <a:p>
            <a:r>
              <a:t>真实的潜在效用假设为线性函数，未知的是参数 θ⋆。我们没有直接观察效用数值，而是利用比较结果推断它。由于两个效用相减等于参数与特征差的内积，后面算法处理的输入自然是差分特征 x̃。候选、选臂以及可能的算法随机性应当纳入观察本轮标签之前的信息，以满足后面条件期望和鞅分析的要求。</a:t>
            </a:r>
          </a:p>
          <a:p/>
          <a:p>
            <a:r>
              <a:t>来源：原稿 §1，p.1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页｜用效用差建模偏好，用遗憾衡量选择</a:t>
            </a:r>
          </a:p>
          <a:p>
            <a:r>
              <a:t>建议用时：65 秒</a:t>
            </a:r>
          </a:p>
          <a:p>
            <a:r>
              <a:t>核心信息：偏好是随机反馈；遗憾是潜在效用差</a:t>
            </a:r>
          </a:p>
          <a:p/>
          <a:p>
            <a:r>
              <a:t>有了效用差，还需要说明它怎样产生偏好。文稿采用 Logistic，也就是 BTL 模型：把两个候选的效用差输入 S 形函数，得到第一个胜出的概率。差为零时，双方各有一半胜率；差越大，第一个越可能胜出，但并不保证每次都赢。式中的历史信息要包含本轮反馈之前已经确定的候选与选臂。</a:t>
            </a:r>
          </a:p>
          <a:p/>
          <a:p>
            <a:r>
              <a:t>优化目标用右边的遗憾表示。每一轮都有一个真实效用最高的候选，单步遗憾是所选两个候选相对它的效用损失之和，累计遗憾就是跨轮次相加。这意味着两个候选都选得好才是目标，不能只保证其中一个好。这里沿用原稿的未除以二的遗憾定义，并默认涉及的最大值可以取到；若集合无限，可由紧性等条件保证。</a:t>
            </a:r>
          </a:p>
          <a:p/>
          <a:p>
            <a:r>
              <a:t>来源：原稿 §1，p.1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页｜有界性控制尺度：先约束特征与真实参数</a:t>
            </a:r>
          </a:p>
          <a:p>
            <a:r>
              <a:t>建议用时：65 秒</a:t>
            </a:r>
          </a:p>
          <a:p>
            <a:r>
              <a:t>核心信息：有界性同时支撑特征、曲率和正则化项的控制</a:t>
            </a:r>
          </a:p>
          <a:p/>
          <a:p>
            <a:r>
              <a:t>先看最基础的尺度条件。每个候选的特征范数不超过一，真实参数范数不超过已知常数 S。由三角不等式，两个候选的差分特征范数不超过二；再用柯西施瓦茨不等式，真实效用差的绝对值就不超过二 S。</a:t>
            </a:r>
          </a:p>
          <a:p/>
          <a:p>
            <a:r>
              <a:t>这些条件并非只是记号上的方便。差分特征有界，后面才能控制设计矩阵增长以及行列式；真实参数有界，后面才能控制岭正则项带来的偏差；真实得分落在有限区间内，也让 Logistic 曲线在这个区间上拥有正的最小导数。注意这里约束的是 θ⋆，并没有自动约束算法求出的 θ̂。这个区别正好引出下一页的曲率条件。</a:t>
            </a:r>
          </a:p>
          <a:p/>
          <a:p>
            <a:r>
              <a:t>来源：原稿 §1–2，pp.1–2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 页｜曲率下界把预测变化连接到参数误差</a:t>
            </a:r>
          </a:p>
          <a:p>
            <a:r>
              <a:t>建议用时：65 秒</a:t>
            </a:r>
          </a:p>
          <a:p>
            <a:r>
              <a:t>核心信息：κμ 必须适用于估计得分与真实得分之间的中间点</a:t>
            </a:r>
          </a:p>
          <a:p/>
          <a:p>
            <a:r>
              <a:t>Logistic 函数的导数在零附近较大，到两端逐渐接近零。如果曲线太平，参数变动很多，预测概率却只变化一点，就难以从预测误差反推出参数误差。因此假设在证明涉及的得分区间内，导数至少为一个正数 κμ。这个条件会把后面二次型的下界变成 κμ 乘以参数误差的平方范数。</a:t>
            </a:r>
          </a:p>
          <a:p/>
          <a:p>
            <a:r>
              <a:t>这里需要留意原稿的一处范围问题。真实参数有界只保证真实得分位于正负二 S 之间，但原算法的估计是在整个参数空间上优化，未保证 θ̂ 也在半径 S 的球内。均值定理用到的是两种得分之间的中间点，因此曲率下界必须覆盖这些点。我们以下直接把这个范围要求作为假设，不把真实参数有界当成它的充分证明。图中 S 等于一只是曲线示意，不是算法参数设定。</a:t>
            </a:r>
          </a:p>
          <a:p/>
          <a:p>
            <a:r>
              <a:t>来源：原稿 §2 p.2；§4 p.5。范围注记为讲解时的严谨性补充。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7 页｜把偏好标签转成带正则项的逻辑回归</a:t>
            </a:r>
          </a:p>
          <a:p>
            <a:r>
              <a:t>建议用时：50 秒</a:t>
            </a:r>
          </a:p>
          <a:p>
            <a:r>
              <a:t>核心信息：伯努利偏好的条件似然产生逻辑损失，岭项稳定估计</a:t>
            </a:r>
          </a:p>
          <a:p/>
          <a:p>
            <a:r>
              <a:t>现在开始构造估计量。给定一组参数，每次偏好标签都是伯努利观测，成功概率是该参数预测的 Logistic 概率。最大化历史数据的条件似然，等价于最小化这里的负对数似然，也就是熟悉的二元交叉熵。历史比较是自适应选择的，因此这里用条件概率的链式分解，不需要声称这些观测无条件独立。</a:t>
            </a:r>
          </a:p>
          <a:p/>
          <a:p>
            <a:r>
              <a:t>将前 t 减一轮的损失相加，再加入二分之 λ 乘参数平方范数，就得到 Ridge-MLE。λ 为正使目标严格凸，最小点唯一且稳定。正则化也有代价：它把估计向零拉，置信半径必须把这种偏差算进去。第一轮没有数据，估计就是零。</a:t>
            </a:r>
          </a:p>
          <a:p/>
          <a:p>
            <a:r>
              <a:t>来源：原稿 §3.1，pp.2–4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8 页｜一阶条件是置信界证明的起点</a:t>
            </a:r>
          </a:p>
          <a:p>
            <a:r>
              <a:t>建议用时：50 秒</a:t>
            </a:r>
          </a:p>
          <a:p>
            <a:r>
              <a:t>核心信息：掌握最终驻点等式，不需要逐行展开所有求导</a:t>
            </a:r>
          </a:p>
          <a:p/>
          <a:p>
            <a:r>
              <a:t>这一页只保留求导中最重要的三步。第一步，对逻辑损失的得分求导，因为 Logistic 的导数等于 μ 乘一减 μ，分母消掉之后，结果就是预测概率减实际标签。第二步，利用链式法则，对参数的梯度再乘上差分特征。第三步，把所有历史样本和正则项的梯度相加，在最小点处等于零。</a:t>
            </a:r>
          </a:p>
          <a:p/>
          <a:p>
            <a:r>
              <a:t>这条等式后面会被改写：把真实概率加进来再减掉，就能把估计偏差放到左边，把观测噪声和正则化偏差放到右边。因此它既是优化问题的最优性条件，也是统计误差证明的入口。此处梯度等于零对应原稿的无约束最小化；若以后改成球约束估计，证明也需相应改用最优性不等式。</a:t>
            </a:r>
          </a:p>
          <a:p/>
          <a:p>
            <a:r>
              <a:t>来源：原稿 §3.2，p.4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9 页｜先选当前最优，再选值得比较的挑战者</a:t>
            </a:r>
          </a:p>
          <a:p>
            <a:r>
              <a:t>建议用时：50 秒</a:t>
            </a:r>
          </a:p>
          <a:p>
            <a:r>
              <a:t>核心信息：两种选臂规则与设计矩阵更新构成完整循环</a:t>
            </a:r>
          </a:p>
          <a:p/>
          <a:p>
            <a:r>
              <a:t>有了估计参数，第一臂直接选当前预测效用最高的候选。第二臂则相对于第一臂做乐观比较：预测的效用差，再加一个不确定性奖励，选这个和最大的候选。由于第一臂已经是预测最优，其他候选的预测差通常不为正；挑战者仍可能被选中，是因为它的相对效用还不够确定。</a:t>
            </a:r>
          </a:p>
          <a:p/>
          <a:p>
            <a:r>
              <a:t>不确定性由差分方向在 V 逆矩阵下的长度来衡量。V 从 λ 除以 κμ 倍的单位阵开始，每次增加实际比较方向的外积。某类差分方向被观察得更多，在该方向上的不确定性会下降。收到标签后更新数据和 V，进入下一轮重新估计。剩下的问题是：前面的系数 b 应该多大，才能使这个上界可信？</a:t>
            </a:r>
          </a:p>
          <a:p/>
          <a:p>
            <a:r>
              <a:t>来源：原稿 Algorithm 1，p.2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10 页｜置信椭球：一次高概率事件，覆盖所有轮次</a:t>
            </a:r>
          </a:p>
          <a:p>
            <a:r>
              <a:t>建议用时：45 秒</a:t>
            </a:r>
          </a:p>
          <a:p>
            <a:r>
              <a:t>核心信息：同时覆盖全部轮次的参数误差界</a:t>
            </a:r>
          </a:p>
          <a:p/>
          <a:p>
            <a:r>
              <a:t>置信界要证明的是：以至少一减 δ 的概率，所有轮次的估计参数与真实参数之间，都满足同一个椭球范数误差界。δ 表示失败概率，不能把它与置信水平混淆。右图是在参数空间里的示意：以估计参数为中心，希望真实参数落在置信椭球内。</a:t>
            </a:r>
          </a:p>
          <a:p/>
          <a:p>
            <a:r>
              <a:t>这里不是普通欧氏距离，而是 V 加权的距离。V 记录哪些差分方向已经被充分观察，因此它决定椭球的形状，b 决定整体大小。这个结论是对所有轮次同时成立的；后面使用时间一致的自归一化不等式，不需要简单地给每轮另外分配一次失败概率。接着看这个半径由什么构成。</a:t>
            </a:r>
          </a:p>
          <a:p/>
          <a:p>
            <a:r>
              <a:t>来源：原稿 Lemma 1，p.5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11 页｜证明骨架：先把误差拆成噪声与正则偏差</a:t>
            </a:r>
          </a:p>
          <a:p>
            <a:r>
              <a:t>建议用时：60 秒</a:t>
            </a:r>
          </a:p>
          <a:p>
            <a:r>
              <a:t>核心信息：最终误差 ≤ 曲率倒数 ×（随机噪声 + 正则化偏差）</a:t>
            </a:r>
          </a:p>
          <a:p/>
          <a:p>
            <a:r>
              <a:t>证明可以压成三步。先定义估计误差 Δ，以及观测减真实概率得到的噪声 ε。这个噪声的条件均值为零、绝对值不超过一，所以可以使用条件次高斯的鞅集中工具。第一步，从刚才的驻点等式出发，加上再减去真实概率，并使用均值定理，得到 H 乘 Δ 等于噪声累积 N 减去 λθ⋆。</a:t>
            </a:r>
          </a:p>
          <a:p/>
          <a:p>
            <a:r>
              <a:t>第二步，在前面说明的曲率范围条件下，H 至少是 κμ 倍的 V。第三步，两侧左乘 Δ 的转置。左侧至少为 κμ 乘误差范数的平方；右侧用加权柯西施瓦茨，得到误差范数乘以噪声范数和正则偏差之和。非零时消去误差范数，零时结论显然成立。又因为 V 至少是 λ 除以 κμ 倍的单位阵，正则项最多为根号 λκμ 乘 S。这样只剩噪声项还需要概率上界。</a:t>
            </a:r>
          </a:p>
          <a:p/>
          <a:p>
            <a:r>
              <a:t>来源：原稿 Lemma 1 Steps 1–4，pp.5–6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12 页｜噪声有了上界，UCB 的探索项就确定了</a:t>
            </a:r>
          </a:p>
          <a:p>
            <a:r>
              <a:t>建议用时：45 秒</a:t>
            </a:r>
          </a:p>
          <a:p>
            <a:r>
              <a:t>核心信息：置信界闭合，并解释算法中探索奖励的来源</a:t>
            </a:r>
          </a:p>
          <a:p/>
          <a:p>
            <a:r>
              <a:t>最后用自归一化不等式控制 N 的 V 逆范数。它能处理比较方向依赖历史数据的情形，给出同时覆盖所有时间的噪声上界。再用差分特征范数不超过二，以及行列式与迹的关系，把结果化成这里显式的对数项。它与正则化项相加就是 β，再除以 κμ 得到 b。</a:t>
            </a:r>
          </a:p>
          <a:p/>
          <a:p>
            <a:r>
              <a:t>参数置信界通过一次加权柯西施瓦茨，就变成下面的效用差置信界：真实效用差与预测差的偏离，不超过 b 乘差分方向的不确定性。取它的上界，就恰好得到算法选择第二个候选时的 UCB。到这里，算法中看似人为加入的探索项，已经有了概率依据。</a:t>
            </a:r>
          </a:p>
          <a:p/>
          <a:p>
            <a:r>
              <a:t>备用展开：噪声范数不超过 sqrt[2 log(1/δ) + log(det(V_{t−1})/det(V0))]；log 行列式比不超过 d log(1+4κμT/(λd))。这里沿用原稿保守的 1-subgaussian 常数。</a:t>
            </a:r>
          </a:p>
          <a:p/>
          <a:p>
            <a:r>
              <a:t>来源：原稿 Lemma 1 Step 5、Corollary 1，pp.6–7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13 页｜把四部分接成一条线</a:t>
            </a:r>
          </a:p>
          <a:p>
            <a:r>
              <a:t>建议用时：10 秒</a:t>
            </a:r>
          </a:p>
          <a:p>
            <a:r>
              <a:t>核心信息：模型、假设、算法与置信界形成完整逻辑链</a:t>
            </a:r>
          </a:p>
          <a:p/>
          <a:p>
            <a:r>
              <a:t>关键连接是：参数置信界推出效用差置信界，从而给出 UCB 探索项，指导下一轮比较。</a:t>
            </a:r>
          </a:p>
          <a:p/>
          <a:p>
            <a:r>
              <a:t>来源：原稿 §§1–4，pp.1–7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7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1792" y="640080"/>
            <a:ext cx="91440" cy="2834640"/>
          </a:xfrm>
          <a:prstGeom prst="rect">
            <a:avLst/>
          </a:prstGeom>
          <a:solidFill>
            <a:srgbClr val="007E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58368"/>
            <a:ext cx="1033272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B4C6D5"/>
                </a:solidFill>
                <a:latin typeface="Microsoft YaHei"/>
                <a:ea typeface="Microsoft YaHei"/>
              </a:rPr>
              <a:t>A CLEAN PROOF FOR DUELING BANDITS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98448"/>
            <a:ext cx="8595360" cy="17373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从成对偏好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到置信上界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82112"/>
            <a:ext cx="9784080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0">
                <a:solidFill>
                  <a:srgbClr val="B4C6D5"/>
                </a:solidFill>
                <a:latin typeface="Calibri"/>
                <a:ea typeface="Calibri"/>
              </a:rPr>
              <a:t>Contextual Dueling Bandits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67328"/>
            <a:ext cx="9601200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B4C6D5"/>
                </a:solidFill>
                <a:latin typeface="Microsoft YaHei"/>
                <a:ea typeface="Microsoft YaHei"/>
              </a:rPr>
              <a:t>第 1–4 节  ·  约 10 分钟  ·  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4681728"/>
            <a:ext cx="50292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6C2C1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5120640"/>
            <a:ext cx="2468880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问题设定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669280"/>
            <a:ext cx="24688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4C6D5"/>
                </a:solidFill>
                <a:latin typeface="Microsoft YaHei"/>
                <a:ea typeface="Microsoft YaHei"/>
              </a:rPr>
              <a:t>2 分 10 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2464" y="4681728"/>
            <a:ext cx="50292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6C2C1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2464" y="5120640"/>
            <a:ext cx="2468880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假设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2464" y="5669280"/>
            <a:ext cx="24688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4C6D5"/>
                </a:solidFill>
                <a:latin typeface="Microsoft YaHei"/>
                <a:ea typeface="Microsoft YaHei"/>
              </a:rPr>
              <a:t>2 分 10 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4681728"/>
            <a:ext cx="50292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6C2C1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5120640"/>
            <a:ext cx="2468880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算法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5669280"/>
            <a:ext cx="24688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4C6D5"/>
                </a:solidFill>
                <a:latin typeface="Microsoft YaHei"/>
                <a:ea typeface="Microsoft YaHei"/>
              </a:rPr>
              <a:t>2 分 30 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45168" y="4681728"/>
            <a:ext cx="50292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6C2C1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45168" y="5120640"/>
            <a:ext cx="2468880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置信界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5168" y="5669280"/>
            <a:ext cx="24688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4C6D5"/>
                </a:solidFill>
                <a:latin typeface="Microsoft YaHei"/>
                <a:ea typeface="Microsoft YaHei"/>
              </a:rPr>
              <a:t>2 分 30 秒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5216" y="6419088"/>
            <a:ext cx="11018520" cy="0"/>
          </a:xfrm>
          <a:prstGeom prst="line">
            <a:avLst/>
          </a:prstGeom>
          <a:ln w="10160">
            <a:solidFill>
              <a:srgbClr val="4260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12648" y="6519672"/>
            <a:ext cx="90525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B4C6D5"/>
                </a:solidFill>
                <a:latin typeface="Microsoft YaHei"/>
                <a:ea typeface="Microsoft YaHei"/>
              </a:rPr>
              <a:t>Zhuohua LI · A Clean Proof for Dueling Bandits · February 2026 · §§1–4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92240"/>
            <a:ext cx="1508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4C6D5"/>
                </a:solidFill>
                <a:latin typeface="Microsoft YaHei"/>
                <a:ea typeface="Microsoft YaHei"/>
              </a:rPr>
              <a:t>10 秒   ·   01 / 13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" y="6291072"/>
            <a:ext cx="365760" cy="41148"/>
          </a:xfrm>
          <a:prstGeom prst="rect">
            <a:avLst/>
          </a:prstGeom>
          <a:solidFill>
            <a:srgbClr val="426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97280" y="6291072"/>
            <a:ext cx="365760" cy="41148"/>
          </a:xfrm>
          <a:prstGeom prst="rect">
            <a:avLst/>
          </a:prstGeom>
          <a:solidFill>
            <a:srgbClr val="426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581912" y="6291072"/>
            <a:ext cx="365760" cy="41148"/>
          </a:xfrm>
          <a:prstGeom prst="rect">
            <a:avLst/>
          </a:prstGeom>
          <a:solidFill>
            <a:srgbClr val="426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66544" y="6291072"/>
            <a:ext cx="365760" cy="41148"/>
          </a:xfrm>
          <a:prstGeom prst="rect">
            <a:avLst/>
          </a:prstGeom>
          <a:solidFill>
            <a:srgbClr val="426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108813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7E87"/>
                </a:solidFill>
                <a:latin typeface="Microsoft YaHei"/>
                <a:ea typeface="Microsoft YaHei"/>
              </a:rPr>
              <a:t>CONTENTS  /  讲解路线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1018520" cy="6035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6263B"/>
                </a:solidFill>
                <a:latin typeface="Microsoft YaHei"/>
                <a:ea typeface="Microsoft YaHei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1527048"/>
            <a:ext cx="10927080" cy="4480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637187"/>
                </a:solidFill>
                <a:latin typeface="Microsoft YaHei"/>
                <a:ea typeface="Microsoft YaHei"/>
              </a:rPr>
              <a:t>四个问题，串起从偏好反馈到置信上界的逻辑。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10917936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41148" cy="566928"/>
          </a:xfrm>
          <a:prstGeom prst="rect">
            <a:avLst/>
          </a:prstGeom>
          <a:solidFill>
            <a:srgbClr val="007E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359152"/>
            <a:ext cx="658368" cy="4480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007E8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28216" y="2258568"/>
            <a:ext cx="7754112" cy="3383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6263B"/>
                </a:solidFill>
                <a:latin typeface="Calibri"/>
                <a:ea typeface="Calibri"/>
              </a:rPr>
              <a:t>Problem Setup: Contextual Dueling Bandits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46504" y="2660904"/>
            <a:ext cx="7680960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37187"/>
                </a:solidFill>
                <a:latin typeface="Microsoft YaHei"/>
                <a:ea typeface="Microsoft YaHei"/>
              </a:rPr>
              <a:t>观察什么：候选特征、成对偏好与遗憾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0928" y="2322576"/>
            <a:ext cx="1536192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07E87"/>
                </a:solidFill>
                <a:latin typeface="Microsoft YaHei"/>
                <a:ea typeface="Microsoft YaHei"/>
              </a:rPr>
              <a:t>03–04 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0928" y="2688336"/>
            <a:ext cx="1536192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37187"/>
                </a:solidFill>
                <a:latin typeface="Microsoft YaHei"/>
                <a:ea typeface="Microsoft YaHei"/>
              </a:rPr>
              <a:t>2 分 10 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18104"/>
            <a:ext cx="10917936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255264"/>
            <a:ext cx="41148" cy="566928"/>
          </a:xfrm>
          <a:prstGeom prst="rect">
            <a:avLst/>
          </a:prstGeom>
          <a:solidFill>
            <a:srgbClr val="B57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328416"/>
            <a:ext cx="658368" cy="4480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B57725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28216" y="3227832"/>
            <a:ext cx="7754112" cy="3383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6263B"/>
                </a:solidFill>
                <a:latin typeface="Calibri"/>
                <a:ea typeface="Calibri"/>
              </a:rPr>
              <a:t>Assumptions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46504" y="3630168"/>
            <a:ext cx="7680960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37187"/>
                </a:solidFill>
                <a:latin typeface="Microsoft YaHei"/>
                <a:ea typeface="Microsoft YaHei"/>
              </a:rPr>
              <a:t>依赖什么：有界性与局部曲率下界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0928" y="3291840"/>
            <a:ext cx="1536192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B57725"/>
                </a:solidFill>
                <a:latin typeface="Microsoft YaHei"/>
                <a:ea typeface="Microsoft YaHei"/>
              </a:rPr>
              <a:t>05–06 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10928" y="3657600"/>
            <a:ext cx="1536192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37187"/>
                </a:solidFill>
                <a:latin typeface="Microsoft YaHei"/>
                <a:ea typeface="Microsoft YaHei"/>
              </a:rPr>
              <a:t>2 分 10 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87368"/>
            <a:ext cx="10917936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224528"/>
            <a:ext cx="41148" cy="566928"/>
          </a:xfrm>
          <a:prstGeom prst="rect">
            <a:avLst/>
          </a:prstGeom>
          <a:solidFill>
            <a:srgbClr val="4B6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297680"/>
            <a:ext cx="658368" cy="4480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4B62B5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28216" y="4197096"/>
            <a:ext cx="7754112" cy="3383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6263B"/>
                </a:solidFill>
                <a:latin typeface="Calibri"/>
                <a:ea typeface="Calibri"/>
              </a:rPr>
              <a:t>Algorithm: Ridge-MLE Dueling UCB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6504" y="4599432"/>
            <a:ext cx="7680960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37187"/>
                </a:solidFill>
                <a:latin typeface="Microsoft YaHei"/>
                <a:ea typeface="Microsoft YaHei"/>
              </a:rPr>
              <a:t>怎样选择：参数估计、贪心第一臂与 UCB 第二臂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0928" y="4261104"/>
            <a:ext cx="1536192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4B62B5"/>
                </a:solidFill>
                <a:latin typeface="Microsoft YaHei"/>
                <a:ea typeface="Microsoft YaHei"/>
              </a:rPr>
              <a:t>07–09 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0928" y="4626864"/>
            <a:ext cx="1536192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37187"/>
                </a:solidFill>
                <a:latin typeface="Microsoft YaHei"/>
                <a:ea typeface="Microsoft YaHei"/>
              </a:rPr>
              <a:t>2 分 30 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056632"/>
            <a:ext cx="10917936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5193792"/>
            <a:ext cx="41148" cy="566928"/>
          </a:xfrm>
          <a:prstGeom prst="rect">
            <a:avLst/>
          </a:prstGeom>
          <a:solidFill>
            <a:srgbClr val="087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5266944"/>
            <a:ext cx="658368" cy="4480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087EA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28216" y="5166360"/>
            <a:ext cx="7754112" cy="3383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6263B"/>
                </a:solidFill>
                <a:latin typeface="Calibri"/>
                <a:ea typeface="Calibri"/>
              </a:rPr>
              <a:t>Confidence Bound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46504" y="5568696"/>
            <a:ext cx="7680960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37187"/>
                </a:solidFill>
                <a:latin typeface="Microsoft YaHei"/>
                <a:ea typeface="Microsoft YaHei"/>
              </a:rPr>
              <a:t>为何可信：参数置信椭球与效用差置信界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0928" y="5230368"/>
            <a:ext cx="1536192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87EA7"/>
                </a:solidFill>
                <a:latin typeface="Microsoft YaHei"/>
                <a:ea typeface="Microsoft YaHei"/>
              </a:rPr>
              <a:t>10–12 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0928" y="5596128"/>
            <a:ext cx="1536192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37187"/>
                </a:solidFill>
                <a:latin typeface="Microsoft YaHei"/>
                <a:ea typeface="Microsoft YaHei"/>
              </a:rPr>
              <a:t>2 分 30 秒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85216" y="6419088"/>
            <a:ext cx="11018520" cy="0"/>
          </a:xfrm>
          <a:prstGeom prst="line">
            <a:avLst/>
          </a:prstGeom>
          <a:ln w="10160">
            <a:solidFill>
              <a:srgbClr val="DCE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12648" y="6519672"/>
            <a:ext cx="90525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37187"/>
                </a:solidFill>
                <a:latin typeface="Microsoft YaHei"/>
                <a:ea typeface="Microsoft YaHei"/>
              </a:rPr>
              <a:t>A Clean Proof for Dueling Bandits · §§1–4 · 目录与页码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6492240"/>
            <a:ext cx="1508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37187"/>
                </a:solidFill>
                <a:latin typeface="Microsoft YaHei"/>
                <a:ea typeface="Microsoft YaHei"/>
              </a:rPr>
              <a:t>20 秒   ·   02 / 13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" y="6291072"/>
            <a:ext cx="365760" cy="41148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97280" y="6291072"/>
            <a:ext cx="365760" cy="41148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581912" y="6291072"/>
            <a:ext cx="365760" cy="41148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066544" y="6291072"/>
            <a:ext cx="365760" cy="41148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108813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7E87"/>
                </a:solidFill>
                <a:latin typeface="Microsoft YaHei"/>
                <a:ea typeface="Microsoft YaHei"/>
              </a:rPr>
              <a:t>01  PROBLEM SETUP  /  问题设定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1018520" cy="6035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263B"/>
                </a:solidFill>
                <a:latin typeface="Microsoft YaHei"/>
                <a:ea typeface="Microsoft YaHei"/>
              </a:rPr>
              <a:t>每轮比较两个候选，只收到一个偏好标签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1527048"/>
            <a:ext cx="10927080" cy="4480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637187"/>
                </a:solidFill>
                <a:latin typeface="Microsoft YaHei"/>
                <a:ea typeface="Microsoft YaHei"/>
              </a:rPr>
              <a:t>Contextual：候选带有特征，决策集合也可以随轮次变化。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6419088"/>
            <a:ext cx="11018520" cy="0"/>
          </a:xfrm>
          <a:prstGeom prst="line">
            <a:avLst/>
          </a:prstGeom>
          <a:ln w="10160">
            <a:solidFill>
              <a:srgbClr val="DCE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19672"/>
            <a:ext cx="90525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37187"/>
                </a:solidFill>
                <a:latin typeface="Microsoft YaHei"/>
                <a:ea typeface="Microsoft YaHei"/>
              </a:rPr>
              <a:t>原稿 §1，p.1；式 (1)–(3)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92240"/>
            <a:ext cx="1508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37187"/>
                </a:solidFill>
                <a:latin typeface="Microsoft YaHei"/>
                <a:ea typeface="Microsoft YaHei"/>
              </a:rPr>
              <a:t>65 秒   ·   03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6291072"/>
            <a:ext cx="365760" cy="41148"/>
          </a:xfrm>
          <a:prstGeom prst="rect">
            <a:avLst/>
          </a:prstGeom>
          <a:solidFill>
            <a:srgbClr val="007E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6291072"/>
            <a:ext cx="365760" cy="41148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81912" y="6291072"/>
            <a:ext cx="365760" cy="41148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66544" y="6291072"/>
            <a:ext cx="365760" cy="41148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221992"/>
            <a:ext cx="3108960" cy="24963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44568" y="2221992"/>
            <a:ext cx="3108960" cy="24963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49056" y="2221992"/>
            <a:ext cx="3108960" cy="24963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7" y="2432304"/>
            <a:ext cx="2423160" cy="310896"/>
          </a:xfrm>
          <a:prstGeom prst="roundRect">
            <a:avLst>
              <a:gd name="adj" fmla="val 10000"/>
            </a:avLst>
          </a:prstGeom>
          <a:solidFill>
            <a:srgbClr val="E5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" y="2473452"/>
            <a:ext cx="2258568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7E87"/>
                </a:solidFill>
                <a:latin typeface="Microsoft YaHei"/>
                <a:ea typeface="Microsoft YaHei"/>
              </a:rPr>
              <a:t>1  观察候选集合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45736" y="2432304"/>
            <a:ext cx="2423160" cy="310896"/>
          </a:xfrm>
          <a:prstGeom prst="roundRect">
            <a:avLst>
              <a:gd name="adj" fmla="val 10000"/>
            </a:avLst>
          </a:prstGeom>
          <a:solidFill>
            <a:srgbClr val="E5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28031" y="2473452"/>
            <a:ext cx="2258568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7E87"/>
                </a:solidFill>
                <a:latin typeface="Microsoft YaHei"/>
                <a:ea typeface="Microsoft YaHei"/>
              </a:rPr>
              <a:t>2  选择一对候选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50224" y="2432304"/>
            <a:ext cx="2423160" cy="310896"/>
          </a:xfrm>
          <a:prstGeom prst="roundRect">
            <a:avLst>
              <a:gd name="adj" fmla="val 10000"/>
            </a:avLst>
          </a:prstGeom>
          <a:solidFill>
            <a:srgbClr val="E5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20" y="2473452"/>
            <a:ext cx="2258568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7E87"/>
                </a:solidFill>
                <a:latin typeface="Microsoft YaHei"/>
                <a:ea typeface="Microsoft YaHei"/>
              </a:rPr>
              <a:t>3  观察偏好结果</a:t>
            </a:r>
          </a:p>
        </p:txBody>
      </p:sp>
      <p:pic>
        <p:nvPicPr>
          <p:cNvPr id="21" name="Equation 1: \mathcal{X}_t\subseteq\mathbb{R}^{d}" descr="equation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017520"/>
            <a:ext cx="1299210" cy="461010"/>
          </a:xfrm>
          <a:prstGeom prst="rect">
            <a:avLst/>
          </a:prstGeom>
          <a:effectLst/>
        </p:spPr>
      </p:pic>
      <p:sp>
        <p:nvSpPr>
          <p:cNvPr id="22" name="TextBox 21"/>
          <p:cNvSpPr txBox="1"/>
          <p:nvPr/>
        </p:nvSpPr>
        <p:spPr>
          <a:xfrm>
            <a:off x="877824" y="3813048"/>
            <a:ext cx="2724912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263B"/>
                </a:solidFill>
                <a:latin typeface="Microsoft YaHei"/>
                <a:ea typeface="Microsoft YaHei"/>
              </a:rPr>
              <a:t>每个候选由特征 x 表示</a:t>
            </a:r>
          </a:p>
        </p:txBody>
      </p:sp>
      <p:pic>
        <p:nvPicPr>
          <p:cNvPr id="23" name="Equation 2: x_{t,1},\ x_{t,2}\in\mathcal{X}_t" descr="equation-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024" y="3017520"/>
            <a:ext cx="1985010" cy="411480"/>
          </a:xfrm>
          <a:prstGeom prst="rect">
            <a:avLst/>
          </a:prstGeom>
          <a:effectLst/>
        </p:spPr>
      </p:pic>
      <p:sp>
        <p:nvSpPr>
          <p:cNvPr id="24" name="TextBox 23"/>
          <p:cNvSpPr txBox="1"/>
          <p:nvPr/>
        </p:nvSpPr>
        <p:spPr>
          <a:xfrm>
            <a:off x="4782312" y="3813048"/>
            <a:ext cx="2724912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263B"/>
                </a:solidFill>
                <a:latin typeface="Microsoft YaHei"/>
                <a:ea typeface="Microsoft YaHei"/>
              </a:rPr>
              <a:t>例如：两条待比较的推荐</a:t>
            </a:r>
          </a:p>
        </p:txBody>
      </p:sp>
      <p:pic>
        <p:nvPicPr>
          <p:cNvPr id="25" name="Equation 3: y_t\in\{0,1\}" descr="equation-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3017520"/>
            <a:ext cx="1653540" cy="434340"/>
          </a:xfrm>
          <a:prstGeom prst="rect">
            <a:avLst/>
          </a:prstGeom>
          <a:effectLst/>
        </p:spPr>
      </p:pic>
      <p:sp>
        <p:nvSpPr>
          <p:cNvPr id="26" name="TextBox 25"/>
          <p:cNvSpPr txBox="1"/>
          <p:nvPr/>
        </p:nvSpPr>
        <p:spPr>
          <a:xfrm>
            <a:off x="8668512" y="3813048"/>
            <a:ext cx="2743200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263B"/>
                </a:solidFill>
                <a:latin typeface="Microsoft YaHei"/>
                <a:ea typeface="Microsoft YaHei"/>
              </a:rPr>
              <a:t>y = 1：第一个候选胜出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877056" y="3401568"/>
            <a:ext cx="512064" cy="0"/>
          </a:xfrm>
          <a:prstGeom prst="line">
            <a:avLst/>
          </a:prstGeom>
          <a:ln w="30480">
            <a:solidFill>
              <a:srgbClr val="007E8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772400" y="3401568"/>
            <a:ext cx="521208" cy="0"/>
          </a:xfrm>
          <a:prstGeom prst="line">
            <a:avLst/>
          </a:prstGeom>
          <a:ln w="30480">
            <a:solidFill>
              <a:srgbClr val="007E8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40080" y="5001768"/>
            <a:ext cx="10917936" cy="969264"/>
          </a:xfrm>
          <a:prstGeom prst="roundRect">
            <a:avLst>
              <a:gd name="adj" fmla="val 10000"/>
            </a:avLst>
          </a:prstGeom>
          <a:solidFill>
            <a:srgbClr val="E5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5193792"/>
            <a:ext cx="2514600" cy="40233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07E87"/>
                </a:solidFill>
                <a:latin typeface="Microsoft YaHei"/>
                <a:ea typeface="Microsoft YaHei"/>
              </a:rPr>
              <a:t>不可直接观测的效用</a:t>
            </a:r>
          </a:p>
        </p:txBody>
      </p:sp>
      <p:pic>
        <p:nvPicPr>
          <p:cNvPr id="31" name="Equation 4: f(x)=\langle\theta^{\star},x\rangle" descr="equation-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5184648"/>
            <a:ext cx="1832610" cy="411480"/>
          </a:xfrm>
          <a:prstGeom prst="rect">
            <a:avLst/>
          </a:prstGeom>
          <a:effectLst/>
        </p:spPr>
      </p:pic>
      <p:sp>
        <p:nvSpPr>
          <p:cNvPr id="32" name="TextBox 31"/>
          <p:cNvSpPr txBox="1"/>
          <p:nvPr/>
        </p:nvSpPr>
        <p:spPr>
          <a:xfrm>
            <a:off x="6419088" y="5212080"/>
            <a:ext cx="2221992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007E87"/>
                </a:solidFill>
                <a:latin typeface="Microsoft YaHei"/>
                <a:ea typeface="Microsoft YaHei"/>
              </a:rPr>
              <a:t>比较使用差分特征</a:t>
            </a:r>
          </a:p>
        </p:txBody>
      </p:sp>
      <p:pic>
        <p:nvPicPr>
          <p:cNvPr id="33" name="Equation 5: \widetilde{x}_t=x_{t,1}-x_{t,2}" descr="equation-0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5221224"/>
            <a:ext cx="1744980" cy="37338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108813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7E87"/>
                </a:solidFill>
                <a:latin typeface="Microsoft YaHei"/>
                <a:ea typeface="Microsoft YaHei"/>
              </a:rPr>
              <a:t>01  PROBLEM SETUP  /  问题设定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1018520" cy="6035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263B"/>
                </a:solidFill>
                <a:latin typeface="Microsoft YaHei"/>
                <a:ea typeface="Microsoft YaHei"/>
              </a:rPr>
              <a:t>用效用差建模偏好，用遗憾衡量选择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1527048"/>
            <a:ext cx="10927080" cy="4480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637187"/>
                </a:solidFill>
                <a:latin typeface="Microsoft YaHei"/>
                <a:ea typeface="Microsoft YaHei"/>
              </a:rPr>
              <a:t>胜率描述反馈机制；遗憾描述我们最终希望优化的目标。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6419088"/>
            <a:ext cx="11018520" cy="0"/>
          </a:xfrm>
          <a:prstGeom prst="line">
            <a:avLst/>
          </a:prstGeom>
          <a:ln w="10160">
            <a:solidFill>
              <a:srgbClr val="DCE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19672"/>
            <a:ext cx="90525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37187"/>
                </a:solidFill>
                <a:latin typeface="Microsoft YaHei"/>
                <a:ea typeface="Microsoft YaHei"/>
              </a:rPr>
              <a:t>原稿 §1，p.1；BTL 模型与 regret 定义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92240"/>
            <a:ext cx="1508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37187"/>
                </a:solidFill>
                <a:latin typeface="Microsoft YaHei"/>
                <a:ea typeface="Microsoft YaHei"/>
              </a:rPr>
              <a:t>65 秒   ·   04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6291072"/>
            <a:ext cx="365760" cy="41148"/>
          </a:xfrm>
          <a:prstGeom prst="rect">
            <a:avLst/>
          </a:prstGeom>
          <a:solidFill>
            <a:srgbClr val="007E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6291072"/>
            <a:ext cx="365760" cy="41148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81912" y="6291072"/>
            <a:ext cx="365760" cy="41148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66544" y="6291072"/>
            <a:ext cx="365760" cy="41148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194560"/>
            <a:ext cx="5276088" cy="3758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08192" y="2194560"/>
            <a:ext cx="5449824" cy="3758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9536" y="2395728"/>
            <a:ext cx="2496312" cy="310896"/>
          </a:xfrm>
          <a:prstGeom prst="roundRect">
            <a:avLst>
              <a:gd name="adj" fmla="val 10000"/>
            </a:avLst>
          </a:prstGeom>
          <a:solidFill>
            <a:srgbClr val="E5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2436876"/>
            <a:ext cx="23317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7E87"/>
                </a:solidFill>
                <a:latin typeface="Microsoft YaHei"/>
                <a:ea typeface="Microsoft YaHei"/>
              </a:rPr>
              <a:t>LOGISTIC / BTL 反馈</a:t>
            </a:r>
          </a:p>
        </p:txBody>
      </p:sp>
      <p:pic>
        <p:nvPicPr>
          <p:cNvPr id="16" name="Equation 6: \Pr(y_t=1\mid\mathcal{F}_{t-1})=\mu(\langle\theta^{\star},\widetilde{x}_t\rangle)" descr="equation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889504"/>
            <a:ext cx="3688080" cy="396240"/>
          </a:xfrm>
          <a:prstGeom prst="rect">
            <a:avLst/>
          </a:prstGeom>
          <a:effectLst/>
        </p:spPr>
      </p:pic>
      <p:pic>
        <p:nvPicPr>
          <p:cNvPr id="17" name="Equation 7: \mu(z)=\frac{1}{1+e^{-z}}" descr="equation-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3410712"/>
            <a:ext cx="1539240" cy="487680"/>
          </a:xfrm>
          <a:prstGeom prst="rect">
            <a:avLst/>
          </a:prstGeom>
          <a:effectLst/>
        </p:spPr>
      </p:pic>
      <p:pic>
        <p:nvPicPr>
          <p:cNvPr id="18" name="Picture 17" descr="logistic-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3931920"/>
            <a:ext cx="4535424" cy="1627632"/>
          </a:xfrm>
          <a:prstGeom prst="rect">
            <a:avLst/>
          </a:prstGeom>
          <a:effectLst/>
        </p:spPr>
      </p:pic>
      <p:sp>
        <p:nvSpPr>
          <p:cNvPr id="19" name="TextBox 18"/>
          <p:cNvSpPr txBox="1"/>
          <p:nvPr/>
        </p:nvSpPr>
        <p:spPr>
          <a:xfrm>
            <a:off x="896112" y="5605272"/>
            <a:ext cx="474573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37187"/>
                </a:solidFill>
                <a:latin typeface="Microsoft YaHei"/>
                <a:ea typeface="Microsoft YaHei"/>
              </a:rPr>
              <a:t>效用相同：胜率 1/2；效用越高：越可能胜出。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45936" y="2395728"/>
            <a:ext cx="4261104" cy="310896"/>
          </a:xfrm>
          <a:prstGeom prst="roundRect">
            <a:avLst>
              <a:gd name="adj" fmla="val 10000"/>
            </a:avLst>
          </a:prstGeom>
          <a:solidFill>
            <a:srgbClr val="E5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2436876"/>
            <a:ext cx="4096512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7E87"/>
                </a:solidFill>
                <a:latin typeface="Microsoft YaHei"/>
                <a:ea typeface="Microsoft YaHei"/>
              </a:rPr>
              <a:t>优化目标：两个候选都接近最优</a:t>
            </a:r>
          </a:p>
        </p:txBody>
      </p:sp>
      <p:pic>
        <p:nvPicPr>
          <p:cNvPr id="22" name="Equation 8: x_t^{\star}\in\arg\max_{x\in\mathcal{X}_t}f(x)" descr="equation-0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2926080"/>
            <a:ext cx="2316480" cy="601980"/>
          </a:xfrm>
          <a:prstGeom prst="rect">
            <a:avLst/>
          </a:prstGeom>
          <a:effectLst/>
        </p:spPr>
      </p:pic>
      <p:sp>
        <p:nvSpPr>
          <p:cNvPr id="23" name="TextBox 22"/>
          <p:cNvSpPr txBox="1"/>
          <p:nvPr/>
        </p:nvSpPr>
        <p:spPr>
          <a:xfrm>
            <a:off x="6364224" y="3666744"/>
            <a:ext cx="4754880" cy="3383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263B"/>
                </a:solidFill>
                <a:latin typeface="Microsoft YaHei"/>
                <a:ea typeface="Microsoft YaHei"/>
              </a:rPr>
              <a:t>单步遗憾 = 两个候选各自的效用损失</a:t>
            </a:r>
          </a:p>
        </p:txBody>
      </p:sp>
      <p:pic>
        <p:nvPicPr>
          <p:cNvPr id="24" name="Equation 9: r_t=[f(x_t^{\star})-f(x_{t,1})]" descr="equation-0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4123944"/>
            <a:ext cx="2632710" cy="434340"/>
          </a:xfrm>
          <a:prstGeom prst="rect">
            <a:avLst/>
          </a:prstGeom>
          <a:effectLst/>
        </p:spPr>
      </p:pic>
      <p:pic>
        <p:nvPicPr>
          <p:cNvPr id="25" name="Equation 10: \quad+[f(x_t^{\star})-f(x_{t,2})]" descr="equation-0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3368" y="4562856"/>
            <a:ext cx="2670810" cy="434340"/>
          </a:xfrm>
          <a:prstGeom prst="rect">
            <a:avLst/>
          </a:prstGeom>
          <a:effectLst/>
        </p:spPr>
      </p:pic>
      <p:pic>
        <p:nvPicPr>
          <p:cNvPr id="26" name="Equation 11: R_T=\sum_{t=1}^{T}r_t" descr="equation-01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3368" y="5074920"/>
            <a:ext cx="1299210" cy="83058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108813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57725"/>
                </a:solidFill>
                <a:latin typeface="Microsoft YaHei"/>
                <a:ea typeface="Microsoft YaHei"/>
              </a:rPr>
              <a:t>02  ASSUMPTIONS  /  假设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1018520" cy="6035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263B"/>
                </a:solidFill>
                <a:latin typeface="Microsoft YaHei"/>
                <a:ea typeface="Microsoft YaHei"/>
              </a:rPr>
              <a:t>有界性控制尺度：先约束特征与真实参数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1527048"/>
            <a:ext cx="10927080" cy="4480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637187"/>
                </a:solidFill>
                <a:latin typeface="Microsoft YaHei"/>
                <a:ea typeface="Microsoft YaHei"/>
              </a:rPr>
              <a:t>这些界会分别进入曲率控制、设计矩阵上界和正则化偏差。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6419088"/>
            <a:ext cx="11018520" cy="0"/>
          </a:xfrm>
          <a:prstGeom prst="line">
            <a:avLst/>
          </a:prstGeom>
          <a:ln w="10160">
            <a:solidFill>
              <a:srgbClr val="DCE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19672"/>
            <a:ext cx="90525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37187"/>
                </a:solidFill>
                <a:latin typeface="Microsoft YaHei"/>
                <a:ea typeface="Microsoft YaHei"/>
              </a:rPr>
              <a:t>原稿 §1 式 (1)(2) 与 §2 Assumption 1，pp.1–2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92240"/>
            <a:ext cx="1508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37187"/>
                </a:solidFill>
                <a:latin typeface="Microsoft YaHei"/>
                <a:ea typeface="Microsoft YaHei"/>
              </a:rPr>
              <a:t>65 秒   ·   05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6291072"/>
            <a:ext cx="365760" cy="41148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6291072"/>
            <a:ext cx="365760" cy="41148"/>
          </a:xfrm>
          <a:prstGeom prst="rect">
            <a:avLst/>
          </a:prstGeom>
          <a:solidFill>
            <a:srgbClr val="B57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81912" y="6291072"/>
            <a:ext cx="365760" cy="41148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66544" y="6291072"/>
            <a:ext cx="365760" cy="41148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221992"/>
            <a:ext cx="4709160" cy="30449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77824" y="2450592"/>
            <a:ext cx="2112264" cy="310896"/>
          </a:xfrm>
          <a:prstGeom prst="roundRect">
            <a:avLst>
              <a:gd name="adj" fmla="val 10000"/>
            </a:avLst>
          </a:prstGeom>
          <a:solidFill>
            <a:srgbClr val="FF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91740"/>
            <a:ext cx="1947672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57725"/>
                </a:solidFill>
                <a:latin typeface="Microsoft YaHei"/>
                <a:ea typeface="Microsoft YaHei"/>
              </a:rPr>
              <a:t>给定的尺度约束</a:t>
            </a:r>
          </a:p>
        </p:txBody>
      </p:sp>
      <p:pic>
        <p:nvPicPr>
          <p:cNvPr id="15" name="Equation 12: \Vert x\Vert _2\leq 1" descr="equation-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072384"/>
            <a:ext cx="1527810" cy="461010"/>
          </a:xfrm>
          <a:prstGeom prst="rect">
            <a:avLst/>
          </a:prstGeom>
          <a:effectLst/>
        </p:spPr>
      </p:pic>
      <p:sp>
        <p:nvSpPr>
          <p:cNvPr id="16" name="TextBox 15"/>
          <p:cNvSpPr txBox="1"/>
          <p:nvPr/>
        </p:nvSpPr>
        <p:spPr>
          <a:xfrm>
            <a:off x="3246120" y="3191256"/>
            <a:ext cx="178308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637187"/>
                </a:solidFill>
                <a:latin typeface="Microsoft YaHei"/>
                <a:ea typeface="Microsoft YaHei"/>
              </a:rPr>
              <a:t>候选特征有界</a:t>
            </a:r>
          </a:p>
        </p:txBody>
      </p:sp>
      <p:pic>
        <p:nvPicPr>
          <p:cNvPr id="17" name="Equation 13: \Vert \theta^{\star}\Vert _2\leq S" descr="equation-0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023360"/>
            <a:ext cx="1821180" cy="499109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3246120" y="4142232"/>
            <a:ext cx="178308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637187"/>
                </a:solidFill>
                <a:latin typeface="Microsoft YaHei"/>
                <a:ea typeface="Microsoft YaHei"/>
              </a:rPr>
              <a:t>S 是已知常数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504688" y="3721608"/>
            <a:ext cx="493776" cy="0"/>
          </a:xfrm>
          <a:prstGeom prst="line">
            <a:avLst/>
          </a:prstGeom>
          <a:ln w="33020">
            <a:solidFill>
              <a:srgbClr val="B5772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90488" y="2221992"/>
            <a:ext cx="5367528" cy="3044952"/>
          </a:xfrm>
          <a:prstGeom prst="roundRect">
            <a:avLst>
              <a:gd name="adj" fmla="val 10000"/>
            </a:avLst>
          </a:prstGeom>
          <a:solidFill>
            <a:srgbClr val="FF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2478024"/>
            <a:ext cx="4727448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B57725"/>
                </a:solidFill>
                <a:latin typeface="Microsoft YaHei"/>
                <a:ea typeface="Microsoft YaHei"/>
              </a:rPr>
              <a:t>推得差分特征与真实得分有界</a:t>
            </a:r>
          </a:p>
        </p:txBody>
      </p:sp>
      <p:pic>
        <p:nvPicPr>
          <p:cNvPr id="22" name="Equation 14: \Vert \widetilde{x}_t\Vert _2\leq\Vert x_{t,1}\Vert _2+\Vert x_{t,2}\Vert _2\leq2" descr="equation-0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3182112"/>
            <a:ext cx="3878579" cy="396240"/>
          </a:xfrm>
          <a:prstGeom prst="rect">
            <a:avLst/>
          </a:prstGeom>
          <a:effectLst/>
        </p:spPr>
      </p:pic>
      <p:pic>
        <p:nvPicPr>
          <p:cNvPr id="23" name="Equation 15: |\langle\theta^{\star},\widetilde{x}_t\rangle|\leq2S" descr="equation-0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4069080"/>
            <a:ext cx="2202180" cy="461010"/>
          </a:xfrm>
          <a:prstGeom prst="rect">
            <a:avLst/>
          </a:prstGeom>
          <a:effectLst/>
        </p:spPr>
      </p:pic>
      <p:sp>
        <p:nvSpPr>
          <p:cNvPr id="24" name="TextBox 23"/>
          <p:cNvSpPr txBox="1"/>
          <p:nvPr/>
        </p:nvSpPr>
        <p:spPr>
          <a:xfrm>
            <a:off x="859536" y="5550408"/>
            <a:ext cx="141732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B57725"/>
                </a:solidFill>
                <a:latin typeface="Microsoft YaHei"/>
                <a:ea typeface="Microsoft YaHei"/>
              </a:rPr>
              <a:t>直观作用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04288" y="5550408"/>
            <a:ext cx="8924544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263B"/>
                </a:solidFill>
                <a:latin typeface="Microsoft YaHei"/>
                <a:ea typeface="Microsoft YaHei"/>
              </a:rPr>
              <a:t>限定真实效用的范围，并为后续的误差控制提供尺度。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108813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57725"/>
                </a:solidFill>
                <a:latin typeface="Microsoft YaHei"/>
                <a:ea typeface="Microsoft YaHei"/>
              </a:rPr>
              <a:t>02  ASSUMPTIONS  /  假设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1018520" cy="6035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263B"/>
                </a:solidFill>
                <a:latin typeface="Microsoft YaHei"/>
                <a:ea typeface="Microsoft YaHei"/>
              </a:rPr>
              <a:t>曲率下界把预测变化连接到参数误差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1527048"/>
            <a:ext cx="10927080" cy="4480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637187"/>
                </a:solidFill>
                <a:latin typeface="Microsoft YaHei"/>
                <a:ea typeface="Microsoft YaHei"/>
              </a:rPr>
              <a:t>Logistic 曲线在两端变平；证明需要在相关区间内保留足够的曲率。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6419088"/>
            <a:ext cx="11018520" cy="0"/>
          </a:xfrm>
          <a:prstGeom prst="line">
            <a:avLst/>
          </a:prstGeom>
          <a:ln w="10160">
            <a:solidFill>
              <a:srgbClr val="DCE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19672"/>
            <a:ext cx="90525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37187"/>
                </a:solidFill>
                <a:latin typeface="Microsoft YaHei"/>
                <a:ea typeface="Microsoft YaHei"/>
              </a:rPr>
              <a:t>原稿 §2 Assumption 2 与 §4 Lemma 1 Step 2，pp.2、5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92240"/>
            <a:ext cx="1508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37187"/>
                </a:solidFill>
                <a:latin typeface="Microsoft YaHei"/>
                <a:ea typeface="Microsoft YaHei"/>
              </a:rPr>
              <a:t>65 秒   ·   06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6291072"/>
            <a:ext cx="365760" cy="41148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6291072"/>
            <a:ext cx="365760" cy="41148"/>
          </a:xfrm>
          <a:prstGeom prst="rect">
            <a:avLst/>
          </a:prstGeom>
          <a:solidFill>
            <a:srgbClr val="B57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81912" y="6291072"/>
            <a:ext cx="365760" cy="41148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66544" y="6291072"/>
            <a:ext cx="365760" cy="41148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221992"/>
            <a:ext cx="5175504" cy="26791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ocal-curv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377440"/>
            <a:ext cx="4800600" cy="2304288"/>
          </a:xfrm>
          <a:prstGeom prst="rect">
            <a:avLst/>
          </a:prstGeom>
          <a:effectLst/>
        </p:spPr>
      </p:pic>
      <p:sp>
        <p:nvSpPr>
          <p:cNvPr id="14" name="Rounded Rectangle 13"/>
          <p:cNvSpPr/>
          <p:nvPr/>
        </p:nvSpPr>
        <p:spPr>
          <a:xfrm>
            <a:off x="6007608" y="2221992"/>
            <a:ext cx="5550408" cy="26791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45352" y="2432304"/>
            <a:ext cx="2148840" cy="310896"/>
          </a:xfrm>
          <a:prstGeom prst="roundRect">
            <a:avLst>
              <a:gd name="adj" fmla="val 10000"/>
            </a:avLst>
          </a:prstGeom>
          <a:solidFill>
            <a:srgbClr val="FF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2473452"/>
            <a:ext cx="1984248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57725"/>
                </a:solidFill>
                <a:latin typeface="Microsoft YaHei"/>
                <a:ea typeface="Microsoft YaHei"/>
              </a:rPr>
              <a:t>ASSUMPTION 2</a:t>
            </a:r>
          </a:p>
        </p:txBody>
      </p:sp>
      <p:pic>
        <p:nvPicPr>
          <p:cNvPr id="17" name="Equation 16: \mu'(z)=\mu(z)(1-\mu(z))\geq\kappa_\mu&gt;0" descr="equation-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2980944"/>
            <a:ext cx="4156710" cy="472440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6254496" y="3685032"/>
            <a:ext cx="4736592" cy="38404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16263B"/>
                </a:solidFill>
                <a:latin typeface="Microsoft YaHei"/>
                <a:ea typeface="Microsoft YaHei"/>
              </a:rPr>
              <a:t>证明实际用到的中间点：</a:t>
            </a:r>
          </a:p>
        </p:txBody>
      </p:sp>
      <p:pic>
        <p:nvPicPr>
          <p:cNvPr id="19" name="Equation 17: \xi_{s,t}\ \mathrm{between}\ \langle\theta^{\star},\widetilde{x}_s\rangle\ \mathrm{and}\ \langle\widehat\theta_t,\widetilde{x}_s\rangle" descr="equation-0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4233672"/>
            <a:ext cx="3966210" cy="449580"/>
          </a:xfrm>
          <a:prstGeom prst="rect">
            <a:avLst/>
          </a:prstGeom>
          <a:effectLst/>
        </p:spPr>
      </p:pic>
      <p:sp>
        <p:nvSpPr>
          <p:cNvPr id="20" name="Rounded Rectangle 19"/>
          <p:cNvSpPr/>
          <p:nvPr/>
        </p:nvSpPr>
        <p:spPr>
          <a:xfrm>
            <a:off x="640080" y="5111496"/>
            <a:ext cx="10917936" cy="950976"/>
          </a:xfrm>
          <a:prstGeom prst="roundRect">
            <a:avLst>
              <a:gd name="adj" fmla="val 10000"/>
            </a:avLst>
          </a:prstGeom>
          <a:solidFill>
            <a:srgbClr val="FF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5303520"/>
            <a:ext cx="123444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B57725"/>
                </a:solidFill>
                <a:latin typeface="Microsoft YaHei"/>
                <a:ea typeface="Microsoft YaHei"/>
              </a:rPr>
              <a:t>适用范围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85416" y="5266944"/>
            <a:ext cx="9015984" cy="6583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6263B"/>
                </a:solidFill>
                <a:latin typeface="Microsoft YaHei"/>
                <a:ea typeface="Microsoft YaHei"/>
              </a:rPr>
              <a:t>仅有 θ⋆ 有界还不够：也需保证上述中间点处的曲率下界。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6263B"/>
                </a:solidFill>
                <a:latin typeface="Microsoft YaHei"/>
                <a:ea typeface="Microsoft YaHei"/>
              </a:rPr>
              <a:t>以下置信界以这一范围条件成立为前提。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108813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B62B5"/>
                </a:solidFill>
                <a:latin typeface="Microsoft YaHei"/>
                <a:ea typeface="Microsoft YaHei"/>
              </a:rPr>
              <a:t>03  ALGORITHM  /  算法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1018520" cy="6035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263B"/>
                </a:solidFill>
                <a:latin typeface="Microsoft YaHei"/>
                <a:ea typeface="Microsoft YaHei"/>
              </a:rPr>
              <a:t>把偏好标签转成带正则项的逻辑回归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1527048"/>
            <a:ext cx="10927080" cy="4480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637187"/>
                </a:solidFill>
                <a:latin typeface="Microsoft YaHei"/>
                <a:ea typeface="Microsoft YaHei"/>
              </a:rPr>
              <a:t>用前 t−1 轮数据，估计第 t 轮使用的参数。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6419088"/>
            <a:ext cx="11018520" cy="0"/>
          </a:xfrm>
          <a:prstGeom prst="line">
            <a:avLst/>
          </a:prstGeom>
          <a:ln w="10160">
            <a:solidFill>
              <a:srgbClr val="DCE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19672"/>
            <a:ext cx="90525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37187"/>
                </a:solidFill>
                <a:latin typeface="Microsoft YaHei"/>
                <a:ea typeface="Microsoft YaHei"/>
              </a:rPr>
              <a:t>原稿 §3.1，pp.2–4；式 (4)–(8)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92240"/>
            <a:ext cx="1508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37187"/>
                </a:solidFill>
                <a:latin typeface="Microsoft YaHei"/>
                <a:ea typeface="Microsoft YaHei"/>
              </a:rPr>
              <a:t>50 秒   ·   07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6291072"/>
            <a:ext cx="365760" cy="41148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6291072"/>
            <a:ext cx="365760" cy="41148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81912" y="6291072"/>
            <a:ext cx="365760" cy="41148"/>
          </a:xfrm>
          <a:prstGeom prst="rect">
            <a:avLst/>
          </a:prstGeom>
          <a:solidFill>
            <a:srgbClr val="4B6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66544" y="6291072"/>
            <a:ext cx="365760" cy="41148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231136"/>
            <a:ext cx="10917936" cy="12618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0392" y="2423160"/>
            <a:ext cx="3246120" cy="310896"/>
          </a:xfrm>
          <a:prstGeom prst="roundRect">
            <a:avLst>
              <a:gd name="adj" fmla="val 10000"/>
            </a:avLst>
          </a:prstGeom>
          <a:solidFill>
            <a:srgbClr val="EA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464308"/>
            <a:ext cx="3081527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4B62B5"/>
                </a:solidFill>
                <a:latin typeface="Microsoft YaHei"/>
                <a:ea typeface="Microsoft YaHei"/>
              </a:rPr>
              <a:t>1  单次比较的负对数似然</a:t>
            </a:r>
          </a:p>
        </p:txBody>
      </p:sp>
      <p:pic>
        <p:nvPicPr>
          <p:cNvPr id="15" name="Equation 18: \ell(y,z)=-y\log\mu(z)-(1-y)\log(1-\mu(z))" descr="equation-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256" y="2560320"/>
            <a:ext cx="5707380" cy="384810"/>
          </a:xfrm>
          <a:prstGeom prst="rect">
            <a:avLst/>
          </a:prstGeom>
          <a:effectLst/>
        </p:spPr>
      </p:pic>
      <p:sp>
        <p:nvSpPr>
          <p:cNvPr id="16" name="TextBox 15"/>
          <p:cNvSpPr txBox="1"/>
          <p:nvPr/>
        </p:nvSpPr>
        <p:spPr>
          <a:xfrm>
            <a:off x="859536" y="2907792"/>
            <a:ext cx="1106424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37187"/>
                </a:solidFill>
                <a:latin typeface="Microsoft YaHei"/>
                <a:ea typeface="Microsoft YaHei"/>
              </a:rPr>
              <a:t>预测得分</a:t>
            </a:r>
          </a:p>
        </p:txBody>
      </p:sp>
      <p:pic>
        <p:nvPicPr>
          <p:cNvPr id="17" name="Equation 19: z=\langle\theta,\widetilde{x}_s\rangle" descr="equation-0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528" y="2889504"/>
            <a:ext cx="1184910" cy="346710"/>
          </a:xfrm>
          <a:prstGeom prst="rect">
            <a:avLst/>
          </a:prstGeom>
          <a:effectLst/>
        </p:spPr>
      </p:pic>
      <p:sp>
        <p:nvSpPr>
          <p:cNvPr id="18" name="Rounded Rectangle 17"/>
          <p:cNvSpPr/>
          <p:nvPr/>
        </p:nvSpPr>
        <p:spPr>
          <a:xfrm>
            <a:off x="640080" y="3666744"/>
            <a:ext cx="10917936" cy="1453896"/>
          </a:xfrm>
          <a:prstGeom prst="roundRect">
            <a:avLst>
              <a:gd name="adj" fmla="val 10000"/>
            </a:avLst>
          </a:prstGeom>
          <a:solidFill>
            <a:srgbClr val="EA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0392" y="3877056"/>
            <a:ext cx="3401568" cy="3108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918204"/>
            <a:ext cx="323697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4B62B5"/>
                </a:solidFill>
                <a:latin typeface="Microsoft YaHei"/>
                <a:ea typeface="Microsoft YaHei"/>
              </a:rPr>
              <a:t>2  累加损失，再加入岭正则</a:t>
            </a:r>
          </a:p>
        </p:txBody>
      </p:sp>
      <p:pic>
        <p:nvPicPr>
          <p:cNvPr id="21" name="Equation 20: \widehat\theta_t=\arg\min_{\theta\in\mathbb{R}^{d}}\left\{\sum_{s&lt;t}\ell(y_s,\langle\theta,\widetilde{x}_s\rangle)+\frac{\lambda}{2}\Vert \theta\Vert _2^2\right\}" descr="equation-0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4005072"/>
            <a:ext cx="6050280" cy="777240"/>
          </a:xfrm>
          <a:prstGeom prst="rect">
            <a:avLst/>
          </a:prstGeom>
          <a:effectLst/>
        </p:spPr>
      </p:pic>
      <p:sp>
        <p:nvSpPr>
          <p:cNvPr id="22" name="TextBox 21"/>
          <p:cNvSpPr txBox="1"/>
          <p:nvPr/>
        </p:nvSpPr>
        <p:spPr>
          <a:xfrm>
            <a:off x="868680" y="5495544"/>
            <a:ext cx="1197864" cy="3931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4B62B5"/>
                </a:solidFill>
                <a:latin typeface="Microsoft YaHei"/>
                <a:ea typeface="Microsoft YaHei"/>
              </a:rPr>
              <a:t>λ &gt;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84831" y="5504688"/>
            <a:ext cx="9171432" cy="4754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16263B"/>
                </a:solidFill>
                <a:latin typeface="Microsoft YaHei"/>
                <a:ea typeface="Microsoft YaHei"/>
              </a:rPr>
              <a:t>使目标严格凸、稳定参数估计；同时在置信界中产生一项偏差。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108813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B62B5"/>
                </a:solidFill>
                <a:latin typeface="Microsoft YaHei"/>
                <a:ea typeface="Microsoft YaHei"/>
              </a:rPr>
              <a:t>03  ALGORITHM  /  算法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1018520" cy="6035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263B"/>
                </a:solidFill>
                <a:latin typeface="Microsoft YaHei"/>
                <a:ea typeface="Microsoft YaHei"/>
              </a:rPr>
              <a:t>一阶条件是置信界证明的起点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1527048"/>
            <a:ext cx="10927080" cy="4480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637187"/>
                </a:solidFill>
                <a:latin typeface="Microsoft YaHei"/>
                <a:ea typeface="Microsoft YaHei"/>
              </a:rPr>
              <a:t>Logistic 的特殊结构，让损失导数简化为“预测概率 − 实际标签”。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6419088"/>
            <a:ext cx="11018520" cy="0"/>
          </a:xfrm>
          <a:prstGeom prst="line">
            <a:avLst/>
          </a:prstGeom>
          <a:ln w="10160">
            <a:solidFill>
              <a:srgbClr val="DCE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19672"/>
            <a:ext cx="90525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37187"/>
                </a:solidFill>
                <a:latin typeface="Microsoft YaHei"/>
                <a:ea typeface="Microsoft YaHei"/>
              </a:rPr>
              <a:t>原稿 §3.2，p.4；式 (9)(10)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92240"/>
            <a:ext cx="1508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37187"/>
                </a:solidFill>
                <a:latin typeface="Microsoft YaHei"/>
                <a:ea typeface="Microsoft YaHei"/>
              </a:rPr>
              <a:t>50 秒   ·   08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6291072"/>
            <a:ext cx="365760" cy="41148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6291072"/>
            <a:ext cx="365760" cy="41148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81912" y="6291072"/>
            <a:ext cx="365760" cy="41148"/>
          </a:xfrm>
          <a:prstGeom prst="rect">
            <a:avLst/>
          </a:prstGeom>
          <a:solidFill>
            <a:srgbClr val="4B6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66544" y="6291072"/>
            <a:ext cx="365760" cy="41148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231136"/>
            <a:ext cx="10917936" cy="9784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514600"/>
            <a:ext cx="2450592" cy="3931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4B62B5"/>
                </a:solidFill>
                <a:latin typeface="Microsoft YaHei"/>
                <a:ea typeface="Microsoft YaHei"/>
              </a:rPr>
              <a:t>对得分求导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46704"/>
            <a:ext cx="10917936" cy="9784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630168"/>
            <a:ext cx="2450592" cy="3931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4B62B5"/>
                </a:solidFill>
                <a:latin typeface="Microsoft YaHei"/>
                <a:ea typeface="Microsoft YaHei"/>
              </a:rPr>
              <a:t>对参数求梯度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08576"/>
            <a:ext cx="10917936" cy="1252728"/>
          </a:xfrm>
          <a:prstGeom prst="roundRect">
            <a:avLst>
              <a:gd name="adj" fmla="val 10000"/>
            </a:avLst>
          </a:prstGeom>
          <a:solidFill>
            <a:srgbClr val="EA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892040"/>
            <a:ext cx="2450592" cy="3931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4B62B5"/>
                </a:solidFill>
                <a:latin typeface="Microsoft YaHei"/>
                <a:ea typeface="Microsoft YaHei"/>
              </a:rPr>
              <a:t>最小点满足</a:t>
            </a:r>
          </a:p>
        </p:txBody>
      </p:sp>
      <p:pic>
        <p:nvPicPr>
          <p:cNvPr id="18" name="Equation 21: \frac{\partial\ell(y,z)}{\partial z}=\mu(z)-y" descr="equation-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2423160"/>
            <a:ext cx="2415540" cy="640080"/>
          </a:xfrm>
          <a:prstGeom prst="rect">
            <a:avLst/>
          </a:prstGeom>
          <a:effectLst/>
        </p:spPr>
      </p:pic>
      <p:pic>
        <p:nvPicPr>
          <p:cNvPr id="19" name="Equation 22: \nabla_\theta\ell(y_s,\langle\theta,\widetilde{x}_s\rangle)=[\mu(\langle\theta,\widetilde{x}_s\rangle)-y_s]\widetilde{x}_s" descr="equation-0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3602736"/>
            <a:ext cx="4792980" cy="396240"/>
          </a:xfrm>
          <a:prstGeom prst="rect">
            <a:avLst/>
          </a:prstGeom>
          <a:effectLst/>
        </p:spPr>
      </p:pic>
      <p:pic>
        <p:nvPicPr>
          <p:cNvPr id="20" name="Equation 23: \sum_{s&lt;t}[\mu(\langle\widehat\theta_t,\widetilde{x}_s\rangle)-y_s]\widetilde{x}_s+\lambda\widehat\theta_t=0" descr="equation-0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4892040"/>
            <a:ext cx="4587240" cy="77724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108813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B62B5"/>
                </a:solidFill>
                <a:latin typeface="Microsoft YaHei"/>
                <a:ea typeface="Microsoft YaHei"/>
              </a:rPr>
              <a:t>03  ALGORITHM  /  算法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1018520" cy="6035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263B"/>
                </a:solidFill>
                <a:latin typeface="Microsoft YaHei"/>
                <a:ea typeface="Microsoft YaHei"/>
              </a:rPr>
              <a:t>先选当前最优，再选值得比较的挑战者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1527048"/>
            <a:ext cx="10927080" cy="4480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637187"/>
                </a:solidFill>
                <a:latin typeface="Microsoft YaHei"/>
                <a:ea typeface="Microsoft YaHei"/>
              </a:rPr>
              <a:t>Ridge-MLE Dueling UCB：第一臂利用当前估计，第二臂借助不确定性探索。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6419088"/>
            <a:ext cx="11018520" cy="0"/>
          </a:xfrm>
          <a:prstGeom prst="line">
            <a:avLst/>
          </a:prstGeom>
          <a:ln w="10160">
            <a:solidFill>
              <a:srgbClr val="DCE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19672"/>
            <a:ext cx="90525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37187"/>
                </a:solidFill>
                <a:latin typeface="Microsoft YaHei"/>
                <a:ea typeface="Microsoft YaHei"/>
              </a:rPr>
              <a:t>原稿 §3 Algorithm 1，p.2；b = βT / κμ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92240"/>
            <a:ext cx="1508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37187"/>
                </a:solidFill>
                <a:latin typeface="Microsoft YaHei"/>
                <a:ea typeface="Microsoft YaHei"/>
              </a:rPr>
              <a:t>50 秒   ·   09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6291072"/>
            <a:ext cx="365760" cy="41148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6291072"/>
            <a:ext cx="365760" cy="41148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81912" y="6291072"/>
            <a:ext cx="365760" cy="41148"/>
          </a:xfrm>
          <a:prstGeom prst="rect">
            <a:avLst/>
          </a:prstGeom>
          <a:solidFill>
            <a:srgbClr val="4B6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66544" y="6291072"/>
            <a:ext cx="365760" cy="41148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212848"/>
            <a:ext cx="7552944" cy="1252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0392" y="2395728"/>
            <a:ext cx="2953512" cy="310896"/>
          </a:xfrm>
          <a:prstGeom prst="roundRect">
            <a:avLst>
              <a:gd name="adj" fmla="val 10000"/>
            </a:avLst>
          </a:prstGeom>
          <a:solidFill>
            <a:srgbClr val="EA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436876"/>
            <a:ext cx="2788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4B62B5"/>
                </a:solidFill>
                <a:latin typeface="Microsoft YaHei"/>
                <a:ea typeface="Microsoft YaHei"/>
              </a:rPr>
              <a:t>第一臂：预测效用最高</a:t>
            </a:r>
          </a:p>
        </p:txBody>
      </p:sp>
      <p:pic>
        <p:nvPicPr>
          <p:cNvPr id="15" name="Equation 24: x_{t,1}\in\arg\max_{x\in\mathcal{X}_t}\langle\widehat\theta_t,x\rangle" descr="equation-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648" y="2569464"/>
            <a:ext cx="2834640" cy="701040"/>
          </a:xfrm>
          <a:prstGeom prst="rect">
            <a:avLst/>
          </a:prstGeom>
          <a:effectLst/>
        </p:spPr>
      </p:pic>
      <p:sp>
        <p:nvSpPr>
          <p:cNvPr id="16" name="Rounded Rectangle 15"/>
          <p:cNvSpPr/>
          <p:nvPr/>
        </p:nvSpPr>
        <p:spPr>
          <a:xfrm>
            <a:off x="640080" y="3648456"/>
            <a:ext cx="7552944" cy="2276856"/>
          </a:xfrm>
          <a:prstGeom prst="roundRect">
            <a:avLst>
              <a:gd name="adj" fmla="val 10000"/>
            </a:avLst>
          </a:prstGeom>
          <a:solidFill>
            <a:srgbClr val="EA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0392" y="3849624"/>
            <a:ext cx="4151376" cy="3108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890772"/>
            <a:ext cx="3986784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4B62B5"/>
                </a:solidFill>
                <a:latin typeface="Microsoft YaHei"/>
                <a:ea typeface="Microsoft YaHei"/>
              </a:rPr>
              <a:t>第二臂：相对第一臂的 UCB 最大</a:t>
            </a:r>
          </a:p>
        </p:txBody>
      </p:sp>
      <p:pic>
        <p:nvPicPr>
          <p:cNvPr id="19" name="Equation 25: x_{t,2}\in\arg\max_{x\in\mathcal{X}_t}\{\langle\widehat\theta_t,x-x_{t,1}\rangle" descr="equation-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517136"/>
            <a:ext cx="3954780" cy="727710"/>
          </a:xfrm>
          <a:prstGeom prst="rect">
            <a:avLst/>
          </a:prstGeom>
          <a:effectLst/>
        </p:spPr>
      </p:pic>
      <p:pic>
        <p:nvPicPr>
          <p:cNvPr id="20" name="Equation 26: \qquad\qquad\quad+b\,\Vert x-x_{t,1}\Vert _{V_{t-1}^{-1}}\}" descr="equation-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184648"/>
            <a:ext cx="4069080" cy="461010"/>
          </a:xfrm>
          <a:prstGeom prst="rect">
            <a:avLst/>
          </a:prstGeom>
          <a:effectLst/>
        </p:spPr>
      </p:pic>
      <p:sp>
        <p:nvSpPr>
          <p:cNvPr id="21" name="Rounded Rectangle 20"/>
          <p:cNvSpPr/>
          <p:nvPr/>
        </p:nvSpPr>
        <p:spPr>
          <a:xfrm>
            <a:off x="8394192" y="2212848"/>
            <a:ext cx="3163824" cy="371246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22792" y="2441448"/>
            <a:ext cx="2660904" cy="3931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4B62B5"/>
                </a:solidFill>
                <a:latin typeface="Microsoft YaHei"/>
                <a:ea typeface="Microsoft YaHei"/>
              </a:rPr>
              <a:t>每轮维护的信息</a:t>
            </a:r>
          </a:p>
        </p:txBody>
      </p:sp>
      <p:pic>
        <p:nvPicPr>
          <p:cNvPr id="23" name="Equation 27: V_0=\frac{\lambda}{\kappa_\mu}I_d" descr="equation-0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2792" y="3090672"/>
            <a:ext cx="1299210" cy="548640"/>
          </a:xfrm>
          <a:prstGeom prst="rect">
            <a:avLst/>
          </a:prstGeom>
          <a:effectLst/>
        </p:spPr>
      </p:pic>
      <p:sp>
        <p:nvSpPr>
          <p:cNvPr id="24" name="TextBox 23"/>
          <p:cNvSpPr txBox="1"/>
          <p:nvPr/>
        </p:nvSpPr>
        <p:spPr>
          <a:xfrm>
            <a:off x="8622792" y="3931920"/>
            <a:ext cx="2615184" cy="34747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263B"/>
                </a:solidFill>
                <a:latin typeface="Microsoft YaHei"/>
                <a:ea typeface="Microsoft YaHei"/>
              </a:rPr>
              <a:t>收到偏好后更新</a:t>
            </a:r>
          </a:p>
        </p:txBody>
      </p:sp>
      <p:pic>
        <p:nvPicPr>
          <p:cNvPr id="25" name="Equation 28: V_t=V_{t-1}+\widetilde{x}_t\widetilde{x}_t^{\top}" descr="equation-0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2792" y="4462272"/>
            <a:ext cx="2175510" cy="449580"/>
          </a:xfrm>
          <a:prstGeom prst="rect">
            <a:avLst/>
          </a:prstGeom>
          <a:effectLst/>
        </p:spPr>
      </p:pic>
      <p:sp>
        <p:nvSpPr>
          <p:cNvPr id="26" name="TextBox 25"/>
          <p:cNvSpPr txBox="1"/>
          <p:nvPr/>
        </p:nvSpPr>
        <p:spPr>
          <a:xfrm>
            <a:off x="8622792" y="5129784"/>
            <a:ext cx="2615184" cy="6766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637187"/>
                </a:solidFill>
                <a:latin typeface="Microsoft YaHei"/>
                <a:ea typeface="Microsoft YaHei"/>
              </a:rPr>
              <a:t>b 的数值由下一部分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637187"/>
                </a:solidFill>
                <a:latin typeface="Microsoft YaHei"/>
                <a:ea typeface="Microsoft YaHei"/>
              </a:rPr>
              <a:t>的置信界确定。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108813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87EA7"/>
                </a:solidFill>
                <a:latin typeface="Microsoft YaHei"/>
                <a:ea typeface="Microsoft YaHei"/>
              </a:rPr>
              <a:t>04  CONFIDENCE BOUND  /  置信界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1018520" cy="6035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263B"/>
                </a:solidFill>
                <a:latin typeface="Microsoft YaHei"/>
                <a:ea typeface="Microsoft YaHei"/>
              </a:rPr>
              <a:t>置信椭球：一次高概率事件，覆盖所有轮次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1527048"/>
            <a:ext cx="10927080" cy="4480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637187"/>
                </a:solidFill>
                <a:latin typeface="Microsoft YaHei"/>
                <a:ea typeface="Microsoft YaHei"/>
              </a:rPr>
              <a:t>先明确要证明什么，再看误差如何被噪声与正则化项控制。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6419088"/>
            <a:ext cx="11018520" cy="0"/>
          </a:xfrm>
          <a:prstGeom prst="line">
            <a:avLst/>
          </a:prstGeom>
          <a:ln w="10160">
            <a:solidFill>
              <a:srgbClr val="DCE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19672"/>
            <a:ext cx="90525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37187"/>
                </a:solidFill>
                <a:latin typeface="Microsoft YaHei"/>
                <a:ea typeface="Microsoft YaHei"/>
              </a:rPr>
              <a:t>原稿 §4 Lemma 1，p.5；式 (12)(13)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92240"/>
            <a:ext cx="1508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37187"/>
                </a:solidFill>
                <a:latin typeface="Microsoft YaHei"/>
                <a:ea typeface="Microsoft YaHei"/>
              </a:rPr>
              <a:t>45 秒   ·   10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6291072"/>
            <a:ext cx="365760" cy="41148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6291072"/>
            <a:ext cx="365760" cy="41148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81912" y="6291072"/>
            <a:ext cx="365760" cy="41148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66544" y="6291072"/>
            <a:ext cx="365760" cy="41148"/>
          </a:xfrm>
          <a:prstGeom prst="rect">
            <a:avLst/>
          </a:prstGeom>
          <a:solidFill>
            <a:srgbClr val="087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212848"/>
            <a:ext cx="6446520" cy="1947672"/>
          </a:xfrm>
          <a:prstGeom prst="roundRect">
            <a:avLst>
              <a:gd name="adj" fmla="val 10000"/>
            </a:avLst>
          </a:prstGeom>
          <a:solidFill>
            <a:srgbClr val="E6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459736"/>
            <a:ext cx="5943600" cy="4297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087EA7"/>
                </a:solidFill>
                <a:latin typeface="Microsoft YaHei"/>
                <a:ea typeface="Microsoft YaHei"/>
              </a:rPr>
              <a:t>以至少 1−δ 的概率，对所有 t ≤ T 同时成立：</a:t>
            </a:r>
          </a:p>
        </p:txBody>
      </p:sp>
      <p:pic>
        <p:nvPicPr>
          <p:cNvPr id="14" name="Equation 29: \Vert \widehat\theta_t-\theta^{\star}\Vert _{V_{t-1}}\leq\frac{\beta_T}{\kappa_\mu}=b" descr="equation-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154680"/>
            <a:ext cx="3851910" cy="716280"/>
          </a:xfrm>
          <a:prstGeom prst="rect">
            <a:avLst/>
          </a:prstGeom>
          <a:effectLst/>
        </p:spPr>
      </p:pic>
      <p:pic>
        <p:nvPicPr>
          <p:cNvPr id="15" name="Equation 30: \Vert u\Vert _V=\sqrt{u^{\top}Vu}" descr="equation-0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544568"/>
            <a:ext cx="2430780" cy="548640"/>
          </a:xfrm>
          <a:prstGeom prst="rect">
            <a:avLst/>
          </a:prstGeom>
          <a:effectLst/>
        </p:spPr>
      </p:pic>
      <p:sp>
        <p:nvSpPr>
          <p:cNvPr id="16" name="TextBox 15"/>
          <p:cNvSpPr txBox="1"/>
          <p:nvPr/>
        </p:nvSpPr>
        <p:spPr>
          <a:xfrm>
            <a:off x="877824" y="5221224"/>
            <a:ext cx="5806440" cy="78638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16263B"/>
                </a:solidFill>
                <a:latin typeface="Microsoft YaHei"/>
                <a:ea typeface="Microsoft YaHei"/>
              </a:rPr>
              <a:t>V 决定椭球形状，b 决定整体尺度。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16263B"/>
                </a:solidFill>
                <a:latin typeface="Microsoft YaHei"/>
                <a:ea typeface="Microsoft YaHei"/>
              </a:rPr>
              <a:t>δ 是失败概率；保证覆盖整个时间段。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6912" y="2212848"/>
            <a:ext cx="4261104" cy="37307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7653527" y="5148072"/>
            <a:ext cx="3520441" cy="0"/>
          </a:xfrm>
          <a:prstGeom prst="line">
            <a:avLst/>
          </a:prstGeom>
          <a:ln w="15240">
            <a:solidFill>
              <a:srgbClr val="DCE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909560" y="2651760"/>
            <a:ext cx="0" cy="2862072"/>
          </a:xfrm>
          <a:prstGeom prst="line">
            <a:avLst/>
          </a:prstGeom>
          <a:ln w="15240">
            <a:solidFill>
              <a:srgbClr val="DCE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 rot="20100000">
            <a:off x="7973568" y="3255264"/>
            <a:ext cx="2962656" cy="1435608"/>
          </a:xfrm>
          <a:prstGeom prst="ellipse">
            <a:avLst/>
          </a:prstGeom>
          <a:solidFill>
            <a:srgbClr val="E6F3F8"/>
          </a:solidFill>
          <a:ln w="25400">
            <a:solidFill>
              <a:srgbClr val="087E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58884" y="3918203"/>
            <a:ext cx="118872" cy="118872"/>
          </a:xfrm>
          <a:prstGeom prst="ellipse">
            <a:avLst/>
          </a:prstGeom>
          <a:solidFill>
            <a:srgbClr val="087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51415" y="3623767"/>
            <a:ext cx="122529" cy="122529"/>
          </a:xfrm>
          <a:prstGeom prst="ellipse">
            <a:avLst/>
          </a:prstGeom>
          <a:solidFill>
            <a:srgbClr val="16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Equation 31: \widehat\theta_t" descr="equation-0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8552" y="4215384"/>
            <a:ext cx="297180" cy="422910"/>
          </a:xfrm>
          <a:prstGeom prst="rect">
            <a:avLst/>
          </a:prstGeom>
          <a:effectLst/>
        </p:spPr>
      </p:pic>
      <p:pic>
        <p:nvPicPr>
          <p:cNvPr id="24" name="Equation 32: \theta^{\star}" descr="equation-0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7272" y="3538728"/>
            <a:ext cx="422910" cy="320040"/>
          </a:xfrm>
          <a:prstGeom prst="rect">
            <a:avLst/>
          </a:prstGeom>
          <a:effectLst/>
        </p:spPr>
      </p:pic>
      <p:sp>
        <p:nvSpPr>
          <p:cNvPr id="25" name="TextBox 24"/>
          <p:cNvSpPr txBox="1"/>
          <p:nvPr/>
        </p:nvSpPr>
        <p:spPr>
          <a:xfrm>
            <a:off x="7635240" y="5532120"/>
            <a:ext cx="36118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37187"/>
                </a:solidFill>
                <a:latin typeface="Microsoft YaHei"/>
                <a:ea typeface="Microsoft YaHei"/>
              </a:rPr>
              <a:t>参数空间中的置信区域（示意）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108813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87EA7"/>
                </a:solidFill>
                <a:latin typeface="Microsoft YaHei"/>
                <a:ea typeface="Microsoft YaHei"/>
              </a:rPr>
              <a:t>04  CONFIDENCE BOUND  /  置信界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1018520" cy="6035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263B"/>
                </a:solidFill>
                <a:latin typeface="Microsoft YaHei"/>
                <a:ea typeface="Microsoft YaHei"/>
              </a:rPr>
              <a:t>证明骨架：先把误差拆成噪声与正则偏差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1527048"/>
            <a:ext cx="10927080" cy="4480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637187"/>
                </a:solidFill>
                <a:latin typeface="Microsoft YaHei"/>
                <a:ea typeface="Microsoft YaHei"/>
              </a:rPr>
              <a:t/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6419088"/>
            <a:ext cx="11018520" cy="0"/>
          </a:xfrm>
          <a:prstGeom prst="line">
            <a:avLst/>
          </a:prstGeom>
          <a:ln w="10160">
            <a:solidFill>
              <a:srgbClr val="DCE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19672"/>
            <a:ext cx="90525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37187"/>
                </a:solidFill>
                <a:latin typeface="Microsoft YaHei"/>
                <a:ea typeface="Microsoft YaHei"/>
              </a:rPr>
              <a:t>原稿 §4 Lemma 1，pp.5–6；式 (14)(15)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92240"/>
            <a:ext cx="1508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37187"/>
                </a:solidFill>
                <a:latin typeface="Microsoft YaHei"/>
                <a:ea typeface="Microsoft YaHei"/>
              </a:rPr>
              <a:t>60 秒   ·   11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6291072"/>
            <a:ext cx="365760" cy="41148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6291072"/>
            <a:ext cx="365760" cy="41148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81912" y="6291072"/>
            <a:ext cx="365760" cy="41148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66544" y="6291072"/>
            <a:ext cx="365760" cy="41148"/>
          </a:xfrm>
          <a:prstGeom prst="rect">
            <a:avLst/>
          </a:prstGeom>
          <a:solidFill>
            <a:srgbClr val="087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Equation 33: \Delta_t=\widehat\theta_t-\theta^{\star}" descr="equation-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572768"/>
            <a:ext cx="1478280" cy="411480"/>
          </a:xfrm>
          <a:prstGeom prst="rect">
            <a:avLst/>
          </a:prstGeom>
          <a:effectLst/>
        </p:spPr>
      </p:pic>
      <p:pic>
        <p:nvPicPr>
          <p:cNvPr id="13" name="Equation 34: \varepsilon_s=y_s-\mu(\langle\theta^{\star},\widetilde{x}_s\rangle),\quad\mathbb{E}[\varepsilon_s\mid\mathcal{F}_{s-1}]=0,\quad|\varepsilon_s|\leq1" descr="equation-0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448" y="1572768"/>
            <a:ext cx="5311140" cy="346710"/>
          </a:xfrm>
          <a:prstGeom prst="rect">
            <a:avLst/>
          </a:prstGeom>
          <a:effectLst/>
        </p:spPr>
      </p:pic>
      <p:sp>
        <p:nvSpPr>
          <p:cNvPr id="14" name="Rounded Rectangle 13"/>
          <p:cNvSpPr/>
          <p:nvPr/>
        </p:nvSpPr>
        <p:spPr>
          <a:xfrm>
            <a:off x="640080" y="2221992"/>
            <a:ext cx="10917936" cy="11338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9536" y="2432304"/>
            <a:ext cx="3154680" cy="310896"/>
          </a:xfrm>
          <a:prstGeom prst="roundRect">
            <a:avLst>
              <a:gd name="adj" fmla="val 10000"/>
            </a:avLst>
          </a:prstGeom>
          <a:solidFill>
            <a:srgbClr val="E6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473452"/>
            <a:ext cx="2990088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87EA7"/>
                </a:solidFill>
                <a:latin typeface="Microsoft YaHei"/>
                <a:ea typeface="Microsoft YaHei"/>
              </a:rPr>
              <a:t>1  驻点等式 + 均值定理</a:t>
            </a:r>
          </a:p>
        </p:txBody>
      </p:sp>
      <p:pic>
        <p:nvPicPr>
          <p:cNvPr id="17" name="Equation 35: H_t\Delta_t=N_t-\lambda\theta^{\star}" descr="equation-0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6824" y="2450592"/>
            <a:ext cx="2583180" cy="434340"/>
          </a:xfrm>
          <a:prstGeom prst="rect">
            <a:avLst/>
          </a:prstGeom>
          <a:effectLst/>
        </p:spPr>
      </p:pic>
      <p:pic>
        <p:nvPicPr>
          <p:cNvPr id="18" name="Equation 36: N_t:=\sum_{s&lt;t}\varepsilon_s\widetilde{x}_s" descr="equation-03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7072" y="2514600"/>
            <a:ext cx="1501140" cy="525780"/>
          </a:xfrm>
          <a:prstGeom prst="rect">
            <a:avLst/>
          </a:prstGeom>
          <a:effectLst/>
        </p:spPr>
      </p:pic>
      <p:sp>
        <p:nvSpPr>
          <p:cNvPr id="19" name="Rounded Rectangle 18"/>
          <p:cNvSpPr/>
          <p:nvPr/>
        </p:nvSpPr>
        <p:spPr>
          <a:xfrm>
            <a:off x="640080" y="3520440"/>
            <a:ext cx="10917936" cy="12710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9536" y="3721608"/>
            <a:ext cx="2212848" cy="310896"/>
          </a:xfrm>
          <a:prstGeom prst="roundRect">
            <a:avLst>
              <a:gd name="adj" fmla="val 10000"/>
            </a:avLst>
          </a:prstGeom>
          <a:solidFill>
            <a:srgbClr val="E6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3762756"/>
            <a:ext cx="2048255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87EA7"/>
                </a:solidFill>
                <a:latin typeface="Microsoft YaHei"/>
                <a:ea typeface="Microsoft YaHei"/>
              </a:rPr>
              <a:t>2  曲率给下界</a:t>
            </a:r>
          </a:p>
        </p:txBody>
      </p:sp>
      <p:pic>
        <p:nvPicPr>
          <p:cNvPr id="22" name="Equation 37: H_t=\sum_{s&lt;t}\mu'(\xi_{s,t})\widetilde{x}_s\widetilde{x}_s^{\top}+\lambda I_d\succeq\kappa_\mu V_{t-1}" descr="equation-03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9896" y="3767328"/>
            <a:ext cx="4853940" cy="678180"/>
          </a:xfrm>
          <a:prstGeom prst="rect">
            <a:avLst/>
          </a:prstGeom>
          <a:effectLst/>
        </p:spPr>
      </p:pic>
      <p:sp>
        <p:nvSpPr>
          <p:cNvPr id="23" name="Rounded Rectangle 22"/>
          <p:cNvSpPr/>
          <p:nvPr/>
        </p:nvSpPr>
        <p:spPr>
          <a:xfrm>
            <a:off x="640080" y="4956048"/>
            <a:ext cx="10917936" cy="1115568"/>
          </a:xfrm>
          <a:prstGeom prst="roundRect">
            <a:avLst>
              <a:gd name="adj" fmla="val 10000"/>
            </a:avLst>
          </a:prstGeom>
          <a:solidFill>
            <a:srgbClr val="E6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9536" y="5138928"/>
            <a:ext cx="3995928" cy="3108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5180076"/>
            <a:ext cx="383133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87EA7"/>
                </a:solidFill>
                <a:latin typeface="Microsoft YaHei"/>
                <a:ea typeface="Microsoft YaHei"/>
              </a:rPr>
              <a:t>3  柯西施瓦茨 + 消去误差范数</a:t>
            </a:r>
          </a:p>
        </p:txBody>
      </p:sp>
      <p:pic>
        <p:nvPicPr>
          <p:cNvPr id="26" name="Equation 38: \Vert \Delta_t\Vert _{V_{t-1}}\leq\frac{1}{\kappa_\mu}\left(\Vert N_t\Vert _{V_{t-1}^{-1}}+\sqrt{\lambda\kappa_\mu}\,S\right)" descr="equation-03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3208" y="5166360"/>
            <a:ext cx="5006340" cy="61341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108813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87EA7"/>
                </a:solidFill>
                <a:latin typeface="Microsoft YaHei"/>
                <a:ea typeface="Microsoft YaHei"/>
              </a:rPr>
              <a:t>04  CONFIDENCE BOUND  /  置信界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1018520" cy="6035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263B"/>
                </a:solidFill>
                <a:latin typeface="Microsoft YaHei"/>
                <a:ea typeface="Microsoft YaHei"/>
              </a:rPr>
              <a:t>噪声有了上界，UCB 的探索项就确定了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1527048"/>
            <a:ext cx="10927080" cy="4480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637187"/>
                </a:solidFill>
                <a:latin typeface="Microsoft YaHei"/>
                <a:ea typeface="Microsoft YaHei"/>
              </a:rPr>
              <a:t>自归一化不等式控制自适应数据的噪声；加权柯西施瓦茨把参数界转成效用差界。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6419088"/>
            <a:ext cx="11018520" cy="0"/>
          </a:xfrm>
          <a:prstGeom prst="line">
            <a:avLst/>
          </a:prstGeom>
          <a:ln w="10160">
            <a:solidFill>
              <a:srgbClr val="DCE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19672"/>
            <a:ext cx="90525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37187"/>
                </a:solidFill>
                <a:latin typeface="Microsoft YaHei"/>
                <a:ea typeface="Microsoft YaHei"/>
              </a:rPr>
              <a:t>原稿 §4 Lemma 1 Step 5 与 Corollary 1，pp.6–7；式 (12)(16)(17)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92240"/>
            <a:ext cx="1508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37187"/>
                </a:solidFill>
                <a:latin typeface="Microsoft YaHei"/>
                <a:ea typeface="Microsoft YaHei"/>
              </a:rPr>
              <a:t>45 秒   ·   12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6291072"/>
            <a:ext cx="365760" cy="41148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6291072"/>
            <a:ext cx="365760" cy="41148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81912" y="6291072"/>
            <a:ext cx="365760" cy="41148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66544" y="6291072"/>
            <a:ext cx="365760" cy="41148"/>
          </a:xfrm>
          <a:prstGeom prst="rect">
            <a:avLst/>
          </a:prstGeom>
          <a:solidFill>
            <a:srgbClr val="087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221992"/>
            <a:ext cx="10917936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441448"/>
            <a:ext cx="10332720" cy="3566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087EA7"/>
                </a:solidFill>
                <a:latin typeface="Microsoft YaHei"/>
                <a:ea typeface="Microsoft YaHei"/>
              </a:rPr>
              <a:t>置信半径 = 正则化偏差 + 噪声上界</a:t>
            </a:r>
          </a:p>
        </p:txBody>
      </p:sp>
      <p:pic>
        <p:nvPicPr>
          <p:cNvPr id="14" name="Equation 39: \beta_T=\sqrt{\lambda\kappa_\mu}\,S+\sqrt{2\log(1/\delta)+d\log\left(1+\frac{4\kappa_\mu T}{\lambda d}\right)}\,,\qquad b=\frac{\beta_T}{\kappa_\mu}" descr="equation-0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256" y="3008376"/>
            <a:ext cx="8717280" cy="803910"/>
          </a:xfrm>
          <a:prstGeom prst="rect">
            <a:avLst/>
          </a:prstGeom>
          <a:effectLst/>
        </p:spPr>
      </p:pic>
      <p:sp>
        <p:nvSpPr>
          <p:cNvPr id="15" name="Rounded Rectangle 14"/>
          <p:cNvSpPr/>
          <p:nvPr/>
        </p:nvSpPr>
        <p:spPr>
          <a:xfrm>
            <a:off x="640080" y="4142232"/>
            <a:ext cx="10917936" cy="1271016"/>
          </a:xfrm>
          <a:prstGeom prst="roundRect">
            <a:avLst>
              <a:gd name="adj" fmla="val 10000"/>
            </a:avLst>
          </a:prstGeom>
          <a:solidFill>
            <a:srgbClr val="E6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4325112"/>
            <a:ext cx="10287000" cy="30175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87EA7"/>
                </a:solidFill>
                <a:latin typeface="Microsoft YaHei"/>
                <a:ea typeface="Microsoft YaHei"/>
              </a:rPr>
              <a:t>对任意候选对 x, x′，同时成立：</a:t>
            </a:r>
          </a:p>
        </p:txBody>
      </p:sp>
      <p:pic>
        <p:nvPicPr>
          <p:cNvPr id="17" name="Equation 40: |f(x)-f(x')-\langle\widehat\theta_t,x-x'\rangle|\leq b\,\Vert x-x'\Vert _{V_{t-1}^{-1}}" descr="equation-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4932" y="4782312"/>
            <a:ext cx="6263640" cy="601980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896112" y="5650992"/>
            <a:ext cx="960120" cy="31089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87EA7"/>
                </a:solidFill>
                <a:latin typeface="Microsoft YaHei"/>
                <a:ea typeface="Microsoft YaHei"/>
              </a:rPr>
              <a:t>因此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632704"/>
            <a:ext cx="937260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263B"/>
                </a:solidFill>
                <a:latin typeface="Microsoft YaHei"/>
                <a:ea typeface="Microsoft YaHei"/>
              </a:rPr>
              <a:t>预测的效用差 + 置信半径，就是第二个候选使用的 UCB。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7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795528"/>
            <a:ext cx="10789920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500" b="1">
                <a:solidFill>
                  <a:srgbClr val="FFFFFF"/>
                </a:solidFill>
                <a:latin typeface="Microsoft YaHei"/>
                <a:ea typeface="Microsoft YaHei"/>
              </a:rPr>
              <a:t>把四部分接成一条线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4088" y="1655064"/>
            <a:ext cx="1060704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B4C6D5"/>
                </a:solidFill>
                <a:latin typeface="Microsoft YaHei"/>
                <a:ea typeface="Microsoft YaHei"/>
              </a:rPr>
              <a:t>从一次偏好反馈，走到一次有置信保证的比较。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2651760"/>
            <a:ext cx="2423160" cy="3566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66C2C1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3227832"/>
            <a:ext cx="2423160" cy="55778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4023360"/>
            <a:ext cx="2496312" cy="8686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B4C6D5"/>
                </a:solidFill>
                <a:latin typeface="Microsoft YaHei"/>
                <a:ea typeface="Microsoft YaHei"/>
              </a:rPr>
              <a:t>成对比较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B4C6D5"/>
                </a:solidFill>
                <a:latin typeface="Microsoft YaHei"/>
                <a:ea typeface="Microsoft YaHei"/>
              </a:rPr>
              <a:t>只观察偏好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45536" y="3511296"/>
            <a:ext cx="283464" cy="0"/>
          </a:xfrm>
          <a:prstGeom prst="line">
            <a:avLst/>
          </a:prstGeom>
          <a:ln w="26670">
            <a:solidFill>
              <a:srgbClr val="66C2C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566160" y="2651760"/>
            <a:ext cx="2423160" cy="3566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66C2C1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227832"/>
            <a:ext cx="2423160" cy="55778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假设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4023360"/>
            <a:ext cx="2496312" cy="8686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B4C6D5"/>
                </a:solidFill>
                <a:latin typeface="Microsoft YaHei"/>
                <a:ea typeface="Microsoft YaHei"/>
              </a:rPr>
              <a:t>控制尺度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B4C6D5"/>
                </a:solidFill>
                <a:latin typeface="Microsoft YaHei"/>
                <a:ea typeface="Microsoft YaHei"/>
              </a:rPr>
              <a:t>保留局部曲率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16752" y="3511296"/>
            <a:ext cx="283464" cy="0"/>
          </a:xfrm>
          <a:prstGeom prst="line">
            <a:avLst/>
          </a:prstGeom>
          <a:ln w="26670">
            <a:solidFill>
              <a:srgbClr val="66C2C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37376" y="2651760"/>
            <a:ext cx="2423160" cy="3566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66C2C1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3227832"/>
            <a:ext cx="2423160" cy="55778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算法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4023360"/>
            <a:ext cx="2496312" cy="8686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B4C6D5"/>
                </a:solidFill>
                <a:latin typeface="Microsoft YaHei"/>
                <a:ea typeface="Microsoft YaHei"/>
              </a:rPr>
              <a:t>Ridge-MLE 估计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B4C6D5"/>
                </a:solidFill>
                <a:latin typeface="Microsoft YaHei"/>
                <a:ea typeface="Microsoft YaHei"/>
              </a:rPr>
              <a:t>贪心 + UCB 选臂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87968" y="3511296"/>
            <a:ext cx="283464" cy="0"/>
          </a:xfrm>
          <a:prstGeom prst="line">
            <a:avLst/>
          </a:prstGeom>
          <a:ln w="26670">
            <a:solidFill>
              <a:srgbClr val="66C2C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08592" y="2651760"/>
            <a:ext cx="2423160" cy="3566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66C2C1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08592" y="3227832"/>
            <a:ext cx="2423160" cy="55778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置信界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8592" y="4023360"/>
            <a:ext cx="2496312" cy="8686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B4C6D5"/>
                </a:solidFill>
                <a:latin typeface="Microsoft YaHei"/>
                <a:ea typeface="Microsoft YaHei"/>
              </a:rPr>
              <a:t>参数误差界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B4C6D5"/>
                </a:solidFill>
                <a:latin typeface="Microsoft YaHei"/>
                <a:ea typeface="Microsoft YaHei"/>
              </a:rPr>
              <a:t>推出效用差上界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" y="5285232"/>
            <a:ext cx="10826496" cy="658368"/>
          </a:xfrm>
          <a:prstGeom prst="roundRect">
            <a:avLst>
              <a:gd name="adj" fmla="val 10000"/>
            </a:avLst>
          </a:prstGeom>
          <a:solidFill>
            <a:srgbClr val="24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468112"/>
            <a:ext cx="10369296" cy="34747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核心连接：置信界给出探索项，探索项指导下一轮比较。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5216" y="6419088"/>
            <a:ext cx="11018520" cy="0"/>
          </a:xfrm>
          <a:prstGeom prst="line">
            <a:avLst/>
          </a:prstGeom>
          <a:ln w="10160">
            <a:solidFill>
              <a:srgbClr val="4260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2648" y="6519672"/>
            <a:ext cx="90525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B4C6D5"/>
                </a:solidFill>
                <a:latin typeface="Microsoft YaHei"/>
                <a:ea typeface="Microsoft YaHei"/>
              </a:rPr>
              <a:t>Source: Zhuohua LI · A Clean Proof for Dueling Bandits · §§1–4，pp.1–7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92240"/>
            <a:ext cx="1508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4C6D5"/>
                </a:solidFill>
                <a:latin typeface="Microsoft YaHei"/>
                <a:ea typeface="Microsoft YaHei"/>
              </a:rPr>
              <a:t>10 秒   ·   13 / 13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" y="6291072"/>
            <a:ext cx="365760" cy="41148"/>
          </a:xfrm>
          <a:prstGeom prst="rect">
            <a:avLst/>
          </a:prstGeom>
          <a:solidFill>
            <a:srgbClr val="426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97280" y="6291072"/>
            <a:ext cx="365760" cy="41148"/>
          </a:xfrm>
          <a:prstGeom prst="rect">
            <a:avLst/>
          </a:prstGeom>
          <a:solidFill>
            <a:srgbClr val="426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581912" y="6291072"/>
            <a:ext cx="365760" cy="41148"/>
          </a:xfrm>
          <a:prstGeom prst="rect">
            <a:avLst/>
          </a:prstGeom>
          <a:solidFill>
            <a:srgbClr val="426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66544" y="6291072"/>
            <a:ext cx="365760" cy="41148"/>
          </a:xfrm>
          <a:prstGeom prst="rect">
            <a:avLst/>
          </a:prstGeom>
          <a:solidFill>
            <a:srgbClr val="426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Contextual Dueling Bandits：问题、假设、算法与置信界</dc:title>
  <dc:subject>A Clean Proof for Dueling Bandits，第 1–4 节，10 分钟讲解</dc:subject>
  <dc:creator/>
  <cp:keywords>Dueling Bandits, Ridge-MLE, UCB, Confidence Bound</cp:keywords>
  <dc:description>v1：四部分篇幅相对均衡；逐页讲稿位于备注。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