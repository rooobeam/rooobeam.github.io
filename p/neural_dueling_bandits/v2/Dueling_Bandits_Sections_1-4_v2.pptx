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From Pairwise Preferences to Confidence Bounds</a:t>
            </a:r>
          </a:p>
          <a:p>
            <a:r>
              <a:t>Suggested time: 10 sec</a:t>
            </a:r>
          </a:p>
          <a:p>
            <a:r>
              <a:t>Key point: Preference feedback → parameter estimation → confident comparisons</a:t>
            </a:r>
          </a:p>
          <a:p/>
          <a:p>
            <a:r>
              <a:t>This talk follows Sections 1 to 4 of the note, from pairwise preference feedback to an arm-selection rule with a confidence guarantee.</a:t>
            </a:r>
          </a:p>
          <a:p/>
          <a:p>
            <a:r>
              <a:t>Optional detail (outside the timed script):</a:t>
            </a:r>
          </a:p>
          <a:p>
            <a:r>
              <a:t>The cumulative regret proof in Sections 5 and 6 is outside this presentation.</a:t>
            </a:r>
          </a:p>
          <a:p/>
          <a:p>
            <a:r>
              <a:t>Source: Sections 1–4, pp.1–7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Contents</a:t>
            </a:r>
          </a:p>
          <a:p>
            <a:r>
              <a:t>Suggested time: 20 sec</a:t>
            </a:r>
          </a:p>
          <a:p>
            <a:r>
              <a:t>Key point: Problem setup → assumptions → algorithm → confidence bound</a:t>
            </a:r>
          </a:p>
          <a:p/>
          <a:p>
            <a:r>
              <a:t>We will answer four questions. What do we observe, and what do we optimize? Which assumptions make the analysis work? How does the algorithm estimate utility and select two arms? Finally, why does the confidence bound justify its exploration bonus? Each main part takes roughly two minutes.</a:t>
            </a:r>
          </a:p>
          <a:p/>
          <a:p>
            <a:r>
              <a:t>Source: Sections 1–4, pp.1–7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Compare two arms; observe one preference</a:t>
            </a:r>
          </a:p>
          <a:p>
            <a:r>
              <a:t>Suggested time: 65 sec</a:t>
            </a:r>
          </a:p>
          <a:p>
            <a:r>
              <a:t>Key point: Separate observed preferences from latent utilities.</a:t>
            </a:r>
          </a:p>
          <a:p/>
          <a:p>
            <a:r>
              <a:t>At round t, the learner receives a decision set. Each arm is represented by a d-dimensional feature vector. The setting is contextual because decisions depend on these features, and the available set may change from round to round. The learner selects two arms and observes one binary preference: one means that the first arm wins.</a:t>
            </a:r>
          </a:p>
          <a:p/>
          <a:p>
            <a:r>
              <a:t>The underlying utility is linear in an unknown parameter, theta star. We never directly observe this utility. Instead, comparisons provide indirect information about it. Subtracting the two utilities gives the inner product of theta star with the difference of the two feature vectors. This difference feature is therefore the basic input used throughout the algorithm and the proof.</a:t>
            </a:r>
          </a:p>
          <a:p/>
          <a:p>
            <a:r>
              <a:t>Optional detail (outside the timed script):</a:t>
            </a:r>
          </a:p>
          <a:p>
            <a:r>
              <a:t>For the conditional model and martingale arguments, the decision set, selected arms, and relevant algorithm randomness are included in the information available before observing the current preference.</a:t>
            </a:r>
          </a:p>
          <a:p/>
          <a:p>
            <a:r>
              <a:t>Source: Section 1, p.1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Preference probabilities and utility regret</a:t>
            </a:r>
          </a:p>
          <a:p>
            <a:r>
              <a:t>Suggested time: 65 sec</a:t>
            </a:r>
          </a:p>
          <a:p>
            <a:r>
              <a:t>Key point: Preferences are random feedback; regret measures latent utility loss.</a:t>
            </a:r>
          </a:p>
          <a:p/>
          <a:p>
            <a:r>
              <a:t>The logistic, or BTL, model converts a utility gap into a win probability. Equal utilities give probability one half. A larger gap makes the first arm more likely to win, but does not make the outcome deterministic. The sigmoid on the left illustrates this observation model.</a:t>
            </a:r>
          </a:p>
          <a:p/>
          <a:p>
            <a:r>
              <a:t>The objective on the right is different: it measures the quality of our choices through latent utility. Compare each selected arm with the truly best arm in the current set. Instantaneous regret is the sum of these two utility losses, and cumulative regret adds them over time. Both selected arms therefore matter. The goal is to choose strong pairs while learning from their noisy comparisons.</a:t>
            </a:r>
          </a:p>
          <a:p/>
          <a:p>
            <a:r>
              <a:t>Optional detail (outside the timed script):</a:t>
            </a:r>
          </a:p>
          <a:p>
            <a:r>
              <a:t>This uses the note's regret convention without a factor of one half. We assume the displayed maxima are attained; for infinite decision sets, compactness and continuity are one sufficient route.</a:t>
            </a:r>
          </a:p>
          <a:p/>
          <a:p>
            <a:r>
              <a:t>Source: Section 1, p.1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Bounded features and parameters control the scale</a:t>
            </a:r>
          </a:p>
          <a:p>
            <a:r>
              <a:t>Suggested time: 65 sec</a:t>
            </a:r>
          </a:p>
          <a:p>
            <a:r>
              <a:t>Key point: Boundedness supports control of features, curvature and ridge bias.</a:t>
            </a:r>
          </a:p>
          <a:p/>
          <a:p>
            <a:r>
              <a:t>The first assumptions control scale. Every feature vector has Euclidean norm at most one, and the true parameter has norm at most a known constant S. The triangle inequality then bounds each difference feature by two. Cauchy–Schwarz bounds the absolute true utility gap by two S.</a:t>
            </a:r>
          </a:p>
          <a:p/>
          <a:p>
            <a:r>
              <a:t>These bounds play three roles later. Bounded difference features control the growth of the design matrix and its determinant. A bounded true parameter controls the bias introduced by ridge regularization. Bounded true scores also identify a finite interval on the logistic curve. Notice, however, that bounding the true parameter does not automatically bound the fitted parameter. That distinction matters for the next assumption.</a:t>
            </a:r>
          </a:p>
          <a:p/>
          <a:p>
            <a:r>
              <a:t>Source: Sections 1–2, pp.1–2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Local curvature makes parameter error controllable</a:t>
            </a:r>
          </a:p>
          <a:p>
            <a:r>
              <a:t>Suggested time: 65 sec</a:t>
            </a:r>
          </a:p>
          <a:p>
            <a:r>
              <a:t>Key point: The curvature bound must cover scores between the true and fitted values.</a:t>
            </a:r>
          </a:p>
          <a:p/>
          <a:p>
            <a:r>
              <a:t>The logistic derivative is largest near zero and approaches zero in the tails. In a flat region, a substantial change in the parameter can produce only a small change in probability. To control parameter error, the proof assumes a positive lower bound, kappa mu, on the relevant derivatives.</a:t>
            </a:r>
          </a:p>
          <a:p/>
          <a:p>
            <a:r>
              <a:t>The relevant scores are the intermediate points between the true and fitted scores, introduced by the mean value theorem. This is a qualification in the original note: a bound on theta star alone only bounds the true scores. The algorithm's unconstrained estimate need not lie in the same parameter ball. We therefore explicitly require the curvature bound at those intermediate points. The confidence result is conditional on this requirement. The plotted choice S equals one is only an illustration.</a:t>
            </a:r>
          </a:p>
          <a:p/>
          <a:p>
            <a:r>
              <a:t>Optional detail (outside the timed script):</a:t>
            </a:r>
          </a:p>
          <a:p>
            <a:r>
              <a:t>The identity mu prime equals mu times one minus mu is also the scalar second derivative of the logistic loss. The note's claim that bounded true parameters alone suffice for the chosen curvature interval requires an additional argument.</a:t>
            </a:r>
          </a:p>
          <a:p/>
          <a:p>
            <a:r>
              <a:t>Source: Section 2, p.2; Section 4, p.5. The scope note makes a required condition explicit.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Estimate utility with ridge logistic regression</a:t>
            </a:r>
          </a:p>
          <a:p>
            <a:r>
              <a:t>Suggested time: 50 sec</a:t>
            </a:r>
          </a:p>
          <a:p>
            <a:r>
              <a:t>Key point: Bernoulli preferences yield logistic loss; ridge regularization stabilizes estimation.</a:t>
            </a:r>
          </a:p>
          <a:p/>
          <a:p>
            <a:r>
              <a:t>For any candidate parameter, each preference is a Bernoulli observation with a logistic success probability. Maximizing the conditional likelihood is equivalent to minimizing the negative log-likelihood shown here: binary cross-entropy.</a:t>
            </a:r>
          </a:p>
          <a:p/>
          <a:p>
            <a:r>
              <a:t>Sum this loss over the previous t minus one comparisons and add a ridge penalty. Its minimizer is the estimate used in round t. A positive lambda makes the objective strictly convex and stabilizes estimation. It also pulls the estimate toward zero, so the confidence bound must account for regularization bias. With no observations in the first round, the minimizer is zero. This establishes the estimator before we discuss how it chooses arms.</a:t>
            </a:r>
          </a:p>
          <a:p/>
          <a:p>
            <a:r>
              <a:t>Optional detail (outside the timed script):</a:t>
            </a:r>
          </a:p>
          <a:p>
            <a:r>
              <a:t>The likelihood factors by the conditional chain rule under adaptive arm selection; unconditional independence of the observations is not needed.</a:t>
            </a:r>
          </a:p>
          <a:p/>
          <a:p>
            <a:r>
              <a:t>Source: Section 3.1, pp.2–4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The first-order condition starts the proof</a:t>
            </a:r>
          </a:p>
          <a:p>
            <a:r>
              <a:t>Suggested time: 50 sec</a:t>
            </a:r>
          </a:p>
          <a:p>
            <a:r>
              <a:t>Key point: Use the stationarity equation as the starting point of the error analysis.</a:t>
            </a:r>
          </a:p>
          <a:p/>
          <a:p>
            <a:r>
              <a:t>Only three derivative steps are essential. First, differentiating the logistic loss with respect to its score gives predicted probability minus observed label. The logistic derivative identity makes the expression simplify. Second, the chain rule multiplies that residual by the difference feature. Third, sum these gradients, add the ridge gradient, and set the result to zero at the minimizer.</a:t>
            </a:r>
          </a:p>
          <a:p/>
          <a:p>
            <a:r>
              <a:t>This stationarity equation is the starting point for the confidence proof. Adding and subtracting the true success probability will separate estimation error from observation noise and ridge bias. Thus an optimization condition becomes the bridge to a statistical error bound.</a:t>
            </a:r>
          </a:p>
          <a:p/>
          <a:p>
            <a:r>
              <a:t>Optional detail (outside the timed script):</a:t>
            </a:r>
          </a:p>
          <a:p>
            <a:r>
              <a:t>The zero-gradient equation applies to the note's unconstrained estimator. If a parameter-ball constraint is introduced, use the corresponding optimality inequality instead.</a:t>
            </a:r>
          </a:p>
          <a:p/>
          <a:p>
            <a:r>
              <a:t>Source: Section 3.2, p.4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Choose a greedy arm, then an optimistic challenger</a:t>
            </a:r>
          </a:p>
          <a:p>
            <a:r>
              <a:t>Suggested time: 50 sec</a:t>
            </a:r>
          </a:p>
          <a:p>
            <a:r>
              <a:t>Key point: The two selection rules and matrix update define the learning loop.</a:t>
            </a:r>
          </a:p>
          <a:p/>
          <a:p>
            <a:r>
              <a:t>The first arm maximizes estimated utility: it is the greedy choice. The second arm maximizes an optimistic estimate of its utility relative to that first arm. Its score combines the predicted utility difference with an uncertainty bonus. Because the first arm is already a maximizer, the predicted difference is nonpositive; uncertainty can still make a challenger worth comparing.</a:t>
            </a:r>
          </a:p>
          <a:p/>
          <a:p>
            <a:r>
              <a:t>The inverse design matrix measures uncertainty along each difference direction. Initialize V as shown, then add the outer product of each observed difference feature. Repeated comparisons reduce uncertainty in the directions they cover. After receiving the label, update the data and repeat. The remaining question is how large the bonus coefficient b must be.</a:t>
            </a:r>
          </a:p>
          <a:p/>
          <a:p>
            <a:r>
              <a:t>Source: Algorithm 1, p.2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One confidence event covers every round</a:t>
            </a:r>
          </a:p>
          <a:p>
            <a:r>
              <a:t>Suggested time: 45 sec</a:t>
            </a:r>
          </a:p>
          <a:p>
            <a:r>
              <a:t>Key point: A simultaneous parameter-error bound for all rounds.</a:t>
            </a:r>
          </a:p>
          <a:p/>
          <a:p>
            <a:r>
              <a:t>The target guarantee is a confidence ellipsoid around the estimate. With probability at least one minus delta, the displayed parameter error bound holds for every round simultaneously. Delta is the failure probability.</a:t>
            </a:r>
          </a:p>
          <a:p/>
          <a:p>
            <a:r>
              <a:t>The distance is weighted by V rather than measured in the ordinary Euclidean norm. V records information about observed comparison directions and determines the ellipsoid's shape. The coefficient b controls its overall size. The picture is a schematic view in parameter space. We will obtain a single event covering the whole horizon using a time-uniform concentration inequality, rather than assigning a separate failure budget to each round.</a:t>
            </a:r>
          </a:p>
          <a:p/>
          <a:p>
            <a:r>
              <a:t>Source: Lemma 1, p.5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Proof sketch: noise plus regularization bias</a:t>
            </a:r>
          </a:p>
          <a:p>
            <a:r>
              <a:t>Suggested time: 60 sec</a:t>
            </a:r>
          </a:p>
          <a:p>
            <a:r>
              <a:t>Key point: Error ≤ inverse curvature × (noise + ridge bias).</a:t>
            </a:r>
          </a:p>
          <a:p/>
          <a:p>
            <a:r>
              <a:t>The proof has three steps. Define the parameter error Delta and the noise epsilon, which is the observed label minus its true success probability. This noise has conditional mean zero and absolute value at most one.</a:t>
            </a:r>
          </a:p>
          <a:p/>
          <a:p>
            <a:r>
              <a:t>First, rewrite stationarity around the true parameter. The mean value theorem gives H times Delta equal to accumulated noise minus the ridge term. Second, the curvature assumption makes H at least kappa mu times V. Third, multiply by Delta transpose and apply weighted Cauchy–Schwarz. Cancel the error norm when it is nonzero; the zero case is immediate. Finally, the initial regularization matrix bounds the ridge contribution by the square root of lambda kappa mu, times S. Only the noise term still needs a probabilistic bound.</a:t>
            </a:r>
          </a:p>
          <a:p/>
          <a:p>
            <a:r>
              <a:t>Optional detail (outside the timed script):</a:t>
            </a:r>
          </a:p>
          <a:p>
            <a:r>
              <a:t>A conditionally centered variable bounded in absolute value by one is conditionally 1-subgaussian, which suffices for the concentration bound used in the note.</a:t>
            </a:r>
          </a:p>
          <a:p/>
          <a:p>
            <a:r>
              <a:t>Source: Lemma 1, Steps 1–4, pp.5–6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The confidence bound determines the UCB bonus</a:t>
            </a:r>
          </a:p>
          <a:p>
            <a:r>
              <a:t>Suggested time: 45 sec</a:t>
            </a:r>
          </a:p>
          <a:p>
            <a:r>
              <a:t>Key point: The utility-gap confidence bound supplies the exploration bonus.</a:t>
            </a:r>
          </a:p>
          <a:p/>
          <a:p>
            <a:r>
              <a:t>A self-normalized martingale inequality controls the noise even though comparison directions depend on past observations. A determinant bound then gives the explicit logarithmic term shown here. Adding the ridge contribution defines beta T; dividing by kappa mu gives b.</a:t>
            </a:r>
          </a:p>
          <a:p/>
          <a:p>
            <a:r>
              <a:t>One more application of weighted Cauchy–Schwarz turns the parameter bound into a bound on any pairwise utility difference. The true gap is at most its estimated gap plus the displayed uncertainty term. This is exactly the upper confidence bound used to choose the second arm. The proof therefore supplies the exploration bonus that the algorithm needs.</a:t>
            </a:r>
          </a:p>
          <a:p/>
          <a:p>
            <a:r>
              <a:t>Optional detail (outside the timed script):</a:t>
            </a:r>
          </a:p>
          <a:p>
            <a:r>
              <a:t>The intermediate noise bound is sqrt[2 log(1/delta) + log(det(V_{t-1})/det(V_0))]. The log-determinant ratio is at most d log(1 + 4 kappa_mu T/(lambda d)), using the difference-feature norm bound of two.</a:t>
            </a:r>
          </a:p>
          <a:p/>
          <a:p>
            <a:r>
              <a:t>Source: Lemma 1, Step 5 and Corollary 1, pp.6–7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Connecting the four parts</a:t>
            </a:r>
          </a:p>
          <a:p>
            <a:r>
              <a:t>Suggested time: 10 sec</a:t>
            </a:r>
          </a:p>
          <a:p>
            <a:r>
              <a:t>Key point: The model, assumptions, algorithm and confidence bound form one argument.</a:t>
            </a:r>
          </a:p>
          <a:p/>
          <a:p>
            <a:r>
              <a:t>The key connection is that parameter confidence gives pairwise utility confidence. That confidence defines the exploration bonus and guides the next comparison.</a:t>
            </a:r>
          </a:p>
          <a:p/>
          <a:p>
            <a:r>
              <a:t>Source: Sections 1–4, pp.1–7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73E"/>
        </a:solidFill>
        <a:effectLst/>
      </p:bgPr>
    </p:bg>
    <p:spTree>
      <p:nvGrpSpPr>
        <p:cNvPr id="1" name=""/>
        <p:cNvGrpSpPr/>
        <p:nvPr/>
      </p:nvGrpSpPr>
      <p:grpSpPr/>
      <p:sp>
        <p:nvSpPr>
          <p:cNvPr id="2" name="Rectangle 1"/>
          <p:cNvSpPr/>
          <p:nvPr/>
        </p:nvSpPr>
        <p:spPr>
          <a:xfrm>
            <a:off x="621792" y="640080"/>
            <a:ext cx="91440" cy="2834640"/>
          </a:xfrm>
          <a:prstGeom prst="rect">
            <a:avLst/>
          </a:prstGeom>
          <a:solidFill>
            <a:srgbClr val="007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658368"/>
            <a:ext cx="1033272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1" lang="en-US">
                <a:solidFill>
                  <a:srgbClr val="B4C6D5"/>
                </a:solidFill>
                <a:latin typeface="Calibri"/>
                <a:ea typeface="Calibri"/>
              </a:rPr>
              <a:t>A CLEAN PROOF FOR DUELING BANDITS</a:t>
            </a:r>
          </a:p>
        </p:txBody>
      </p:sp>
      <p:sp>
        <p:nvSpPr>
          <p:cNvPr id="4" name="TextBox 3"/>
          <p:cNvSpPr txBox="1"/>
          <p:nvPr/>
        </p:nvSpPr>
        <p:spPr>
          <a:xfrm>
            <a:off x="868680" y="1298448"/>
            <a:ext cx="8595360" cy="1737360"/>
          </a:xfrm>
          <a:prstGeom prst="rect">
            <a:avLst/>
          </a:prstGeom>
          <a:noFill/>
          <a:effectLst/>
        </p:spPr>
        <p:txBody>
          <a:bodyPr wrap="square" lIns="0" rIns="0" tIns="0" bIns="0" anchor="t">
            <a:spAutoFit/>
          </a:bodyPr>
          <a:lstStyle/>
          <a:p>
            <a:pPr algn="l">
              <a:lnSpc>
                <a:spcPct val="112000"/>
              </a:lnSpc>
              <a:spcBef>
                <a:spcPts val="0"/>
              </a:spcBef>
              <a:spcAft>
                <a:spcPts val="400"/>
              </a:spcAft>
            </a:pPr>
            <a:r>
              <a:rPr sz="4400" b="1" lang="en-US">
                <a:solidFill>
                  <a:srgbClr val="FFFFFF"/>
                </a:solidFill>
                <a:latin typeface="Calibri"/>
                <a:ea typeface="Calibri"/>
              </a:rPr>
              <a:t>From Pairwise Preferences</a:t>
            </a:r>
          </a:p>
          <a:p>
            <a:pPr algn="l">
              <a:lnSpc>
                <a:spcPct val="112000"/>
              </a:lnSpc>
              <a:spcBef>
                <a:spcPts val="0"/>
              </a:spcBef>
              <a:spcAft>
                <a:spcPts val="400"/>
              </a:spcAft>
            </a:pPr>
            <a:r>
              <a:rPr sz="4400" b="1" lang="en-US">
                <a:solidFill>
                  <a:srgbClr val="FFFFFF"/>
                </a:solidFill>
                <a:latin typeface="Calibri"/>
                <a:ea typeface="Calibri"/>
              </a:rPr>
              <a:t>to Confidence Bounds</a:t>
            </a:r>
          </a:p>
        </p:txBody>
      </p:sp>
      <p:sp>
        <p:nvSpPr>
          <p:cNvPr id="5" name="TextBox 4"/>
          <p:cNvSpPr txBox="1"/>
          <p:nvPr/>
        </p:nvSpPr>
        <p:spPr>
          <a:xfrm>
            <a:off x="914400" y="3182112"/>
            <a:ext cx="9784080" cy="438912"/>
          </a:xfrm>
          <a:prstGeom prst="rect">
            <a:avLst/>
          </a:prstGeom>
          <a:noFill/>
          <a:effectLst/>
        </p:spPr>
        <p:txBody>
          <a:bodyPr wrap="square" lIns="0" rIns="0" tIns="0" bIns="0" anchor="t">
            <a:spAutoFit/>
          </a:bodyPr>
          <a:lstStyle/>
          <a:p>
            <a:pPr algn="l">
              <a:lnSpc>
                <a:spcPct val="112000"/>
              </a:lnSpc>
              <a:spcBef>
                <a:spcPts val="0"/>
              </a:spcBef>
              <a:spcAft>
                <a:spcPts val="400"/>
              </a:spcAft>
            </a:pPr>
            <a:r>
              <a:rPr sz="2700" b="0" lang="en-US">
                <a:solidFill>
                  <a:srgbClr val="B4C6D5"/>
                </a:solidFill>
                <a:latin typeface="Calibri"/>
                <a:ea typeface="Calibri"/>
              </a:rPr>
              <a:t>Contextual Dueling Bandits</a:t>
            </a:r>
          </a:p>
        </p:txBody>
      </p:sp>
      <p:sp>
        <p:nvSpPr>
          <p:cNvPr id="6" name="TextBox 5"/>
          <p:cNvSpPr txBox="1"/>
          <p:nvPr/>
        </p:nvSpPr>
        <p:spPr>
          <a:xfrm>
            <a:off x="914400" y="3767328"/>
            <a:ext cx="9601200" cy="329184"/>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B4C6D5"/>
                </a:solidFill>
                <a:latin typeface="Calibri"/>
                <a:ea typeface="Calibri"/>
              </a:rPr>
              <a:t>Sections 1–4  ·  About 10 minutes  ·  v2</a:t>
            </a:r>
          </a:p>
        </p:txBody>
      </p:sp>
      <p:sp>
        <p:nvSpPr>
          <p:cNvPr id="7" name="TextBox 6"/>
          <p:cNvSpPr txBox="1"/>
          <p:nvPr/>
        </p:nvSpPr>
        <p:spPr>
          <a:xfrm>
            <a:off x="896112" y="4681728"/>
            <a:ext cx="50292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1" lang="en-US">
                <a:solidFill>
                  <a:srgbClr val="66C2C1"/>
                </a:solidFill>
                <a:latin typeface="Calibri"/>
                <a:ea typeface="Calibri"/>
              </a:rPr>
              <a:t>01</a:t>
            </a:r>
          </a:p>
        </p:txBody>
      </p:sp>
      <p:sp>
        <p:nvSpPr>
          <p:cNvPr id="8" name="TextBox 7"/>
          <p:cNvSpPr txBox="1"/>
          <p:nvPr/>
        </p:nvSpPr>
        <p:spPr>
          <a:xfrm>
            <a:off x="896112" y="5120640"/>
            <a:ext cx="2468880" cy="438912"/>
          </a:xfrm>
          <a:prstGeom prst="rect">
            <a:avLst/>
          </a:prstGeom>
          <a:noFill/>
          <a:effectLst/>
        </p:spPr>
        <p:txBody>
          <a:bodyPr wrap="square" lIns="0" rIns="0" tIns="0" bIns="0" anchor="t">
            <a:spAutoFit/>
          </a:bodyPr>
          <a:lstStyle/>
          <a:p>
            <a:pPr algn="l">
              <a:lnSpc>
                <a:spcPct val="112000"/>
              </a:lnSpc>
              <a:spcBef>
                <a:spcPts val="0"/>
              </a:spcBef>
              <a:spcAft>
                <a:spcPts val="400"/>
              </a:spcAft>
            </a:pPr>
            <a:r>
              <a:rPr sz="2400" b="1" lang="en-US">
                <a:solidFill>
                  <a:srgbClr val="FFFFFF"/>
                </a:solidFill>
                <a:latin typeface="Calibri"/>
                <a:ea typeface="Calibri"/>
              </a:rPr>
              <a:t>Problem Setup</a:t>
            </a:r>
          </a:p>
        </p:txBody>
      </p:sp>
      <p:sp>
        <p:nvSpPr>
          <p:cNvPr id="9" name="TextBox 8"/>
          <p:cNvSpPr txBox="1"/>
          <p:nvPr/>
        </p:nvSpPr>
        <p:spPr>
          <a:xfrm>
            <a:off x="896112" y="5669280"/>
            <a:ext cx="246888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0" lang="en-US">
                <a:solidFill>
                  <a:srgbClr val="B4C6D5"/>
                </a:solidFill>
                <a:latin typeface="Calibri"/>
                <a:ea typeface="Calibri"/>
              </a:rPr>
              <a:t>2 min 10 sec</a:t>
            </a:r>
          </a:p>
        </p:txBody>
      </p:sp>
      <p:sp>
        <p:nvSpPr>
          <p:cNvPr id="10" name="TextBox 9"/>
          <p:cNvSpPr txBox="1"/>
          <p:nvPr/>
        </p:nvSpPr>
        <p:spPr>
          <a:xfrm>
            <a:off x="3712464" y="4681728"/>
            <a:ext cx="50292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1" lang="en-US">
                <a:solidFill>
                  <a:srgbClr val="66C2C1"/>
                </a:solidFill>
                <a:latin typeface="Calibri"/>
                <a:ea typeface="Calibri"/>
              </a:rPr>
              <a:t>02</a:t>
            </a:r>
          </a:p>
        </p:txBody>
      </p:sp>
      <p:sp>
        <p:nvSpPr>
          <p:cNvPr id="11" name="TextBox 10"/>
          <p:cNvSpPr txBox="1"/>
          <p:nvPr/>
        </p:nvSpPr>
        <p:spPr>
          <a:xfrm>
            <a:off x="3712464" y="5120640"/>
            <a:ext cx="2468880" cy="438912"/>
          </a:xfrm>
          <a:prstGeom prst="rect">
            <a:avLst/>
          </a:prstGeom>
          <a:noFill/>
          <a:effectLst/>
        </p:spPr>
        <p:txBody>
          <a:bodyPr wrap="square" lIns="0" rIns="0" tIns="0" bIns="0" anchor="t">
            <a:spAutoFit/>
          </a:bodyPr>
          <a:lstStyle/>
          <a:p>
            <a:pPr algn="l">
              <a:lnSpc>
                <a:spcPct val="112000"/>
              </a:lnSpc>
              <a:spcBef>
                <a:spcPts val="0"/>
              </a:spcBef>
              <a:spcAft>
                <a:spcPts val="400"/>
              </a:spcAft>
            </a:pPr>
            <a:r>
              <a:rPr sz="2400" b="1" lang="en-US">
                <a:solidFill>
                  <a:srgbClr val="FFFFFF"/>
                </a:solidFill>
                <a:latin typeface="Calibri"/>
                <a:ea typeface="Calibri"/>
              </a:rPr>
              <a:t>Assumptions</a:t>
            </a:r>
          </a:p>
        </p:txBody>
      </p:sp>
      <p:sp>
        <p:nvSpPr>
          <p:cNvPr id="12" name="TextBox 11"/>
          <p:cNvSpPr txBox="1"/>
          <p:nvPr/>
        </p:nvSpPr>
        <p:spPr>
          <a:xfrm>
            <a:off x="3712464" y="5669280"/>
            <a:ext cx="246888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0" lang="en-US">
                <a:solidFill>
                  <a:srgbClr val="B4C6D5"/>
                </a:solidFill>
                <a:latin typeface="Calibri"/>
                <a:ea typeface="Calibri"/>
              </a:rPr>
              <a:t>2 min 10 sec</a:t>
            </a:r>
          </a:p>
        </p:txBody>
      </p:sp>
      <p:sp>
        <p:nvSpPr>
          <p:cNvPr id="13" name="TextBox 12"/>
          <p:cNvSpPr txBox="1"/>
          <p:nvPr/>
        </p:nvSpPr>
        <p:spPr>
          <a:xfrm>
            <a:off x="6528816" y="4681728"/>
            <a:ext cx="50292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1" lang="en-US">
                <a:solidFill>
                  <a:srgbClr val="66C2C1"/>
                </a:solidFill>
                <a:latin typeface="Calibri"/>
                <a:ea typeface="Calibri"/>
              </a:rPr>
              <a:t>03</a:t>
            </a:r>
          </a:p>
        </p:txBody>
      </p:sp>
      <p:sp>
        <p:nvSpPr>
          <p:cNvPr id="14" name="TextBox 13"/>
          <p:cNvSpPr txBox="1"/>
          <p:nvPr/>
        </p:nvSpPr>
        <p:spPr>
          <a:xfrm>
            <a:off x="6528816" y="5120640"/>
            <a:ext cx="2468880" cy="438912"/>
          </a:xfrm>
          <a:prstGeom prst="rect">
            <a:avLst/>
          </a:prstGeom>
          <a:noFill/>
          <a:effectLst/>
        </p:spPr>
        <p:txBody>
          <a:bodyPr wrap="square" lIns="0" rIns="0" tIns="0" bIns="0" anchor="t">
            <a:spAutoFit/>
          </a:bodyPr>
          <a:lstStyle/>
          <a:p>
            <a:pPr algn="l">
              <a:lnSpc>
                <a:spcPct val="112000"/>
              </a:lnSpc>
              <a:spcBef>
                <a:spcPts val="0"/>
              </a:spcBef>
              <a:spcAft>
                <a:spcPts val="400"/>
              </a:spcAft>
            </a:pPr>
            <a:r>
              <a:rPr sz="2400" b="1" lang="en-US">
                <a:solidFill>
                  <a:srgbClr val="FFFFFF"/>
                </a:solidFill>
                <a:latin typeface="Calibri"/>
                <a:ea typeface="Calibri"/>
              </a:rPr>
              <a:t>Algorithm</a:t>
            </a:r>
          </a:p>
        </p:txBody>
      </p:sp>
      <p:sp>
        <p:nvSpPr>
          <p:cNvPr id="15" name="TextBox 14"/>
          <p:cNvSpPr txBox="1"/>
          <p:nvPr/>
        </p:nvSpPr>
        <p:spPr>
          <a:xfrm>
            <a:off x="6528816" y="5669280"/>
            <a:ext cx="246888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0" lang="en-US">
                <a:solidFill>
                  <a:srgbClr val="B4C6D5"/>
                </a:solidFill>
                <a:latin typeface="Calibri"/>
                <a:ea typeface="Calibri"/>
              </a:rPr>
              <a:t>2 min 30 sec</a:t>
            </a:r>
          </a:p>
        </p:txBody>
      </p:sp>
      <p:sp>
        <p:nvSpPr>
          <p:cNvPr id="16" name="TextBox 15"/>
          <p:cNvSpPr txBox="1"/>
          <p:nvPr/>
        </p:nvSpPr>
        <p:spPr>
          <a:xfrm>
            <a:off x="9345168" y="4681728"/>
            <a:ext cx="50292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1" lang="en-US">
                <a:solidFill>
                  <a:srgbClr val="66C2C1"/>
                </a:solidFill>
                <a:latin typeface="Calibri"/>
                <a:ea typeface="Calibri"/>
              </a:rPr>
              <a:t>04</a:t>
            </a:r>
          </a:p>
        </p:txBody>
      </p:sp>
      <p:sp>
        <p:nvSpPr>
          <p:cNvPr id="17" name="TextBox 16"/>
          <p:cNvSpPr txBox="1"/>
          <p:nvPr/>
        </p:nvSpPr>
        <p:spPr>
          <a:xfrm>
            <a:off x="9345168" y="5120640"/>
            <a:ext cx="2468880" cy="438912"/>
          </a:xfrm>
          <a:prstGeom prst="rect">
            <a:avLst/>
          </a:prstGeom>
          <a:noFill/>
          <a:effectLst/>
        </p:spPr>
        <p:txBody>
          <a:bodyPr wrap="square" lIns="0" rIns="0" tIns="0" bIns="0" anchor="t">
            <a:spAutoFit/>
          </a:bodyPr>
          <a:lstStyle/>
          <a:p>
            <a:pPr algn="l">
              <a:lnSpc>
                <a:spcPct val="112000"/>
              </a:lnSpc>
              <a:spcBef>
                <a:spcPts val="0"/>
              </a:spcBef>
              <a:spcAft>
                <a:spcPts val="400"/>
              </a:spcAft>
            </a:pPr>
            <a:r>
              <a:rPr sz="2400" b="1" lang="en-US">
                <a:solidFill>
                  <a:srgbClr val="FFFFFF"/>
                </a:solidFill>
                <a:latin typeface="Calibri"/>
                <a:ea typeface="Calibri"/>
              </a:rPr>
              <a:t>Confidence</a:t>
            </a:r>
          </a:p>
        </p:txBody>
      </p:sp>
      <p:sp>
        <p:nvSpPr>
          <p:cNvPr id="18" name="TextBox 17"/>
          <p:cNvSpPr txBox="1"/>
          <p:nvPr/>
        </p:nvSpPr>
        <p:spPr>
          <a:xfrm>
            <a:off x="9345168" y="5669280"/>
            <a:ext cx="246888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0" lang="en-US">
                <a:solidFill>
                  <a:srgbClr val="B4C6D5"/>
                </a:solidFill>
                <a:latin typeface="Calibri"/>
                <a:ea typeface="Calibri"/>
              </a:rPr>
              <a:t>2 min 30 sec</a:t>
            </a:r>
          </a:p>
        </p:txBody>
      </p:sp>
      <p:cxnSp>
        <p:nvCxnSpPr>
          <p:cNvPr id="19" name="Connector 18"/>
          <p:cNvCxnSpPr/>
          <p:nvPr/>
        </p:nvCxnSpPr>
        <p:spPr>
          <a:xfrm>
            <a:off x="585216" y="6419088"/>
            <a:ext cx="11018520" cy="0"/>
          </a:xfrm>
          <a:prstGeom prst="line">
            <a:avLst/>
          </a:prstGeom>
          <a:ln w="10160">
            <a:solidFill>
              <a:srgbClr val="42607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B4C6D5"/>
                </a:solidFill>
                <a:latin typeface="Calibri"/>
                <a:ea typeface="Calibri"/>
              </a:rPr>
              <a:t>Zhuohua LI · A Clean Proof for Dueling Bandits · February 2026 · §§1–4</a:t>
            </a:r>
          </a:p>
        </p:txBody>
      </p:sp>
      <p:sp>
        <p:nvSpPr>
          <p:cNvPr id="21" name="TextBox 20"/>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B4C6D5"/>
                </a:solidFill>
                <a:latin typeface="Calibri"/>
                <a:ea typeface="Calibri"/>
              </a:rPr>
              <a:t>10 sec   ·   01 / 13</a:t>
            </a:r>
          </a:p>
        </p:txBody>
      </p:sp>
      <p:sp>
        <p:nvSpPr>
          <p:cNvPr id="22" name="Rectangle 21"/>
          <p:cNvSpPr/>
          <p:nvPr/>
        </p:nvSpPr>
        <p:spPr>
          <a:xfrm>
            <a:off x="612648"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97280"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581912"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66544"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007E87"/>
                </a:solidFill>
                <a:latin typeface="Calibri"/>
                <a:ea typeface="Calibri"/>
              </a:rPr>
              <a:t>CONTENTS  /  TALK OUTLINE</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400" b="1" lang="en-US">
                <a:solidFill>
                  <a:srgbClr val="16263B"/>
                </a:solidFill>
                <a:latin typeface="Calibri"/>
                <a:ea typeface="Calibri"/>
              </a:rPr>
              <a:t>Contents</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637187"/>
                </a:solidFill>
                <a:latin typeface="Calibri"/>
                <a:ea typeface="Calibri"/>
              </a:rPr>
              <a:t>Four questions connect preference feedback to confidence-based decisions.</a:t>
            </a:r>
          </a:p>
        </p:txBody>
      </p:sp>
      <p:sp>
        <p:nvSpPr>
          <p:cNvPr id="5" name="Rounded Rectangle 4"/>
          <p:cNvSpPr/>
          <p:nvPr/>
        </p:nvSpPr>
        <p:spPr>
          <a:xfrm>
            <a:off x="640080" y="2148840"/>
            <a:ext cx="10917936"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286000"/>
            <a:ext cx="41148" cy="566928"/>
          </a:xfrm>
          <a:prstGeom prst="rect">
            <a:avLst/>
          </a:prstGeom>
          <a:solidFill>
            <a:srgbClr val="007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359152"/>
            <a:ext cx="658368"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2700" b="1" lang="en-US">
                <a:solidFill>
                  <a:srgbClr val="007E87"/>
                </a:solidFill>
                <a:latin typeface="Calibri"/>
                <a:ea typeface="Calibri"/>
              </a:rPr>
              <a:t>01</a:t>
            </a:r>
          </a:p>
        </p:txBody>
      </p:sp>
      <p:sp>
        <p:nvSpPr>
          <p:cNvPr id="8" name="TextBox 7"/>
          <p:cNvSpPr txBox="1"/>
          <p:nvPr/>
        </p:nvSpPr>
        <p:spPr>
          <a:xfrm>
            <a:off x="1728216" y="2258568"/>
            <a:ext cx="7754112" cy="338328"/>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1" lang="en-US">
                <a:solidFill>
                  <a:srgbClr val="16263B"/>
                </a:solidFill>
                <a:latin typeface="Calibri"/>
                <a:ea typeface="Calibri"/>
              </a:rPr>
              <a:t>Problem Setup: Contextual Dueling Bandits</a:t>
            </a:r>
          </a:p>
        </p:txBody>
      </p:sp>
      <p:sp>
        <p:nvSpPr>
          <p:cNvPr id="9" name="TextBox 8"/>
          <p:cNvSpPr txBox="1"/>
          <p:nvPr/>
        </p:nvSpPr>
        <p:spPr>
          <a:xfrm>
            <a:off x="1746504" y="2660904"/>
            <a:ext cx="7680960" cy="265176"/>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0" lang="en-US">
                <a:solidFill>
                  <a:srgbClr val="637187"/>
                </a:solidFill>
                <a:latin typeface="Calibri"/>
                <a:ea typeface="Calibri"/>
              </a:rPr>
              <a:t>What we observe: arm features, pairwise preferences and regret</a:t>
            </a:r>
          </a:p>
        </p:txBody>
      </p:sp>
      <p:sp>
        <p:nvSpPr>
          <p:cNvPr id="10" name="TextBox 9"/>
          <p:cNvSpPr txBox="1"/>
          <p:nvPr/>
        </p:nvSpPr>
        <p:spPr>
          <a:xfrm>
            <a:off x="9710928" y="2322576"/>
            <a:ext cx="1536192" cy="292608"/>
          </a:xfrm>
          <a:prstGeom prst="rect">
            <a:avLst/>
          </a:prstGeom>
          <a:noFill/>
          <a:effectLst/>
        </p:spPr>
        <p:txBody>
          <a:bodyPr wrap="square" lIns="0" rIns="0" tIns="0" bIns="0" anchor="t">
            <a:spAutoFit/>
          </a:bodyPr>
          <a:lstStyle/>
          <a:p>
            <a:pPr algn="r">
              <a:lnSpc>
                <a:spcPct val="112000"/>
              </a:lnSpc>
              <a:spcBef>
                <a:spcPts val="0"/>
              </a:spcBef>
              <a:spcAft>
                <a:spcPts val="400"/>
              </a:spcAft>
            </a:pPr>
            <a:r>
              <a:rPr sz="1700" b="1" lang="en-US">
                <a:solidFill>
                  <a:srgbClr val="007E87"/>
                </a:solidFill>
                <a:latin typeface="Calibri"/>
                <a:ea typeface="Calibri"/>
              </a:rPr>
              <a:t>Slides 03–04</a:t>
            </a:r>
          </a:p>
        </p:txBody>
      </p:sp>
      <p:sp>
        <p:nvSpPr>
          <p:cNvPr id="11" name="TextBox 10"/>
          <p:cNvSpPr txBox="1"/>
          <p:nvPr/>
        </p:nvSpPr>
        <p:spPr>
          <a:xfrm>
            <a:off x="9710928" y="2688336"/>
            <a:ext cx="1536192"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200" b="0" lang="en-US">
                <a:solidFill>
                  <a:srgbClr val="637187"/>
                </a:solidFill>
                <a:latin typeface="Calibri"/>
                <a:ea typeface="Calibri"/>
              </a:rPr>
              <a:t>2 min 10 sec</a:t>
            </a:r>
          </a:p>
        </p:txBody>
      </p:sp>
      <p:sp>
        <p:nvSpPr>
          <p:cNvPr id="12" name="Rounded Rectangle 11"/>
          <p:cNvSpPr/>
          <p:nvPr/>
        </p:nvSpPr>
        <p:spPr>
          <a:xfrm>
            <a:off x="640080" y="3118104"/>
            <a:ext cx="10917936"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255264"/>
            <a:ext cx="41148" cy="566928"/>
          </a:xfrm>
          <a:prstGeom prst="rect">
            <a:avLst/>
          </a:prstGeom>
          <a:solidFill>
            <a:srgbClr val="B577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328416"/>
            <a:ext cx="658368"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2700" b="1" lang="en-US">
                <a:solidFill>
                  <a:srgbClr val="B57725"/>
                </a:solidFill>
                <a:latin typeface="Calibri"/>
                <a:ea typeface="Calibri"/>
              </a:rPr>
              <a:t>02</a:t>
            </a:r>
          </a:p>
        </p:txBody>
      </p:sp>
      <p:sp>
        <p:nvSpPr>
          <p:cNvPr id="15" name="TextBox 14"/>
          <p:cNvSpPr txBox="1"/>
          <p:nvPr/>
        </p:nvSpPr>
        <p:spPr>
          <a:xfrm>
            <a:off x="1728216" y="3227832"/>
            <a:ext cx="7754112" cy="338328"/>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1" lang="en-US">
                <a:solidFill>
                  <a:srgbClr val="16263B"/>
                </a:solidFill>
                <a:latin typeface="Calibri"/>
                <a:ea typeface="Calibri"/>
              </a:rPr>
              <a:t>Assumptions</a:t>
            </a:r>
          </a:p>
        </p:txBody>
      </p:sp>
      <p:sp>
        <p:nvSpPr>
          <p:cNvPr id="16" name="TextBox 15"/>
          <p:cNvSpPr txBox="1"/>
          <p:nvPr/>
        </p:nvSpPr>
        <p:spPr>
          <a:xfrm>
            <a:off x="1746504" y="3630168"/>
            <a:ext cx="7680960" cy="265176"/>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0" lang="en-US">
                <a:solidFill>
                  <a:srgbClr val="637187"/>
                </a:solidFill>
                <a:latin typeface="Calibri"/>
                <a:ea typeface="Calibri"/>
              </a:rPr>
              <a:t>What we assume: boundedness and a local curvature lower bound</a:t>
            </a:r>
          </a:p>
        </p:txBody>
      </p:sp>
      <p:sp>
        <p:nvSpPr>
          <p:cNvPr id="17" name="TextBox 16"/>
          <p:cNvSpPr txBox="1"/>
          <p:nvPr/>
        </p:nvSpPr>
        <p:spPr>
          <a:xfrm>
            <a:off x="9710928" y="3291840"/>
            <a:ext cx="1536192" cy="292608"/>
          </a:xfrm>
          <a:prstGeom prst="rect">
            <a:avLst/>
          </a:prstGeom>
          <a:noFill/>
          <a:effectLst/>
        </p:spPr>
        <p:txBody>
          <a:bodyPr wrap="square" lIns="0" rIns="0" tIns="0" bIns="0" anchor="t">
            <a:spAutoFit/>
          </a:bodyPr>
          <a:lstStyle/>
          <a:p>
            <a:pPr algn="r">
              <a:lnSpc>
                <a:spcPct val="112000"/>
              </a:lnSpc>
              <a:spcBef>
                <a:spcPts val="0"/>
              </a:spcBef>
              <a:spcAft>
                <a:spcPts val="400"/>
              </a:spcAft>
            </a:pPr>
            <a:r>
              <a:rPr sz="1700" b="1" lang="en-US">
                <a:solidFill>
                  <a:srgbClr val="B57725"/>
                </a:solidFill>
                <a:latin typeface="Calibri"/>
                <a:ea typeface="Calibri"/>
              </a:rPr>
              <a:t>Slides 05–06</a:t>
            </a:r>
          </a:p>
        </p:txBody>
      </p:sp>
      <p:sp>
        <p:nvSpPr>
          <p:cNvPr id="18" name="TextBox 17"/>
          <p:cNvSpPr txBox="1"/>
          <p:nvPr/>
        </p:nvSpPr>
        <p:spPr>
          <a:xfrm>
            <a:off x="9710928" y="3657600"/>
            <a:ext cx="1536192"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200" b="0" lang="en-US">
                <a:solidFill>
                  <a:srgbClr val="637187"/>
                </a:solidFill>
                <a:latin typeface="Calibri"/>
                <a:ea typeface="Calibri"/>
              </a:rPr>
              <a:t>2 min 10 sec</a:t>
            </a:r>
          </a:p>
        </p:txBody>
      </p:sp>
      <p:sp>
        <p:nvSpPr>
          <p:cNvPr id="19" name="Rounded Rectangle 18"/>
          <p:cNvSpPr/>
          <p:nvPr/>
        </p:nvSpPr>
        <p:spPr>
          <a:xfrm>
            <a:off x="640080" y="4087368"/>
            <a:ext cx="10917936"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224528"/>
            <a:ext cx="41148" cy="566928"/>
          </a:xfrm>
          <a:prstGeom prst="rect">
            <a:avLst/>
          </a:prstGeom>
          <a:solidFill>
            <a:srgbClr val="4B62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4297680"/>
            <a:ext cx="658368"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2700" b="1" lang="en-US">
                <a:solidFill>
                  <a:srgbClr val="4B62B5"/>
                </a:solidFill>
                <a:latin typeface="Calibri"/>
                <a:ea typeface="Calibri"/>
              </a:rPr>
              <a:t>03</a:t>
            </a:r>
          </a:p>
        </p:txBody>
      </p:sp>
      <p:sp>
        <p:nvSpPr>
          <p:cNvPr id="22" name="TextBox 21"/>
          <p:cNvSpPr txBox="1"/>
          <p:nvPr/>
        </p:nvSpPr>
        <p:spPr>
          <a:xfrm>
            <a:off x="1728216" y="4197096"/>
            <a:ext cx="7754112" cy="338328"/>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1" lang="en-US">
                <a:solidFill>
                  <a:srgbClr val="16263B"/>
                </a:solidFill>
                <a:latin typeface="Calibri"/>
                <a:ea typeface="Calibri"/>
              </a:rPr>
              <a:t>Algorithm: Ridge-MLE Dueling UCB</a:t>
            </a:r>
          </a:p>
        </p:txBody>
      </p:sp>
      <p:sp>
        <p:nvSpPr>
          <p:cNvPr id="23" name="TextBox 22"/>
          <p:cNvSpPr txBox="1"/>
          <p:nvPr/>
        </p:nvSpPr>
        <p:spPr>
          <a:xfrm>
            <a:off x="1746504" y="4599432"/>
            <a:ext cx="7680960" cy="265176"/>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0" lang="en-US">
                <a:solidFill>
                  <a:srgbClr val="637187"/>
                </a:solidFill>
                <a:latin typeface="Calibri"/>
                <a:ea typeface="Calibri"/>
              </a:rPr>
              <a:t>How we choose: parameter estimation, a greedy arm and a UCB challenger</a:t>
            </a:r>
          </a:p>
        </p:txBody>
      </p:sp>
      <p:sp>
        <p:nvSpPr>
          <p:cNvPr id="24" name="TextBox 23"/>
          <p:cNvSpPr txBox="1"/>
          <p:nvPr/>
        </p:nvSpPr>
        <p:spPr>
          <a:xfrm>
            <a:off x="9710928" y="4261104"/>
            <a:ext cx="1536192" cy="292608"/>
          </a:xfrm>
          <a:prstGeom prst="rect">
            <a:avLst/>
          </a:prstGeom>
          <a:noFill/>
          <a:effectLst/>
        </p:spPr>
        <p:txBody>
          <a:bodyPr wrap="square" lIns="0" rIns="0" tIns="0" bIns="0" anchor="t">
            <a:spAutoFit/>
          </a:bodyPr>
          <a:lstStyle/>
          <a:p>
            <a:pPr algn="r">
              <a:lnSpc>
                <a:spcPct val="112000"/>
              </a:lnSpc>
              <a:spcBef>
                <a:spcPts val="0"/>
              </a:spcBef>
              <a:spcAft>
                <a:spcPts val="400"/>
              </a:spcAft>
            </a:pPr>
            <a:r>
              <a:rPr sz="1700" b="1" lang="en-US">
                <a:solidFill>
                  <a:srgbClr val="4B62B5"/>
                </a:solidFill>
                <a:latin typeface="Calibri"/>
                <a:ea typeface="Calibri"/>
              </a:rPr>
              <a:t>Slides 07–09</a:t>
            </a:r>
          </a:p>
        </p:txBody>
      </p:sp>
      <p:sp>
        <p:nvSpPr>
          <p:cNvPr id="25" name="TextBox 24"/>
          <p:cNvSpPr txBox="1"/>
          <p:nvPr/>
        </p:nvSpPr>
        <p:spPr>
          <a:xfrm>
            <a:off x="9710928" y="4626864"/>
            <a:ext cx="1536192"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200" b="0" lang="en-US">
                <a:solidFill>
                  <a:srgbClr val="637187"/>
                </a:solidFill>
                <a:latin typeface="Calibri"/>
                <a:ea typeface="Calibri"/>
              </a:rPr>
              <a:t>2 min 30 sec</a:t>
            </a:r>
          </a:p>
        </p:txBody>
      </p:sp>
      <p:sp>
        <p:nvSpPr>
          <p:cNvPr id="26" name="Rounded Rectangle 25"/>
          <p:cNvSpPr/>
          <p:nvPr/>
        </p:nvSpPr>
        <p:spPr>
          <a:xfrm>
            <a:off x="640080" y="5056632"/>
            <a:ext cx="10917936"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5193792"/>
            <a:ext cx="41148" cy="566928"/>
          </a:xfrm>
          <a:prstGeom prst="rect">
            <a:avLst/>
          </a:prstGeom>
          <a:solidFill>
            <a:srgbClr val="087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5266944"/>
            <a:ext cx="658368"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2700" b="1" lang="en-US">
                <a:solidFill>
                  <a:srgbClr val="087EA7"/>
                </a:solidFill>
                <a:latin typeface="Calibri"/>
                <a:ea typeface="Calibri"/>
              </a:rPr>
              <a:t>04</a:t>
            </a:r>
          </a:p>
        </p:txBody>
      </p:sp>
      <p:sp>
        <p:nvSpPr>
          <p:cNvPr id="29" name="TextBox 28"/>
          <p:cNvSpPr txBox="1"/>
          <p:nvPr/>
        </p:nvSpPr>
        <p:spPr>
          <a:xfrm>
            <a:off x="1728216" y="5166360"/>
            <a:ext cx="7754112" cy="338328"/>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1" lang="en-US">
                <a:solidFill>
                  <a:srgbClr val="16263B"/>
                </a:solidFill>
                <a:latin typeface="Calibri"/>
                <a:ea typeface="Calibri"/>
              </a:rPr>
              <a:t>Confidence Bound</a:t>
            </a:r>
          </a:p>
        </p:txBody>
      </p:sp>
      <p:sp>
        <p:nvSpPr>
          <p:cNvPr id="30" name="TextBox 29"/>
          <p:cNvSpPr txBox="1"/>
          <p:nvPr/>
        </p:nvSpPr>
        <p:spPr>
          <a:xfrm>
            <a:off x="1746504" y="5568696"/>
            <a:ext cx="7680960" cy="265176"/>
          </a:xfrm>
          <a:prstGeom prst="rect">
            <a:avLst/>
          </a:prstGeom>
          <a:noFill/>
          <a:effectLst/>
        </p:spPr>
        <p:txBody>
          <a:bodyPr wrap="square" lIns="0" rIns="0" tIns="0" bIns="0" anchor="t">
            <a:spAutoFit/>
          </a:bodyPr>
          <a:lstStyle/>
          <a:p>
            <a:pPr algn="l">
              <a:lnSpc>
                <a:spcPct val="112000"/>
              </a:lnSpc>
              <a:spcBef>
                <a:spcPts val="0"/>
              </a:spcBef>
              <a:spcAft>
                <a:spcPts val="400"/>
              </a:spcAft>
            </a:pPr>
            <a:r>
              <a:rPr sz="1500" b="0" lang="en-US">
                <a:solidFill>
                  <a:srgbClr val="637187"/>
                </a:solidFill>
                <a:latin typeface="Calibri"/>
                <a:ea typeface="Calibri"/>
              </a:rPr>
              <a:t>Why it works: a parameter ellipsoid and a pairwise utility bound</a:t>
            </a:r>
          </a:p>
        </p:txBody>
      </p:sp>
      <p:sp>
        <p:nvSpPr>
          <p:cNvPr id="31" name="TextBox 30"/>
          <p:cNvSpPr txBox="1"/>
          <p:nvPr/>
        </p:nvSpPr>
        <p:spPr>
          <a:xfrm>
            <a:off x="9710928" y="5230368"/>
            <a:ext cx="1536192" cy="292608"/>
          </a:xfrm>
          <a:prstGeom prst="rect">
            <a:avLst/>
          </a:prstGeom>
          <a:noFill/>
          <a:effectLst/>
        </p:spPr>
        <p:txBody>
          <a:bodyPr wrap="square" lIns="0" rIns="0" tIns="0" bIns="0" anchor="t">
            <a:spAutoFit/>
          </a:bodyPr>
          <a:lstStyle/>
          <a:p>
            <a:pPr algn="r">
              <a:lnSpc>
                <a:spcPct val="112000"/>
              </a:lnSpc>
              <a:spcBef>
                <a:spcPts val="0"/>
              </a:spcBef>
              <a:spcAft>
                <a:spcPts val="400"/>
              </a:spcAft>
            </a:pPr>
            <a:r>
              <a:rPr sz="1700" b="1" lang="en-US">
                <a:solidFill>
                  <a:srgbClr val="087EA7"/>
                </a:solidFill>
                <a:latin typeface="Calibri"/>
                <a:ea typeface="Calibri"/>
              </a:rPr>
              <a:t>Slides 10–12</a:t>
            </a:r>
          </a:p>
        </p:txBody>
      </p:sp>
      <p:sp>
        <p:nvSpPr>
          <p:cNvPr id="32" name="TextBox 31"/>
          <p:cNvSpPr txBox="1"/>
          <p:nvPr/>
        </p:nvSpPr>
        <p:spPr>
          <a:xfrm>
            <a:off x="9710928" y="5596128"/>
            <a:ext cx="1536192"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200" b="0" lang="en-US">
                <a:solidFill>
                  <a:srgbClr val="637187"/>
                </a:solidFill>
                <a:latin typeface="Calibri"/>
                <a:ea typeface="Calibri"/>
              </a:rPr>
              <a:t>2 min 30 sec</a:t>
            </a:r>
          </a:p>
        </p:txBody>
      </p:sp>
      <p:cxnSp>
        <p:nvCxnSpPr>
          <p:cNvPr id="33" name="Connector 32"/>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A Clean Proof for Dueling Bandits · Sections 1–4 · Outline and slide numbers</a:t>
            </a:r>
          </a:p>
        </p:txBody>
      </p:sp>
      <p:sp>
        <p:nvSpPr>
          <p:cNvPr id="35" name="TextBox 34"/>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20 sec   ·   02 / 13</a:t>
            </a:r>
          </a:p>
        </p:txBody>
      </p:sp>
      <p:sp>
        <p:nvSpPr>
          <p:cNvPr id="36" name="Rectangle 35"/>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007E87"/>
                </a:solidFill>
                <a:latin typeface="Calibri"/>
                <a:ea typeface="Calibri"/>
              </a:rPr>
              <a:t>01  PROBLEM SETUP</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Compare two arms; observe one preference</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Contextual: arms have features, and the decision set may change each round.</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1, p.1; Eqs. (1)–(3)</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65 sec   ·   03 / 13</a:t>
            </a:r>
          </a:p>
        </p:txBody>
      </p:sp>
      <p:sp>
        <p:nvSpPr>
          <p:cNvPr id="8" name="Rectangle 7"/>
          <p:cNvSpPr/>
          <p:nvPr/>
        </p:nvSpPr>
        <p:spPr>
          <a:xfrm>
            <a:off x="612648" y="6291072"/>
            <a:ext cx="365760" cy="41148"/>
          </a:xfrm>
          <a:prstGeom prst="rect">
            <a:avLst/>
          </a:prstGeom>
          <a:solidFill>
            <a:srgbClr val="007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21992"/>
            <a:ext cx="3108960" cy="24963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44568" y="2221992"/>
            <a:ext cx="3108960" cy="24963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49056" y="2221992"/>
            <a:ext cx="3108960" cy="24963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7" y="2432304"/>
            <a:ext cx="2423160" cy="310896"/>
          </a:xfrm>
          <a:prstGeom prst="roundRect">
            <a:avLst>
              <a:gd name="adj" fmla="val 10000"/>
            </a:avLst>
          </a:prstGeom>
          <a:solidFill>
            <a:srgbClr val="E5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2473452"/>
            <a:ext cx="2258568"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07E87"/>
                </a:solidFill>
                <a:latin typeface="Calibri"/>
                <a:ea typeface="Calibri"/>
              </a:rPr>
              <a:t>1  Observe the arm set</a:t>
            </a:r>
          </a:p>
        </p:txBody>
      </p:sp>
      <p:sp>
        <p:nvSpPr>
          <p:cNvPr id="17" name="Rounded Rectangle 16"/>
          <p:cNvSpPr/>
          <p:nvPr/>
        </p:nvSpPr>
        <p:spPr>
          <a:xfrm>
            <a:off x="4745736" y="2432304"/>
            <a:ext cx="2423160" cy="310896"/>
          </a:xfrm>
          <a:prstGeom prst="roundRect">
            <a:avLst>
              <a:gd name="adj" fmla="val 10000"/>
            </a:avLst>
          </a:prstGeom>
          <a:solidFill>
            <a:srgbClr val="E5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28031" y="2473452"/>
            <a:ext cx="2258568"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07E87"/>
                </a:solidFill>
                <a:latin typeface="Calibri"/>
                <a:ea typeface="Calibri"/>
              </a:rPr>
              <a:t>2  Select a pair</a:t>
            </a:r>
          </a:p>
        </p:txBody>
      </p:sp>
      <p:sp>
        <p:nvSpPr>
          <p:cNvPr id="19" name="Rounded Rectangle 18"/>
          <p:cNvSpPr/>
          <p:nvPr/>
        </p:nvSpPr>
        <p:spPr>
          <a:xfrm>
            <a:off x="8650224" y="2432304"/>
            <a:ext cx="2423160" cy="310896"/>
          </a:xfrm>
          <a:prstGeom prst="roundRect">
            <a:avLst>
              <a:gd name="adj" fmla="val 10000"/>
            </a:avLst>
          </a:prstGeom>
          <a:solidFill>
            <a:srgbClr val="E5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2473452"/>
            <a:ext cx="2258568"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07E87"/>
                </a:solidFill>
                <a:latin typeface="Calibri"/>
                <a:ea typeface="Calibri"/>
              </a:rPr>
              <a:t>3  Observe a preference</a:t>
            </a:r>
          </a:p>
        </p:txBody>
      </p:sp>
      <p:pic>
        <p:nvPicPr>
          <p:cNvPr id="21" name="Equation 1: \mathcal{X}_t\subseteq\mathbb{R}^{d}" descr="equation-001.png"/>
          <p:cNvPicPr>
            <a:picLocks noChangeAspect="1"/>
          </p:cNvPicPr>
          <p:nvPr/>
        </p:nvPicPr>
        <p:blipFill>
          <a:blip r:embed="rId2"/>
          <a:stretch>
            <a:fillRect/>
          </a:stretch>
        </p:blipFill>
        <p:spPr>
          <a:xfrm>
            <a:off x="877824" y="3017520"/>
            <a:ext cx="1299210" cy="461010"/>
          </a:xfrm>
          <a:prstGeom prst="rect">
            <a:avLst/>
          </a:prstGeom>
          <a:effectLst/>
        </p:spPr>
      </p:pic>
      <p:sp>
        <p:nvSpPr>
          <p:cNvPr id="22" name="TextBox 21"/>
          <p:cNvSpPr txBox="1"/>
          <p:nvPr/>
        </p:nvSpPr>
        <p:spPr>
          <a:xfrm>
            <a:off x="877824" y="3813048"/>
            <a:ext cx="2724912" cy="6858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16263B"/>
                </a:solidFill>
                <a:latin typeface="Calibri"/>
                <a:ea typeface="Calibri"/>
              </a:rPr>
              <a:t>Each arm has features x.</a:t>
            </a:r>
          </a:p>
        </p:txBody>
      </p:sp>
      <p:pic>
        <p:nvPicPr>
          <p:cNvPr id="23" name="Equation 2: x_{t,1},\ x_{t,2}\in\mathcal{X}_t" descr="equation-002.png"/>
          <p:cNvPicPr>
            <a:picLocks noChangeAspect="1"/>
          </p:cNvPicPr>
          <p:nvPr/>
        </p:nvPicPr>
        <p:blipFill>
          <a:blip r:embed="rId3"/>
          <a:stretch>
            <a:fillRect/>
          </a:stretch>
        </p:blipFill>
        <p:spPr>
          <a:xfrm>
            <a:off x="4764024" y="3017520"/>
            <a:ext cx="1985010" cy="411480"/>
          </a:xfrm>
          <a:prstGeom prst="rect">
            <a:avLst/>
          </a:prstGeom>
          <a:effectLst/>
        </p:spPr>
      </p:pic>
      <p:sp>
        <p:nvSpPr>
          <p:cNvPr id="24" name="TextBox 23"/>
          <p:cNvSpPr txBox="1"/>
          <p:nvPr/>
        </p:nvSpPr>
        <p:spPr>
          <a:xfrm>
            <a:off x="4782312" y="3813048"/>
            <a:ext cx="2724912" cy="6858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16263B"/>
                </a:solidFill>
                <a:latin typeface="Calibri"/>
                <a:ea typeface="Calibri"/>
              </a:rPr>
              <a:t>Example: two recommendations.</a:t>
            </a:r>
          </a:p>
        </p:txBody>
      </p:sp>
      <p:pic>
        <p:nvPicPr>
          <p:cNvPr id="25" name="Equation 3: y_t\in\{0,1\}" descr="equation-003.png"/>
          <p:cNvPicPr>
            <a:picLocks noChangeAspect="1"/>
          </p:cNvPicPr>
          <p:nvPr/>
        </p:nvPicPr>
        <p:blipFill>
          <a:blip r:embed="rId4"/>
          <a:stretch>
            <a:fillRect/>
          </a:stretch>
        </p:blipFill>
        <p:spPr>
          <a:xfrm>
            <a:off x="8686800" y="3017520"/>
            <a:ext cx="1653540" cy="434340"/>
          </a:xfrm>
          <a:prstGeom prst="rect">
            <a:avLst/>
          </a:prstGeom>
          <a:effectLst/>
        </p:spPr>
      </p:pic>
      <p:sp>
        <p:nvSpPr>
          <p:cNvPr id="26" name="TextBox 25"/>
          <p:cNvSpPr txBox="1"/>
          <p:nvPr/>
        </p:nvSpPr>
        <p:spPr>
          <a:xfrm>
            <a:off x="8668512" y="3813048"/>
            <a:ext cx="2743200" cy="6858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16263B"/>
                </a:solidFill>
                <a:latin typeface="Calibri"/>
                <a:ea typeface="Calibri"/>
              </a:rPr>
              <a:t>y = 1: the first arm wins.</a:t>
            </a:r>
          </a:p>
        </p:txBody>
      </p:sp>
      <p:cxnSp>
        <p:nvCxnSpPr>
          <p:cNvPr id="27" name="Connector 26"/>
          <p:cNvCxnSpPr/>
          <p:nvPr/>
        </p:nvCxnSpPr>
        <p:spPr>
          <a:xfrm>
            <a:off x="3877056" y="3401568"/>
            <a:ext cx="512064" cy="0"/>
          </a:xfrm>
          <a:prstGeom prst="line">
            <a:avLst/>
          </a:prstGeom>
          <a:ln w="30480">
            <a:solidFill>
              <a:srgbClr val="007E8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72400" y="3401568"/>
            <a:ext cx="521208" cy="0"/>
          </a:xfrm>
          <a:prstGeom prst="line">
            <a:avLst/>
          </a:prstGeom>
          <a:ln w="30480">
            <a:solidFill>
              <a:srgbClr val="007E8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40080" y="5001768"/>
            <a:ext cx="10917936" cy="969264"/>
          </a:xfrm>
          <a:prstGeom prst="roundRect">
            <a:avLst>
              <a:gd name="adj" fmla="val 10000"/>
            </a:avLst>
          </a:prstGeom>
          <a:solidFill>
            <a:srgbClr val="E5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5193792"/>
            <a:ext cx="2514600" cy="402336"/>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1" lang="en-US">
                <a:solidFill>
                  <a:srgbClr val="007E87"/>
                </a:solidFill>
                <a:latin typeface="Calibri"/>
                <a:ea typeface="Calibri"/>
              </a:rPr>
              <a:t>Latent utility</a:t>
            </a:r>
          </a:p>
        </p:txBody>
      </p:sp>
      <p:pic>
        <p:nvPicPr>
          <p:cNvPr id="31" name="Equation 4: f(x)=\langle\theta^{\star},x\rangle" descr="equation-004.png"/>
          <p:cNvPicPr>
            <a:picLocks noChangeAspect="1"/>
          </p:cNvPicPr>
          <p:nvPr/>
        </p:nvPicPr>
        <p:blipFill>
          <a:blip r:embed="rId5"/>
          <a:stretch>
            <a:fillRect/>
          </a:stretch>
        </p:blipFill>
        <p:spPr>
          <a:xfrm>
            <a:off x="3310128" y="5184648"/>
            <a:ext cx="1832610" cy="411480"/>
          </a:xfrm>
          <a:prstGeom prst="rect">
            <a:avLst/>
          </a:prstGeom>
          <a:effectLst/>
        </p:spPr>
      </p:pic>
      <p:sp>
        <p:nvSpPr>
          <p:cNvPr id="32" name="TextBox 31"/>
          <p:cNvSpPr txBox="1"/>
          <p:nvPr/>
        </p:nvSpPr>
        <p:spPr>
          <a:xfrm>
            <a:off x="6419088" y="5212080"/>
            <a:ext cx="2221992" cy="365760"/>
          </a:xfrm>
          <a:prstGeom prst="rect">
            <a:avLst/>
          </a:prstGeom>
          <a:noFill/>
          <a:effectLst/>
        </p:spPr>
        <p:txBody>
          <a:bodyPr wrap="square" lIns="0" rIns="0" tIns="0" bIns="0" anchor="t">
            <a:spAutoFit/>
          </a:bodyPr>
          <a:lstStyle/>
          <a:p>
            <a:pPr algn="l">
              <a:lnSpc>
                <a:spcPct val="112000"/>
              </a:lnSpc>
              <a:spcBef>
                <a:spcPts val="0"/>
              </a:spcBef>
              <a:spcAft>
                <a:spcPts val="400"/>
              </a:spcAft>
            </a:pPr>
            <a:r>
              <a:rPr sz="1600" b="0" lang="en-US">
                <a:solidFill>
                  <a:srgbClr val="007E87"/>
                </a:solidFill>
                <a:latin typeface="Calibri"/>
                <a:ea typeface="Calibri"/>
              </a:rPr>
              <a:t>Difference feature</a:t>
            </a:r>
          </a:p>
        </p:txBody>
      </p:sp>
      <p:pic>
        <p:nvPicPr>
          <p:cNvPr id="33" name="Equation 5: \widetilde{x}_t=x_{t,1}-x_{t,2}" descr="equation-005.png"/>
          <p:cNvPicPr>
            <a:picLocks noChangeAspect="1"/>
          </p:cNvPicPr>
          <p:nvPr/>
        </p:nvPicPr>
        <p:blipFill>
          <a:blip r:embed="rId6"/>
          <a:stretch>
            <a:fillRect/>
          </a:stretch>
        </p:blipFill>
        <p:spPr>
          <a:xfrm>
            <a:off x="8321040" y="5221224"/>
            <a:ext cx="1744980" cy="373380"/>
          </a:xfrm>
          <a:prstGeom prst="rect">
            <a:avLst/>
          </a:prstGeom>
          <a:effectLst/>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007E87"/>
                </a:solidFill>
                <a:latin typeface="Calibri"/>
                <a:ea typeface="Calibri"/>
              </a:rPr>
              <a:t>01  PROBLEM SETUP</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Preference probabilities and utility regret</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Win probabilities describe the feedback; regret measures the quality of our choices.</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1, p.1; BTL model and regret definition</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65 sec   ·   04 / 13</a:t>
            </a:r>
          </a:p>
        </p:txBody>
      </p:sp>
      <p:sp>
        <p:nvSpPr>
          <p:cNvPr id="8" name="Rectangle 7"/>
          <p:cNvSpPr/>
          <p:nvPr/>
        </p:nvSpPr>
        <p:spPr>
          <a:xfrm>
            <a:off x="612648" y="6291072"/>
            <a:ext cx="365760" cy="41148"/>
          </a:xfrm>
          <a:prstGeom prst="rect">
            <a:avLst/>
          </a:prstGeom>
          <a:solidFill>
            <a:srgbClr val="007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194560"/>
            <a:ext cx="5276088" cy="375818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08192" y="2194560"/>
            <a:ext cx="5449824" cy="375818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59536" y="2395728"/>
            <a:ext cx="2496312" cy="310896"/>
          </a:xfrm>
          <a:prstGeom prst="roundRect">
            <a:avLst>
              <a:gd name="adj" fmla="val 10000"/>
            </a:avLst>
          </a:prstGeom>
          <a:solidFill>
            <a:srgbClr val="E5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436876"/>
            <a:ext cx="2331720"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07E87"/>
                </a:solidFill>
                <a:latin typeface="Calibri"/>
                <a:ea typeface="Calibri"/>
              </a:rPr>
              <a:t>LOGISTIC / BTL FEEDBACK</a:t>
            </a:r>
          </a:p>
        </p:txBody>
      </p:sp>
      <p:pic>
        <p:nvPicPr>
          <p:cNvPr id="16" name="Equation 6: \Pr(y_t=1\mid\mathcal{F}_{t-1})=\mu(\langle\theta^{\star},\widetilde{x}_t\rangle)" descr="equation-006.png"/>
          <p:cNvPicPr>
            <a:picLocks noChangeAspect="1"/>
          </p:cNvPicPr>
          <p:nvPr/>
        </p:nvPicPr>
        <p:blipFill>
          <a:blip r:embed="rId2"/>
          <a:stretch>
            <a:fillRect/>
          </a:stretch>
        </p:blipFill>
        <p:spPr>
          <a:xfrm>
            <a:off x="859536" y="2889504"/>
            <a:ext cx="3688080" cy="396240"/>
          </a:xfrm>
          <a:prstGeom prst="rect">
            <a:avLst/>
          </a:prstGeom>
          <a:effectLst/>
        </p:spPr>
      </p:pic>
      <p:pic>
        <p:nvPicPr>
          <p:cNvPr id="17" name="Equation 7: \mu(z)=\frac{1}{1+e^{-z}}" descr="equation-007.png"/>
          <p:cNvPicPr>
            <a:picLocks noChangeAspect="1"/>
          </p:cNvPicPr>
          <p:nvPr/>
        </p:nvPicPr>
        <p:blipFill>
          <a:blip r:embed="rId3"/>
          <a:stretch>
            <a:fillRect/>
          </a:stretch>
        </p:blipFill>
        <p:spPr>
          <a:xfrm>
            <a:off x="877824" y="3410712"/>
            <a:ext cx="1539240" cy="487680"/>
          </a:xfrm>
          <a:prstGeom prst="rect">
            <a:avLst/>
          </a:prstGeom>
          <a:effectLst/>
        </p:spPr>
      </p:pic>
      <p:pic>
        <p:nvPicPr>
          <p:cNvPr id="18" name="Picture 17" descr="logistic-link.png"/>
          <p:cNvPicPr>
            <a:picLocks noChangeAspect="1"/>
          </p:cNvPicPr>
          <p:nvPr/>
        </p:nvPicPr>
        <p:blipFill>
          <a:blip r:embed="rId4"/>
          <a:stretch>
            <a:fillRect/>
          </a:stretch>
        </p:blipFill>
        <p:spPr>
          <a:xfrm>
            <a:off x="932688" y="3931920"/>
            <a:ext cx="4535424" cy="1627632"/>
          </a:xfrm>
          <a:prstGeom prst="rect">
            <a:avLst/>
          </a:prstGeom>
          <a:effectLst/>
        </p:spPr>
      </p:pic>
      <p:sp>
        <p:nvSpPr>
          <p:cNvPr id="19" name="TextBox 18"/>
          <p:cNvSpPr txBox="1"/>
          <p:nvPr/>
        </p:nvSpPr>
        <p:spPr>
          <a:xfrm>
            <a:off x="896112" y="5605272"/>
            <a:ext cx="4745736"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0" lang="en-US">
                <a:solidFill>
                  <a:srgbClr val="637187"/>
                </a:solidFill>
                <a:latin typeface="Calibri"/>
                <a:ea typeface="Calibri"/>
              </a:rPr>
              <a:t>Equal utility: 50% wins. Higher utility: a higher win probability.</a:t>
            </a:r>
          </a:p>
        </p:txBody>
      </p:sp>
      <p:sp>
        <p:nvSpPr>
          <p:cNvPr id="20" name="Rounded Rectangle 19"/>
          <p:cNvSpPr/>
          <p:nvPr/>
        </p:nvSpPr>
        <p:spPr>
          <a:xfrm>
            <a:off x="6345936" y="2395728"/>
            <a:ext cx="4261104" cy="310896"/>
          </a:xfrm>
          <a:prstGeom prst="roundRect">
            <a:avLst>
              <a:gd name="adj" fmla="val 10000"/>
            </a:avLst>
          </a:prstGeom>
          <a:solidFill>
            <a:srgbClr val="E5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2436876"/>
            <a:ext cx="4096512"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07E87"/>
                </a:solidFill>
                <a:latin typeface="Calibri"/>
                <a:ea typeface="Calibri"/>
              </a:rPr>
              <a:t>OBJECTIVE: BOTH ARMS SHOULD BE GOOD</a:t>
            </a:r>
          </a:p>
        </p:txBody>
      </p:sp>
      <p:pic>
        <p:nvPicPr>
          <p:cNvPr id="22" name="Equation 8: x_t^{\star}\in\arg\max_{x\in\mathcal{X}_t}f(x)" descr="equation-008.png"/>
          <p:cNvPicPr>
            <a:picLocks noChangeAspect="1"/>
          </p:cNvPicPr>
          <p:nvPr/>
        </p:nvPicPr>
        <p:blipFill>
          <a:blip r:embed="rId5"/>
          <a:stretch>
            <a:fillRect/>
          </a:stretch>
        </p:blipFill>
        <p:spPr>
          <a:xfrm>
            <a:off x="6364224" y="2926080"/>
            <a:ext cx="2316480" cy="601980"/>
          </a:xfrm>
          <a:prstGeom prst="rect">
            <a:avLst/>
          </a:prstGeom>
          <a:effectLst/>
        </p:spPr>
      </p:pic>
      <p:sp>
        <p:nvSpPr>
          <p:cNvPr id="23" name="TextBox 22"/>
          <p:cNvSpPr txBox="1"/>
          <p:nvPr/>
        </p:nvSpPr>
        <p:spPr>
          <a:xfrm>
            <a:off x="6364224" y="3666744"/>
            <a:ext cx="4754880" cy="338328"/>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16263B"/>
                </a:solidFill>
                <a:latin typeface="Calibri"/>
                <a:ea typeface="Calibri"/>
              </a:rPr>
              <a:t>Regret = sum of the two utility losses</a:t>
            </a:r>
          </a:p>
        </p:txBody>
      </p:sp>
      <p:pic>
        <p:nvPicPr>
          <p:cNvPr id="24" name="Equation 9: r_t=[f(x_t^{\star})-f(x_{t,1})]" descr="equation-009.png"/>
          <p:cNvPicPr>
            <a:picLocks noChangeAspect="1"/>
          </p:cNvPicPr>
          <p:nvPr/>
        </p:nvPicPr>
        <p:blipFill>
          <a:blip r:embed="rId6"/>
          <a:stretch>
            <a:fillRect/>
          </a:stretch>
        </p:blipFill>
        <p:spPr>
          <a:xfrm>
            <a:off x="6373368" y="4123944"/>
            <a:ext cx="2632710" cy="434340"/>
          </a:xfrm>
          <a:prstGeom prst="rect">
            <a:avLst/>
          </a:prstGeom>
          <a:effectLst/>
        </p:spPr>
      </p:pic>
      <p:pic>
        <p:nvPicPr>
          <p:cNvPr id="25" name="Equation 10: \quad+[f(x_t^{\star})-f(x_{t,2})]" descr="equation-010.png"/>
          <p:cNvPicPr>
            <a:picLocks noChangeAspect="1"/>
          </p:cNvPicPr>
          <p:nvPr/>
        </p:nvPicPr>
        <p:blipFill>
          <a:blip r:embed="rId7"/>
          <a:stretch>
            <a:fillRect/>
          </a:stretch>
        </p:blipFill>
        <p:spPr>
          <a:xfrm>
            <a:off x="6373368" y="4562856"/>
            <a:ext cx="2670810" cy="434340"/>
          </a:xfrm>
          <a:prstGeom prst="rect">
            <a:avLst/>
          </a:prstGeom>
          <a:effectLst/>
        </p:spPr>
      </p:pic>
      <p:pic>
        <p:nvPicPr>
          <p:cNvPr id="26" name="Equation 11: R_T=\sum_{t=1}^{T}r_t" descr="equation-011.png"/>
          <p:cNvPicPr>
            <a:picLocks noChangeAspect="1"/>
          </p:cNvPicPr>
          <p:nvPr/>
        </p:nvPicPr>
        <p:blipFill>
          <a:blip r:embed="rId8"/>
          <a:stretch>
            <a:fillRect/>
          </a:stretch>
        </p:blipFill>
        <p:spPr>
          <a:xfrm>
            <a:off x="6373368" y="5074920"/>
            <a:ext cx="1299210" cy="830580"/>
          </a:xfrm>
          <a:prstGeom prst="rect">
            <a:avLst/>
          </a:prstGeom>
          <a:effectLst/>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B57725"/>
                </a:solidFill>
                <a:latin typeface="Calibri"/>
                <a:ea typeface="Calibri"/>
              </a:rPr>
              <a:t>02  ASSUMPTIONS</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Bounded features and parameters control the scale</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These bounds control curvature, design-matrix growth and ridge bias.</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1, Eqs. (1)(2); Section 2, Assumption 1; pp.1–2</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65 sec   ·   05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B577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21992"/>
            <a:ext cx="4709160" cy="30449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77824" y="2450592"/>
            <a:ext cx="2112264" cy="310896"/>
          </a:xfrm>
          <a:prstGeom prst="roundRect">
            <a:avLst>
              <a:gd name="adj" fmla="val 10000"/>
            </a:avLst>
          </a:prstGeom>
          <a:solidFill>
            <a:srgbClr val="FF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491740"/>
            <a:ext cx="1947672"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B57725"/>
                </a:solidFill>
                <a:latin typeface="Calibri"/>
                <a:ea typeface="Calibri"/>
              </a:rPr>
              <a:t>SCALE BOUNDS</a:t>
            </a:r>
          </a:p>
        </p:txBody>
      </p:sp>
      <p:pic>
        <p:nvPicPr>
          <p:cNvPr id="15" name="Equation 12: \Vert x\Vert _2\leq 1" descr="equation-012.png"/>
          <p:cNvPicPr>
            <a:picLocks noChangeAspect="1"/>
          </p:cNvPicPr>
          <p:nvPr/>
        </p:nvPicPr>
        <p:blipFill>
          <a:blip r:embed="rId2"/>
          <a:stretch>
            <a:fillRect/>
          </a:stretch>
        </p:blipFill>
        <p:spPr>
          <a:xfrm>
            <a:off x="877824" y="3072384"/>
            <a:ext cx="1527810" cy="461010"/>
          </a:xfrm>
          <a:prstGeom prst="rect">
            <a:avLst/>
          </a:prstGeom>
          <a:effectLst/>
        </p:spPr>
      </p:pic>
      <p:sp>
        <p:nvSpPr>
          <p:cNvPr id="16" name="TextBox 15"/>
          <p:cNvSpPr txBox="1"/>
          <p:nvPr/>
        </p:nvSpPr>
        <p:spPr>
          <a:xfrm>
            <a:off x="3246120" y="3191256"/>
            <a:ext cx="1783080" cy="365760"/>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637187"/>
                </a:solidFill>
                <a:latin typeface="Calibri"/>
                <a:ea typeface="Calibri"/>
              </a:rPr>
              <a:t>Bounded features</a:t>
            </a:r>
          </a:p>
        </p:txBody>
      </p:sp>
      <p:pic>
        <p:nvPicPr>
          <p:cNvPr id="17" name="Equation 13: \Vert \theta^{\star}\Vert _2\leq S" descr="equation-013.png"/>
          <p:cNvPicPr>
            <a:picLocks noChangeAspect="1"/>
          </p:cNvPicPr>
          <p:nvPr/>
        </p:nvPicPr>
        <p:blipFill>
          <a:blip r:embed="rId3"/>
          <a:stretch>
            <a:fillRect/>
          </a:stretch>
        </p:blipFill>
        <p:spPr>
          <a:xfrm>
            <a:off x="877824" y="4023360"/>
            <a:ext cx="1821180" cy="499109"/>
          </a:xfrm>
          <a:prstGeom prst="rect">
            <a:avLst/>
          </a:prstGeom>
          <a:effectLst/>
        </p:spPr>
      </p:pic>
      <p:sp>
        <p:nvSpPr>
          <p:cNvPr id="18" name="TextBox 17"/>
          <p:cNvSpPr txBox="1"/>
          <p:nvPr/>
        </p:nvSpPr>
        <p:spPr>
          <a:xfrm>
            <a:off x="3246120" y="4142232"/>
            <a:ext cx="1783080" cy="365760"/>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637187"/>
                </a:solidFill>
                <a:latin typeface="Calibri"/>
                <a:ea typeface="Calibri"/>
              </a:rPr>
              <a:t>Known radius S</a:t>
            </a:r>
          </a:p>
        </p:txBody>
      </p:sp>
      <p:cxnSp>
        <p:nvCxnSpPr>
          <p:cNvPr id="19" name="Connector 18"/>
          <p:cNvCxnSpPr/>
          <p:nvPr/>
        </p:nvCxnSpPr>
        <p:spPr>
          <a:xfrm>
            <a:off x="5504688" y="3721608"/>
            <a:ext cx="493776" cy="0"/>
          </a:xfrm>
          <a:prstGeom prst="line">
            <a:avLst/>
          </a:prstGeom>
          <a:ln w="33020">
            <a:solidFill>
              <a:srgbClr val="B5772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0488" y="2221992"/>
            <a:ext cx="5367528" cy="3044952"/>
          </a:xfrm>
          <a:prstGeom prst="roundRect">
            <a:avLst>
              <a:gd name="adj" fmla="val 10000"/>
            </a:avLst>
          </a:prstGeom>
          <a:solidFill>
            <a:srgbClr val="FF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2478024"/>
            <a:ext cx="4727448" cy="4114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1" lang="en-US">
                <a:solidFill>
                  <a:srgbClr val="B57725"/>
                </a:solidFill>
                <a:latin typeface="Calibri"/>
                <a:ea typeface="Calibri"/>
              </a:rPr>
              <a:t>Difference features and true scores</a:t>
            </a:r>
          </a:p>
        </p:txBody>
      </p:sp>
      <p:pic>
        <p:nvPicPr>
          <p:cNvPr id="22" name="Equation 14: \Vert \widetilde{x}_t\Vert _2\leq\Vert x_{t,1}\Vert _2+\Vert x_{t,2}\Vert _2\leq2" descr="equation-014.png"/>
          <p:cNvPicPr>
            <a:picLocks noChangeAspect="1"/>
          </p:cNvPicPr>
          <p:nvPr/>
        </p:nvPicPr>
        <p:blipFill>
          <a:blip r:embed="rId4"/>
          <a:stretch>
            <a:fillRect/>
          </a:stretch>
        </p:blipFill>
        <p:spPr>
          <a:xfrm>
            <a:off x="6428232" y="3182112"/>
            <a:ext cx="3878579" cy="396240"/>
          </a:xfrm>
          <a:prstGeom prst="rect">
            <a:avLst/>
          </a:prstGeom>
          <a:effectLst/>
        </p:spPr>
      </p:pic>
      <p:pic>
        <p:nvPicPr>
          <p:cNvPr id="23" name="Equation 15: |\langle\theta^{\star},\widetilde{x}_t\rangle|\leq2S" descr="equation-015.png"/>
          <p:cNvPicPr>
            <a:picLocks noChangeAspect="1"/>
          </p:cNvPicPr>
          <p:nvPr/>
        </p:nvPicPr>
        <p:blipFill>
          <a:blip r:embed="rId5"/>
          <a:stretch>
            <a:fillRect/>
          </a:stretch>
        </p:blipFill>
        <p:spPr>
          <a:xfrm>
            <a:off x="6428232" y="4069080"/>
            <a:ext cx="2202180" cy="461010"/>
          </a:xfrm>
          <a:prstGeom prst="rect">
            <a:avLst/>
          </a:prstGeom>
          <a:effectLst/>
        </p:spPr>
      </p:pic>
      <p:sp>
        <p:nvSpPr>
          <p:cNvPr id="24" name="TextBox 23"/>
          <p:cNvSpPr txBox="1"/>
          <p:nvPr/>
        </p:nvSpPr>
        <p:spPr>
          <a:xfrm>
            <a:off x="859536" y="5550408"/>
            <a:ext cx="141732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1" lang="en-US">
                <a:solidFill>
                  <a:srgbClr val="B57725"/>
                </a:solidFill>
                <a:latin typeface="Calibri"/>
                <a:ea typeface="Calibri"/>
              </a:rPr>
              <a:t>Role</a:t>
            </a:r>
          </a:p>
        </p:txBody>
      </p:sp>
      <p:sp>
        <p:nvSpPr>
          <p:cNvPr id="25" name="TextBox 24"/>
          <p:cNvSpPr txBox="1"/>
          <p:nvPr/>
        </p:nvSpPr>
        <p:spPr>
          <a:xfrm>
            <a:off x="2304288" y="5550408"/>
            <a:ext cx="8924544" cy="36576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16263B"/>
                </a:solidFill>
                <a:latin typeface="Calibri"/>
                <a:ea typeface="Calibri"/>
              </a:rPr>
              <a:t>Bounded utility gaps provide a scale for the estimation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B57725"/>
                </a:solidFill>
                <a:latin typeface="Calibri"/>
                <a:ea typeface="Calibri"/>
              </a:rPr>
              <a:t>02  ASSUMPTIONS</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Local curvature makes parameter error controllable</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The logistic curve flattens in the tails; the proof needs curvature on the relevant scores.</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2, Assumption 2; Section 4, Lemma 1, Step 2; pp.2, 5</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65 sec   ·   06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B577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21992"/>
            <a:ext cx="5175504" cy="267919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ocal-curvature.png"/>
          <p:cNvPicPr>
            <a:picLocks noChangeAspect="1"/>
          </p:cNvPicPr>
          <p:nvPr/>
        </p:nvPicPr>
        <p:blipFill>
          <a:blip r:embed="rId2"/>
          <a:stretch>
            <a:fillRect/>
          </a:stretch>
        </p:blipFill>
        <p:spPr>
          <a:xfrm>
            <a:off x="804672" y="2377440"/>
            <a:ext cx="4800600" cy="2304288"/>
          </a:xfrm>
          <a:prstGeom prst="rect">
            <a:avLst/>
          </a:prstGeom>
          <a:effectLst/>
        </p:spPr>
      </p:pic>
      <p:sp>
        <p:nvSpPr>
          <p:cNvPr id="14" name="Rounded Rectangle 13"/>
          <p:cNvSpPr/>
          <p:nvPr/>
        </p:nvSpPr>
        <p:spPr>
          <a:xfrm>
            <a:off x="6007608" y="2221992"/>
            <a:ext cx="5550408" cy="267919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45352" y="2432304"/>
            <a:ext cx="2148840" cy="310896"/>
          </a:xfrm>
          <a:prstGeom prst="roundRect">
            <a:avLst>
              <a:gd name="adj" fmla="val 10000"/>
            </a:avLst>
          </a:prstGeom>
          <a:solidFill>
            <a:srgbClr val="FF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473452"/>
            <a:ext cx="1984248"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B57725"/>
                </a:solidFill>
                <a:latin typeface="Calibri"/>
                <a:ea typeface="Calibri"/>
              </a:rPr>
              <a:t>ASSUMPTION 2</a:t>
            </a:r>
          </a:p>
        </p:txBody>
      </p:sp>
      <p:pic>
        <p:nvPicPr>
          <p:cNvPr id="17" name="Equation 16: \mu'(z)=\mu(z)(1-\mu(z))\geq\kappa_\mu&gt;0" descr="equation-016.png"/>
          <p:cNvPicPr>
            <a:picLocks noChangeAspect="1"/>
          </p:cNvPicPr>
          <p:nvPr/>
        </p:nvPicPr>
        <p:blipFill>
          <a:blip r:embed="rId3"/>
          <a:stretch>
            <a:fillRect/>
          </a:stretch>
        </p:blipFill>
        <p:spPr>
          <a:xfrm>
            <a:off x="6245352" y="2980944"/>
            <a:ext cx="4156710" cy="472440"/>
          </a:xfrm>
          <a:prstGeom prst="rect">
            <a:avLst/>
          </a:prstGeom>
          <a:effectLst/>
        </p:spPr>
      </p:pic>
      <p:sp>
        <p:nvSpPr>
          <p:cNvPr id="18" name="TextBox 17"/>
          <p:cNvSpPr txBox="1"/>
          <p:nvPr/>
        </p:nvSpPr>
        <p:spPr>
          <a:xfrm>
            <a:off x="6254496" y="3685032"/>
            <a:ext cx="4736592" cy="384048"/>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0" lang="en-US">
                <a:solidFill>
                  <a:srgbClr val="16263B"/>
                </a:solidFill>
                <a:latin typeface="Calibri"/>
                <a:ea typeface="Calibri"/>
              </a:rPr>
              <a:t>Intermediate scores used in the proof:</a:t>
            </a:r>
          </a:p>
        </p:txBody>
      </p:sp>
      <p:pic>
        <p:nvPicPr>
          <p:cNvPr id="19" name="Equation 17: \xi_{s,t}\ \mathrm{between}\ \langle\theta^{\star},\widetilde{x}_s\rangle\ \mathrm{and}\ \langle\widehat\theta_t,\widetilde{x}_s\rangle" descr="equation-017.png"/>
          <p:cNvPicPr>
            <a:picLocks noChangeAspect="1"/>
          </p:cNvPicPr>
          <p:nvPr/>
        </p:nvPicPr>
        <p:blipFill>
          <a:blip r:embed="rId4"/>
          <a:stretch>
            <a:fillRect/>
          </a:stretch>
        </p:blipFill>
        <p:spPr>
          <a:xfrm>
            <a:off x="6254496" y="4233672"/>
            <a:ext cx="3966210" cy="449580"/>
          </a:xfrm>
          <a:prstGeom prst="rect">
            <a:avLst/>
          </a:prstGeom>
          <a:effectLst/>
        </p:spPr>
      </p:pic>
      <p:sp>
        <p:nvSpPr>
          <p:cNvPr id="20" name="Rounded Rectangle 19"/>
          <p:cNvSpPr/>
          <p:nvPr/>
        </p:nvSpPr>
        <p:spPr>
          <a:xfrm>
            <a:off x="640080" y="5111496"/>
            <a:ext cx="10917936" cy="950976"/>
          </a:xfrm>
          <a:prstGeom prst="roundRect">
            <a:avLst>
              <a:gd name="adj" fmla="val 10000"/>
            </a:avLst>
          </a:prstGeom>
          <a:solidFill>
            <a:srgbClr val="FFF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303520"/>
            <a:ext cx="1234440" cy="320040"/>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1" lang="en-US">
                <a:solidFill>
                  <a:srgbClr val="B57725"/>
                </a:solidFill>
                <a:latin typeface="Calibri"/>
                <a:ea typeface="Calibri"/>
              </a:rPr>
              <a:t>Scope</a:t>
            </a:r>
          </a:p>
        </p:txBody>
      </p:sp>
      <p:sp>
        <p:nvSpPr>
          <p:cNvPr id="22" name="TextBox 21"/>
          <p:cNvSpPr txBox="1"/>
          <p:nvPr/>
        </p:nvSpPr>
        <p:spPr>
          <a:xfrm>
            <a:off x="2185416" y="5266944"/>
            <a:ext cx="9015984" cy="658368"/>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16263B"/>
                </a:solidFill>
                <a:latin typeface="Calibri"/>
                <a:ea typeface="Calibri"/>
              </a:rPr>
              <a:t>A bound on the true parameter alone does not control the fitted scores.</a:t>
            </a:r>
          </a:p>
          <a:p>
            <a:pPr algn="l">
              <a:lnSpc>
                <a:spcPct val="112000"/>
              </a:lnSpc>
              <a:spcBef>
                <a:spcPts val="0"/>
              </a:spcBef>
              <a:spcAft>
                <a:spcPts val="400"/>
              </a:spcAft>
            </a:pPr>
            <a:r>
              <a:rPr sz="1700" b="0" lang="en-US">
                <a:solidFill>
                  <a:srgbClr val="16263B"/>
                </a:solidFill>
                <a:latin typeface="Calibri"/>
                <a:ea typeface="Calibri"/>
              </a:rPr>
              <a:t>The confidence result also needs curvature at every intermediate score.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4B62B5"/>
                </a:solidFill>
                <a:latin typeface="Calibri"/>
                <a:ea typeface="Calibri"/>
              </a:rPr>
              <a:t>03  ALGORITHM</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Estimate utility with ridge logistic regression</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Use the first t−1 rounds to estimate the parameter for round t.</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3.1, pp.2–4; Eqs. (4)–(8)</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50 sec   ·   07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4B62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31136"/>
            <a:ext cx="10917936" cy="126187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0392" y="2423160"/>
            <a:ext cx="3246120" cy="310896"/>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464308"/>
            <a:ext cx="3081527"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4B62B5"/>
                </a:solidFill>
                <a:latin typeface="Calibri"/>
                <a:ea typeface="Calibri"/>
              </a:rPr>
              <a:t>1  Negative log-likelihood of one duel</a:t>
            </a:r>
          </a:p>
        </p:txBody>
      </p:sp>
      <p:pic>
        <p:nvPicPr>
          <p:cNvPr id="15" name="Equation 18: \ell(y,z)=-y\log\mu(z)-(1-y)\log(1-\mu(z))" descr="equation-018.png"/>
          <p:cNvPicPr>
            <a:picLocks noChangeAspect="1"/>
          </p:cNvPicPr>
          <p:nvPr/>
        </p:nvPicPr>
        <p:blipFill>
          <a:blip r:embed="rId2"/>
          <a:stretch>
            <a:fillRect/>
          </a:stretch>
        </p:blipFill>
        <p:spPr>
          <a:xfrm>
            <a:off x="4334256" y="2560320"/>
            <a:ext cx="5707380" cy="384810"/>
          </a:xfrm>
          <a:prstGeom prst="rect">
            <a:avLst/>
          </a:prstGeom>
          <a:effectLst/>
        </p:spPr>
      </p:pic>
      <p:sp>
        <p:nvSpPr>
          <p:cNvPr id="16" name="TextBox 15"/>
          <p:cNvSpPr txBox="1"/>
          <p:nvPr/>
        </p:nvSpPr>
        <p:spPr>
          <a:xfrm>
            <a:off x="859536" y="2907792"/>
            <a:ext cx="1106424" cy="256032"/>
          </a:xfrm>
          <a:prstGeom prst="rect">
            <a:avLst/>
          </a:prstGeom>
          <a:noFill/>
          <a:effectLst/>
        </p:spPr>
        <p:txBody>
          <a:bodyPr wrap="square" lIns="0" rIns="0" tIns="0" bIns="0" anchor="t">
            <a:spAutoFit/>
          </a:bodyPr>
          <a:lstStyle/>
          <a:p>
            <a:pPr algn="l">
              <a:lnSpc>
                <a:spcPct val="112000"/>
              </a:lnSpc>
              <a:spcBef>
                <a:spcPts val="0"/>
              </a:spcBef>
              <a:spcAft>
                <a:spcPts val="400"/>
              </a:spcAft>
            </a:pPr>
            <a:r>
              <a:rPr sz="1400" b="0" lang="en-US">
                <a:solidFill>
                  <a:srgbClr val="637187"/>
                </a:solidFill>
                <a:latin typeface="Calibri"/>
                <a:ea typeface="Calibri"/>
              </a:rPr>
              <a:t>Score</a:t>
            </a:r>
          </a:p>
        </p:txBody>
      </p:sp>
      <p:pic>
        <p:nvPicPr>
          <p:cNvPr id="17" name="Equation 19: z=\langle\theta,\widetilde{x}_s\rangle" descr="equation-019.png"/>
          <p:cNvPicPr>
            <a:picLocks noChangeAspect="1"/>
          </p:cNvPicPr>
          <p:nvPr/>
        </p:nvPicPr>
        <p:blipFill>
          <a:blip r:embed="rId3"/>
          <a:stretch>
            <a:fillRect/>
          </a:stretch>
        </p:blipFill>
        <p:spPr>
          <a:xfrm>
            <a:off x="1938528" y="2889504"/>
            <a:ext cx="1184910" cy="346710"/>
          </a:xfrm>
          <a:prstGeom prst="rect">
            <a:avLst/>
          </a:prstGeom>
          <a:effectLst/>
        </p:spPr>
      </p:pic>
      <p:sp>
        <p:nvSpPr>
          <p:cNvPr id="18" name="Rounded Rectangle 17"/>
          <p:cNvSpPr/>
          <p:nvPr/>
        </p:nvSpPr>
        <p:spPr>
          <a:xfrm>
            <a:off x="640080" y="3666744"/>
            <a:ext cx="10917936" cy="1453896"/>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 y="3877056"/>
            <a:ext cx="3401568" cy="3108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918204"/>
            <a:ext cx="3236976"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4B62B5"/>
                </a:solidFill>
                <a:latin typeface="Calibri"/>
                <a:ea typeface="Calibri"/>
              </a:rPr>
              <a:t>2  Sum the losses and add ridge</a:t>
            </a:r>
          </a:p>
        </p:txBody>
      </p:sp>
      <p:pic>
        <p:nvPicPr>
          <p:cNvPr id="21" name="Equation 20: \widehat\theta_t=\arg\min_{\theta\in\mathbb{R}^{d}}\left\{\sum_{s&lt;t}\ell(y_s,\langle\theta,\widetilde{x}_s\rangle)+\frac{\lambda}{2}\Vert \theta\Vert _2^2\right\}" descr="equation-020.png"/>
          <p:cNvPicPr>
            <a:picLocks noChangeAspect="1"/>
          </p:cNvPicPr>
          <p:nvPr/>
        </p:nvPicPr>
        <p:blipFill>
          <a:blip r:embed="rId4"/>
          <a:stretch>
            <a:fillRect/>
          </a:stretch>
        </p:blipFill>
        <p:spPr>
          <a:xfrm>
            <a:off x="4407408" y="4005072"/>
            <a:ext cx="6050280" cy="777240"/>
          </a:xfrm>
          <a:prstGeom prst="rect">
            <a:avLst/>
          </a:prstGeom>
          <a:effectLst/>
        </p:spPr>
      </p:pic>
      <p:sp>
        <p:nvSpPr>
          <p:cNvPr id="22" name="TextBox 21"/>
          <p:cNvSpPr txBox="1"/>
          <p:nvPr/>
        </p:nvSpPr>
        <p:spPr>
          <a:xfrm>
            <a:off x="868680" y="5495544"/>
            <a:ext cx="1197864" cy="393192"/>
          </a:xfrm>
          <a:prstGeom prst="rect">
            <a:avLst/>
          </a:prstGeom>
          <a:noFill/>
          <a:effectLst/>
        </p:spPr>
        <p:txBody>
          <a:bodyPr wrap="square" lIns="0" rIns="0" tIns="0" bIns="0" anchor="t">
            <a:spAutoFit/>
          </a:bodyPr>
          <a:lstStyle/>
          <a:p>
            <a:pPr algn="l">
              <a:lnSpc>
                <a:spcPct val="112000"/>
              </a:lnSpc>
              <a:spcBef>
                <a:spcPts val="0"/>
              </a:spcBef>
              <a:spcAft>
                <a:spcPts val="400"/>
              </a:spcAft>
            </a:pPr>
            <a:r>
              <a:rPr sz="2200" b="1" lang="en-US">
                <a:solidFill>
                  <a:srgbClr val="4B62B5"/>
                </a:solidFill>
                <a:latin typeface="Calibri"/>
                <a:ea typeface="Calibri"/>
              </a:rPr>
              <a:t>λ &gt; 0</a:t>
            </a:r>
          </a:p>
        </p:txBody>
      </p:sp>
      <p:sp>
        <p:nvSpPr>
          <p:cNvPr id="23" name="TextBox 22"/>
          <p:cNvSpPr txBox="1"/>
          <p:nvPr/>
        </p:nvSpPr>
        <p:spPr>
          <a:xfrm>
            <a:off x="2084831" y="5504688"/>
            <a:ext cx="9171432" cy="475488"/>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0" lang="en-US">
                <a:solidFill>
                  <a:srgbClr val="16263B"/>
                </a:solidFill>
                <a:latin typeface="Calibri"/>
                <a:ea typeface="Calibri"/>
              </a:rPr>
              <a:t>Strict convexity and stable estimation, with a ridge-bias term.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4B62B5"/>
                </a:solidFill>
                <a:latin typeface="Calibri"/>
                <a:ea typeface="Calibri"/>
              </a:rPr>
              <a:t>03  ALGORITHM</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The first-order condition starts the proof</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The logistic loss derivative simplifies to predicted probability minus observed label.</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3.2, p.4; Eqs. (9)(10)</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50 sec   ·   08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4B62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31136"/>
            <a:ext cx="10917936" cy="97840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514600"/>
            <a:ext cx="2450592" cy="393192"/>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1" lang="en-US">
                <a:solidFill>
                  <a:srgbClr val="4B62B5"/>
                </a:solidFill>
                <a:latin typeface="Calibri"/>
                <a:ea typeface="Calibri"/>
              </a:rPr>
              <a:t>Score derivative</a:t>
            </a:r>
          </a:p>
        </p:txBody>
      </p:sp>
      <p:sp>
        <p:nvSpPr>
          <p:cNvPr id="14" name="Rounded Rectangle 13"/>
          <p:cNvSpPr/>
          <p:nvPr/>
        </p:nvSpPr>
        <p:spPr>
          <a:xfrm>
            <a:off x="640080" y="3346704"/>
            <a:ext cx="10917936" cy="97840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30168"/>
            <a:ext cx="2450592" cy="393192"/>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1" lang="en-US">
                <a:solidFill>
                  <a:srgbClr val="4B62B5"/>
                </a:solidFill>
                <a:latin typeface="Calibri"/>
                <a:ea typeface="Calibri"/>
              </a:rPr>
              <a:t>Parameter gradient</a:t>
            </a:r>
          </a:p>
        </p:txBody>
      </p:sp>
      <p:sp>
        <p:nvSpPr>
          <p:cNvPr id="16" name="Rounded Rectangle 15"/>
          <p:cNvSpPr/>
          <p:nvPr/>
        </p:nvSpPr>
        <p:spPr>
          <a:xfrm>
            <a:off x="640080" y="4608576"/>
            <a:ext cx="10917936" cy="1252728"/>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2450592" cy="393192"/>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1" lang="en-US">
                <a:solidFill>
                  <a:srgbClr val="4B62B5"/>
                </a:solidFill>
                <a:latin typeface="Calibri"/>
                <a:ea typeface="Calibri"/>
              </a:rPr>
              <a:t>At the minimizer</a:t>
            </a:r>
          </a:p>
        </p:txBody>
      </p:sp>
      <p:pic>
        <p:nvPicPr>
          <p:cNvPr id="18" name="Equation 21: \frac{\partial\ell(y,z)}{\partial z}=\mu(z)-y" descr="equation-021.png"/>
          <p:cNvPicPr>
            <a:picLocks noChangeAspect="1"/>
          </p:cNvPicPr>
          <p:nvPr/>
        </p:nvPicPr>
        <p:blipFill>
          <a:blip r:embed="rId2"/>
          <a:stretch>
            <a:fillRect/>
          </a:stretch>
        </p:blipFill>
        <p:spPr>
          <a:xfrm>
            <a:off x="3794760" y="2423160"/>
            <a:ext cx="2415540" cy="640080"/>
          </a:xfrm>
          <a:prstGeom prst="rect">
            <a:avLst/>
          </a:prstGeom>
          <a:effectLst/>
        </p:spPr>
      </p:pic>
      <p:pic>
        <p:nvPicPr>
          <p:cNvPr id="19" name="Equation 22: \nabla_\theta\ell(y_s,\langle\theta,\widetilde{x}_s\rangle)=[\mu(\langle\theta,\widetilde{x}_s\rangle)-y_s]\widetilde{x}_s" descr="equation-022.png"/>
          <p:cNvPicPr>
            <a:picLocks noChangeAspect="1"/>
          </p:cNvPicPr>
          <p:nvPr/>
        </p:nvPicPr>
        <p:blipFill>
          <a:blip r:embed="rId3"/>
          <a:stretch>
            <a:fillRect/>
          </a:stretch>
        </p:blipFill>
        <p:spPr>
          <a:xfrm>
            <a:off x="3794760" y="3602736"/>
            <a:ext cx="4792980" cy="396240"/>
          </a:xfrm>
          <a:prstGeom prst="rect">
            <a:avLst/>
          </a:prstGeom>
          <a:effectLst/>
        </p:spPr>
      </p:pic>
      <p:pic>
        <p:nvPicPr>
          <p:cNvPr id="20" name="Equation 23: \sum_{s&lt;t}[\mu(\langle\widehat\theta_t,\widetilde{x}_s\rangle)-y_s]\widetilde{x}_s+\lambda\widehat\theta_t=0" descr="equation-023.png"/>
          <p:cNvPicPr>
            <a:picLocks noChangeAspect="1"/>
          </p:cNvPicPr>
          <p:nvPr/>
        </p:nvPicPr>
        <p:blipFill>
          <a:blip r:embed="rId4"/>
          <a:stretch>
            <a:fillRect/>
          </a:stretch>
        </p:blipFill>
        <p:spPr>
          <a:xfrm>
            <a:off x="3794760" y="4892040"/>
            <a:ext cx="4587240" cy="777240"/>
          </a:xfrm>
          <a:prstGeom prst="rect">
            <a:avLst/>
          </a:prstGeom>
          <a:effectLst/>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4B62B5"/>
                </a:solidFill>
                <a:latin typeface="Calibri"/>
                <a:ea typeface="Calibri"/>
              </a:rPr>
              <a:t>03  ALGORITHM</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Choose a greedy arm, then an optimistic challenger</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Ridge-MLE Dueling UCB: exploit the current estimate, then explore through uncertainty.</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3, Algorithm 1, p.2; b = beta_T / kappa_mu</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50 sec   ·   09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4B62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12848"/>
            <a:ext cx="7552944" cy="12527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0392" y="2395728"/>
            <a:ext cx="2953512" cy="310896"/>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436876"/>
            <a:ext cx="2788920"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4B62B5"/>
                </a:solidFill>
                <a:latin typeface="Calibri"/>
                <a:ea typeface="Calibri"/>
              </a:rPr>
              <a:t>First arm: highest estimated utility</a:t>
            </a:r>
          </a:p>
        </p:txBody>
      </p:sp>
      <p:pic>
        <p:nvPicPr>
          <p:cNvPr id="15" name="Equation 24: x_{t,1}\in\arg\max_{x\in\mathcal{X}_t}\langle\widehat\theta_t,x\rangle" descr="equation-024.png"/>
          <p:cNvPicPr>
            <a:picLocks noChangeAspect="1"/>
          </p:cNvPicPr>
          <p:nvPr/>
        </p:nvPicPr>
        <p:blipFill>
          <a:blip r:embed="rId2"/>
          <a:stretch>
            <a:fillRect/>
          </a:stretch>
        </p:blipFill>
        <p:spPr>
          <a:xfrm>
            <a:off x="4041648" y="2569464"/>
            <a:ext cx="2834640" cy="701040"/>
          </a:xfrm>
          <a:prstGeom prst="rect">
            <a:avLst/>
          </a:prstGeom>
          <a:effectLst/>
        </p:spPr>
      </p:pic>
      <p:sp>
        <p:nvSpPr>
          <p:cNvPr id="16" name="Rounded Rectangle 15"/>
          <p:cNvSpPr/>
          <p:nvPr/>
        </p:nvSpPr>
        <p:spPr>
          <a:xfrm>
            <a:off x="640080" y="3648456"/>
            <a:ext cx="7552944" cy="2276856"/>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0392" y="3849624"/>
            <a:ext cx="4151376" cy="3108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890772"/>
            <a:ext cx="3986784"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4B62B5"/>
                </a:solidFill>
                <a:latin typeface="Calibri"/>
                <a:ea typeface="Calibri"/>
              </a:rPr>
              <a:t>Second arm: largest UCB relative to the first</a:t>
            </a:r>
          </a:p>
        </p:txBody>
      </p:sp>
      <p:pic>
        <p:nvPicPr>
          <p:cNvPr id="19" name="Equation 25: x_{t,2}\in\arg\max_{x\in\mathcal{X}_t}\{\langle\widehat\theta_t,x-x_{t,1}\rangle" descr="equation-025.png"/>
          <p:cNvPicPr>
            <a:picLocks noChangeAspect="1"/>
          </p:cNvPicPr>
          <p:nvPr/>
        </p:nvPicPr>
        <p:blipFill>
          <a:blip r:embed="rId3"/>
          <a:stretch>
            <a:fillRect/>
          </a:stretch>
        </p:blipFill>
        <p:spPr>
          <a:xfrm>
            <a:off x="868680" y="4517136"/>
            <a:ext cx="3954780" cy="727710"/>
          </a:xfrm>
          <a:prstGeom prst="rect">
            <a:avLst/>
          </a:prstGeom>
          <a:effectLst/>
        </p:spPr>
      </p:pic>
      <p:pic>
        <p:nvPicPr>
          <p:cNvPr id="20" name="Equation 26: \qquad\qquad\quad+b\,\Vert x-x_{t,1}\Vert _{V_{t-1}^{-1}}\}" descr="equation-026.png"/>
          <p:cNvPicPr>
            <a:picLocks noChangeAspect="1"/>
          </p:cNvPicPr>
          <p:nvPr/>
        </p:nvPicPr>
        <p:blipFill>
          <a:blip r:embed="rId4"/>
          <a:stretch>
            <a:fillRect/>
          </a:stretch>
        </p:blipFill>
        <p:spPr>
          <a:xfrm>
            <a:off x="868680" y="5184648"/>
            <a:ext cx="4069080" cy="461010"/>
          </a:xfrm>
          <a:prstGeom prst="rect">
            <a:avLst/>
          </a:prstGeom>
          <a:effectLst/>
        </p:spPr>
      </p:pic>
      <p:sp>
        <p:nvSpPr>
          <p:cNvPr id="21" name="Rounded Rectangle 20"/>
          <p:cNvSpPr/>
          <p:nvPr/>
        </p:nvSpPr>
        <p:spPr>
          <a:xfrm>
            <a:off x="8394192" y="2212848"/>
            <a:ext cx="3163824" cy="3712463"/>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441448"/>
            <a:ext cx="2660904" cy="393192"/>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1" lang="en-US">
                <a:solidFill>
                  <a:srgbClr val="4B62B5"/>
                </a:solidFill>
                <a:latin typeface="Calibri"/>
                <a:ea typeface="Calibri"/>
              </a:rPr>
              <a:t>Design matrix</a:t>
            </a:r>
          </a:p>
        </p:txBody>
      </p:sp>
      <p:pic>
        <p:nvPicPr>
          <p:cNvPr id="23" name="Equation 27: V_0=\frac{\lambda}{\kappa_\mu}I_d" descr="equation-027.png"/>
          <p:cNvPicPr>
            <a:picLocks noChangeAspect="1"/>
          </p:cNvPicPr>
          <p:nvPr/>
        </p:nvPicPr>
        <p:blipFill>
          <a:blip r:embed="rId5"/>
          <a:stretch>
            <a:fillRect/>
          </a:stretch>
        </p:blipFill>
        <p:spPr>
          <a:xfrm>
            <a:off x="8622792" y="3090672"/>
            <a:ext cx="1299210" cy="548640"/>
          </a:xfrm>
          <a:prstGeom prst="rect">
            <a:avLst/>
          </a:prstGeom>
          <a:effectLst/>
        </p:spPr>
      </p:pic>
      <p:sp>
        <p:nvSpPr>
          <p:cNvPr id="24" name="TextBox 23"/>
          <p:cNvSpPr txBox="1"/>
          <p:nvPr/>
        </p:nvSpPr>
        <p:spPr>
          <a:xfrm>
            <a:off x="8622792" y="3931920"/>
            <a:ext cx="2615184" cy="347472"/>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0" lang="en-US">
                <a:solidFill>
                  <a:srgbClr val="16263B"/>
                </a:solidFill>
                <a:latin typeface="Calibri"/>
                <a:ea typeface="Calibri"/>
              </a:rPr>
              <a:t>Update after the duel</a:t>
            </a:r>
          </a:p>
        </p:txBody>
      </p:sp>
      <p:pic>
        <p:nvPicPr>
          <p:cNvPr id="25" name="Equation 28: V_t=V_{t-1}+\widetilde{x}_t\widetilde{x}_t^{\top}" descr="equation-028.png"/>
          <p:cNvPicPr>
            <a:picLocks noChangeAspect="1"/>
          </p:cNvPicPr>
          <p:nvPr/>
        </p:nvPicPr>
        <p:blipFill>
          <a:blip r:embed="rId6"/>
          <a:stretch>
            <a:fillRect/>
          </a:stretch>
        </p:blipFill>
        <p:spPr>
          <a:xfrm>
            <a:off x="8622792" y="4462272"/>
            <a:ext cx="2175510" cy="449580"/>
          </a:xfrm>
          <a:prstGeom prst="rect">
            <a:avLst/>
          </a:prstGeom>
          <a:effectLst/>
        </p:spPr>
      </p:pic>
      <p:sp>
        <p:nvSpPr>
          <p:cNvPr id="26" name="TextBox 25"/>
          <p:cNvSpPr txBox="1"/>
          <p:nvPr/>
        </p:nvSpPr>
        <p:spPr>
          <a:xfrm>
            <a:off x="8622792" y="5129784"/>
            <a:ext cx="2615184" cy="6766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600" b="0" lang="en-US">
                <a:solidFill>
                  <a:srgbClr val="637187"/>
                </a:solidFill>
                <a:latin typeface="Calibri"/>
                <a:ea typeface="Calibri"/>
              </a:rPr>
              <a:t>The confidence bound</a:t>
            </a:r>
          </a:p>
          <a:p>
            <a:pPr algn="l">
              <a:lnSpc>
                <a:spcPct val="112000"/>
              </a:lnSpc>
              <a:spcBef>
                <a:spcPts val="0"/>
              </a:spcBef>
              <a:spcAft>
                <a:spcPts val="400"/>
              </a:spcAft>
            </a:pPr>
            <a:r>
              <a:rPr sz="1600" b="0" lang="en-US">
                <a:solidFill>
                  <a:srgbClr val="637187"/>
                </a:solidFill>
                <a:latin typeface="Calibri"/>
                <a:ea typeface="Calibri"/>
              </a:rPr>
              <a:t>determines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087EA7"/>
                </a:solidFill>
                <a:latin typeface="Calibri"/>
                <a:ea typeface="Calibri"/>
              </a:rPr>
              <a:t>04  CONFIDENCE BOUND</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One confidence event covers every round</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The target is a parameter-error bound; its radius comes from noise and regularization.</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4, Lemma 1, p.5; Eqs. (12)(13)</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45 sec   ·   10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087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12848"/>
            <a:ext cx="6446520" cy="1947672"/>
          </a:xfrm>
          <a:prstGeom prst="roundRect">
            <a:avLst>
              <a:gd name="adj" fmla="val 10000"/>
            </a:avLst>
          </a:prstGeom>
          <a:solidFill>
            <a:srgbClr val="E6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459736"/>
            <a:ext cx="5943600" cy="429768"/>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1" lang="en-US">
                <a:solidFill>
                  <a:srgbClr val="087EA7"/>
                </a:solidFill>
                <a:latin typeface="Calibri"/>
                <a:ea typeface="Calibri"/>
              </a:rPr>
              <a:t>With probability ≥ 1−δ, for every t ≤ T:</a:t>
            </a:r>
          </a:p>
        </p:txBody>
      </p:sp>
      <p:pic>
        <p:nvPicPr>
          <p:cNvPr id="14" name="Equation 29: \Vert \widehat\theta_t-\theta^{\star}\Vert _{V_{t-1}}\leq\frac{\beta_T}{\kappa_\mu}=b" descr="equation-029.png"/>
          <p:cNvPicPr>
            <a:picLocks noChangeAspect="1"/>
          </p:cNvPicPr>
          <p:nvPr/>
        </p:nvPicPr>
        <p:blipFill>
          <a:blip r:embed="rId2"/>
          <a:stretch>
            <a:fillRect/>
          </a:stretch>
        </p:blipFill>
        <p:spPr>
          <a:xfrm>
            <a:off x="877824" y="3154680"/>
            <a:ext cx="3851910" cy="716280"/>
          </a:xfrm>
          <a:prstGeom prst="rect">
            <a:avLst/>
          </a:prstGeom>
          <a:effectLst/>
        </p:spPr>
      </p:pic>
      <p:pic>
        <p:nvPicPr>
          <p:cNvPr id="15" name="Equation 30: \Vert u\Vert _V=\sqrt{u^{\top}Vu}" descr="equation-030.png"/>
          <p:cNvPicPr>
            <a:picLocks noChangeAspect="1"/>
          </p:cNvPicPr>
          <p:nvPr/>
        </p:nvPicPr>
        <p:blipFill>
          <a:blip r:embed="rId3"/>
          <a:stretch>
            <a:fillRect/>
          </a:stretch>
        </p:blipFill>
        <p:spPr>
          <a:xfrm>
            <a:off x="868680" y="4544568"/>
            <a:ext cx="2430780" cy="548640"/>
          </a:xfrm>
          <a:prstGeom prst="rect">
            <a:avLst/>
          </a:prstGeom>
          <a:effectLst/>
        </p:spPr>
      </p:pic>
      <p:sp>
        <p:nvSpPr>
          <p:cNvPr id="16" name="TextBox 15"/>
          <p:cNvSpPr txBox="1"/>
          <p:nvPr/>
        </p:nvSpPr>
        <p:spPr>
          <a:xfrm>
            <a:off x="877824" y="5221224"/>
            <a:ext cx="5806440" cy="786384"/>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0" lang="en-US">
                <a:solidFill>
                  <a:srgbClr val="16263B"/>
                </a:solidFill>
                <a:latin typeface="Calibri"/>
                <a:ea typeface="Calibri"/>
              </a:rPr>
              <a:t>V sets the shape; b sets the scale.</a:t>
            </a:r>
          </a:p>
          <a:p>
            <a:pPr algn="l">
              <a:lnSpc>
                <a:spcPct val="112000"/>
              </a:lnSpc>
              <a:spcBef>
                <a:spcPts val="0"/>
              </a:spcBef>
              <a:spcAft>
                <a:spcPts val="400"/>
              </a:spcAft>
            </a:pPr>
            <a:r>
              <a:rPr sz="2000" b="0" lang="en-US">
                <a:solidFill>
                  <a:srgbClr val="16263B"/>
                </a:solidFill>
                <a:latin typeface="Calibri"/>
                <a:ea typeface="Calibri"/>
              </a:rPr>
              <a:t>δ is the failure probability for all rounds.</a:t>
            </a:r>
          </a:p>
        </p:txBody>
      </p:sp>
      <p:sp>
        <p:nvSpPr>
          <p:cNvPr id="17" name="Rounded Rectangle 16"/>
          <p:cNvSpPr/>
          <p:nvPr/>
        </p:nvSpPr>
        <p:spPr>
          <a:xfrm>
            <a:off x="7296912" y="2212848"/>
            <a:ext cx="4261104" cy="37307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653527" y="5148072"/>
            <a:ext cx="3520441" cy="0"/>
          </a:xfrm>
          <a:prstGeom prst="line">
            <a:avLst/>
          </a:prstGeom>
          <a:ln w="15240">
            <a:solidFill>
              <a:srgbClr val="DCE3E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909560" y="2651760"/>
            <a:ext cx="0" cy="2862072"/>
          </a:xfrm>
          <a:prstGeom prst="line">
            <a:avLst/>
          </a:prstGeom>
          <a:ln w="15240">
            <a:solidFill>
              <a:srgbClr val="DCE3E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rot="20100000">
            <a:off x="7973568" y="3255264"/>
            <a:ext cx="2962656" cy="1435608"/>
          </a:xfrm>
          <a:prstGeom prst="ellipse">
            <a:avLst/>
          </a:prstGeom>
          <a:solidFill>
            <a:srgbClr val="E6F3F8"/>
          </a:solidFill>
          <a:ln w="25400">
            <a:solidFill>
              <a:srgbClr val="087E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58884" y="3918203"/>
            <a:ext cx="118872" cy="118872"/>
          </a:xfrm>
          <a:prstGeom prst="ellipse">
            <a:avLst/>
          </a:prstGeom>
          <a:solidFill>
            <a:srgbClr val="087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51415" y="3623767"/>
            <a:ext cx="122529" cy="122529"/>
          </a:xfrm>
          <a:prstGeom prst="ellipse">
            <a:avLst/>
          </a:prstGeom>
          <a:solidFill>
            <a:srgbClr val="16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Equation 31: \widehat\theta_t" descr="equation-031.png"/>
          <p:cNvPicPr>
            <a:picLocks noChangeAspect="1"/>
          </p:cNvPicPr>
          <p:nvPr/>
        </p:nvPicPr>
        <p:blipFill>
          <a:blip r:embed="rId4"/>
          <a:stretch>
            <a:fillRect/>
          </a:stretch>
        </p:blipFill>
        <p:spPr>
          <a:xfrm>
            <a:off x="8988552" y="4215384"/>
            <a:ext cx="297180" cy="422910"/>
          </a:xfrm>
          <a:prstGeom prst="rect">
            <a:avLst/>
          </a:prstGeom>
          <a:effectLst/>
        </p:spPr>
      </p:pic>
      <p:pic>
        <p:nvPicPr>
          <p:cNvPr id="24" name="Equation 32: \theta^{\star}" descr="equation-032.png"/>
          <p:cNvPicPr>
            <a:picLocks noChangeAspect="1"/>
          </p:cNvPicPr>
          <p:nvPr/>
        </p:nvPicPr>
        <p:blipFill>
          <a:blip r:embed="rId5"/>
          <a:stretch>
            <a:fillRect/>
          </a:stretch>
        </p:blipFill>
        <p:spPr>
          <a:xfrm>
            <a:off x="10177272" y="3538728"/>
            <a:ext cx="422910" cy="320040"/>
          </a:xfrm>
          <a:prstGeom prst="rect">
            <a:avLst/>
          </a:prstGeom>
          <a:effectLst/>
        </p:spPr>
      </p:pic>
      <p:sp>
        <p:nvSpPr>
          <p:cNvPr id="25" name="TextBox 24"/>
          <p:cNvSpPr txBox="1"/>
          <p:nvPr/>
        </p:nvSpPr>
        <p:spPr>
          <a:xfrm>
            <a:off x="7635240" y="5532120"/>
            <a:ext cx="3611880" cy="274320"/>
          </a:xfrm>
          <a:prstGeom prst="rect">
            <a:avLst/>
          </a:prstGeom>
          <a:noFill/>
          <a:effectLst/>
        </p:spPr>
        <p:txBody>
          <a:bodyPr wrap="square" lIns="0" rIns="0" tIns="0" bIns="0" anchor="t">
            <a:spAutoFit/>
          </a:bodyPr>
          <a:lstStyle/>
          <a:p>
            <a:pPr algn="ctr">
              <a:lnSpc>
                <a:spcPct val="112000"/>
              </a:lnSpc>
              <a:spcBef>
                <a:spcPts val="0"/>
              </a:spcBef>
              <a:spcAft>
                <a:spcPts val="400"/>
              </a:spcAft>
            </a:pPr>
            <a:r>
              <a:rPr sz="1300" b="0" lang="en-US">
                <a:solidFill>
                  <a:srgbClr val="637187"/>
                </a:solidFill>
                <a:latin typeface="Calibri"/>
                <a:ea typeface="Calibri"/>
              </a:rPr>
              <a:t>Confidence region in parameter space (schematic)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087EA7"/>
                </a:solidFill>
                <a:latin typeface="Calibri"/>
                <a:ea typeface="Calibri"/>
              </a:rPr>
              <a:t>04  CONFIDENCE BOUND</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Proof sketch: noise plus regularization bias</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4, Lemma 1, pp.5–6; Eqs. (14)(15)</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60 sec   ·   11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087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Equation 33: \Delta_t=\widehat\theta_t-\theta^{\star}" descr="equation-033.png"/>
          <p:cNvPicPr>
            <a:picLocks noChangeAspect="1"/>
          </p:cNvPicPr>
          <p:nvPr/>
        </p:nvPicPr>
        <p:blipFill>
          <a:blip r:embed="rId2"/>
          <a:stretch>
            <a:fillRect/>
          </a:stretch>
        </p:blipFill>
        <p:spPr>
          <a:xfrm>
            <a:off x="630936" y="1572768"/>
            <a:ext cx="1478280" cy="411480"/>
          </a:xfrm>
          <a:prstGeom prst="rect">
            <a:avLst/>
          </a:prstGeom>
          <a:effectLst/>
        </p:spPr>
      </p:pic>
      <p:pic>
        <p:nvPicPr>
          <p:cNvPr id="13" name="Equation 34: \varepsilon_s=y_s-\mu(\langle\theta^{\star},\widetilde{x}_s\rangle),\quad\mathbb{E}[\varepsilon_s\mid\mathcal{F}_{s-1}]=0,\quad|\varepsilon_s|\leq1" descr="equation-034.png"/>
          <p:cNvPicPr>
            <a:picLocks noChangeAspect="1"/>
          </p:cNvPicPr>
          <p:nvPr/>
        </p:nvPicPr>
        <p:blipFill>
          <a:blip r:embed="rId3"/>
          <a:stretch>
            <a:fillRect/>
          </a:stretch>
        </p:blipFill>
        <p:spPr>
          <a:xfrm>
            <a:off x="3584448" y="1572768"/>
            <a:ext cx="5311140" cy="346710"/>
          </a:xfrm>
          <a:prstGeom prst="rect">
            <a:avLst/>
          </a:prstGeom>
          <a:effectLst/>
        </p:spPr>
      </p:pic>
      <p:sp>
        <p:nvSpPr>
          <p:cNvPr id="14" name="Rounded Rectangle 13"/>
          <p:cNvSpPr/>
          <p:nvPr/>
        </p:nvSpPr>
        <p:spPr>
          <a:xfrm>
            <a:off x="640080" y="2221992"/>
            <a:ext cx="10917936" cy="11338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9536" y="2432304"/>
            <a:ext cx="3154680" cy="310896"/>
          </a:xfrm>
          <a:prstGeom prst="roundRect">
            <a:avLst>
              <a:gd name="adj" fmla="val 10000"/>
            </a:avLst>
          </a:prstGeom>
          <a:solidFill>
            <a:srgbClr val="E6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2473452"/>
            <a:ext cx="2990088"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87EA7"/>
                </a:solidFill>
                <a:latin typeface="Calibri"/>
                <a:ea typeface="Calibri"/>
              </a:rPr>
              <a:t>1  Stationarity + mean value theorem</a:t>
            </a:r>
          </a:p>
        </p:txBody>
      </p:sp>
      <p:pic>
        <p:nvPicPr>
          <p:cNvPr id="17" name="Equation 35: H_t\Delta_t=N_t-\lambda\theta^{\star}" descr="equation-035.png"/>
          <p:cNvPicPr>
            <a:picLocks noChangeAspect="1"/>
          </p:cNvPicPr>
          <p:nvPr/>
        </p:nvPicPr>
        <p:blipFill>
          <a:blip r:embed="rId4"/>
          <a:stretch>
            <a:fillRect/>
          </a:stretch>
        </p:blipFill>
        <p:spPr>
          <a:xfrm>
            <a:off x="4306824" y="2450592"/>
            <a:ext cx="2583180" cy="434340"/>
          </a:xfrm>
          <a:prstGeom prst="rect">
            <a:avLst/>
          </a:prstGeom>
          <a:effectLst/>
        </p:spPr>
      </p:pic>
      <p:pic>
        <p:nvPicPr>
          <p:cNvPr id="18" name="Equation 36: N_t:=\sum_{s&lt;t}\varepsilon_s\widetilde{x}_s" descr="equation-036.png"/>
          <p:cNvPicPr>
            <a:picLocks noChangeAspect="1"/>
          </p:cNvPicPr>
          <p:nvPr/>
        </p:nvPicPr>
        <p:blipFill>
          <a:blip r:embed="rId5"/>
          <a:stretch>
            <a:fillRect/>
          </a:stretch>
        </p:blipFill>
        <p:spPr>
          <a:xfrm>
            <a:off x="8577072" y="2514600"/>
            <a:ext cx="1501140" cy="525780"/>
          </a:xfrm>
          <a:prstGeom prst="rect">
            <a:avLst/>
          </a:prstGeom>
          <a:effectLst/>
        </p:spPr>
      </p:pic>
      <p:sp>
        <p:nvSpPr>
          <p:cNvPr id="19" name="Rounded Rectangle 18"/>
          <p:cNvSpPr/>
          <p:nvPr/>
        </p:nvSpPr>
        <p:spPr>
          <a:xfrm>
            <a:off x="640080" y="3520440"/>
            <a:ext cx="10917936" cy="127101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9536" y="3721608"/>
            <a:ext cx="2212848" cy="310896"/>
          </a:xfrm>
          <a:prstGeom prst="roundRect">
            <a:avLst>
              <a:gd name="adj" fmla="val 10000"/>
            </a:avLst>
          </a:prstGeom>
          <a:solidFill>
            <a:srgbClr val="E6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3762756"/>
            <a:ext cx="2048255"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87EA7"/>
                </a:solidFill>
                <a:latin typeface="Calibri"/>
                <a:ea typeface="Calibri"/>
              </a:rPr>
              <a:t>2  Curvature lower bound</a:t>
            </a:r>
          </a:p>
        </p:txBody>
      </p:sp>
      <p:pic>
        <p:nvPicPr>
          <p:cNvPr id="22" name="Equation 37: H_t=\sum_{s&lt;t}\mu'(\xi_{s,t})\widetilde{x}_s\widetilde{x}_s^{\top}+\lambda I_d\succeq\kappa_\mu V_{t-1}" descr="equation-037.png"/>
          <p:cNvPicPr>
            <a:picLocks noChangeAspect="1"/>
          </p:cNvPicPr>
          <p:nvPr/>
        </p:nvPicPr>
        <p:blipFill>
          <a:blip r:embed="rId6"/>
          <a:stretch>
            <a:fillRect/>
          </a:stretch>
        </p:blipFill>
        <p:spPr>
          <a:xfrm>
            <a:off x="3739896" y="3767328"/>
            <a:ext cx="4853940" cy="678180"/>
          </a:xfrm>
          <a:prstGeom prst="rect">
            <a:avLst/>
          </a:prstGeom>
          <a:effectLst/>
        </p:spPr>
      </p:pic>
      <p:sp>
        <p:nvSpPr>
          <p:cNvPr id="23" name="Rounded Rectangle 22"/>
          <p:cNvSpPr/>
          <p:nvPr/>
        </p:nvSpPr>
        <p:spPr>
          <a:xfrm>
            <a:off x="640080" y="4956048"/>
            <a:ext cx="10917936" cy="1115568"/>
          </a:xfrm>
          <a:prstGeom prst="roundRect">
            <a:avLst>
              <a:gd name="adj" fmla="val 10000"/>
            </a:avLst>
          </a:prstGeom>
          <a:solidFill>
            <a:srgbClr val="E6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59536" y="5138928"/>
            <a:ext cx="3995928" cy="3108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5180076"/>
            <a:ext cx="3831336" cy="228600"/>
          </a:xfrm>
          <a:prstGeom prst="rect">
            <a:avLst/>
          </a:prstGeom>
          <a:noFill/>
          <a:effectLst/>
        </p:spPr>
        <p:txBody>
          <a:bodyPr wrap="square" lIns="0" rIns="0" tIns="0" bIns="0" anchor="t">
            <a:spAutoFit/>
          </a:bodyPr>
          <a:lstStyle/>
          <a:p>
            <a:pPr algn="l">
              <a:lnSpc>
                <a:spcPct val="112000"/>
              </a:lnSpc>
              <a:spcBef>
                <a:spcPts val="0"/>
              </a:spcBef>
              <a:spcAft>
                <a:spcPts val="400"/>
              </a:spcAft>
            </a:pPr>
            <a:r>
              <a:rPr sz="1300" b="1" lang="en-US">
                <a:solidFill>
                  <a:srgbClr val="087EA7"/>
                </a:solidFill>
                <a:latin typeface="Calibri"/>
                <a:ea typeface="Calibri"/>
              </a:rPr>
              <a:t>3  Cauchy–Schwarz + cancel the error norm</a:t>
            </a:r>
          </a:p>
        </p:txBody>
      </p:sp>
      <p:pic>
        <p:nvPicPr>
          <p:cNvPr id="26" name="Equation 38: \Vert \Delta_t\Vert _{V_{t-1}}\leq\frac{1}{\kappa_\mu}\left(\Vert N_t\Vert _{V_{t-1}^{-1}}+\sqrt{\lambda\kappa_\mu}\,S\right)" descr="equation-038.png"/>
          <p:cNvPicPr>
            <a:picLocks noChangeAspect="1"/>
          </p:cNvPicPr>
          <p:nvPr/>
        </p:nvPicPr>
        <p:blipFill>
          <a:blip r:embed="rId7"/>
          <a:stretch>
            <a:fillRect/>
          </a:stretch>
        </p:blipFill>
        <p:spPr>
          <a:xfrm>
            <a:off x="5093208" y="5166360"/>
            <a:ext cx="5006340" cy="613410"/>
          </a:xfrm>
          <a:prstGeom prst="rect">
            <a:avLst/>
          </a:prstGeom>
          <a:effectLst/>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621792" y="347472"/>
            <a:ext cx="10881360" cy="274320"/>
          </a:xfrm>
          <a:prstGeom prst="rect">
            <a:avLst/>
          </a:prstGeom>
          <a:noFill/>
          <a:effectLst/>
        </p:spPr>
        <p:txBody>
          <a:bodyPr wrap="square" lIns="0" rIns="0" tIns="0" bIns="0" anchor="t">
            <a:spAutoFit/>
          </a:bodyPr>
          <a:lstStyle/>
          <a:p>
            <a:pPr algn="l">
              <a:lnSpc>
                <a:spcPct val="112000"/>
              </a:lnSpc>
              <a:spcBef>
                <a:spcPts val="0"/>
              </a:spcBef>
              <a:spcAft>
                <a:spcPts val="400"/>
              </a:spcAft>
            </a:pPr>
            <a:r>
              <a:rPr sz="1200" b="1" lang="en-US">
                <a:solidFill>
                  <a:srgbClr val="087EA7"/>
                </a:solidFill>
                <a:latin typeface="Calibri"/>
                <a:ea typeface="Calibri"/>
              </a:rPr>
              <a:t>04  CONFIDENCE BOUND</a:t>
            </a:r>
          </a:p>
        </p:txBody>
      </p:sp>
      <p:sp>
        <p:nvSpPr>
          <p:cNvPr id="3" name="TextBox 2"/>
          <p:cNvSpPr txBox="1"/>
          <p:nvPr/>
        </p:nvSpPr>
        <p:spPr>
          <a:xfrm>
            <a:off x="603504" y="859536"/>
            <a:ext cx="11018520" cy="603504"/>
          </a:xfrm>
          <a:prstGeom prst="rect">
            <a:avLst/>
          </a:prstGeom>
          <a:noFill/>
          <a:effectLst/>
        </p:spPr>
        <p:txBody>
          <a:bodyPr wrap="square" lIns="0" rIns="0" tIns="0" bIns="0" anchor="t">
            <a:spAutoFit/>
          </a:bodyPr>
          <a:lstStyle/>
          <a:p>
            <a:pPr algn="l">
              <a:lnSpc>
                <a:spcPct val="112000"/>
              </a:lnSpc>
              <a:spcBef>
                <a:spcPts val="0"/>
              </a:spcBef>
              <a:spcAft>
                <a:spcPts val="400"/>
              </a:spcAft>
            </a:pPr>
            <a:r>
              <a:rPr sz="3100" b="1" lang="en-US">
                <a:solidFill>
                  <a:srgbClr val="16263B"/>
                </a:solidFill>
                <a:latin typeface="Calibri"/>
                <a:ea typeface="Calibri"/>
              </a:rPr>
              <a:t>The confidence bound determines the UCB bonus</a:t>
            </a:r>
          </a:p>
        </p:txBody>
      </p:sp>
      <p:sp>
        <p:nvSpPr>
          <p:cNvPr id="4" name="TextBox 3"/>
          <p:cNvSpPr txBox="1"/>
          <p:nvPr/>
        </p:nvSpPr>
        <p:spPr>
          <a:xfrm>
            <a:off x="630936" y="1527048"/>
            <a:ext cx="10927080" cy="448056"/>
          </a:xfrm>
          <a:prstGeom prst="rect">
            <a:avLst/>
          </a:prstGeom>
          <a:noFill/>
          <a:effectLst/>
        </p:spPr>
        <p:txBody>
          <a:bodyPr wrap="square" lIns="0" rIns="0" tIns="0" bIns="0" anchor="t">
            <a:spAutoFit/>
          </a:bodyPr>
          <a:lstStyle/>
          <a:p>
            <a:pPr algn="l">
              <a:lnSpc>
                <a:spcPct val="112000"/>
              </a:lnSpc>
              <a:spcBef>
                <a:spcPts val="0"/>
              </a:spcBef>
              <a:spcAft>
                <a:spcPts val="400"/>
              </a:spcAft>
            </a:pPr>
            <a:r>
              <a:rPr sz="1700" b="0" lang="en-US">
                <a:solidFill>
                  <a:srgbClr val="637187"/>
                </a:solidFill>
                <a:latin typeface="Calibri"/>
                <a:ea typeface="Calibri"/>
              </a:rPr>
              <a:t>Self-normalized concentration controls adaptive noise; Cauchy–Schwarz gives a utility-gap bound.</a:t>
            </a:r>
          </a:p>
        </p:txBody>
      </p:sp>
      <p:cxnSp>
        <p:nvCxnSpPr>
          <p:cNvPr id="5" name="Connector 4"/>
          <p:cNvCxnSpPr/>
          <p:nvPr/>
        </p:nvCxnSpPr>
        <p:spPr>
          <a:xfrm>
            <a:off x="585216" y="6419088"/>
            <a:ext cx="11018520" cy="0"/>
          </a:xfrm>
          <a:prstGeom prst="line">
            <a:avLst/>
          </a:prstGeom>
          <a:ln w="10160">
            <a:solidFill>
              <a:srgbClr val="DCE3E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637187"/>
                </a:solidFill>
                <a:latin typeface="Calibri"/>
                <a:ea typeface="Calibri"/>
              </a:rPr>
              <a:t>Source: Section 4, Lemma 1, Step 5 and Corollary 1, pp.6–7; Eqs. (12)(16)(17)</a:t>
            </a:r>
          </a:p>
        </p:txBody>
      </p:sp>
      <p:sp>
        <p:nvSpPr>
          <p:cNvPr id="7" name="TextBox 6"/>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637187"/>
                </a:solidFill>
                <a:latin typeface="Calibri"/>
                <a:ea typeface="Calibri"/>
              </a:rPr>
              <a:t>45 sec   ·   12 / 13</a:t>
            </a:r>
          </a:p>
        </p:txBody>
      </p:sp>
      <p:sp>
        <p:nvSpPr>
          <p:cNvPr id="8" name="Rectangle 7"/>
          <p:cNvSpPr/>
          <p:nvPr/>
        </p:nvSpPr>
        <p:spPr>
          <a:xfrm>
            <a:off x="612648"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6291072"/>
            <a:ext cx="365760" cy="41148"/>
          </a:xfrm>
          <a:prstGeom prst="rect">
            <a:avLst/>
          </a:prstGeom>
          <a:solidFill>
            <a:srgbClr val="DC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6291072"/>
            <a:ext cx="365760" cy="41148"/>
          </a:xfrm>
          <a:prstGeom prst="rect">
            <a:avLst/>
          </a:prstGeom>
          <a:solidFill>
            <a:srgbClr val="087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221992"/>
            <a:ext cx="10917936" cy="17373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441448"/>
            <a:ext cx="10332720" cy="356616"/>
          </a:xfrm>
          <a:prstGeom prst="rect">
            <a:avLst/>
          </a:prstGeom>
          <a:noFill/>
          <a:effectLst/>
        </p:spPr>
        <p:txBody>
          <a:bodyPr wrap="square" lIns="0" rIns="0" tIns="0" bIns="0" anchor="t">
            <a:spAutoFit/>
          </a:bodyPr>
          <a:lstStyle/>
          <a:p>
            <a:pPr algn="l">
              <a:lnSpc>
                <a:spcPct val="112000"/>
              </a:lnSpc>
              <a:spcBef>
                <a:spcPts val="0"/>
              </a:spcBef>
              <a:spcAft>
                <a:spcPts val="400"/>
              </a:spcAft>
            </a:pPr>
            <a:r>
              <a:rPr sz="2000" b="1" lang="en-US">
                <a:solidFill>
                  <a:srgbClr val="087EA7"/>
                </a:solidFill>
                <a:latin typeface="Calibri"/>
                <a:ea typeface="Calibri"/>
              </a:rPr>
              <a:t>Radius numerator = ridge bias + noise bound</a:t>
            </a:r>
          </a:p>
        </p:txBody>
      </p:sp>
      <p:pic>
        <p:nvPicPr>
          <p:cNvPr id="14" name="Equation 39: \beta_T=\sqrt{\lambda\kappa_\mu}\,S+\sqrt{2\log(1/\delta)+d\log\left(1+\frac{4\kappa_\mu T}{\lambda d}\right)}\,,\qquad b=\frac{\beta_T}{\kappa_\mu}" descr="equation-039.png"/>
          <p:cNvPicPr>
            <a:picLocks noChangeAspect="1"/>
          </p:cNvPicPr>
          <p:nvPr/>
        </p:nvPicPr>
        <p:blipFill>
          <a:blip r:embed="rId2"/>
          <a:stretch>
            <a:fillRect/>
          </a:stretch>
        </p:blipFill>
        <p:spPr>
          <a:xfrm>
            <a:off x="1667256" y="3008376"/>
            <a:ext cx="8717280" cy="803910"/>
          </a:xfrm>
          <a:prstGeom prst="rect">
            <a:avLst/>
          </a:prstGeom>
          <a:effectLst/>
        </p:spPr>
      </p:pic>
      <p:sp>
        <p:nvSpPr>
          <p:cNvPr id="15" name="Rounded Rectangle 14"/>
          <p:cNvSpPr/>
          <p:nvPr/>
        </p:nvSpPr>
        <p:spPr>
          <a:xfrm>
            <a:off x="640080" y="4142232"/>
            <a:ext cx="10917936" cy="1271016"/>
          </a:xfrm>
          <a:prstGeom prst="roundRect">
            <a:avLst>
              <a:gd name="adj" fmla="val 10000"/>
            </a:avLst>
          </a:prstGeom>
          <a:solidFill>
            <a:srgbClr val="E6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325112"/>
            <a:ext cx="10287000" cy="301752"/>
          </a:xfrm>
          <a:prstGeom prst="rect">
            <a:avLst/>
          </a:prstGeom>
          <a:noFill/>
          <a:effectLst/>
        </p:spPr>
        <p:txBody>
          <a:bodyPr wrap="square" lIns="0" rIns="0" tIns="0" bIns="0" anchor="t">
            <a:spAutoFit/>
          </a:bodyPr>
          <a:lstStyle/>
          <a:p>
            <a:pPr algn="l">
              <a:lnSpc>
                <a:spcPct val="112000"/>
              </a:lnSpc>
              <a:spcBef>
                <a:spcPts val="0"/>
              </a:spcBef>
              <a:spcAft>
                <a:spcPts val="400"/>
              </a:spcAft>
            </a:pPr>
            <a:r>
              <a:rPr sz="1800" b="1" lang="en-US">
                <a:solidFill>
                  <a:srgbClr val="087EA7"/>
                </a:solidFill>
                <a:latin typeface="Calibri"/>
                <a:ea typeface="Calibri"/>
              </a:rPr>
              <a:t>Simultaneously for every pair of arms x, x′:</a:t>
            </a:r>
          </a:p>
        </p:txBody>
      </p:sp>
      <p:pic>
        <p:nvPicPr>
          <p:cNvPr id="17" name="Equation 40: |f(x)-f(x')-\langle\widehat\theta_t,x-x'\rangle|\leq b\,\Vert x-x'\Vert _{V_{t-1}^{-1}}" descr="equation-040.png"/>
          <p:cNvPicPr>
            <a:picLocks noChangeAspect="1"/>
          </p:cNvPicPr>
          <p:nvPr/>
        </p:nvPicPr>
        <p:blipFill>
          <a:blip r:embed="rId3"/>
          <a:stretch>
            <a:fillRect/>
          </a:stretch>
        </p:blipFill>
        <p:spPr>
          <a:xfrm>
            <a:off x="2884932" y="4782312"/>
            <a:ext cx="6263640" cy="601980"/>
          </a:xfrm>
          <a:prstGeom prst="rect">
            <a:avLst/>
          </a:prstGeom>
          <a:effectLst/>
        </p:spPr>
      </p:pic>
      <p:sp>
        <p:nvSpPr>
          <p:cNvPr id="18" name="TextBox 17"/>
          <p:cNvSpPr txBox="1"/>
          <p:nvPr/>
        </p:nvSpPr>
        <p:spPr>
          <a:xfrm>
            <a:off x="896112" y="5650992"/>
            <a:ext cx="960120" cy="310896"/>
          </a:xfrm>
          <a:prstGeom prst="rect">
            <a:avLst/>
          </a:prstGeom>
          <a:noFill/>
          <a:effectLst/>
        </p:spPr>
        <p:txBody>
          <a:bodyPr wrap="square" lIns="0" rIns="0" tIns="0" bIns="0" anchor="t">
            <a:spAutoFit/>
          </a:bodyPr>
          <a:lstStyle/>
          <a:p>
            <a:pPr algn="l">
              <a:lnSpc>
                <a:spcPct val="112000"/>
              </a:lnSpc>
              <a:spcBef>
                <a:spcPts val="0"/>
              </a:spcBef>
              <a:spcAft>
                <a:spcPts val="400"/>
              </a:spcAft>
            </a:pPr>
            <a:r>
              <a:rPr sz="1900" b="1" lang="en-US">
                <a:solidFill>
                  <a:srgbClr val="087EA7"/>
                </a:solidFill>
                <a:latin typeface="Calibri"/>
                <a:ea typeface="Calibri"/>
              </a:rPr>
              <a:t>Hence</a:t>
            </a:r>
          </a:p>
        </p:txBody>
      </p:sp>
      <p:sp>
        <p:nvSpPr>
          <p:cNvPr id="19" name="TextBox 18"/>
          <p:cNvSpPr txBox="1"/>
          <p:nvPr/>
        </p:nvSpPr>
        <p:spPr>
          <a:xfrm>
            <a:off x="1828800" y="5632704"/>
            <a:ext cx="9372600" cy="4114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16263B"/>
                </a:solidFill>
                <a:latin typeface="Calibri"/>
                <a:ea typeface="Calibri"/>
              </a:rPr>
              <a:t>Estimated utility gap + confidence bonus = the UCB for the second 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273E"/>
        </a:solidFill>
        <a:effectLst/>
      </p:bgPr>
    </p:bg>
    <p:spTree>
      <p:nvGrpSpPr>
        <p:cNvPr id="1" name=""/>
        <p:cNvGrpSpPr/>
        <p:nvPr/>
      </p:nvGrpSpPr>
      <p:grpSpPr/>
      <p:sp>
        <p:nvSpPr>
          <p:cNvPr id="2" name="TextBox 1"/>
          <p:cNvSpPr txBox="1"/>
          <p:nvPr/>
        </p:nvSpPr>
        <p:spPr>
          <a:xfrm>
            <a:off x="667512" y="795528"/>
            <a:ext cx="10789920" cy="685800"/>
          </a:xfrm>
          <a:prstGeom prst="rect">
            <a:avLst/>
          </a:prstGeom>
          <a:noFill/>
          <a:effectLst/>
        </p:spPr>
        <p:txBody>
          <a:bodyPr wrap="square" lIns="0" rIns="0" tIns="0" bIns="0" anchor="t">
            <a:spAutoFit/>
          </a:bodyPr>
          <a:lstStyle/>
          <a:p>
            <a:pPr algn="l">
              <a:lnSpc>
                <a:spcPct val="112000"/>
              </a:lnSpc>
              <a:spcBef>
                <a:spcPts val="0"/>
              </a:spcBef>
              <a:spcAft>
                <a:spcPts val="400"/>
              </a:spcAft>
            </a:pPr>
            <a:r>
              <a:rPr sz="3500" b="1" lang="en-US">
                <a:solidFill>
                  <a:srgbClr val="FFFFFF"/>
                </a:solidFill>
                <a:latin typeface="Calibri"/>
                <a:ea typeface="Calibri"/>
              </a:rPr>
              <a:t>Connecting the four parts</a:t>
            </a:r>
          </a:p>
        </p:txBody>
      </p:sp>
      <p:sp>
        <p:nvSpPr>
          <p:cNvPr id="3" name="TextBox 2"/>
          <p:cNvSpPr txBox="1"/>
          <p:nvPr/>
        </p:nvSpPr>
        <p:spPr>
          <a:xfrm>
            <a:off x="704088" y="1655064"/>
            <a:ext cx="10607040" cy="4114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B4C6D5"/>
                </a:solidFill>
                <a:latin typeface="Calibri"/>
                <a:ea typeface="Calibri"/>
              </a:rPr>
              <a:t>From a preference observation to a comparison backed by a confidence guarantee.</a:t>
            </a:r>
          </a:p>
        </p:txBody>
      </p:sp>
      <p:sp>
        <p:nvSpPr>
          <p:cNvPr id="4" name="TextBox 3"/>
          <p:cNvSpPr txBox="1"/>
          <p:nvPr/>
        </p:nvSpPr>
        <p:spPr>
          <a:xfrm>
            <a:off x="694944" y="2651760"/>
            <a:ext cx="2423160" cy="356616"/>
          </a:xfrm>
          <a:prstGeom prst="rect">
            <a:avLst/>
          </a:prstGeom>
          <a:noFill/>
          <a:effectLst/>
        </p:spPr>
        <p:txBody>
          <a:bodyPr wrap="square" lIns="0" rIns="0" tIns="0" bIns="0" anchor="t">
            <a:spAutoFit/>
          </a:bodyPr>
          <a:lstStyle/>
          <a:p>
            <a:pPr algn="l">
              <a:lnSpc>
                <a:spcPct val="112000"/>
              </a:lnSpc>
              <a:spcBef>
                <a:spcPts val="0"/>
              </a:spcBef>
              <a:spcAft>
                <a:spcPts val="400"/>
              </a:spcAft>
            </a:pPr>
            <a:r>
              <a:rPr sz="1600" b="1" lang="en-US">
                <a:solidFill>
                  <a:srgbClr val="66C2C1"/>
                </a:solidFill>
                <a:latin typeface="Calibri"/>
                <a:ea typeface="Calibri"/>
              </a:rPr>
              <a:t>01</a:t>
            </a:r>
          </a:p>
        </p:txBody>
      </p:sp>
      <p:sp>
        <p:nvSpPr>
          <p:cNvPr id="5" name="TextBox 4"/>
          <p:cNvSpPr txBox="1"/>
          <p:nvPr/>
        </p:nvSpPr>
        <p:spPr>
          <a:xfrm>
            <a:off x="694944" y="3227832"/>
            <a:ext cx="2423160" cy="557784"/>
          </a:xfrm>
          <a:prstGeom prst="rect">
            <a:avLst/>
          </a:prstGeom>
          <a:noFill/>
          <a:effectLst/>
        </p:spPr>
        <p:txBody>
          <a:bodyPr wrap="square" lIns="0" rIns="0" tIns="0" bIns="0" anchor="t">
            <a:spAutoFit/>
          </a:bodyPr>
          <a:lstStyle/>
          <a:p>
            <a:pPr algn="l">
              <a:lnSpc>
                <a:spcPct val="112000"/>
              </a:lnSpc>
              <a:spcBef>
                <a:spcPts val="0"/>
              </a:spcBef>
              <a:spcAft>
                <a:spcPts val="400"/>
              </a:spcAft>
            </a:pPr>
            <a:r>
              <a:rPr sz="3000" b="1" lang="en-US">
                <a:solidFill>
                  <a:srgbClr val="FFFFFF"/>
                </a:solidFill>
                <a:latin typeface="Calibri"/>
                <a:ea typeface="Calibri"/>
              </a:rPr>
              <a:t>Problem</a:t>
            </a:r>
          </a:p>
        </p:txBody>
      </p:sp>
      <p:sp>
        <p:nvSpPr>
          <p:cNvPr id="6" name="TextBox 5"/>
          <p:cNvSpPr txBox="1"/>
          <p:nvPr/>
        </p:nvSpPr>
        <p:spPr>
          <a:xfrm>
            <a:off x="694944" y="4023360"/>
            <a:ext cx="2496312" cy="8686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B4C6D5"/>
                </a:solidFill>
                <a:latin typeface="Calibri"/>
                <a:ea typeface="Calibri"/>
              </a:rPr>
              <a:t>Compare two arms;</a:t>
            </a:r>
          </a:p>
          <a:p>
            <a:pPr algn="l">
              <a:lnSpc>
                <a:spcPct val="112000"/>
              </a:lnSpc>
              <a:spcBef>
                <a:spcPts val="0"/>
              </a:spcBef>
              <a:spcAft>
                <a:spcPts val="400"/>
              </a:spcAft>
            </a:pPr>
            <a:r>
              <a:rPr sz="2100" b="0" lang="en-US">
                <a:solidFill>
                  <a:srgbClr val="B4C6D5"/>
                </a:solidFill>
                <a:latin typeface="Calibri"/>
                <a:ea typeface="Calibri"/>
              </a:rPr>
              <a:t>observe a preference.</a:t>
            </a:r>
          </a:p>
        </p:txBody>
      </p:sp>
      <p:cxnSp>
        <p:nvCxnSpPr>
          <p:cNvPr id="7" name="Connector 6"/>
          <p:cNvCxnSpPr/>
          <p:nvPr/>
        </p:nvCxnSpPr>
        <p:spPr>
          <a:xfrm>
            <a:off x="3145536" y="3511296"/>
            <a:ext cx="283464" cy="0"/>
          </a:xfrm>
          <a:prstGeom prst="line">
            <a:avLst/>
          </a:prstGeom>
          <a:ln w="26670">
            <a:solidFill>
              <a:srgbClr val="66C2C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566160" y="2651760"/>
            <a:ext cx="2423160" cy="356616"/>
          </a:xfrm>
          <a:prstGeom prst="rect">
            <a:avLst/>
          </a:prstGeom>
          <a:noFill/>
          <a:effectLst/>
        </p:spPr>
        <p:txBody>
          <a:bodyPr wrap="square" lIns="0" rIns="0" tIns="0" bIns="0" anchor="t">
            <a:spAutoFit/>
          </a:bodyPr>
          <a:lstStyle/>
          <a:p>
            <a:pPr algn="l">
              <a:lnSpc>
                <a:spcPct val="112000"/>
              </a:lnSpc>
              <a:spcBef>
                <a:spcPts val="0"/>
              </a:spcBef>
              <a:spcAft>
                <a:spcPts val="400"/>
              </a:spcAft>
            </a:pPr>
            <a:r>
              <a:rPr sz="1600" b="1" lang="en-US">
                <a:solidFill>
                  <a:srgbClr val="66C2C1"/>
                </a:solidFill>
                <a:latin typeface="Calibri"/>
                <a:ea typeface="Calibri"/>
              </a:rPr>
              <a:t>02</a:t>
            </a:r>
          </a:p>
        </p:txBody>
      </p:sp>
      <p:sp>
        <p:nvSpPr>
          <p:cNvPr id="9" name="TextBox 8"/>
          <p:cNvSpPr txBox="1"/>
          <p:nvPr/>
        </p:nvSpPr>
        <p:spPr>
          <a:xfrm>
            <a:off x="3566160" y="3227832"/>
            <a:ext cx="2423160" cy="557784"/>
          </a:xfrm>
          <a:prstGeom prst="rect">
            <a:avLst/>
          </a:prstGeom>
          <a:noFill/>
          <a:effectLst/>
        </p:spPr>
        <p:txBody>
          <a:bodyPr wrap="square" lIns="0" rIns="0" tIns="0" bIns="0" anchor="t">
            <a:spAutoFit/>
          </a:bodyPr>
          <a:lstStyle/>
          <a:p>
            <a:pPr algn="l">
              <a:lnSpc>
                <a:spcPct val="112000"/>
              </a:lnSpc>
              <a:spcBef>
                <a:spcPts val="0"/>
              </a:spcBef>
              <a:spcAft>
                <a:spcPts val="400"/>
              </a:spcAft>
            </a:pPr>
            <a:r>
              <a:rPr sz="3000" b="1" lang="en-US">
                <a:solidFill>
                  <a:srgbClr val="FFFFFF"/>
                </a:solidFill>
                <a:latin typeface="Calibri"/>
                <a:ea typeface="Calibri"/>
              </a:rPr>
              <a:t>Assumptions</a:t>
            </a:r>
          </a:p>
        </p:txBody>
      </p:sp>
      <p:sp>
        <p:nvSpPr>
          <p:cNvPr id="10" name="TextBox 9"/>
          <p:cNvSpPr txBox="1"/>
          <p:nvPr/>
        </p:nvSpPr>
        <p:spPr>
          <a:xfrm>
            <a:off x="3566160" y="4023360"/>
            <a:ext cx="2496312" cy="8686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B4C6D5"/>
                </a:solidFill>
                <a:latin typeface="Calibri"/>
                <a:ea typeface="Calibri"/>
              </a:rPr>
              <a:t>Boundedness;</a:t>
            </a:r>
          </a:p>
          <a:p>
            <a:pPr algn="l">
              <a:lnSpc>
                <a:spcPct val="112000"/>
              </a:lnSpc>
              <a:spcBef>
                <a:spcPts val="0"/>
              </a:spcBef>
              <a:spcAft>
                <a:spcPts val="400"/>
              </a:spcAft>
            </a:pPr>
            <a:r>
              <a:rPr sz="2100" b="0" lang="en-US">
                <a:solidFill>
                  <a:srgbClr val="B4C6D5"/>
                </a:solidFill>
                <a:latin typeface="Calibri"/>
                <a:ea typeface="Calibri"/>
              </a:rPr>
              <a:t>local curvature.</a:t>
            </a:r>
          </a:p>
        </p:txBody>
      </p:sp>
      <p:cxnSp>
        <p:nvCxnSpPr>
          <p:cNvPr id="11" name="Connector 10"/>
          <p:cNvCxnSpPr/>
          <p:nvPr/>
        </p:nvCxnSpPr>
        <p:spPr>
          <a:xfrm>
            <a:off x="6016752" y="3511296"/>
            <a:ext cx="283464" cy="0"/>
          </a:xfrm>
          <a:prstGeom prst="line">
            <a:avLst/>
          </a:prstGeom>
          <a:ln w="26670">
            <a:solidFill>
              <a:srgbClr val="66C2C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37376" y="2651760"/>
            <a:ext cx="2423160" cy="356616"/>
          </a:xfrm>
          <a:prstGeom prst="rect">
            <a:avLst/>
          </a:prstGeom>
          <a:noFill/>
          <a:effectLst/>
        </p:spPr>
        <p:txBody>
          <a:bodyPr wrap="square" lIns="0" rIns="0" tIns="0" bIns="0" anchor="t">
            <a:spAutoFit/>
          </a:bodyPr>
          <a:lstStyle/>
          <a:p>
            <a:pPr algn="l">
              <a:lnSpc>
                <a:spcPct val="112000"/>
              </a:lnSpc>
              <a:spcBef>
                <a:spcPts val="0"/>
              </a:spcBef>
              <a:spcAft>
                <a:spcPts val="400"/>
              </a:spcAft>
            </a:pPr>
            <a:r>
              <a:rPr sz="1600" b="1" lang="en-US">
                <a:solidFill>
                  <a:srgbClr val="66C2C1"/>
                </a:solidFill>
                <a:latin typeface="Calibri"/>
                <a:ea typeface="Calibri"/>
              </a:rPr>
              <a:t>03</a:t>
            </a:r>
          </a:p>
        </p:txBody>
      </p:sp>
      <p:sp>
        <p:nvSpPr>
          <p:cNvPr id="13" name="TextBox 12"/>
          <p:cNvSpPr txBox="1"/>
          <p:nvPr/>
        </p:nvSpPr>
        <p:spPr>
          <a:xfrm>
            <a:off x="6437376" y="3227832"/>
            <a:ext cx="2423160" cy="557784"/>
          </a:xfrm>
          <a:prstGeom prst="rect">
            <a:avLst/>
          </a:prstGeom>
          <a:noFill/>
          <a:effectLst/>
        </p:spPr>
        <p:txBody>
          <a:bodyPr wrap="square" lIns="0" rIns="0" tIns="0" bIns="0" anchor="t">
            <a:spAutoFit/>
          </a:bodyPr>
          <a:lstStyle/>
          <a:p>
            <a:pPr algn="l">
              <a:lnSpc>
                <a:spcPct val="112000"/>
              </a:lnSpc>
              <a:spcBef>
                <a:spcPts val="0"/>
              </a:spcBef>
              <a:spcAft>
                <a:spcPts val="400"/>
              </a:spcAft>
            </a:pPr>
            <a:r>
              <a:rPr sz="3000" b="1" lang="en-US">
                <a:solidFill>
                  <a:srgbClr val="FFFFFF"/>
                </a:solidFill>
                <a:latin typeface="Calibri"/>
                <a:ea typeface="Calibri"/>
              </a:rPr>
              <a:t>Algorithm</a:t>
            </a:r>
          </a:p>
        </p:txBody>
      </p:sp>
      <p:sp>
        <p:nvSpPr>
          <p:cNvPr id="14" name="TextBox 13"/>
          <p:cNvSpPr txBox="1"/>
          <p:nvPr/>
        </p:nvSpPr>
        <p:spPr>
          <a:xfrm>
            <a:off x="6437376" y="4023360"/>
            <a:ext cx="2496312" cy="8686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B4C6D5"/>
                </a:solidFill>
                <a:latin typeface="Calibri"/>
                <a:ea typeface="Calibri"/>
              </a:rPr>
              <a:t>Ridge-MLE estimate;</a:t>
            </a:r>
          </a:p>
          <a:p>
            <a:pPr algn="l">
              <a:lnSpc>
                <a:spcPct val="112000"/>
              </a:lnSpc>
              <a:spcBef>
                <a:spcPts val="0"/>
              </a:spcBef>
              <a:spcAft>
                <a:spcPts val="400"/>
              </a:spcAft>
            </a:pPr>
            <a:r>
              <a:rPr sz="2100" b="0" lang="en-US">
                <a:solidFill>
                  <a:srgbClr val="B4C6D5"/>
                </a:solidFill>
                <a:latin typeface="Calibri"/>
                <a:ea typeface="Calibri"/>
              </a:rPr>
              <a:t>greedy arm + UCB.</a:t>
            </a:r>
          </a:p>
        </p:txBody>
      </p:sp>
      <p:cxnSp>
        <p:nvCxnSpPr>
          <p:cNvPr id="15" name="Connector 14"/>
          <p:cNvCxnSpPr/>
          <p:nvPr/>
        </p:nvCxnSpPr>
        <p:spPr>
          <a:xfrm>
            <a:off x="8887968" y="3511296"/>
            <a:ext cx="283464" cy="0"/>
          </a:xfrm>
          <a:prstGeom prst="line">
            <a:avLst/>
          </a:prstGeom>
          <a:ln w="26670">
            <a:solidFill>
              <a:srgbClr val="66C2C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08592" y="2651760"/>
            <a:ext cx="2423160" cy="356616"/>
          </a:xfrm>
          <a:prstGeom prst="rect">
            <a:avLst/>
          </a:prstGeom>
          <a:noFill/>
          <a:effectLst/>
        </p:spPr>
        <p:txBody>
          <a:bodyPr wrap="square" lIns="0" rIns="0" tIns="0" bIns="0" anchor="t">
            <a:spAutoFit/>
          </a:bodyPr>
          <a:lstStyle/>
          <a:p>
            <a:pPr algn="l">
              <a:lnSpc>
                <a:spcPct val="112000"/>
              </a:lnSpc>
              <a:spcBef>
                <a:spcPts val="0"/>
              </a:spcBef>
              <a:spcAft>
                <a:spcPts val="400"/>
              </a:spcAft>
            </a:pPr>
            <a:r>
              <a:rPr sz="1600" b="1" lang="en-US">
                <a:solidFill>
                  <a:srgbClr val="66C2C1"/>
                </a:solidFill>
                <a:latin typeface="Calibri"/>
                <a:ea typeface="Calibri"/>
              </a:rPr>
              <a:t>04</a:t>
            </a:r>
          </a:p>
        </p:txBody>
      </p:sp>
      <p:sp>
        <p:nvSpPr>
          <p:cNvPr id="17" name="TextBox 16"/>
          <p:cNvSpPr txBox="1"/>
          <p:nvPr/>
        </p:nvSpPr>
        <p:spPr>
          <a:xfrm>
            <a:off x="9308592" y="3227832"/>
            <a:ext cx="2423160" cy="557784"/>
          </a:xfrm>
          <a:prstGeom prst="rect">
            <a:avLst/>
          </a:prstGeom>
          <a:noFill/>
          <a:effectLst/>
        </p:spPr>
        <p:txBody>
          <a:bodyPr wrap="square" lIns="0" rIns="0" tIns="0" bIns="0" anchor="t">
            <a:spAutoFit/>
          </a:bodyPr>
          <a:lstStyle/>
          <a:p>
            <a:pPr algn="l">
              <a:lnSpc>
                <a:spcPct val="112000"/>
              </a:lnSpc>
              <a:spcBef>
                <a:spcPts val="0"/>
              </a:spcBef>
              <a:spcAft>
                <a:spcPts val="400"/>
              </a:spcAft>
            </a:pPr>
            <a:r>
              <a:rPr sz="3000" b="1" lang="en-US">
                <a:solidFill>
                  <a:srgbClr val="FFFFFF"/>
                </a:solidFill>
                <a:latin typeface="Calibri"/>
                <a:ea typeface="Calibri"/>
              </a:rPr>
              <a:t>Confidence</a:t>
            </a:r>
          </a:p>
        </p:txBody>
      </p:sp>
      <p:sp>
        <p:nvSpPr>
          <p:cNvPr id="18" name="TextBox 17"/>
          <p:cNvSpPr txBox="1"/>
          <p:nvPr/>
        </p:nvSpPr>
        <p:spPr>
          <a:xfrm>
            <a:off x="9308592" y="4023360"/>
            <a:ext cx="2496312" cy="868680"/>
          </a:xfrm>
          <a:prstGeom prst="rect">
            <a:avLst/>
          </a:prstGeom>
          <a:noFill/>
          <a:effectLst/>
        </p:spPr>
        <p:txBody>
          <a:bodyPr wrap="square" lIns="0" rIns="0" tIns="0" bIns="0" anchor="t">
            <a:spAutoFit/>
          </a:bodyPr>
          <a:lstStyle/>
          <a:p>
            <a:pPr algn="l">
              <a:lnSpc>
                <a:spcPct val="112000"/>
              </a:lnSpc>
              <a:spcBef>
                <a:spcPts val="0"/>
              </a:spcBef>
              <a:spcAft>
                <a:spcPts val="400"/>
              </a:spcAft>
            </a:pPr>
            <a:r>
              <a:rPr sz="2100" b="0" lang="en-US">
                <a:solidFill>
                  <a:srgbClr val="B4C6D5"/>
                </a:solidFill>
                <a:latin typeface="Calibri"/>
                <a:ea typeface="Calibri"/>
              </a:rPr>
              <a:t>Parameter bounds;</a:t>
            </a:r>
          </a:p>
          <a:p>
            <a:pPr algn="l">
              <a:lnSpc>
                <a:spcPct val="112000"/>
              </a:lnSpc>
              <a:spcBef>
                <a:spcPts val="0"/>
              </a:spcBef>
              <a:spcAft>
                <a:spcPts val="400"/>
              </a:spcAft>
            </a:pPr>
            <a:r>
              <a:rPr sz="2100" b="0" lang="en-US">
                <a:solidFill>
                  <a:srgbClr val="B4C6D5"/>
                </a:solidFill>
                <a:latin typeface="Calibri"/>
                <a:ea typeface="Calibri"/>
              </a:rPr>
              <a:t>utility-gap bounds.</a:t>
            </a:r>
          </a:p>
        </p:txBody>
      </p:sp>
      <p:sp>
        <p:nvSpPr>
          <p:cNvPr id="19" name="Rounded Rectangle 18"/>
          <p:cNvSpPr/>
          <p:nvPr/>
        </p:nvSpPr>
        <p:spPr>
          <a:xfrm>
            <a:off x="694944" y="5285232"/>
            <a:ext cx="10826496" cy="658368"/>
          </a:xfrm>
          <a:prstGeom prst="roundRect">
            <a:avLst>
              <a:gd name="adj" fmla="val 10000"/>
            </a:avLst>
          </a:prstGeom>
          <a:solidFill>
            <a:srgbClr val="24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468112"/>
            <a:ext cx="10369296" cy="347472"/>
          </a:xfrm>
          <a:prstGeom prst="rect">
            <a:avLst/>
          </a:prstGeom>
          <a:noFill/>
          <a:effectLst/>
        </p:spPr>
        <p:txBody>
          <a:bodyPr wrap="square" lIns="0" rIns="0" tIns="0" bIns="0" anchor="t">
            <a:spAutoFit/>
          </a:bodyPr>
          <a:lstStyle/>
          <a:p>
            <a:pPr algn="l">
              <a:lnSpc>
                <a:spcPct val="112000"/>
              </a:lnSpc>
              <a:spcBef>
                <a:spcPts val="0"/>
              </a:spcBef>
              <a:spcAft>
                <a:spcPts val="400"/>
              </a:spcAft>
            </a:pPr>
            <a:r>
              <a:rPr sz="2200" b="1" lang="en-US">
                <a:solidFill>
                  <a:srgbClr val="FFFFFF"/>
                </a:solidFill>
                <a:latin typeface="Calibri"/>
                <a:ea typeface="Calibri"/>
              </a:rPr>
              <a:t>Confidence defines the exploration bonus, which guides the next comparison.</a:t>
            </a:r>
          </a:p>
        </p:txBody>
      </p:sp>
      <p:cxnSp>
        <p:nvCxnSpPr>
          <p:cNvPr id="21" name="Connector 20"/>
          <p:cNvCxnSpPr/>
          <p:nvPr/>
        </p:nvCxnSpPr>
        <p:spPr>
          <a:xfrm>
            <a:off x="585216" y="6419088"/>
            <a:ext cx="11018520" cy="0"/>
          </a:xfrm>
          <a:prstGeom prst="line">
            <a:avLst/>
          </a:prstGeom>
          <a:ln w="10160">
            <a:solidFill>
              <a:srgbClr val="42607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2648" y="6519672"/>
            <a:ext cx="9052560" cy="182880"/>
          </a:xfrm>
          <a:prstGeom prst="rect">
            <a:avLst/>
          </a:prstGeom>
          <a:noFill/>
          <a:effectLst/>
        </p:spPr>
        <p:txBody>
          <a:bodyPr wrap="square" lIns="0" rIns="0" tIns="0" bIns="0" anchor="t">
            <a:spAutoFit/>
          </a:bodyPr>
          <a:lstStyle/>
          <a:p>
            <a:pPr algn="l">
              <a:lnSpc>
                <a:spcPct val="112000"/>
              </a:lnSpc>
              <a:spcBef>
                <a:spcPts val="0"/>
              </a:spcBef>
              <a:spcAft>
                <a:spcPts val="400"/>
              </a:spcAft>
            </a:pPr>
            <a:r>
              <a:rPr sz="1000" b="0" lang="en-US">
                <a:solidFill>
                  <a:srgbClr val="B4C6D5"/>
                </a:solidFill>
                <a:latin typeface="Calibri"/>
                <a:ea typeface="Calibri"/>
              </a:rPr>
              <a:t>Source: Zhuohua LI · A Clean Proof for Dueling Bandits · §§1–4, pp.1–7</a:t>
            </a:r>
          </a:p>
        </p:txBody>
      </p:sp>
      <p:sp>
        <p:nvSpPr>
          <p:cNvPr id="23" name="TextBox 22"/>
          <p:cNvSpPr txBox="1"/>
          <p:nvPr/>
        </p:nvSpPr>
        <p:spPr>
          <a:xfrm>
            <a:off x="10058400" y="6492240"/>
            <a:ext cx="1508760" cy="228600"/>
          </a:xfrm>
          <a:prstGeom prst="rect">
            <a:avLst/>
          </a:prstGeom>
          <a:noFill/>
          <a:effectLst/>
        </p:spPr>
        <p:txBody>
          <a:bodyPr wrap="square" lIns="0" rIns="0" tIns="0" bIns="0" anchor="t">
            <a:spAutoFit/>
          </a:bodyPr>
          <a:lstStyle/>
          <a:p>
            <a:pPr algn="r">
              <a:lnSpc>
                <a:spcPct val="112000"/>
              </a:lnSpc>
              <a:spcBef>
                <a:spcPts val="0"/>
              </a:spcBef>
              <a:spcAft>
                <a:spcPts val="400"/>
              </a:spcAft>
            </a:pPr>
            <a:r>
              <a:rPr sz="1100" b="0" lang="en-US">
                <a:solidFill>
                  <a:srgbClr val="B4C6D5"/>
                </a:solidFill>
                <a:latin typeface="Calibri"/>
                <a:ea typeface="Calibri"/>
              </a:rPr>
              <a:t>10 sec   ·   13 / 13</a:t>
            </a:r>
          </a:p>
        </p:txBody>
      </p:sp>
      <p:sp>
        <p:nvSpPr>
          <p:cNvPr id="24" name="Rectangle 23"/>
          <p:cNvSpPr/>
          <p:nvPr/>
        </p:nvSpPr>
        <p:spPr>
          <a:xfrm>
            <a:off x="612648"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7280"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581912"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66544" y="6291072"/>
            <a:ext cx="365760" cy="41148"/>
          </a:xfrm>
          <a:prstGeom prst="rect">
            <a:avLst/>
          </a:prstGeom>
          <a:solidFill>
            <a:srgbClr val="426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Contextual Dueling Bandits: Setup, Assumptions, Algorithm and Confidence</dc:title>
  <dc:subject>A Clean Proof for Dueling Bandits, Sections 1–4, a 10-minute presentation</dc:subject>
  <dc:creator/>
  <cp:keywords>Dueling Bandits, Ridge-MLE, UCB, Confidence Bound</cp:keywords>
  <dc:description>v2: English edition, four balanced sections, with speaker notes.</dc:description>
  <cp:lastModifiedBy>Steve Canny</cp:lastModifiedBy>
  <cp:revision>1</cp:revision>
  <dcterms:created xsi:type="dcterms:W3CDTF">2013-01-27T09:14:16Z</dcterms:created>
  <dcterms:modified xsi:type="dcterms:W3CDTF">2013-01-27T09:15:58Z</dcterms:modified>
  <cp:category/>
</cp:coreProperties>
</file>