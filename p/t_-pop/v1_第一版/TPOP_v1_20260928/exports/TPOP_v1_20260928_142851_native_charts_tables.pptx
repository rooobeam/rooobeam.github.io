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15"/>
  </p:notesMasterIdLst>
  <p:sldIdLst>
    <p:sldId id="256" r:id="rId7"/>
    <p:sldId id="257" r:id="rId8"/>
    <p:sldId id="258" r:id="rId9"/>
    <p:sldId id="259" r:id="rId10"/>
    <p:sldId id="260" r:id="rId11"/>
    <p:sldId id="261" r:id="rId12"/>
    <p:sldId id="262" r:id="rId13"/>
    <p:sldId id="263" r:id="rId14"/>
  </p:sldIdLst>
  <p:sldSz cx="12192000" cy="6858000" type="screen16x9"/>
  <p:notesSz cx="6858000" cy="9144000"/>
  <p:defaultTextStyle>
    <a:defPPr>
      <a:defRPr lang="en-US"/>
    </a:defPPr>
    <a:lvl1pPr marL="0" algn="l" defTabSz="457200" rtl="0" eaLnBrk="1" latinLnBrk="0" hangingPunct="1">
      <a:defRPr sz="1800" kern="1200" lang="en-US">
        <a:solidFill>
          <a:schemeClr val="tx1"/>
        </a:solidFill>
        <a:latin typeface="+mn-lt"/>
        <a:ea typeface="+mn-ea"/>
        <a:cs typeface="+mn-cs"/>
      </a:defRPr>
    </a:lvl1pPr>
    <a:lvl2pPr marL="457200" algn="l" defTabSz="457200" rtl="0" eaLnBrk="1" latinLnBrk="0" hangingPunct="1">
      <a:defRPr sz="1800" kern="1200" lang="en-US">
        <a:solidFill>
          <a:schemeClr val="tx1"/>
        </a:solidFill>
        <a:latin typeface="+mn-lt"/>
        <a:ea typeface="+mn-ea"/>
        <a:cs typeface="+mn-cs"/>
      </a:defRPr>
    </a:lvl2pPr>
    <a:lvl3pPr marL="914400" algn="l" defTabSz="457200" rtl="0" eaLnBrk="1" latinLnBrk="0" hangingPunct="1">
      <a:defRPr sz="1800" kern="1200" lang="en-US">
        <a:solidFill>
          <a:schemeClr val="tx1"/>
        </a:solidFill>
        <a:latin typeface="+mn-lt"/>
        <a:ea typeface="+mn-ea"/>
        <a:cs typeface="+mn-cs"/>
      </a:defRPr>
    </a:lvl3pPr>
    <a:lvl4pPr marL="1371600" algn="l" defTabSz="457200" rtl="0" eaLnBrk="1" latinLnBrk="0" hangingPunct="1">
      <a:defRPr sz="1800" kern="1200" lang="en-US">
        <a:solidFill>
          <a:schemeClr val="tx1"/>
        </a:solidFill>
        <a:latin typeface="+mn-lt"/>
        <a:ea typeface="+mn-ea"/>
        <a:cs typeface="+mn-cs"/>
      </a:defRPr>
    </a:lvl4pPr>
    <a:lvl5pPr marL="1828800" algn="l" defTabSz="457200" rtl="0" eaLnBrk="1" latinLnBrk="0" hangingPunct="1">
      <a:defRPr sz="1800" kern="1200" lang="en-US">
        <a:solidFill>
          <a:schemeClr val="tx1"/>
        </a:solidFill>
        <a:latin typeface="+mn-lt"/>
        <a:ea typeface="+mn-ea"/>
        <a:cs typeface="+mn-cs"/>
      </a:defRPr>
    </a:lvl5pPr>
    <a:lvl6pPr marL="2286000" algn="l" defTabSz="457200" rtl="0" eaLnBrk="1" latinLnBrk="0" hangingPunct="1">
      <a:defRPr sz="1800" kern="1200" lang="en-US">
        <a:solidFill>
          <a:schemeClr val="tx1"/>
        </a:solidFill>
        <a:latin typeface="+mn-lt"/>
        <a:ea typeface="+mn-ea"/>
        <a:cs typeface="+mn-cs"/>
      </a:defRPr>
    </a:lvl6pPr>
    <a:lvl7pPr marL="2743200" algn="l" defTabSz="457200" rtl="0" eaLnBrk="1" latinLnBrk="0" hangingPunct="1">
      <a:defRPr sz="1800" kern="1200" lang="en-US">
        <a:solidFill>
          <a:schemeClr val="tx1"/>
        </a:solidFill>
        <a:latin typeface="+mn-lt"/>
        <a:ea typeface="+mn-ea"/>
        <a:cs typeface="+mn-cs"/>
      </a:defRPr>
    </a:lvl7pPr>
    <a:lvl8pPr marL="3200400" algn="l" defTabSz="457200" rtl="0" eaLnBrk="1" latinLnBrk="0" hangingPunct="1">
      <a:defRPr sz="1800" kern="1200" lang="en-US">
        <a:solidFill>
          <a:schemeClr val="tx1"/>
        </a:solidFill>
        <a:latin typeface="+mn-lt"/>
        <a:ea typeface="+mn-ea"/>
        <a:cs typeface="+mn-cs"/>
      </a:defRPr>
    </a:lvl8pPr>
    <a:lvl9pPr marL="3657600" algn="l" defTabSz="457200" rtl="0" eaLnBrk="1" latinLnBrk="0" hangingPunct="1">
      <a:defRPr sz="1800" kern="1200" lang="en-US">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  <Relationship Id="rId15"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这次先从论文要解决的问题出发。T-POP 关注的不是回答通常好不好，而是它是否适合某个具体用户。同一个问题，有人希望简短，有人希望详细。通用 RLHF 和 DPO 主要学习聚合偏好；面向个人的微调又需要逐用户优化，难以快速适配。利用历史、RAG 或提示词可以避免改模型，但依赖已经存在的用户资料。LA 和 AMULET 等测试时方法提供了引导冻结模型的途径。接下来的问题就是：新用户还没有历史，我们从哪里获得个性化信号？这就是论文的冷启动出发点。</a:t>
            </a:r>
          </a:p>
          <a:p>
            <a:pPr/>
            <a:endParaRPr lang="en-US" dirty="0"/>
          </a:p>
          <a:p>
            <a:pPr/>
            <a:r>
              <a:rPr lang="en-US" dirty="0"/>
              <a:t>T-POP starts from the gap between a generally helpful answer and an answer that fits a particular user. The same question may call for a concise response for one person and a detailed response for another. General RLHF and DPO mainly learn aggregate preferences. Personalized fine-tuning requires per-user optimization, making rapid adaptation difficult. History, RAG, and prompting can avoid model updates, but rely on existing user information. Test-time methods such as LA and AMULET offer ways to steer a frozen model. This leaves the paper's central starting question: where does the personalization signal come from when a new user has no history?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一个自然办法是在线收集偏好，但这带来两个同时发生的任务：既要给出符合当前偏好的回答，又要生成能帮助了解用户的比较样本。因此，论文结合测试时对齐和神经对决赌博机。具体地，第 t 轮接收问题，生成两个完整回答，由用户选择一个。标签一表示回答一更好，问题、两个回答和标签一起加入历史。用户的真实奖励函数未知，系统从这段历史学习 RM 来近似它，再引导冻结的 LLM。这里的反馈单位是完整回答对，不是让用户逐 token 标注；探索则发生在生成这个回答对的过程中。</a:t>
            </a:r>
          </a:p>
          <a:p>
            <a:pPr/>
            <a:endParaRPr lang="en-US" dirty="0"/>
          </a:p>
          <a:p>
            <a:pPr/>
            <a:r>
              <a:rPr lang="en-US" dirty="0"/>
              <a:t>A natural solution is to collect preferences online. But this creates two simultaneous objectives: produce a good answer using what is already known, and create a comparison that teaches us something new. T-POP combines test-time alignment with neural dueling bandits for these two jobs. At interaction t, the system receives a question, generates two complete answers, and observes one preference label. Label one means answer one wins. The question, both answers, and the label enter the growing history. A learned reward model approximates the unknown user reward and steers the frozen LLM. Feedback labels complete answer pairs; exploration operates during their generation.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先把抽象的用户和问题落到实验设置上。论文使用 HelpSteer、TruthfulQA、UltraChat 和 Personal Preference Eval，只保留问题，丢弃原回答。表里的数量是问题池大小，不是已有的偏好训练对；新的回答与标签在线产生。偏好目标是创造性、详细、简洁和鼓舞性，基础模型是三个七到八十亿参数级别的指令模型。在线反馈主要由 GPT-4o 模拟用户提供；评估包括 ArmoRM 分数，以及 GPT-4o 判断的相对基础模型胜率。这里的 ArmoRM 是外部评估器，不是训练中的个人 RM。对比方法覆盖基础模型、偏好提示、束搜索、LA 和 AMULET。</a:t>
            </a:r>
          </a:p>
          <a:p>
            <a:pPr/>
            <a:endParaRPr lang="en-US" dirty="0"/>
          </a:p>
          <a:p>
            <a:pPr/>
            <a:r>
              <a:rPr lang="en-US" dirty="0"/>
              <a:t>The experimental setup makes these abstract users concrete. Questions come from HelpSteer, TruthfulQA, UltraChat, and Personal Preference Eval. Original answers are discarded. The listed sizes describe question pools, not pre-existing preference pairs: new answers and labels are generated online. The four preference targets are creative, verbose, concise, and uplifting, tested on Mistral, Qwen, and Llama instruction models. GPT-4o mainly simulates online user feedback. Evaluation uses ArmoRM scores and GPT-4o judgments of win rates against the base model. ArmoRM is an external evaluator, separate from the learned personal reward model. Baselines include Base, preference prompting, beam search, LA, and AMULET.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有了这个设置，再看完整方法。一条问题进入系统后，利用策略和探索策略各生成一条回答。两条策略共享同一个冻结 LLM 和当前 RM，并不分别训练两个模型。利用分支追求当前高分，探索分支还考虑哪些偏好尚不确定。两个完整回答交给用户选择，偏好对进入历史，然后更新 RM，供下一次交互使用。整个闭环里，LLM 始终冻结；生成当前回答对时，RM 参数也固定。下面两页分别展开闭环中的训练和解码。最终部署可以停止学习，冻结个人 RM，只保留利用策略，每次返回一条回答。</a:t>
            </a:r>
          </a:p>
          <a:p>
            <a:pPr/>
            <a:endParaRPr lang="en-US" dirty="0"/>
          </a:p>
          <a:p>
            <a:pPr/>
            <a:r>
              <a:rPr lang="en-US" dirty="0"/>
              <a:t>Now put the components into one loop. A question enters the system, and exploitation and exploration each generate an answer. Both policies share one frozen LLM and the current reward model; they are not separately trained models. Exploitation favors the current score, while exploration also considers uncertain preferences. The user chooses between the complete answers, the pair enters the history, and the reward model is updated for the next interaction. The LLM stays frozen throughout, and reward-model parameters remain fixed during generation of the current pair. The next two slides expand training and decoding within this loop. Final deployment can freeze the learned reward model and return one answer using exploitation alone.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先展开训练。累计历史中取 B 对偏好，每对包含两个“问题加完整回答”的输入，所以共有二 B 条文本。冻结的 Qwen3 嵌入模型得到二 B 乘一千零二十四的矩阵，官方代码采用平均池化。共享 MLP 用一个一千零二十四维 ReLU 隐层，再投影为标量奖励。二 B 个分数重排为 B 乘二，就恢复了回答对的对应关系。对每一对，分数差经过 sigmoid，预测用户选择回答一的概率；用真实偏好标签训练二元交叉熵，并加参数正则。比如八对样本对应十六条文本、八个分数差。只有这个小头更新，编码器和 LLM 都不更新。</a:t>
            </a:r>
          </a:p>
          <a:p>
            <a:pPr/>
            <a:endParaRPr lang="en-US" dirty="0"/>
          </a:p>
          <a:p>
            <a:pPr/>
            <a:r>
              <a:rPr lang="en-US" dirty="0"/>
              <a:t>For training, sample B preference pairs from the accumulated history. Each pair contains two question-plus-complete-answer texts, giving two B inputs. A frozen Qwen3 encoder produces a two-B-by-1,024 matrix; the official implementation uses mean pooling. A shared MLP applies a 1,024-dimensional ReLU hidden layer and projects each text to one reward. Reshaping the rewards into a B-by-two matrix restores the pairs. The score difference passes through sigmoid to predict the probability that answer one is preferred. Observed labels train a binary cross-entropy loss with parameter regularization. For example, eight pairs produce sixteen texts and eight score differences. Only this small head updates; the encoder and LLM remain frozen.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再展开一次完整的双臂解码。两条前缀分别取 LLM 概率最高的四十个 token，并集最多八十个。每个候选都接到各自前缀，经过同一个 RM；因此两条分支各有长度为 C 的概率和奖励向量。利用分支先按概率加加权奖励选出 token。探索分支再加不确定性奖励，它比较候选延续与已经选中的利用延续，计算二者对 RM 参数的梯度差，再用 V 的逆矩阵加权。这里 P 是参数个数。两个 token 选定后，各自接回前缀，并把已选梯度差的外积加到 V。这一步只更新不确定性统计，不训练 RM；theta 要等完整回答的偏好反馈后才更新。然后继续下一个解码步。</a:t>
            </a:r>
          </a:p>
          <a:p>
            <a:pPr/>
            <a:endParaRPr lang="en-US" dirty="0"/>
          </a:p>
          <a:p>
            <a:pPr/>
            <a:r>
              <a:rPr lang="en-US" dirty="0"/>
              <a:t>For one paired decoding step, each prefix produces its forty highest-probability next tokens; their union contains at most eighty candidates. Each candidate extends each branch's own prefix and passes through the shared reward model. Each branch therefore has probability and reward vectors of length C. Exploitation first maximizes probability plus weighted reward. Exploration adds an uncertainty bonus relative to that selected exploitation continuation. The bonus uses the difference between reward gradients, weighted by the inverse of V. P is the number of reward-model parameters. After selecting both tokens, append them to their own prefixes and add the selected gradient-difference outer product to V. This updates uncertainty statistics, not the reward-model parameters. Theta updates only after complete-answer feedback, and decoding repeats.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实验集中回答两个问题：是否更符合偏好，以及探索是否有用。左表是从论文表一的四个属性平均行再取均值得到的 ArmoRM 分数，不是胜率。相对 AMULET，Qwen 和 Mistral 的提升分别约百分之二十八和百分之十九点九；Llama 的零点五三五与零点五三二五几乎持平，也并非每个属性都赢。支持冷启动动机的证据是，在两个简洁偏好设置下，收益集中出现在前二十轮。另一个局部消融表明，梯度不确定性探索优于熵奖励和 Boltzmann 探索。它支持主动学习偏好的设计，但不能据此声称对所有模型和偏好都有同样幅度的提升。</a:t>
            </a:r>
          </a:p>
          <a:p>
            <a:pPr/>
            <a:endParaRPr lang="en-US" dirty="0"/>
          </a:p>
          <a:p>
            <a:pPr/>
            <a:r>
              <a:rPr lang="en-US" dirty="0"/>
              <a:t>The evidence addresses two questions: does alignment improve, and does directed exploration help? The table averages the four attribute-average rows in the paper's Table One. These are ArmoRM scores, not win rates. Relative to AMULET, gains are about twenty-eight percent on Qwen and nineteen-point-nine percent on Mistral. Llama is almost tied, at 0.535 versus 0.5325, and T-POP does not win every attribute. Supporting the cold-start motivation, two concise-preference settings show fast gains within the first twenty interactions. A separate ablation finds gradient-based exploration better than entropy and Boltzmann alternatives. These findings support the design without establishing equally large gains everywhere.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最后，关键启发是把“学习什么是好回答”和“选择怎样的回答对来学习”放进同一个闭环，而不用微调 LLM。仍有三点值得讨论。第一，主实验反馈是模拟的，跨评估器检验仍然依赖模型，需要真实用户的长期研究。第二，完整回答的偏好被用于指导部分前缀，这种监督迁移在什么条件下可靠，是我们提出的问题。第三，论文报告的每问题延迟为二十三点二六秒，对比 AMULET 的十一点二五秒，在线计算成本仍然明显。这些分别指向真实反馈验证、前缀层面的归因检验和评分效率优化。论文明确提出的未来方向则是更丰富的反馈形式，以及长期偏好变化。</a:t>
            </a:r>
          </a:p>
          <a:p>
            <a:pPr/>
            <a:endParaRPr lang="en-US" dirty="0"/>
          </a:p>
          <a:p>
            <a:pPr/>
            <a:r>
              <a:rPr lang="en-US" dirty="0"/>
              <a:t>The main insight is to couple learning what a user values with choosing comparisons that improve that learning, while keeping the LLM frozen. Three limitations motivate discussion. First, the main feedback is simulated, and cross-judge checks are still model-mediated; longitudinal studies with real users remain valuable. Second, complete-answer preferences supervise partial-prefix scoring. Testing when this transfer is reliable is our discussion proposal. Third, reported query latency is 23.26 seconds, versus 11.25 seconds for AMULET, leaving a substantial online computation cost. These suggest tests of real feedback, prefix-level credit assignment, and more efficient reward scoring. The paper's own future directions are richer feedback and long-term changes in user preferences.</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TPOP_v1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TPOP_v1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en-US">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en-US">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en-US">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300" kern="1200" lang="en-US">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lang="en-US">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lang="en-US">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lang="en-US">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lang="en-US">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lang="en-US">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lang="en-US">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lang="en-US">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lang="en-US">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lang="en-US">
          <a:solidFill>
            <a:schemeClr val="tx1"/>
          </a:solidFill>
          <a:latin typeface="+mn-lt"/>
          <a:ea typeface="+mn-ea"/>
          <a:cs typeface="+mn-cs"/>
        </a:defRPr>
      </a:lvl9pPr>
    </p:bodyStyle>
    <p:otherStyle>
      <a:defPPr>
        <a:defRPr lang="en-US"/>
      </a:defPPr>
      <a:lvl1pPr marL="0" algn="l" defTabSz="457200" rtl="0" eaLnBrk="1" latinLnBrk="0" hangingPunct="1">
        <a:defRPr sz="2100" kern="1200" lang="en-US">
          <a:solidFill>
            <a:schemeClr val="tx1"/>
          </a:solidFill>
          <a:latin typeface="+mn-lt"/>
          <a:ea typeface="+mn-ea"/>
          <a:cs typeface="+mn-cs"/>
        </a:defRPr>
      </a:lvl1pPr>
      <a:lvl2pPr marL="457200" algn="l" defTabSz="457200" rtl="0" eaLnBrk="1" latinLnBrk="0" hangingPunct="1">
        <a:defRPr sz="1950" kern="1200" lang="en-US">
          <a:solidFill>
            <a:schemeClr val="tx1"/>
          </a:solidFill>
          <a:latin typeface="+mn-lt"/>
          <a:ea typeface="+mn-ea"/>
          <a:cs typeface="+mn-cs"/>
        </a:defRPr>
      </a:lvl2pPr>
      <a:lvl3pPr marL="914400" algn="l" defTabSz="457200" rtl="0" eaLnBrk="1" latinLnBrk="0" hangingPunct="1">
        <a:defRPr sz="1850" kern="1200" lang="en-US">
          <a:solidFill>
            <a:schemeClr val="tx1"/>
          </a:solidFill>
          <a:latin typeface="+mn-lt"/>
          <a:ea typeface="+mn-ea"/>
          <a:cs typeface="+mn-cs"/>
        </a:defRPr>
      </a:lvl3pPr>
      <a:lvl4pPr marL="1371600" algn="l" defTabSz="457200" rtl="0" eaLnBrk="1" latinLnBrk="0" hangingPunct="1">
        <a:defRPr sz="1700" kern="1200" lang="en-US">
          <a:solidFill>
            <a:schemeClr val="tx1"/>
          </a:solidFill>
          <a:latin typeface="+mn-lt"/>
          <a:ea typeface="+mn-ea"/>
          <a:cs typeface="+mn-cs"/>
        </a:defRPr>
      </a:lvl4pPr>
      <a:lvl5pPr marL="1828800" algn="l" defTabSz="457200" rtl="0" eaLnBrk="1" latinLnBrk="0" hangingPunct="1">
        <a:defRPr sz="1600" kern="1200" lang="en-US">
          <a:solidFill>
            <a:schemeClr val="tx1"/>
          </a:solidFill>
          <a:latin typeface="+mn-lt"/>
          <a:ea typeface="+mn-ea"/>
          <a:cs typeface="+mn-cs"/>
        </a:defRPr>
      </a:lvl5pPr>
      <a:lvl6pPr marL="2286000" algn="l" defTabSz="457200" rtl="0" eaLnBrk="1" latinLnBrk="0" hangingPunct="1">
        <a:defRPr sz="1450" kern="1200" lang="en-US">
          <a:solidFill>
            <a:schemeClr val="tx1"/>
          </a:solidFill>
          <a:latin typeface="+mn-lt"/>
          <a:ea typeface="+mn-ea"/>
          <a:cs typeface="+mn-cs"/>
        </a:defRPr>
      </a:lvl6pPr>
      <a:lvl7pPr marL="2743200" algn="l" defTabSz="457200" rtl="0" eaLnBrk="1" latinLnBrk="0" hangingPunct="1">
        <a:defRPr sz="1300" kern="1200" lang="en-US">
          <a:solidFill>
            <a:schemeClr val="tx1"/>
          </a:solidFill>
          <a:latin typeface="+mn-lt"/>
          <a:ea typeface="+mn-ea"/>
          <a:cs typeface="+mn-cs"/>
        </a:defRPr>
      </a:lvl7pPr>
      <a:lvl8pPr marL="3200400" algn="l" defTabSz="457200" rtl="0" eaLnBrk="1" latinLnBrk="0" hangingPunct="1">
        <a:defRPr sz="1200" kern="1200" lang="en-US">
          <a:solidFill>
            <a:schemeClr val="tx1"/>
          </a:solidFill>
          <a:latin typeface="+mn-lt"/>
          <a:ea typeface="+mn-ea"/>
          <a:cs typeface="+mn-cs"/>
        </a:defRPr>
      </a:lvl8pPr>
      <a:lvl9pPr marL="3657600" algn="l" defTabSz="457200" rtl="0" eaLnBrk="1" latinLnBrk="0" hangingPunct="1">
        <a:defRPr sz="1050" kern="1200" lang="en-US">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9923157" cy="971169"/>
            <a:chOff x="592836" y="461010"/>
            <a:chExt cx="9923157" cy="971169"/>
          </a:xfrm>
        </p:grpSpPr>
        <p:sp>
          <p:nvSpPr>
            <p:cNvPr id="2" name="TextBox 2"/>
            <p:cNvSpPr txBox="1"/>
            <p:nvPr/>
          </p:nvSpPr>
          <p:spPr>
            <a:xfrm>
              <a:off x="603504" y="461010"/>
              <a:ext cx="667939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T-POP · Test-Time Personalization with Online Preference Feedback · Qu et al., ICML 2026</a:t>
              </a:r>
            </a:p>
          </p:txBody>
        </p:sp>
        <p:sp>
          <p:nvSpPr>
            <p:cNvPr id="3" name="TextBox 3"/>
            <p:cNvSpPr txBox="1"/>
            <p:nvPr/>
          </p:nvSpPr>
          <p:spPr>
            <a:xfrm>
              <a:off x="592836" y="786765"/>
              <a:ext cx="9923157"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Beyond generic alignment: whose preference?</a:t>
              </a:r>
            </a:p>
          </p:txBody>
        </p:sp>
      </p:grpSp>
      <p:grpSp>
        <p:nvGrpSpPr>
          <p:cNvPr id="7" name="preference-gap"/>
          <p:cNvGrpSpPr/>
          <p:nvPr/>
        </p:nvGrpSpPr>
        <p:grpSpPr>
          <a:xfrm>
            <a:off x="598932" y="1659255"/>
            <a:ext cx="6811882" cy="906018"/>
            <a:chOff x="598932" y="1659255"/>
            <a:chExt cx="6811882" cy="906018"/>
          </a:xfrm>
        </p:grpSpPr>
        <p:sp>
          <p:nvSpPr>
            <p:cNvPr id="5" name="TextBox 5"/>
            <p:cNvSpPr txBox="1"/>
            <p:nvPr/>
          </p:nvSpPr>
          <p:spPr>
            <a:xfrm>
              <a:off x="598932" y="1659255"/>
              <a:ext cx="6811882"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 xml:space="preserve">General RLHF / DPO learns </a:t>
              </a:r>
              <a:r>
                <a:rPr lang="en-US" sz="2100" b="1" dirty="0">
                  <a:solidFill>
                    <a:schemeClr val="dk1"/>
                  </a:solidFill>
                  <a:latin typeface="+mn-lt"/>
                  <a:ea typeface="+mn-ea"/>
                  <a:cs typeface="+mn-cs"/>
                </a:rPr>
                <a:t>aggregate preferences</a:t>
              </a:r>
              <a:r>
                <a:rPr lang="en-US" sz="2100" dirty="0">
                  <a:solidFill>
                    <a:schemeClr val="dk1"/>
                  </a:solidFill>
                  <a:latin typeface="+mn-lt"/>
                  <a:ea typeface="+mn-ea"/>
                  <a:cs typeface="+mn-cs"/>
                </a:rPr>
                <a:t>.</a:t>
              </a:r>
            </a:p>
          </p:txBody>
        </p:sp>
        <p:sp>
          <p:nvSpPr>
            <p:cNvPr id="6" name="TextBox 6"/>
            <p:cNvSpPr txBox="1"/>
            <p:nvPr/>
          </p:nvSpPr>
          <p:spPr>
            <a:xfrm>
              <a:off x="598932" y="2154555"/>
              <a:ext cx="6739449"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 xml:space="preserve">Same question, different users: </a:t>
              </a:r>
              <a:r>
                <a:rPr lang="en-US" sz="2100" b="1" dirty="0">
                  <a:solidFill>
                    <a:schemeClr val="accent2"/>
                  </a:solidFill>
                  <a:latin typeface="+mn-lt"/>
                  <a:ea typeface="+mn-ea"/>
                  <a:cs typeface="+mn-cs"/>
                </a:rPr>
                <a:t>concise</a:t>
              </a:r>
              <a:r>
                <a:rPr lang="en-US" sz="2100" dirty="0">
                  <a:solidFill>
                    <a:schemeClr val="dk1"/>
                  </a:solidFill>
                  <a:latin typeface="+mn-lt"/>
                  <a:ea typeface="+mn-ea"/>
                  <a:cs typeface="+mn-cs"/>
                </a:rPr>
                <a:t xml:space="preserve"> vs. </a:t>
              </a:r>
              <a:r>
                <a:rPr lang="en-US" sz="2100" b="1" dirty="0">
                  <a:solidFill>
                    <a:schemeClr val="accent3"/>
                  </a:solidFill>
                  <a:latin typeface="+mn-lt"/>
                  <a:ea typeface="+mn-ea"/>
                  <a:cs typeface="+mn-cs"/>
                </a:rPr>
                <a:t>detailed</a:t>
              </a:r>
              <a:r>
                <a:rPr lang="en-US" sz="2100" dirty="0">
                  <a:solidFill>
                    <a:schemeClr val="dk1"/>
                  </a:solidFill>
                  <a:latin typeface="+mn-lt"/>
                  <a:ea typeface="+mn-ea"/>
                  <a:cs typeface="+mn-cs"/>
                </a:rPr>
                <a:t>.</a:t>
              </a:r>
            </a:p>
          </p:txBody>
        </p:sp>
      </p:grpSp>
      <p:graphicFrame>
        <p:nvGraphicFramePr>
          <p:cNvPr id="8" name="prior-work"/>
          <p:cNvGraphicFramePr>
            <a:graphicFrameLocks noGrp="1"/>
          </p:cNvGraphicFramePr>
          <p:nvPr/>
        </p:nvGraphicFramePr>
        <p:xfrm>
          <a:off x="609600" y="2781300"/>
          <a:ext cx="10972800" cy="2762250"/>
        </p:xfrm>
        <a:graphic>
          <a:graphicData uri="http://schemas.openxmlformats.org/drawingml/2006/table">
            <a:tbl>
              <a:tblPr firstRow="1" bandRow="0">
                <a:tableStyleId>{5C22544A-7EE6-4342-B048-85BDC9FD1C3A}</a:tableStyleId>
              </a:tblPr>
              <a:tblGrid>
                <a:gridCol w="3448050"/>
                <a:gridCol w="3676650"/>
                <a:gridCol w="3848100"/>
              </a:tblGrid>
              <a:tr h="476250">
                <a:tc>
                  <a:txBody>
                    <a:bodyPr/>
                    <a:lstStyle/>
                    <a:p>
                      <a:pPr/>
                      <a:r>
                        <a:rPr lang="en-US" sz="1650" b="1">
                          <a:solidFill>
                            <a:schemeClr val="accent5"/>
                          </a:solidFill>
                          <a:latin typeface="Arial"/>
                          <a:ea typeface="Microsoft YaHei"/>
                          <a:cs typeface="Arial"/>
                        </a:rPr>
                        <a:t>Prior direction</a:t>
                      </a:r>
                    </a:p>
                  </a:txBody>
                  <a:tcPr anchor="ctr" marL="171450" marR="171450" marT="91440" marB="91440">
                    <a:lnL>
                      <a:noFill/>
                    </a:lnL>
                    <a:lnR>
                      <a:noFill/>
                    </a:lnR>
                    <a:lnT>
                      <a:noFill/>
                    </a:lnT>
                    <a:lnB w="9525">
                      <a:solidFill>
                        <a:schemeClr val="accent6"/>
                      </a:solidFill>
                      <a:prstDash val="solid"/>
                    </a:lnB>
                    <a:solidFill>
                      <a:schemeClr val="lt2"/>
                    </a:solidFill>
                  </a:tcPr>
                </a:tc>
                <a:tc>
                  <a:txBody>
                    <a:bodyPr/>
                    <a:lstStyle/>
                    <a:p>
                      <a:pPr/>
                      <a:r>
                        <a:rPr lang="en-US" sz="1650" b="1">
                          <a:solidFill>
                            <a:schemeClr val="accent5"/>
                          </a:solidFill>
                          <a:latin typeface="Arial"/>
                          <a:ea typeface="Microsoft YaHei"/>
                          <a:cs typeface="Arial"/>
                        </a:rPr>
                        <a:t>What it relies on</a:t>
                      </a:r>
                    </a:p>
                  </a:txBody>
                  <a:tcPr anchor="ctr" marL="171450" marR="171450" marT="91440" marB="91440">
                    <a:lnL>
                      <a:noFill/>
                    </a:lnL>
                    <a:lnR>
                      <a:noFill/>
                    </a:lnR>
                    <a:lnT>
                      <a:noFill/>
                    </a:lnT>
                    <a:lnB w="9525">
                      <a:solidFill>
                        <a:schemeClr val="accent6"/>
                      </a:solidFill>
                      <a:prstDash val="solid"/>
                    </a:lnB>
                    <a:solidFill>
                      <a:schemeClr val="lt2"/>
                    </a:solidFill>
                  </a:tcPr>
                </a:tc>
                <a:tc>
                  <a:txBody>
                    <a:bodyPr/>
                    <a:lstStyle/>
                    <a:p>
                      <a:pPr/>
                      <a:r>
                        <a:rPr lang="en-US" sz="1650" b="1">
                          <a:solidFill>
                            <a:schemeClr val="accent5"/>
                          </a:solidFill>
                          <a:latin typeface="Arial"/>
                          <a:ea typeface="Microsoft YaHei"/>
                          <a:cs typeface="Arial"/>
                        </a:rPr>
                        <a:t>Cold-start question</a:t>
                      </a:r>
                    </a:p>
                  </a:txBody>
                  <a:tcPr anchor="ctr" marL="171450" marR="171450" marT="91440" marB="91440">
                    <a:lnL>
                      <a:noFill/>
                    </a:lnL>
                    <a:lnR>
                      <a:noFill/>
                    </a:lnR>
                    <a:lnT>
                      <a:noFill/>
                    </a:lnT>
                    <a:lnB w="9525">
                      <a:solidFill>
                        <a:schemeClr val="accent6"/>
                      </a:solidFill>
                      <a:prstDash val="solid"/>
                    </a:lnB>
                    <a:solidFill>
                      <a:schemeClr val="lt2"/>
                    </a:solidFill>
                  </a:tcPr>
                </a:tc>
              </a:tr>
              <a:tr h="723900">
                <a:tc>
                  <a:txBody>
                    <a:bodyPr/>
                    <a:lstStyle/>
                    <a:p>
                      <a:pPr/>
                      <a:r>
                        <a:rPr lang="en-US" sz="1800" b="1">
                          <a:solidFill>
                            <a:schemeClr val="dk1"/>
                          </a:solidFill>
                          <a:latin typeface="Arial"/>
                          <a:ea typeface="Microsoft YaHei"/>
                          <a:cs typeface="Arial"/>
                        </a:rPr>
                        <a:t>User-specific fine-tuning</a:t>
                      </a:r>
                    </a:p>
                  </a:txBody>
                  <a:tcPr anchor="ctr" marL="171450" marR="171450" marT="95250" marB="95250">
                    <a:lnL>
                      <a:noFill/>
                    </a:lnL>
                    <a:lnR>
                      <a:noFill/>
                    </a:lnR>
                    <a:lnT>
                      <a:noFill/>
                    </a:lnT>
                    <a:lnB w="9525">
                      <a:solidFill>
                        <a:schemeClr val="accent6"/>
                      </a:solidFill>
                      <a:prstDash val="solid"/>
                    </a:lnB>
                    <a:noFill/>
                  </a:tcPr>
                </a:tc>
                <a:tc>
                  <a:txBody>
                    <a:bodyPr/>
                    <a:lstStyle/>
                    <a:p>
                      <a:pPr/>
                      <a:r>
                        <a:rPr lang="en-US" sz="1800" b="0">
                          <a:solidFill>
                            <a:schemeClr val="dk1"/>
                          </a:solidFill>
                          <a:latin typeface="Arial"/>
                          <a:ea typeface="Microsoft YaHei"/>
                          <a:cs typeface="Arial"/>
                        </a:rPr>
                        <a:t>Per-user model optimization</a:t>
                      </a:r>
                    </a:p>
                  </a:txBody>
                  <a:tcPr anchor="ctr" marL="171450" marR="171450" marT="95250" marB="95250">
                    <a:lnL>
                      <a:noFill/>
                    </a:lnL>
                    <a:lnR>
                      <a:noFill/>
                    </a:lnR>
                    <a:lnT>
                      <a:noFill/>
                    </a:lnT>
                    <a:lnB w="9525">
                      <a:solidFill>
                        <a:schemeClr val="accent6"/>
                      </a:solidFill>
                      <a:prstDash val="solid"/>
                    </a:lnB>
                    <a:noFill/>
                  </a:tcPr>
                </a:tc>
                <a:tc>
                  <a:txBody>
                    <a:bodyPr/>
                    <a:lstStyle/>
                    <a:p>
                      <a:pPr/>
                      <a:r>
                        <a:rPr lang="en-US" sz="1800" b="0">
                          <a:solidFill>
                            <a:schemeClr val="dk1"/>
                          </a:solidFill>
                          <a:latin typeface="Arial"/>
                          <a:ea typeface="Microsoft YaHei"/>
                          <a:cs typeface="Arial"/>
                        </a:rPr>
                        <a:t>Can it adapt quickly?</a:t>
                      </a:r>
                    </a:p>
                  </a:txBody>
                  <a:tcPr anchor="ctr" marL="171450" marR="171450" marT="95250" marB="95250">
                    <a:lnL>
                      <a:noFill/>
                    </a:lnL>
                    <a:lnR>
                      <a:noFill/>
                    </a:lnR>
                    <a:lnT>
                      <a:noFill/>
                    </a:lnT>
                    <a:lnB w="9525">
                      <a:solidFill>
                        <a:schemeClr val="accent6"/>
                      </a:solidFill>
                      <a:prstDash val="solid"/>
                    </a:lnB>
                    <a:noFill/>
                  </a:tcPr>
                </a:tc>
              </a:tr>
              <a:tr h="723900">
                <a:tc>
                  <a:txBody>
                    <a:bodyPr/>
                    <a:lstStyle/>
                    <a:p>
                      <a:pPr/>
                      <a:r>
                        <a:rPr lang="en-US" sz="1800" b="1">
                          <a:solidFill>
                            <a:schemeClr val="dk1"/>
                          </a:solidFill>
                          <a:latin typeface="Arial"/>
                          <a:ea typeface="Microsoft YaHei"/>
                          <a:cs typeface="Arial"/>
                        </a:rPr>
                        <a:t>History / RAG / prompting</a:t>
                      </a:r>
                    </a:p>
                  </a:txBody>
                  <a:tcPr anchor="ctr" marL="171450" marR="171450" marT="95250" marB="95250">
                    <a:lnL>
                      <a:noFill/>
                    </a:lnL>
                    <a:lnR>
                      <a:noFill/>
                    </a:lnR>
                    <a:lnT>
                      <a:noFill/>
                    </a:lnT>
                    <a:lnB w="9525">
                      <a:solidFill>
                        <a:schemeClr val="accent6"/>
                      </a:solidFill>
                      <a:prstDash val="solid"/>
                    </a:lnB>
                    <a:noFill/>
                  </a:tcPr>
                </a:tc>
                <a:tc>
                  <a:txBody>
                    <a:bodyPr/>
                    <a:lstStyle/>
                    <a:p>
                      <a:pPr/>
                      <a:r>
                        <a:rPr lang="en-US" sz="1800" b="0">
                          <a:solidFill>
                            <a:schemeClr val="dk1"/>
                          </a:solidFill>
                          <a:latin typeface="Arial"/>
                          <a:ea typeface="Microsoft YaHei"/>
                          <a:cs typeface="Arial"/>
                        </a:rPr>
                        <a:t>Existing user records</a:t>
                      </a:r>
                    </a:p>
                  </a:txBody>
                  <a:tcPr anchor="ctr" marL="171450" marR="171450" marT="95250" marB="95250">
                    <a:lnL>
                      <a:noFill/>
                    </a:lnL>
                    <a:lnR>
                      <a:noFill/>
                    </a:lnR>
                    <a:lnT>
                      <a:noFill/>
                    </a:lnT>
                    <a:lnB w="9525">
                      <a:solidFill>
                        <a:schemeClr val="accent6"/>
                      </a:solidFill>
                      <a:prstDash val="solid"/>
                    </a:lnB>
                    <a:noFill/>
                  </a:tcPr>
                </a:tc>
                <a:tc>
                  <a:txBody>
                    <a:bodyPr/>
                    <a:lstStyle/>
                    <a:p>
                      <a:pPr/>
                      <a:r>
                        <a:rPr lang="en-US" sz="1800" b="0">
                          <a:solidFill>
                            <a:schemeClr val="dk1"/>
                          </a:solidFill>
                          <a:latin typeface="Arial"/>
                          <a:ea typeface="Microsoft YaHei"/>
                          <a:cs typeface="Arial"/>
                        </a:rPr>
                        <a:t>What if no history exists?</a:t>
                      </a:r>
                    </a:p>
                  </a:txBody>
                  <a:tcPr anchor="ctr" marL="171450" marR="171450" marT="95250" marB="95250">
                    <a:lnL>
                      <a:noFill/>
                    </a:lnL>
                    <a:lnR>
                      <a:noFill/>
                    </a:lnR>
                    <a:lnT>
                      <a:noFill/>
                    </a:lnT>
                    <a:lnB w="9525">
                      <a:solidFill>
                        <a:schemeClr val="accent6"/>
                      </a:solidFill>
                      <a:prstDash val="solid"/>
                    </a:lnB>
                    <a:noFill/>
                  </a:tcPr>
                </a:tc>
              </a:tr>
              <a:tr h="838200">
                <a:tc>
                  <a:txBody>
                    <a:bodyPr/>
                    <a:lstStyle/>
                    <a:p>
                      <a:pPr/>
                      <a:r>
                        <a:rPr lang="en-US" sz="1800" b="1">
                          <a:solidFill>
                            <a:schemeClr val="dk1"/>
                          </a:solidFill>
                          <a:latin typeface="Arial"/>
                          <a:ea typeface="Microsoft YaHei"/>
                          <a:cs typeface="Arial"/>
                        </a:rPr>
                        <a:t>Test-time steering
(e.g., LA, AMULET)</a:t>
                      </a:r>
                    </a:p>
                  </a:txBody>
                  <a:tcPr anchor="ctr" marL="171450" marR="171450" marT="95250" marB="95250">
                    <a:lnL>
                      <a:noFill/>
                    </a:lnL>
                    <a:lnR>
                      <a:noFill/>
                    </a:lnR>
                    <a:lnT>
                      <a:noFill/>
                    </a:lnT>
                    <a:lnB w="9525">
                      <a:solidFill>
                        <a:schemeClr val="accent6"/>
                      </a:solidFill>
                      <a:prstDash val="solid"/>
                    </a:lnB>
                    <a:noFill/>
                  </a:tcPr>
                </a:tc>
                <a:tc>
                  <a:txBody>
                    <a:bodyPr/>
                    <a:lstStyle/>
                    <a:p>
                      <a:pPr/>
                      <a:r>
                        <a:rPr lang="en-US" sz="1800" b="0">
                          <a:solidFill>
                            <a:schemeClr val="dk1"/>
                          </a:solidFill>
                          <a:latin typeface="Arial"/>
                          <a:ea typeface="Microsoft YaHei"/>
                          <a:cs typeface="Arial"/>
                        </a:rPr>
                        <a:t>A preference signal or objective</a:t>
                      </a:r>
                    </a:p>
                  </a:txBody>
                  <a:tcPr anchor="ctr" marL="171450" marR="171450" marT="95250" marB="95250">
                    <a:lnL>
                      <a:noFill/>
                    </a:lnL>
                    <a:lnR>
                      <a:noFill/>
                    </a:lnR>
                    <a:lnT>
                      <a:noFill/>
                    </a:lnT>
                    <a:lnB w="9525">
                      <a:solidFill>
                        <a:schemeClr val="accent6"/>
                      </a:solidFill>
                      <a:prstDash val="solid"/>
                    </a:lnB>
                    <a:noFill/>
                  </a:tcPr>
                </a:tc>
                <a:tc>
                  <a:txBody>
                    <a:bodyPr/>
                    <a:lstStyle/>
                    <a:p>
                      <a:pPr/>
                      <a:r>
                        <a:rPr lang="en-US" sz="1800" b="0">
                          <a:solidFill>
                            <a:schemeClr val="dk1"/>
                          </a:solidFill>
                          <a:latin typeface="Arial"/>
                          <a:ea typeface="Microsoft YaHei"/>
                          <a:cs typeface="Arial"/>
                        </a:rPr>
                        <a:t>How do we acquire
that signal online?</a:t>
                      </a:r>
                    </a:p>
                  </a:txBody>
                  <a:tcPr anchor="ctr" marL="171450" marR="171450" marT="95250" marB="95250">
                    <a:lnL>
                      <a:noFill/>
                    </a:lnL>
                    <a:lnR>
                      <a:noFill/>
                    </a:lnR>
                    <a:lnT>
                      <a:noFill/>
                    </a:lnT>
                    <a:lnB w="9525">
                      <a:solidFill>
                        <a:schemeClr val="accent6"/>
                      </a:solidFill>
                      <a:prstDash val="solid"/>
                    </a:lnB>
                    <a:noFill/>
                  </a:tcPr>
                </a:tc>
              </a:tr>
            </a:tbl>
          </a:graphicData>
        </a:graphic>
      </p:graphicFrame>
      <p:grpSp>
        <p:nvGrpSpPr>
          <p:cNvPr id="10" name="takeaway"/>
          <p:cNvGrpSpPr/>
          <p:nvPr/>
        </p:nvGrpSpPr>
        <p:grpSpPr>
          <a:xfrm>
            <a:off x="597408" y="5779770"/>
            <a:ext cx="8407228" cy="469392"/>
            <a:chOff x="597408" y="5779770"/>
            <a:chExt cx="8407228" cy="469392"/>
          </a:xfrm>
        </p:grpSpPr>
        <p:sp>
          <p:nvSpPr>
            <p:cNvPr id="9" name="TextBox 9"/>
            <p:cNvSpPr txBox="1"/>
            <p:nvPr/>
          </p:nvSpPr>
          <p:spPr>
            <a:xfrm>
              <a:off x="597408" y="5779770"/>
              <a:ext cx="8407228" cy="469392"/>
            </a:xfrm>
            <a:prstGeom prst="rect">
              <a:avLst/>
            </a:prstGeom>
            <a:noFill/>
            <a:ln>
              <a:noFill/>
            </a:ln>
          </p:spPr>
          <p:txBody>
            <a:bodyPr wrap="none" lIns="0" tIns="0" rIns="0" bIns="0" anchor="t" anchorCtr="0">
              <a:spAutoFit/>
            </a:bodyPr>
            <a:lstStyle/>
            <a:p>
              <a:pPr algn="l"/>
              <a:r>
                <a:rPr lang="en-US" sz="2400" dirty="0">
                  <a:solidFill>
                    <a:schemeClr val="accent1"/>
                  </a:solidFill>
                  <a:latin typeface="+mn-lt"/>
                  <a:ea typeface="+mn-ea"/>
                  <a:cs typeface="+mn-cs"/>
                </a:rPr>
                <a:t xml:space="preserve">The missing starting point: </a:t>
              </a:r>
              <a:r>
                <a:rPr lang="en-US" sz="2400" b="1" dirty="0">
                  <a:solidFill>
                    <a:schemeClr val="accent1"/>
                  </a:solidFill>
                  <a:latin typeface="+mn-lt"/>
                  <a:ea typeface="+mn-ea"/>
                  <a:cs typeface="+mn-cs"/>
                </a:rPr>
                <a:t>a new user's preference data.</a:t>
              </a:r>
            </a:p>
          </p:txBody>
        </p:sp>
      </p:grpSp>
      <p:grpSp>
        <p:nvGrpSpPr>
          <p:cNvPr id="13" name="footer"/>
          <p:cNvGrpSpPr/>
          <p:nvPr/>
        </p:nvGrpSpPr>
        <p:grpSpPr>
          <a:xfrm>
            <a:off x="603504" y="6404610"/>
            <a:ext cx="10984992" cy="234696"/>
            <a:chOff x="603504" y="6404610"/>
            <a:chExt cx="10984992" cy="234696"/>
          </a:xfrm>
        </p:grpSpPr>
        <p:sp>
          <p:nvSpPr>
            <p:cNvPr id="11" name="TextBox 11"/>
            <p:cNvSpPr txBox="1"/>
            <p:nvPr/>
          </p:nvSpPr>
          <p:spPr>
            <a:xfrm>
              <a:off x="603504" y="6404610"/>
              <a:ext cx="480613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T-POP §§1–2, 6 · Comparison summarizes the paper's motivation.</a:t>
              </a:r>
            </a:p>
          </p:txBody>
        </p:sp>
        <p:sp>
          <p:nvSpPr>
            <p:cNvPr id="12" name="TextBox 12"/>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01 / 08</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6910716" cy="971169"/>
            <a:chOff x="592836" y="461010"/>
            <a:chExt cx="6910716" cy="971169"/>
          </a:xfrm>
        </p:grpSpPr>
        <p:sp>
          <p:nvSpPr>
            <p:cNvPr id="2" name="TextBox 2"/>
            <p:cNvSpPr txBox="1"/>
            <p:nvPr/>
          </p:nvSpPr>
          <p:spPr>
            <a:xfrm>
              <a:off x="603504" y="461010"/>
              <a:ext cx="346408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MOTIVATION → PROBLEM FORMULATION</a:t>
              </a:r>
            </a:p>
          </p:txBody>
        </p:sp>
        <p:sp>
          <p:nvSpPr>
            <p:cNvPr id="3" name="TextBox 3"/>
            <p:cNvSpPr txBox="1"/>
            <p:nvPr/>
          </p:nvSpPr>
          <p:spPr>
            <a:xfrm>
              <a:off x="592836" y="786765"/>
              <a:ext cx="6910716"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Cold start is also a data problem</a:t>
              </a:r>
            </a:p>
          </p:txBody>
        </p:sp>
      </p:grpSp>
      <p:grpSp>
        <p:nvGrpSpPr>
          <p:cNvPr id="6" name="starting-point"/>
          <p:cNvGrpSpPr/>
          <p:nvPr/>
        </p:nvGrpSpPr>
        <p:grpSpPr>
          <a:xfrm>
            <a:off x="598932" y="1668780"/>
            <a:ext cx="8562292" cy="410718"/>
            <a:chOff x="598932" y="1668780"/>
            <a:chExt cx="8562292" cy="410718"/>
          </a:xfrm>
        </p:grpSpPr>
        <p:sp>
          <p:nvSpPr>
            <p:cNvPr id="5" name="TextBox 5"/>
            <p:cNvSpPr txBox="1"/>
            <p:nvPr/>
          </p:nvSpPr>
          <p:spPr>
            <a:xfrm>
              <a:off x="598932" y="1668780"/>
              <a:ext cx="8562292"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 xml:space="preserve">New user: </a:t>
              </a:r>
              <a:r>
                <a:rPr lang="en-US" sz="2100" b="1" dirty="0">
                  <a:solidFill>
                    <a:schemeClr val="dk1"/>
                  </a:solidFill>
                  <a:latin typeface="+mn-lt"/>
                  <a:ea typeface="+mn-ea"/>
                  <a:cs typeface="+mn-cs"/>
                </a:rPr>
                <a:t>empty history</a:t>
              </a:r>
              <a:r>
                <a:rPr lang="en-US" sz="2100" dirty="0">
                  <a:solidFill>
                    <a:schemeClr val="dk1"/>
                  </a:solidFill>
                  <a:latin typeface="+mn-lt"/>
                  <a:ea typeface="+mn-ea"/>
                  <a:cs typeface="+mn-cs"/>
                </a:rPr>
                <a:t>, unknown preference, a frozen base LLM.</a:t>
              </a:r>
            </a:p>
          </p:txBody>
        </p:sp>
      </p:grpSp>
      <mc:AlternateContent xmlns:mc="http://schemas.openxmlformats.org/markup-compatibility/2006">
        <mc:Choice xmlns:a14="http://schemas.microsoft.com/office/drawing/2010/main" Requires="a14">
          <p:sp>
            <p:nvSpPr>
              <p:cNvPr id="7" name="interaction-formula"/>
              <p:cNvSpPr txBox="1">
                <a:spLocks noGrp="1"/>
              </p:cNvSpPr>
              <p:nvPr/>
            </p:nvSpPr>
            <p:spPr>
              <a:xfrm>
                <a:off x="609600" y="2171700"/>
                <a:ext cx="8763000" cy="609600"/>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sSub>
                        <m:e>
                          <m:r>
                            <a:rPr lang="en-US" sz="2400" dirty="0">
                              <a:solidFill>
                                <a:srgbClr val="10243A"/>
                              </a:solidFill>
                              <a:latin typeface="Cambria Math"/>
                              <a:ea typeface="Cambria Math"/>
                              <a:cs typeface="Cambria Math"/>
                            </a:rPr>
                            <m:t>q</m:t>
                          </m:r>
                        </m:e>
                        <m:sub>
                          <m:r>
                            <a:rPr lang="en-US" sz="2400" dirty="0">
                              <a:solidFill>
                                <a:srgbClr val="10243A"/>
                              </a:solidFill>
                              <a:latin typeface="Cambria Math"/>
                              <a:ea typeface="Cambria Math"/>
                              <a:cs typeface="Cambria Math"/>
                            </a:rPr>
                            <m:t>t</m:t>
                          </m:r>
                        </m:sub>
                      </m:sSub>
                      <m:r>
                        <m:rPr>
                          <m:sty m:val="p"/>
                        </m:rPr>
                        <a:rPr lang="en-US" sz="2400" dirty="0">
                          <a:solidFill>
                            <a:srgbClr val="10243A"/>
                          </a:solidFill>
                          <a:latin typeface="Cambria Math"/>
                          <a:ea typeface="Cambria Math"/>
                          <a:cs typeface="Cambria Math"/>
                        </a:rPr>
                        <m:t>⟶</m:t>
                      </m:r>
                      <m:d>
                        <m:dPr>
                          <m:begChr m:val="("/>
                          <m:sepChr m:val=""/>
                          <m:endChr m:val=")"/>
                          <m:grow m:val="on"/>
                          <m:ctrlPr>
                            <a:rPr lang="en-US" sz="2400" dirty="0">
                              <a:solidFill>
                                <a:srgbClr val="10243A"/>
                              </a:solidFill>
                              <a:latin typeface="Cambria Math"/>
                              <a:ea typeface="Cambria Math"/>
                              <a:cs typeface="Cambria Math"/>
                            </a:rPr>
                          </m:ctrlPr>
                        </m:dPr>
                        <m:e>
                          <m:sSub>
                            <m:e>
                              <m:r>
                                <a:rPr lang="en-US" sz="2400" dirty="0">
                                  <a:solidFill>
                                    <a:srgbClr val="10243A"/>
                                  </a:solidFill>
                                  <a:latin typeface="Cambria Math"/>
                                  <a:ea typeface="Cambria Math"/>
                                  <a:cs typeface="Cambria Math"/>
                                </a:rPr>
                                <m:t>a</m:t>
                              </m:r>
                            </m:e>
                            <m:sub>
                              <m:r>
                                <a:rPr lang="en-US" sz="2400" dirty="0">
                                  <a:solidFill>
                                    <a:srgbClr val="10243A"/>
                                  </a:solidFill>
                                  <a:latin typeface="Cambria Math"/>
                                  <a:ea typeface="Cambria Math"/>
                                  <a:cs typeface="Cambria Math"/>
                                </a:rPr>
                                <m:t>t</m:t>
                              </m:r>
                              <m:r>
                                <m:rPr>
                                  <m:sty m:val="p"/>
                                </m:rPr>
                                <a:rPr lang="en-US" sz="2400" dirty="0">
                                  <a:solidFill>
                                    <a:srgbClr val="10243A"/>
                                  </a:solidFill>
                                  <a:latin typeface="Cambria Math"/>
                                  <a:ea typeface="Cambria Math"/>
                                  <a:cs typeface="Cambria Math"/>
                                </a:rPr>
                                <m:t>,</m:t>
                              </m:r>
                              <m:r>
                                <a:rPr lang="en-US" sz="2400" dirty="0">
                                  <a:solidFill>
                                    <a:srgbClr val="10243A"/>
                                  </a:solidFill>
                                  <a:latin typeface="Cambria Math"/>
                                  <a:ea typeface="Cambria Math"/>
                                  <a:cs typeface="Cambria Math"/>
                                </a:rPr>
                                <m:t>1</m:t>
                              </m:r>
                            </m:sub>
                          </m:sSub>
                          <m:r>
                            <m:rPr>
                              <m:sty m:val="p"/>
                            </m:rPr>
                            <a:rPr lang="en-US" sz="2400" dirty="0">
                              <a:solidFill>
                                <a:srgbClr val="10243A"/>
                              </a:solidFill>
                              <a:latin typeface="Cambria Math"/>
                              <a:ea typeface="Cambria Math"/>
                              <a:cs typeface="Cambria Math"/>
                            </a:rPr>
                            <m:t>,</m:t>
                          </m:r>
                          <m:sSub>
                            <m:e>
                              <m:r>
                                <a:rPr lang="en-US" sz="2400" dirty="0">
                                  <a:solidFill>
                                    <a:srgbClr val="10243A"/>
                                  </a:solidFill>
                                  <a:latin typeface="Cambria Math"/>
                                  <a:ea typeface="Cambria Math"/>
                                  <a:cs typeface="Cambria Math"/>
                                </a:rPr>
                                <m:t>a</m:t>
                              </m:r>
                            </m:e>
                            <m:sub>
                              <m:r>
                                <a:rPr lang="en-US" sz="2400" dirty="0">
                                  <a:solidFill>
                                    <a:srgbClr val="10243A"/>
                                  </a:solidFill>
                                  <a:latin typeface="Cambria Math"/>
                                  <a:ea typeface="Cambria Math"/>
                                  <a:cs typeface="Cambria Math"/>
                                </a:rPr>
                                <m:t>t</m:t>
                              </m:r>
                              <m:r>
                                <m:rPr>
                                  <m:sty m:val="p"/>
                                </m:rPr>
                                <a:rPr lang="en-US" sz="2400" dirty="0">
                                  <a:solidFill>
                                    <a:srgbClr val="10243A"/>
                                  </a:solidFill>
                                  <a:latin typeface="Cambria Math"/>
                                  <a:ea typeface="Cambria Math"/>
                                  <a:cs typeface="Cambria Math"/>
                                </a:rPr>
                                <m:t>,</m:t>
                              </m:r>
                              <m:r>
                                <a:rPr lang="en-US" sz="2400" dirty="0">
                                  <a:solidFill>
                                    <a:srgbClr val="10243A"/>
                                  </a:solidFill>
                                  <a:latin typeface="Cambria Math"/>
                                  <a:ea typeface="Cambria Math"/>
                                  <a:cs typeface="Cambria Math"/>
                                </a:rPr>
                                <m:t>2</m:t>
                              </m:r>
                            </m:sub>
                          </m:sSub>
                        </m:e>
                      </m:d>
                      <m:r>
                        <m:rPr>
                          <m:sty m:val="p"/>
                        </m:rPr>
                        <a:rPr lang="en-US" sz="2400" dirty="0">
                          <a:solidFill>
                            <a:srgbClr val="10243A"/>
                          </a:solidFill>
                          <a:latin typeface="Cambria Math"/>
                          <a:ea typeface="Cambria Math"/>
                          <a:cs typeface="Cambria Math"/>
                        </a:rPr>
                        <m:t>⟶</m:t>
                      </m:r>
                      <m:sSub>
                        <m:e>
                          <m:r>
                            <m:rPr>
                              <m:sty m:val="p"/>
                            </m:rPr>
                            <a:rPr lang="en-US" sz="2400" dirty="0">
                              <a:solidFill>
                                <a:srgbClr val="10243A"/>
                              </a:solidFill>
                              <a:latin typeface="Cambria Math"/>
                              <a:ea typeface="Cambria Math"/>
                              <a:cs typeface="Cambria Math"/>
                            </a:rPr>
                            <m:t>ℓ</m:t>
                          </m:r>
                        </m:e>
                        <m:sub>
                          <m:r>
                            <a:rPr lang="en-US" sz="2400" dirty="0">
                              <a:solidFill>
                                <a:srgbClr val="10243A"/>
                              </a:solidFill>
                              <a:latin typeface="Cambria Math"/>
                              <a:ea typeface="Cambria Math"/>
                              <a:cs typeface="Cambria Math"/>
                            </a:rPr>
                            <m:t>t</m:t>
                          </m:r>
                        </m:sub>
                      </m:sSub>
                      <m:r>
                        <m:rPr>
                          <m:sty m:val="p"/>
                        </m:rPr>
                        <a:rPr lang="en-US" sz="2400" dirty="0">
                          <a:solidFill>
                            <a:srgbClr val="10243A"/>
                          </a:solidFill>
                          <a:latin typeface="Cambria Math"/>
                          <a:ea typeface="Cambria Math"/>
                          <a:cs typeface="Cambria Math"/>
                        </a:rPr>
                        <m:t>∈</m:t>
                      </m:r>
                      <m:d>
                        <m:dPr>
                          <m:begChr m:val="{"/>
                          <m:sepChr m:val=""/>
                          <m:endChr m:val="}"/>
                          <m:grow m:val="on"/>
                          <m:ctrlPr>
                            <a:rPr lang="en-US" sz="2400" dirty="0">
                              <a:solidFill>
                                <a:srgbClr val="10243A"/>
                              </a:solidFill>
                              <a:latin typeface="Cambria Math"/>
                              <a:ea typeface="Cambria Math"/>
                              <a:cs typeface="Cambria Math"/>
                            </a:rPr>
                          </m:ctrlPr>
                        </m:dPr>
                        <m:e>
                          <m:r>
                            <a:rPr lang="en-US" sz="2400" dirty="0">
                              <a:solidFill>
                                <a:srgbClr val="10243A"/>
                              </a:solidFill>
                              <a:latin typeface="Cambria Math"/>
                              <a:ea typeface="Cambria Math"/>
                              <a:cs typeface="Cambria Math"/>
                            </a:rPr>
                            <m:t>0</m:t>
                          </m:r>
                          <m:r>
                            <m:rPr>
                              <m:sty m:val="p"/>
                            </m:rPr>
                            <a:rPr lang="en-US" sz="2400" dirty="0">
                              <a:solidFill>
                                <a:srgbClr val="10243A"/>
                              </a:solidFill>
                              <a:latin typeface="Cambria Math"/>
                              <a:ea typeface="Cambria Math"/>
                              <a:cs typeface="Cambria Math"/>
                            </a:rPr>
                            <m:t>,</m:t>
                          </m:r>
                          <m:r>
                            <a:rPr lang="en-US" sz="2400" dirty="0">
                              <a:solidFill>
                                <a:srgbClr val="10243A"/>
                              </a:solidFill>
                              <a:latin typeface="Cambria Math"/>
                              <a:ea typeface="Cambria Math"/>
                              <a:cs typeface="Cambria Math"/>
                            </a:rPr>
                            <m:t>1</m:t>
                          </m:r>
                        </m:e>
                      </m:d>
                    </m:oMath>
                  </m:oMathPara>
                </a14:m>
              </a:p>
            </p:txBody>
          </p:sp>
        </mc:Choice>
      </mc:AlternateContent>
      <p:grpSp>
        <p:nvGrpSpPr>
          <p:cNvPr id="9" name="feedback-unit"/>
          <p:cNvGrpSpPr/>
          <p:nvPr/>
        </p:nvGrpSpPr>
        <p:grpSpPr>
          <a:xfrm>
            <a:off x="601218" y="2841308"/>
            <a:ext cx="7646326" cy="322707"/>
            <a:chOff x="601218" y="2841308"/>
            <a:chExt cx="7646326" cy="322707"/>
          </a:xfrm>
        </p:grpSpPr>
        <p:sp>
          <p:nvSpPr>
            <p:cNvPr id="8" name="TextBox 8"/>
            <p:cNvSpPr txBox="1"/>
            <p:nvPr/>
          </p:nvSpPr>
          <p:spPr>
            <a:xfrm>
              <a:off x="601218" y="2841308"/>
              <a:ext cx="7646326"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One label per complete answer pair. ℓₜ = 1 means the user prefers answer 1.</a:t>
              </a:r>
            </a:p>
          </p:txBody>
        </p:sp>
      </p:grpSp>
      <p:grpSp>
        <p:nvGrpSpPr>
          <p:cNvPr id="18" name="two-objectives"/>
          <p:cNvGrpSpPr/>
          <p:nvPr/>
        </p:nvGrpSpPr>
        <p:grpSpPr>
          <a:xfrm>
            <a:off x="609600" y="3324225"/>
            <a:ext cx="10972800" cy="1457325"/>
            <a:chOff x="609600" y="3324225"/>
            <a:chExt cx="10972800" cy="1457325"/>
          </a:xfrm>
        </p:grpSpPr>
        <p:sp>
          <p:nvSpPr>
            <p:cNvPr id="10" name="Rectangle 10"/>
            <p:cNvSpPr/>
            <p:nvPr/>
          </p:nvSpPr>
          <p:spPr>
            <a:xfrm>
              <a:off x="609600" y="3324225"/>
              <a:ext cx="5276850" cy="1457325"/>
            </a:xfrm>
            <a:prstGeom prst="rect">
              <a:avLst/>
            </a:prstGeom>
            <a:solidFill>
              <a:srgbClr val="E6F2F3"/>
            </a:solidFill>
            <a:ln>
              <a:noFill/>
            </a:ln>
          </p:spPr>
        </p:sp>
        <p:sp>
          <p:nvSpPr>
            <p:cNvPr id="11" name="Rectangle 11"/>
            <p:cNvSpPr/>
            <p:nvPr/>
          </p:nvSpPr>
          <p:spPr>
            <a:xfrm>
              <a:off x="6305550" y="3324225"/>
              <a:ext cx="5276850" cy="1457325"/>
            </a:xfrm>
            <a:prstGeom prst="rect">
              <a:avLst/>
            </a:prstGeom>
            <a:solidFill>
              <a:srgbClr val="FBEEE4"/>
            </a:solidFill>
            <a:ln>
              <a:noFill/>
            </a:ln>
          </p:spPr>
        </p:sp>
        <p:sp>
          <p:nvSpPr>
            <p:cNvPr id="12" name="TextBox 12"/>
            <p:cNvSpPr txBox="1"/>
            <p:nvPr/>
          </p:nvSpPr>
          <p:spPr>
            <a:xfrm>
              <a:off x="808482" y="3459480"/>
              <a:ext cx="3737764"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Exploit learned preferences</a:t>
              </a:r>
            </a:p>
          </p:txBody>
        </p:sp>
        <p:sp>
          <p:nvSpPr>
            <p:cNvPr id="13" name="TextBox 13"/>
            <p:cNvSpPr txBox="1"/>
            <p:nvPr/>
          </p:nvSpPr>
          <p:spPr>
            <a:xfrm>
              <a:off x="808482" y="3888105"/>
              <a:ext cx="3959198"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Produce a high-reward answer.</a:t>
              </a:r>
            </a:p>
          </p:txBody>
        </p:sp>
        <p:sp>
          <p:nvSpPr>
            <p:cNvPr id="14" name="TextBox 14"/>
            <p:cNvSpPr txBox="1"/>
            <p:nvPr/>
          </p:nvSpPr>
          <p:spPr>
            <a:xfrm>
              <a:off x="810768" y="4346258"/>
              <a:ext cx="3813572"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Test-time alignment steers generation.</a:t>
              </a:r>
            </a:p>
          </p:txBody>
        </p:sp>
        <p:sp>
          <p:nvSpPr>
            <p:cNvPr id="15" name="TextBox 15"/>
            <p:cNvSpPr txBox="1"/>
            <p:nvPr/>
          </p:nvSpPr>
          <p:spPr>
            <a:xfrm>
              <a:off x="6504432" y="3459480"/>
              <a:ext cx="4067971" cy="410718"/>
            </a:xfrm>
            <a:prstGeom prst="rect">
              <a:avLst/>
            </a:prstGeom>
            <a:noFill/>
            <a:ln>
              <a:noFill/>
            </a:ln>
          </p:spPr>
          <p:txBody>
            <a:bodyPr wrap="none" lIns="0" tIns="0" rIns="0" bIns="0" anchor="t" anchorCtr="0">
              <a:spAutoFit/>
            </a:bodyPr>
            <a:lstStyle/>
            <a:p>
              <a:pPr algn="l"/>
              <a:r>
                <a:rPr lang="en-US" sz="2100" b="1" dirty="0">
                  <a:solidFill>
                    <a:schemeClr val="accent3"/>
                  </a:solidFill>
                  <a:latin typeface="+mn-lt"/>
                  <a:ea typeface="+mn-ea"/>
                  <a:cs typeface="+mn-cs"/>
                </a:rPr>
                <a:t>Explore unknown preferences</a:t>
              </a:r>
            </a:p>
          </p:txBody>
        </p:sp>
        <p:sp>
          <p:nvSpPr>
            <p:cNvPr id="16" name="TextBox 16"/>
            <p:cNvSpPr txBox="1"/>
            <p:nvPr/>
          </p:nvSpPr>
          <p:spPr>
            <a:xfrm>
              <a:off x="6504432" y="3888105"/>
              <a:ext cx="4523682"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Generate an informative alternative.</a:t>
              </a:r>
            </a:p>
          </p:txBody>
        </p:sp>
        <p:sp>
          <p:nvSpPr>
            <p:cNvPr id="17" name="TextBox 17"/>
            <p:cNvSpPr txBox="1"/>
            <p:nvPr/>
          </p:nvSpPr>
          <p:spPr>
            <a:xfrm>
              <a:off x="6506718" y="4346258"/>
              <a:ext cx="3802116"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Dueling bandits guide the comparison.</a:t>
              </a:r>
            </a:p>
          </p:txBody>
        </p:sp>
      </p:grpSp>
      <mc:AlternateContent xmlns:mc="http://schemas.openxmlformats.org/markup-compatibility/2006">
        <mc:Choice xmlns:a14="http://schemas.microsoft.com/office/drawing/2010/main" Requires="a14">
          <p:sp>
            <p:nvSpPr>
              <p:cNvPr id="19" name="history"/>
              <p:cNvSpPr txBox="1">
                <a:spLocks noGrp="1"/>
              </p:cNvSpPr>
              <p:nvPr/>
            </p:nvSpPr>
            <p:spPr>
              <a:xfrm>
                <a:off x="609600" y="4962525"/>
                <a:ext cx="10972800" cy="647700"/>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sSub>
                        <m:e>
                          <m:r>
                            <m:rPr>
                              <m:scr m:val="script"/>
                              <m:sty m:val="p"/>
                            </m:rPr>
                            <a:rPr lang="en-US" sz="2100" dirty="0">
                              <a:solidFill>
                                <a:srgbClr val="10243A"/>
                              </a:solidFill>
                              <a:latin typeface="Cambria Math"/>
                              <a:ea typeface="Cambria Math"/>
                              <a:cs typeface="Cambria Math"/>
                            </a:rPr>
                            <m:t>D</m:t>
                          </m:r>
                        </m:e>
                        <m:sub>
                          <m:r>
                            <a:rPr lang="en-US" sz="2100" dirty="0">
                              <a:solidFill>
                                <a:srgbClr val="10243A"/>
                              </a:solidFill>
                              <a:latin typeface="Cambria Math"/>
                              <a:ea typeface="Cambria Math"/>
                              <a:cs typeface="Cambria Math"/>
                            </a:rPr>
                            <m:t>t</m:t>
                          </m:r>
                        </m:sub>
                      </m:sSub>
                      <m:r>
                        <m:rPr>
                          <m:sty m:val="p"/>
                        </m:rPr>
                        <a:rPr lang="en-US" sz="2100" dirty="0">
                          <a:solidFill>
                            <a:srgbClr val="10243A"/>
                          </a:solidFill>
                          <a:latin typeface="Cambria Math"/>
                          <a:ea typeface="Cambria Math"/>
                          <a:cs typeface="Cambria Math"/>
                        </a:rPr>
                        <m:t>=</m:t>
                      </m:r>
                      <m:sSub>
                        <m:e>
                          <m:r>
                            <m:rPr>
                              <m:scr m:val="script"/>
                              <m:sty m:val="p"/>
                            </m:rPr>
                            <a:rPr lang="en-US" sz="2100" dirty="0">
                              <a:solidFill>
                                <a:srgbClr val="10243A"/>
                              </a:solidFill>
                              <a:latin typeface="Cambria Math"/>
                              <a:ea typeface="Cambria Math"/>
                              <a:cs typeface="Cambria Math"/>
                            </a:rPr>
                            <m:t>D</m:t>
                          </m:r>
                        </m:e>
                        <m:sub>
                          <m:r>
                            <a:rPr lang="en-US" sz="2100" dirty="0">
                              <a:solidFill>
                                <a:srgbClr val="10243A"/>
                              </a:solidFill>
                              <a:latin typeface="Cambria Math"/>
                              <a:ea typeface="Cambria Math"/>
                              <a:cs typeface="Cambria Math"/>
                            </a:rPr>
                            <m:t>t</m:t>
                          </m:r>
                          <m:r>
                            <m:rPr>
                              <m:sty m:val="p"/>
                            </m:rPr>
                            <a:rPr lang="en-US" sz="2100" dirty="0">
                              <a:solidFill>
                                <a:srgbClr val="10243A"/>
                              </a:solidFill>
                              <a:latin typeface="Cambria Math"/>
                              <a:ea typeface="Cambria Math"/>
                              <a:cs typeface="Cambria Math"/>
                            </a:rPr>
                            <m:t>−</m:t>
                          </m:r>
                          <m:r>
                            <a:rPr lang="en-US" sz="2100" dirty="0">
                              <a:solidFill>
                                <a:srgbClr val="10243A"/>
                              </a:solidFill>
                              <a:latin typeface="Cambria Math"/>
                              <a:ea typeface="Cambria Math"/>
                              <a:cs typeface="Cambria Math"/>
                            </a:rPr>
                            <m:t>1</m:t>
                          </m:r>
                        </m:sub>
                      </m:sSub>
                      <m:r>
                        <m:rPr>
                          <m:sty m:val="p"/>
                        </m:rPr>
                        <a:rPr lang="en-US" sz="2100" dirty="0">
                          <a:solidFill>
                            <a:srgbClr val="10243A"/>
                          </a:solidFill>
                          <a:latin typeface="Cambria Math"/>
                          <a:ea typeface="Cambria Math"/>
                          <a:cs typeface="Cambria Math"/>
                        </a:rPr>
                        <m:t>∪</m:t>
                      </m:r>
                      <m:d>
                        <m:dPr>
                          <m:begChr m:val="{"/>
                          <m:sepChr m:val=""/>
                          <m:endChr m:val="}"/>
                          <m:grow m:val="on"/>
                          <m:ctrlPr>
                            <a:rPr lang="en-US" sz="2100" dirty="0">
                              <a:solidFill>
                                <a:srgbClr val="10243A"/>
                              </a:solidFill>
                              <a:latin typeface="Cambria Math"/>
                              <a:ea typeface="Cambria Math"/>
                              <a:cs typeface="Cambria Math"/>
                            </a:rPr>
                          </m:ctrlPr>
                        </m:dPr>
                        <m:e>
                          <m:d>
                            <m:dPr>
                              <m:begChr m:val="("/>
                              <m:sepChr m:val=""/>
                              <m:endChr m:val=")"/>
                              <m:grow m:val="on"/>
                              <m:ctrlPr>
                                <a:rPr lang="en-US" sz="2100" dirty="0">
                                  <a:solidFill>
                                    <a:srgbClr val="10243A"/>
                                  </a:solidFill>
                                  <a:latin typeface="Cambria Math"/>
                                  <a:ea typeface="Cambria Math"/>
                                  <a:cs typeface="Cambria Math"/>
                                </a:rPr>
                              </m:ctrlPr>
                            </m:dPr>
                            <m:e>
                              <m:sSub>
                                <m:e>
                                  <m:r>
                                    <a:rPr lang="en-US" sz="2100" dirty="0">
                                      <a:solidFill>
                                        <a:srgbClr val="10243A"/>
                                      </a:solidFill>
                                      <a:latin typeface="Cambria Math"/>
                                      <a:ea typeface="Cambria Math"/>
                                      <a:cs typeface="Cambria Math"/>
                                    </a:rPr>
                                    <m:t>q</m:t>
                                  </m:r>
                                </m:e>
                                <m:sub>
                                  <m:r>
                                    <a:rPr lang="en-US" sz="2100" dirty="0">
                                      <a:solidFill>
                                        <a:srgbClr val="10243A"/>
                                      </a:solidFill>
                                      <a:latin typeface="Cambria Math"/>
                                      <a:ea typeface="Cambria Math"/>
                                      <a:cs typeface="Cambria Math"/>
                                    </a:rPr>
                                    <m:t>t</m:t>
                                  </m:r>
                                </m:sub>
                              </m:sSub>
                              <m:r>
                                <m:rPr>
                                  <m:sty m:val="p"/>
                                </m:rPr>
                                <a:rPr lang="en-US" sz="2100" dirty="0">
                                  <a:solidFill>
                                    <a:srgbClr val="10243A"/>
                                  </a:solidFill>
                                  <a:latin typeface="Cambria Math"/>
                                  <a:ea typeface="Cambria Math"/>
                                  <a:cs typeface="Cambria Math"/>
                                </a:rPr>
                                <m:t>,</m:t>
                              </m:r>
                              <m:sSub>
                                <m:e>
                                  <m:r>
                                    <a:rPr lang="en-US" sz="2100" dirty="0">
                                      <a:solidFill>
                                        <a:srgbClr val="10243A"/>
                                      </a:solidFill>
                                      <a:latin typeface="Cambria Math"/>
                                      <a:ea typeface="Cambria Math"/>
                                      <a:cs typeface="Cambria Math"/>
                                    </a:rPr>
                                    <m:t>a</m:t>
                                  </m:r>
                                </m:e>
                                <m:sub>
                                  <m:r>
                                    <a:rPr lang="en-US" sz="2100" dirty="0">
                                      <a:solidFill>
                                        <a:srgbClr val="10243A"/>
                                      </a:solidFill>
                                      <a:latin typeface="Cambria Math"/>
                                      <a:ea typeface="Cambria Math"/>
                                      <a:cs typeface="Cambria Math"/>
                                    </a:rPr>
                                    <m:t>t</m:t>
                                  </m:r>
                                  <m:r>
                                    <m:rPr>
                                      <m:sty m:val="p"/>
                                    </m:rPr>
                                    <a:rPr lang="en-US" sz="2100" dirty="0">
                                      <a:solidFill>
                                        <a:srgbClr val="10243A"/>
                                      </a:solidFill>
                                      <a:latin typeface="Cambria Math"/>
                                      <a:ea typeface="Cambria Math"/>
                                      <a:cs typeface="Cambria Math"/>
                                    </a:rPr>
                                    <m:t>,</m:t>
                                  </m:r>
                                  <m:r>
                                    <a:rPr lang="en-US" sz="2100" dirty="0">
                                      <a:solidFill>
                                        <a:srgbClr val="10243A"/>
                                      </a:solidFill>
                                      <a:latin typeface="Cambria Math"/>
                                      <a:ea typeface="Cambria Math"/>
                                      <a:cs typeface="Cambria Math"/>
                                    </a:rPr>
                                    <m:t>1</m:t>
                                  </m:r>
                                </m:sub>
                              </m:sSub>
                              <m:r>
                                <m:rPr>
                                  <m:sty m:val="p"/>
                                </m:rPr>
                                <a:rPr lang="en-US" sz="2100" dirty="0">
                                  <a:solidFill>
                                    <a:srgbClr val="10243A"/>
                                  </a:solidFill>
                                  <a:latin typeface="Cambria Math"/>
                                  <a:ea typeface="Cambria Math"/>
                                  <a:cs typeface="Cambria Math"/>
                                </a:rPr>
                                <m:t>,</m:t>
                              </m:r>
                              <m:sSub>
                                <m:e>
                                  <m:r>
                                    <a:rPr lang="en-US" sz="2100" dirty="0">
                                      <a:solidFill>
                                        <a:srgbClr val="10243A"/>
                                      </a:solidFill>
                                      <a:latin typeface="Cambria Math"/>
                                      <a:ea typeface="Cambria Math"/>
                                      <a:cs typeface="Cambria Math"/>
                                    </a:rPr>
                                    <m:t>a</m:t>
                                  </m:r>
                                </m:e>
                                <m:sub>
                                  <m:r>
                                    <a:rPr lang="en-US" sz="2100" dirty="0">
                                      <a:solidFill>
                                        <a:srgbClr val="10243A"/>
                                      </a:solidFill>
                                      <a:latin typeface="Cambria Math"/>
                                      <a:ea typeface="Cambria Math"/>
                                      <a:cs typeface="Cambria Math"/>
                                    </a:rPr>
                                    <m:t>t</m:t>
                                  </m:r>
                                  <m:r>
                                    <m:rPr>
                                      <m:sty m:val="p"/>
                                    </m:rPr>
                                    <a:rPr lang="en-US" sz="2100" dirty="0">
                                      <a:solidFill>
                                        <a:srgbClr val="10243A"/>
                                      </a:solidFill>
                                      <a:latin typeface="Cambria Math"/>
                                      <a:ea typeface="Cambria Math"/>
                                      <a:cs typeface="Cambria Math"/>
                                    </a:rPr>
                                    <m:t>,</m:t>
                                  </m:r>
                                  <m:r>
                                    <a:rPr lang="en-US" sz="2100" dirty="0">
                                      <a:solidFill>
                                        <a:srgbClr val="10243A"/>
                                      </a:solidFill>
                                      <a:latin typeface="Cambria Math"/>
                                      <a:ea typeface="Cambria Math"/>
                                      <a:cs typeface="Cambria Math"/>
                                    </a:rPr>
                                    <m:t>2</m:t>
                                  </m:r>
                                </m:sub>
                              </m:sSub>
                              <m:r>
                                <m:rPr>
                                  <m:sty m:val="p"/>
                                </m:rPr>
                                <a:rPr lang="en-US" sz="2100" dirty="0">
                                  <a:solidFill>
                                    <a:srgbClr val="10243A"/>
                                  </a:solidFill>
                                  <a:latin typeface="Cambria Math"/>
                                  <a:ea typeface="Cambria Math"/>
                                  <a:cs typeface="Cambria Math"/>
                                </a:rPr>
                                <m:t>,</m:t>
                              </m:r>
                              <m:sSub>
                                <m:e>
                                  <m:r>
                                    <m:rPr>
                                      <m:sty m:val="p"/>
                                    </m:rPr>
                                    <a:rPr lang="en-US" sz="2100" dirty="0">
                                      <a:solidFill>
                                        <a:srgbClr val="10243A"/>
                                      </a:solidFill>
                                      <a:latin typeface="Cambria Math"/>
                                      <a:ea typeface="Cambria Math"/>
                                      <a:cs typeface="Cambria Math"/>
                                    </a:rPr>
                                    <m:t>ℓ</m:t>
                                  </m:r>
                                </m:e>
                                <m:sub>
                                  <m:r>
                                    <a:rPr lang="en-US" sz="2100" dirty="0">
                                      <a:solidFill>
                                        <a:srgbClr val="10243A"/>
                                      </a:solidFill>
                                      <a:latin typeface="Cambria Math"/>
                                      <a:ea typeface="Cambria Math"/>
                                      <a:cs typeface="Cambria Math"/>
                                    </a:rPr>
                                    <m:t>t</m:t>
                                  </m:r>
                                </m:sub>
                              </m:sSub>
                            </m:e>
                          </m:d>
                        </m:e>
                      </m:d>
                    </m:oMath>
                  </m:oMathPara>
                </a14:m>
              </a:p>
            </p:txBody>
          </p:sp>
        </mc:Choice>
      </mc:AlternateContent>
      <p:grpSp>
        <p:nvGrpSpPr>
          <p:cNvPr id="21" name="objective"/>
          <p:cNvGrpSpPr/>
          <p:nvPr/>
        </p:nvGrpSpPr>
        <p:grpSpPr>
          <a:xfrm>
            <a:off x="598932" y="5850255"/>
            <a:ext cx="7382342" cy="410718"/>
            <a:chOff x="598932" y="5850255"/>
            <a:chExt cx="7382342" cy="410718"/>
          </a:xfrm>
        </p:grpSpPr>
        <p:sp>
          <p:nvSpPr>
            <p:cNvPr id="20" name="TextBox 20"/>
            <p:cNvSpPr txBox="1"/>
            <p:nvPr/>
          </p:nvSpPr>
          <p:spPr>
            <a:xfrm>
              <a:off x="598932" y="5850255"/>
              <a:ext cx="7382342" cy="410718"/>
            </a:xfrm>
            <a:prstGeom prst="rect">
              <a:avLst/>
            </a:prstGeom>
            <a:noFill/>
            <a:ln>
              <a:noFill/>
            </a:ln>
          </p:spPr>
          <p:txBody>
            <a:bodyPr wrap="none" lIns="0" tIns="0" rIns="0" bIns="0" anchor="t" anchorCtr="0">
              <a:spAutoFit/>
            </a:bodyPr>
            <a:lstStyle/>
            <a:p>
              <a:pPr algn="l"/>
              <a:r>
                <a:rPr lang="el-GR" sz="2100" dirty="0">
                  <a:solidFill>
                    <a:schemeClr val="accent1"/>
                  </a:solidFill>
                  <a:latin typeface="+mn-lt"/>
                  <a:ea typeface="+mn-ea"/>
                  <a:cs typeface="+mn-cs"/>
                </a:rPr>
                <a:t>Keep π</a:t>
              </a:r>
              <a:r>
                <a:rPr lang="en-US" sz="1650" baseline="-25000" dirty="0">
                  <a:solidFill>
                    <a:schemeClr val="accent1"/>
                  </a:solidFill>
                  <a:latin typeface="+mn-lt"/>
                  <a:ea typeface="+mn-ea"/>
                  <a:cs typeface="+mn-cs"/>
                </a:rPr>
                <a:t>base</a:t>
              </a:r>
              <a:r>
                <a:rPr lang="el-GR" sz="2100" dirty="0">
                  <a:solidFill>
                    <a:schemeClr val="accent1"/>
                  </a:solidFill>
                  <a:latin typeface="+mn-lt"/>
                  <a:ea typeface="+mn-ea"/>
                  <a:cs typeface="+mn-cs"/>
                </a:rPr>
                <a:t xml:space="preserve"> frozen; learn rθ ≈ f</a:t>
              </a:r>
              <a:r>
                <a:rPr lang="en-US" sz="1650" baseline="-25000" dirty="0">
                  <a:solidFill>
                    <a:schemeClr val="accent1"/>
                  </a:solidFill>
                  <a:latin typeface="+mn-lt"/>
                  <a:ea typeface="+mn-ea"/>
                  <a:cs typeface="+mn-cs"/>
                </a:rPr>
                <a:t>user</a:t>
              </a:r>
              <a:r>
                <a:rPr lang="en-US" sz="2100" dirty="0">
                  <a:solidFill>
                    <a:schemeClr val="accent1"/>
                  </a:solidFill>
                  <a:latin typeface="+mn-lt"/>
                  <a:ea typeface="+mn-ea"/>
                  <a:cs typeface="+mn-cs"/>
                </a:rPr>
                <a:t xml:space="preserve"> from the growing history.</a:t>
              </a:r>
            </a:p>
          </p:txBody>
        </p:sp>
      </p:grpSp>
      <p:grpSp>
        <p:nvGrpSpPr>
          <p:cNvPr id="24" name="footer"/>
          <p:cNvGrpSpPr/>
          <p:nvPr/>
        </p:nvGrpSpPr>
        <p:grpSpPr>
          <a:xfrm>
            <a:off x="603504" y="6404610"/>
            <a:ext cx="10984992" cy="234696"/>
            <a:chOff x="603504" y="6404610"/>
            <a:chExt cx="10984992" cy="234696"/>
          </a:xfrm>
        </p:grpSpPr>
        <p:sp>
          <p:nvSpPr>
            <p:cNvPr id="22" name="TextBox 22"/>
            <p:cNvSpPr txBox="1"/>
            <p:nvPr/>
          </p:nvSpPr>
          <p:spPr>
            <a:xfrm>
              <a:off x="603504" y="6404610"/>
              <a:ext cx="5099475"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T-POP §§1–3.1; Algorithm 1 · fuser denotes the unknown user reward.</a:t>
              </a:r>
            </a:p>
          </p:txBody>
        </p:sp>
        <p:sp>
          <p:nvSpPr>
            <p:cNvPr id="23" name="TextBox 23"/>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02 / 08</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9107318" cy="971169"/>
            <a:chOff x="592836" y="461010"/>
            <a:chExt cx="9107318" cy="971169"/>
          </a:xfrm>
        </p:grpSpPr>
        <p:sp>
          <p:nvSpPr>
            <p:cNvPr id="2" name="TextBox 2"/>
            <p:cNvSpPr txBox="1"/>
            <p:nvPr/>
          </p:nvSpPr>
          <p:spPr>
            <a:xfrm>
              <a:off x="603504" y="461010"/>
              <a:ext cx="279102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DATA AND EVALUATION SETTING</a:t>
              </a:r>
            </a:p>
          </p:txBody>
        </p:sp>
        <p:sp>
          <p:nvSpPr>
            <p:cNvPr id="3" name="TextBox 3"/>
            <p:cNvSpPr txBox="1"/>
            <p:nvPr/>
          </p:nvSpPr>
          <p:spPr>
            <a:xfrm>
              <a:off x="592836" y="786765"/>
              <a:ext cx="9107318"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What is personalized, and how is it tested?</a:t>
              </a:r>
            </a:p>
          </p:txBody>
        </p:sp>
      </p:grpSp>
      <p:graphicFrame>
        <p:nvGraphicFramePr>
          <p:cNvPr id="5" name="question-pools"/>
          <p:cNvGraphicFramePr>
            <a:graphicFrameLocks noGrp="1"/>
          </p:cNvGraphicFramePr>
          <p:nvPr/>
        </p:nvGraphicFramePr>
        <p:xfrm>
          <a:off x="609600" y="1676400"/>
          <a:ext cx="6019800" cy="2686050"/>
        </p:xfrm>
        <a:graphic>
          <a:graphicData uri="http://schemas.openxmlformats.org/drawingml/2006/table">
            <a:tbl>
              <a:tblPr firstRow="1" bandRow="0">
                <a:tableStyleId>{5C22544A-7EE6-4342-B048-85BDC9FD1C3A}</a:tableStyleId>
              </a:tblPr>
              <a:tblGrid>
                <a:gridCol w="4571999"/>
                <a:gridCol w="1447801"/>
              </a:tblGrid>
              <a:tr h="476250">
                <a:tc>
                  <a:txBody>
                    <a:bodyPr/>
                    <a:lstStyle/>
                    <a:p>
                      <a:pPr/>
                      <a:r>
                        <a:rPr lang="en-US" sz="1650" b="1">
                          <a:solidFill>
                            <a:schemeClr val="accent5"/>
                          </a:solidFill>
                          <a:latin typeface="Arial"/>
                          <a:ea typeface="Microsoft YaHei"/>
                          <a:cs typeface="Arial"/>
                        </a:rPr>
                        <a:t>Question pool</a:t>
                      </a:r>
                    </a:p>
                  </a:txBody>
                  <a:tcPr anchor="ctr" marL="171450" marR="171450" marT="91440" marB="91440">
                    <a:lnL>
                      <a:noFill/>
                    </a:lnL>
                    <a:lnR>
                      <a:noFill/>
                    </a:lnR>
                    <a:lnT>
                      <a:noFill/>
                    </a:lnT>
                    <a:lnB w="9525">
                      <a:solidFill>
                        <a:schemeClr val="accent6"/>
                      </a:solidFill>
                      <a:prstDash val="solid"/>
                    </a:lnB>
                    <a:solidFill>
                      <a:schemeClr val="lt2"/>
                    </a:solidFill>
                  </a:tcPr>
                </a:tc>
                <a:tc>
                  <a:txBody>
                    <a:bodyPr/>
                    <a:lstStyle/>
                    <a:p>
                      <a:pPr algn="r"/>
                      <a:r>
                        <a:rPr lang="en-US" sz="1650" b="1">
                          <a:solidFill>
                            <a:schemeClr val="accent5"/>
                          </a:solidFill>
                          <a:latin typeface="Arial"/>
                          <a:ea typeface="Microsoft YaHei"/>
                          <a:cs typeface="Arial"/>
                        </a:rPr>
                        <a:t>Size</a:t>
                      </a:r>
                    </a:p>
                  </a:txBody>
                  <a:tcPr anchor="ctr" marL="171450" marR="171450" marT="91440" marB="91440">
                    <a:lnL>
                      <a:noFill/>
                    </a:lnL>
                    <a:lnR>
                      <a:noFill/>
                    </a:lnR>
                    <a:lnT>
                      <a:noFill/>
                    </a:lnT>
                    <a:lnB w="9525">
                      <a:solidFill>
                        <a:schemeClr val="accent6"/>
                      </a:solidFill>
                      <a:prstDash val="solid"/>
                    </a:lnB>
                    <a:solidFill>
                      <a:schemeClr val="lt2"/>
                    </a:solidFill>
                  </a:tcPr>
                </a:tc>
              </a:tr>
              <a:tr h="552450">
                <a:tc>
                  <a:txBody>
                    <a:bodyPr/>
                    <a:lstStyle/>
                    <a:p>
                      <a:pPr/>
                      <a:r>
                        <a:rPr lang="en-US" sz="1800" b="0">
                          <a:solidFill>
                            <a:schemeClr val="dk1"/>
                          </a:solidFill>
                          <a:latin typeface="Arial"/>
                          <a:ea typeface="Microsoft YaHei"/>
                          <a:cs typeface="Arial"/>
                        </a:rPr>
                        <a:t>HelpSteer</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a:ea typeface="Microsoft YaHei"/>
                          <a:cs typeface="Arial"/>
                        </a:rPr>
                        <a:t>1,236</a:t>
                      </a:r>
                    </a:p>
                  </a:txBody>
                  <a:tcPr anchor="ctr" marL="171450" marR="171450" marT="95250" marB="95250">
                    <a:lnL>
                      <a:noFill/>
                    </a:lnL>
                    <a:lnR>
                      <a:noFill/>
                    </a:lnR>
                    <a:lnT>
                      <a:noFill/>
                    </a:lnT>
                    <a:lnB w="9525">
                      <a:solidFill>
                        <a:schemeClr val="accent6"/>
                      </a:solidFill>
                      <a:prstDash val="solid"/>
                    </a:lnB>
                    <a:noFill/>
                  </a:tcPr>
                </a:tc>
              </a:tr>
              <a:tr h="552450">
                <a:tc>
                  <a:txBody>
                    <a:bodyPr/>
                    <a:lstStyle/>
                    <a:p>
                      <a:pPr/>
                      <a:r>
                        <a:rPr lang="en-US" sz="1800" b="0">
                          <a:solidFill>
                            <a:schemeClr val="dk1"/>
                          </a:solidFill>
                          <a:latin typeface="Arial"/>
                          <a:ea typeface="Microsoft YaHei"/>
                          <a:cs typeface="Arial"/>
                        </a:rPr>
                        <a:t>TruthfulQA</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a:ea typeface="Microsoft YaHei"/>
                          <a:cs typeface="Arial"/>
                        </a:rPr>
                        <a:t>811</a:t>
                      </a:r>
                    </a:p>
                  </a:txBody>
                  <a:tcPr anchor="ctr" marL="171450" marR="171450" marT="95250" marB="95250">
                    <a:lnL>
                      <a:noFill/>
                    </a:lnL>
                    <a:lnR>
                      <a:noFill/>
                    </a:lnR>
                    <a:lnT>
                      <a:noFill/>
                    </a:lnT>
                    <a:lnB w="9525">
                      <a:solidFill>
                        <a:schemeClr val="accent6"/>
                      </a:solidFill>
                      <a:prstDash val="solid"/>
                    </a:lnB>
                    <a:noFill/>
                  </a:tcPr>
                </a:tc>
              </a:tr>
              <a:tr h="552450">
                <a:tc>
                  <a:txBody>
                    <a:bodyPr/>
                    <a:lstStyle/>
                    <a:p>
                      <a:pPr/>
                      <a:r>
                        <a:rPr lang="en-US" sz="1800" b="0">
                          <a:solidFill>
                            <a:schemeClr val="dk1"/>
                          </a:solidFill>
                          <a:latin typeface="Arial"/>
                          <a:ea typeface="Microsoft YaHei"/>
                          <a:cs typeface="Arial"/>
                        </a:rPr>
                        <a:t>UltraChat</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a:ea typeface="Microsoft YaHei"/>
                          <a:cs typeface="Arial"/>
                        </a:rPr>
                        <a:t>3,845</a:t>
                      </a:r>
                    </a:p>
                  </a:txBody>
                  <a:tcPr anchor="ctr" marL="171450" marR="171450" marT="95250" marB="95250">
                    <a:lnL>
                      <a:noFill/>
                    </a:lnL>
                    <a:lnR>
                      <a:noFill/>
                    </a:lnR>
                    <a:lnT>
                      <a:noFill/>
                    </a:lnT>
                    <a:lnB w="9525">
                      <a:solidFill>
                        <a:schemeClr val="accent6"/>
                      </a:solidFill>
                      <a:prstDash val="solid"/>
                    </a:lnB>
                    <a:noFill/>
                  </a:tcPr>
                </a:tc>
              </a:tr>
              <a:tr h="552450">
                <a:tc>
                  <a:txBody>
                    <a:bodyPr/>
                    <a:lstStyle/>
                    <a:p>
                      <a:pPr/>
                      <a:r>
                        <a:rPr lang="en-US" sz="1800" b="0">
                          <a:solidFill>
                            <a:schemeClr val="dk1"/>
                          </a:solidFill>
                          <a:latin typeface="Arial"/>
                          <a:ea typeface="Microsoft YaHei"/>
                          <a:cs typeface="Arial"/>
                        </a:rPr>
                        <a:t>Personal Preference Eval</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a:ea typeface="Microsoft YaHei"/>
                          <a:cs typeface="Arial"/>
                        </a:rPr>
                        <a:t>548</a:t>
                      </a:r>
                    </a:p>
                  </a:txBody>
                  <a:tcPr anchor="ctr" marL="171450" marR="171450" marT="95250" marB="95250">
                    <a:lnL>
                      <a:noFill/>
                    </a:lnL>
                    <a:lnR>
                      <a:noFill/>
                    </a:lnR>
                    <a:lnT>
                      <a:noFill/>
                    </a:lnT>
                    <a:lnB w="9525">
                      <a:solidFill>
                        <a:schemeClr val="accent6"/>
                      </a:solidFill>
                      <a:prstDash val="solid"/>
                    </a:lnB>
                    <a:noFill/>
                  </a:tcPr>
                </a:tc>
              </a:tr>
            </a:tbl>
          </a:graphicData>
        </a:graphic>
      </p:graphicFrame>
      <p:grpSp>
        <p:nvGrpSpPr>
          <p:cNvPr id="11" name="feedback-and-evaluation"/>
          <p:cNvGrpSpPr/>
          <p:nvPr/>
        </p:nvGrpSpPr>
        <p:grpSpPr>
          <a:xfrm>
            <a:off x="7152132" y="1784032"/>
            <a:ext cx="3674082" cy="2542033"/>
            <a:chOff x="7152132" y="1784032"/>
            <a:chExt cx="3674082" cy="2542033"/>
          </a:xfrm>
        </p:grpSpPr>
        <p:sp>
          <p:nvSpPr>
            <p:cNvPr id="6" name="TextBox 6"/>
            <p:cNvSpPr txBox="1"/>
            <p:nvPr/>
          </p:nvSpPr>
          <p:spPr>
            <a:xfrm>
              <a:off x="7154418" y="1784032"/>
              <a:ext cx="2272521"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ONLINE FEEDBACK</a:t>
              </a:r>
            </a:p>
          </p:txBody>
        </p:sp>
        <p:sp>
          <p:nvSpPr>
            <p:cNvPr id="7" name="TextBox 7"/>
            <p:cNvSpPr txBox="1"/>
            <p:nvPr/>
          </p:nvSpPr>
          <p:spPr>
            <a:xfrm>
              <a:off x="7152132" y="2116455"/>
              <a:ext cx="3491487"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GPT-4o simulates the user.</a:t>
              </a:r>
            </a:p>
          </p:txBody>
        </p:sp>
        <p:sp>
          <p:nvSpPr>
            <p:cNvPr id="8" name="TextBox 8"/>
            <p:cNvSpPr txBox="1"/>
            <p:nvPr/>
          </p:nvSpPr>
          <p:spPr>
            <a:xfrm>
              <a:off x="7154418" y="2736532"/>
              <a:ext cx="1542288"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EVALUATION</a:t>
              </a:r>
            </a:p>
          </p:txBody>
        </p:sp>
        <p:sp>
          <p:nvSpPr>
            <p:cNvPr id="9" name="TextBox 9"/>
            <p:cNvSpPr txBox="1"/>
            <p:nvPr/>
          </p:nvSpPr>
          <p:spPr>
            <a:xfrm>
              <a:off x="7152132" y="3068955"/>
              <a:ext cx="3059902" cy="810768"/>
            </a:xfrm>
            <a:prstGeom prst="rect">
              <a:avLst/>
            </a:prstGeom>
            <a:noFill/>
            <a:ln>
              <a:noFill/>
            </a:ln>
          </p:spPr>
          <p:txBody>
            <a:bodyPr wrap="none" lIns="0" tIns="0" rIns="0" bIns="0" anchor="t" anchorCtr="0">
              <a:spAutoFit/>
            </a:bodyPr>
            <a:lstStyle/>
            <a:p>
              <a:pPr algn="l">
                <a:lnSpc>
                  <a:spcPts val="3150"/>
                </a:lnSpc>
              </a:pPr>
              <a:r>
                <a:rPr lang="en-US" sz="2100" dirty="0">
                  <a:solidFill>
                    <a:schemeClr val="dk1"/>
                  </a:solidFill>
                  <a:latin typeface="+mn-lt"/>
                  <a:ea typeface="+mn-ea"/>
                  <a:cs typeface="+mn-cs"/>
                </a:rPr>
                <a:t>ArmoRM reward scores</a:t>
              </a:r>
              <a:br/>
              <a:r>
                <a:rPr lang="en-US" sz="2100" dirty="0">
                  <a:solidFill>
                    <a:schemeClr val="dk1"/>
                  </a:solidFill>
                  <a:latin typeface="+mn-lt"/>
                  <a:ea typeface="+mn-ea"/>
                  <a:cs typeface="+mn-cs"/>
                </a:rPr>
                <a:t>GPT-4o win rate vs. Base</a:t>
              </a:r>
            </a:p>
          </p:txBody>
        </p:sp>
        <p:sp>
          <p:nvSpPr>
            <p:cNvPr id="10" name="TextBox 10"/>
            <p:cNvSpPr txBox="1"/>
            <p:nvPr/>
          </p:nvSpPr>
          <p:spPr>
            <a:xfrm>
              <a:off x="7154418" y="4003358"/>
              <a:ext cx="3671796"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ArmoRM ≠ the learned personal RM.</a:t>
              </a:r>
            </a:p>
          </p:txBody>
        </p:sp>
      </p:grpSp>
      <p:grpSp>
        <p:nvGrpSpPr>
          <p:cNvPr id="13" name="data-boundary"/>
          <p:cNvGrpSpPr/>
          <p:nvPr/>
        </p:nvGrpSpPr>
        <p:grpSpPr>
          <a:xfrm>
            <a:off x="601218" y="4612958"/>
            <a:ext cx="10019809" cy="322707"/>
            <a:chOff x="601218" y="4612958"/>
            <a:chExt cx="10019809" cy="322707"/>
          </a:xfrm>
        </p:grpSpPr>
        <p:sp>
          <p:nvSpPr>
            <p:cNvPr id="12" name="TextBox 12"/>
            <p:cNvSpPr txBox="1"/>
            <p:nvPr/>
          </p:nvSpPr>
          <p:spPr>
            <a:xfrm>
              <a:off x="601218" y="4612958"/>
              <a:ext cx="10019809"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Keep questions; discard original answers. Generate new response pairs and preference labels online.</a:t>
              </a:r>
            </a:p>
          </p:txBody>
        </p:sp>
      </p:grpSp>
      <p:grpSp>
        <p:nvGrpSpPr>
          <p:cNvPr id="17" name="targets-and-models"/>
          <p:cNvGrpSpPr/>
          <p:nvPr/>
        </p:nvGrpSpPr>
        <p:grpSpPr>
          <a:xfrm>
            <a:off x="601218" y="5146358"/>
            <a:ext cx="7744896" cy="1065657"/>
            <a:chOff x="601218" y="5146358"/>
            <a:chExt cx="7744896" cy="1065657"/>
          </a:xfrm>
        </p:grpSpPr>
        <p:sp>
          <p:nvSpPr>
            <p:cNvPr id="14" name="TextBox 14"/>
            <p:cNvSpPr txBox="1"/>
            <p:nvPr/>
          </p:nvSpPr>
          <p:spPr>
            <a:xfrm>
              <a:off x="601218" y="5146358"/>
              <a:ext cx="4640944"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Targets:</a:t>
              </a:r>
              <a:r>
                <a:rPr lang="en-US" sz="1650" dirty="0">
                  <a:solidFill>
                    <a:schemeClr val="dk1"/>
                  </a:solidFill>
                  <a:latin typeface="+mn-lt"/>
                  <a:ea typeface="+mn-ea"/>
                  <a:cs typeface="+mn-cs"/>
                </a:rPr>
                <a:t xml:space="preserve"> creative · verbose · concise · uplifting</a:t>
              </a:r>
            </a:p>
          </p:txBody>
        </p:sp>
        <p:sp>
          <p:nvSpPr>
            <p:cNvPr id="15" name="TextBox 15"/>
            <p:cNvSpPr txBox="1"/>
            <p:nvPr/>
          </p:nvSpPr>
          <p:spPr>
            <a:xfrm>
              <a:off x="601218" y="5517832"/>
              <a:ext cx="5956273"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Frozen backbones:</a:t>
              </a:r>
              <a:r>
                <a:rPr lang="en-US" sz="1650" dirty="0">
                  <a:solidFill>
                    <a:schemeClr val="dk1"/>
                  </a:solidFill>
                  <a:latin typeface="+mn-lt"/>
                  <a:ea typeface="+mn-ea"/>
                  <a:cs typeface="+mn-cs"/>
                </a:rPr>
                <a:t xml:space="preserve"> Mistral-7B · Qwen2-7B · Llama-3.1-8B</a:t>
              </a:r>
            </a:p>
          </p:txBody>
        </p:sp>
        <p:sp>
          <p:nvSpPr>
            <p:cNvPr id="16" name="TextBox 16"/>
            <p:cNvSpPr txBox="1"/>
            <p:nvPr/>
          </p:nvSpPr>
          <p:spPr>
            <a:xfrm>
              <a:off x="601218" y="5889308"/>
              <a:ext cx="7744896"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Baselines:</a:t>
              </a:r>
              <a:r>
                <a:rPr lang="en-US" sz="1650" dirty="0">
                  <a:solidFill>
                    <a:schemeClr val="dk1"/>
                  </a:solidFill>
                  <a:latin typeface="+mn-lt"/>
                  <a:ea typeface="+mn-ea"/>
                  <a:cs typeface="+mn-cs"/>
                </a:rPr>
                <a:t xml:space="preserve"> Base · Preference Prompting · Beam Search (16) · LA · AMULET</a:t>
              </a:r>
            </a:p>
          </p:txBody>
        </p:sp>
      </p:grpSp>
      <p:grpSp>
        <p:nvGrpSpPr>
          <p:cNvPr id="20" name="footer"/>
          <p:cNvGrpSpPr/>
          <p:nvPr/>
        </p:nvGrpSpPr>
        <p:grpSpPr>
          <a:xfrm>
            <a:off x="603504" y="6404610"/>
            <a:ext cx="10984992" cy="234696"/>
            <a:chOff x="603504" y="6404610"/>
            <a:chExt cx="10984992" cy="234696"/>
          </a:xfrm>
        </p:grpSpPr>
        <p:sp>
          <p:nvSpPr>
            <p:cNvPr id="18" name="TextBox 18"/>
            <p:cNvSpPr txBox="1"/>
            <p:nvPr/>
          </p:nvSpPr>
          <p:spPr>
            <a:xfrm>
              <a:off x="603504" y="6404610"/>
              <a:ext cx="683034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T-POP §4.1; Appendix B · Sizes describe question pools, not observed preference-pair counts.</a:t>
              </a:r>
            </a:p>
          </p:txBody>
        </p:sp>
        <p:sp>
          <p:nvSpPr>
            <p:cNvPr id="19" name="TextBox 19"/>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03 / 08</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9205347" cy="971169"/>
            <a:chOff x="592836" y="461010"/>
            <a:chExt cx="9205347" cy="971169"/>
          </a:xfrm>
        </p:grpSpPr>
        <p:sp>
          <p:nvSpPr>
            <p:cNvPr id="2" name="TextBox 2"/>
            <p:cNvSpPr txBox="1"/>
            <p:nvPr/>
          </p:nvSpPr>
          <p:spPr>
            <a:xfrm>
              <a:off x="603504" y="461010"/>
              <a:ext cx="303763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METHOD 1/3 · THE COMPLETE LOOP</a:t>
              </a:r>
            </a:p>
          </p:txBody>
        </p:sp>
        <p:sp>
          <p:nvSpPr>
            <p:cNvPr id="3" name="TextBox 3"/>
            <p:cNvSpPr txBox="1"/>
            <p:nvPr/>
          </p:nvSpPr>
          <p:spPr>
            <a:xfrm>
              <a:off x="592836" y="786765"/>
              <a:ext cx="9205347"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One loop connects generation and learning</a:t>
              </a:r>
            </a:p>
          </p:txBody>
        </p:sp>
      </p:grpSp>
      <p:grpSp>
        <p:nvGrpSpPr>
          <p:cNvPr id="34" name="online-loop"/>
          <p:cNvGrpSpPr/>
          <p:nvPr/>
        </p:nvGrpSpPr>
        <p:grpSpPr>
          <a:xfrm>
            <a:off x="609600" y="1736408"/>
            <a:ext cx="10972800" cy="3627881"/>
            <a:chOff x="609600" y="1736408"/>
            <a:chExt cx="10972800" cy="3627881"/>
          </a:xfrm>
        </p:grpSpPr>
        <p:sp>
          <p:nvSpPr>
            <p:cNvPr id="5" name="Line 5"/>
            <p:cNvSpPr/>
            <p:nvPr/>
          </p:nvSpPr>
          <p:spPr>
            <a:xfrm flipV="1">
              <a:off x="2343150" y="2371725"/>
              <a:ext cx="561975" cy="676275"/>
            </a:xfrm>
            <a:prstGeom prst="line">
              <a:avLst/>
            </a:prstGeom>
            <a:noFill/>
            <a:ln w="19050">
              <a:solidFill>
                <a:schemeClr val="accent1"/>
              </a:solidFill>
              <a:tailEnd type="arrow" w="med" len="med"/>
            </a:ln>
          </p:spPr>
        </p:sp>
        <p:sp>
          <p:nvSpPr>
            <p:cNvPr id="6" name="Line 6"/>
            <p:cNvSpPr/>
            <p:nvPr/>
          </p:nvSpPr>
          <p:spPr>
            <a:xfrm>
              <a:off x="2343150" y="3143250"/>
              <a:ext cx="561975" cy="657225"/>
            </a:xfrm>
            <a:prstGeom prst="line">
              <a:avLst/>
            </a:prstGeom>
            <a:noFill/>
            <a:ln w="19050">
              <a:solidFill>
                <a:schemeClr val="accent1"/>
              </a:solidFill>
              <a:tailEnd type="arrow" w="med" len="med"/>
            </a:ln>
          </p:spPr>
        </p:sp>
        <p:sp>
          <p:nvSpPr>
            <p:cNvPr id="7" name="Line 7"/>
            <p:cNvSpPr/>
            <p:nvPr/>
          </p:nvSpPr>
          <p:spPr>
            <a:xfrm>
              <a:off x="5905500" y="2352675"/>
              <a:ext cx="714375" cy="571500"/>
            </a:xfrm>
            <a:prstGeom prst="line">
              <a:avLst/>
            </a:prstGeom>
            <a:noFill/>
            <a:ln w="19050">
              <a:solidFill>
                <a:schemeClr val="accent1"/>
              </a:solidFill>
              <a:tailEnd type="arrow" w="med" len="med"/>
            </a:ln>
          </p:spPr>
        </p:sp>
        <p:sp>
          <p:nvSpPr>
            <p:cNvPr id="8" name="Line 8"/>
            <p:cNvSpPr/>
            <p:nvPr/>
          </p:nvSpPr>
          <p:spPr>
            <a:xfrm flipV="1">
              <a:off x="5905500" y="3228975"/>
              <a:ext cx="714375" cy="590550"/>
            </a:xfrm>
            <a:prstGeom prst="line">
              <a:avLst/>
            </a:prstGeom>
            <a:noFill/>
            <a:ln w="19050">
              <a:solidFill>
                <a:schemeClr val="accent1"/>
              </a:solidFill>
              <a:tailEnd type="arrow" w="med" len="med"/>
            </a:ln>
          </p:spPr>
        </p:sp>
        <p:sp>
          <p:nvSpPr>
            <p:cNvPr id="9" name="Line 9"/>
            <p:cNvSpPr/>
            <p:nvPr/>
          </p:nvSpPr>
          <p:spPr>
            <a:xfrm>
              <a:off x="8763000" y="3086100"/>
              <a:ext cx="466725" cy="1"/>
            </a:xfrm>
            <a:prstGeom prst="line">
              <a:avLst/>
            </a:prstGeom>
            <a:noFill/>
            <a:ln w="19050">
              <a:solidFill>
                <a:schemeClr val="accent1"/>
              </a:solidFill>
              <a:tailEnd type="arrow" w="med" len="med"/>
            </a:ln>
          </p:spPr>
        </p:sp>
        <p:sp>
          <p:nvSpPr>
            <p:cNvPr id="10" name="Line 10"/>
            <p:cNvSpPr/>
            <p:nvPr/>
          </p:nvSpPr>
          <p:spPr>
            <a:xfrm>
              <a:off x="10458450" y="3724275"/>
              <a:ext cx="9525" cy="1038225"/>
            </a:xfrm>
            <a:custGeom>
              <a:avLst/>
              <a:gdLst/>
              <a:ahLst/>
              <a:cxnLst/>
              <a:rect l="l" t="t" r="r" b="b"/>
              <a:pathLst>
                <a:path w="9525" h="1038225">
                  <a:moveTo>
                    <a:pt x="0" y="0"/>
                  </a:moveTo>
                  <a:lnTo>
                    <a:pt x="0" y="1038225"/>
                  </a:lnTo>
                </a:path>
              </a:pathLst>
            </a:custGeom>
            <a:noFill/>
            <a:ln w="19050">
              <a:solidFill>
                <a:schemeClr val="accent1"/>
              </a:solidFill>
            </a:ln>
          </p:spPr>
        </p:sp>
        <p:sp>
          <p:nvSpPr>
            <p:cNvPr id="11" name="Line 11"/>
            <p:cNvSpPr/>
            <p:nvPr/>
          </p:nvSpPr>
          <p:spPr>
            <a:xfrm flipH="1">
              <a:off x="7734300" y="4762500"/>
              <a:ext cx="2724150" cy="1"/>
            </a:xfrm>
            <a:prstGeom prst="line">
              <a:avLst/>
            </a:prstGeom>
            <a:noFill/>
            <a:ln w="19050">
              <a:solidFill>
                <a:schemeClr val="accent1"/>
              </a:solidFill>
              <a:tailEnd type="arrow" w="med" len="med"/>
            </a:ln>
          </p:spPr>
        </p:sp>
        <p:sp>
          <p:nvSpPr>
            <p:cNvPr id="12" name="Line 12"/>
            <p:cNvSpPr/>
            <p:nvPr/>
          </p:nvSpPr>
          <p:spPr>
            <a:xfrm>
              <a:off x="1438275" y="4838700"/>
              <a:ext cx="3914775" cy="9525"/>
            </a:xfrm>
            <a:custGeom>
              <a:avLst/>
              <a:gdLst/>
              <a:ahLst/>
              <a:cxnLst/>
              <a:rect l="l" t="t" r="r" b="b"/>
              <a:pathLst>
                <a:path w="3914775" h="9525">
                  <a:moveTo>
                    <a:pt x="3914775" y="0"/>
                  </a:moveTo>
                  <a:lnTo>
                    <a:pt x="0" y="0"/>
                  </a:lnTo>
                </a:path>
              </a:pathLst>
            </a:custGeom>
            <a:noFill/>
            <a:ln w="19050">
              <a:solidFill>
                <a:schemeClr val="accent1"/>
              </a:solidFill>
            </a:ln>
          </p:spPr>
        </p:sp>
        <p:sp>
          <p:nvSpPr>
            <p:cNvPr id="13" name="Line 13"/>
            <p:cNvSpPr/>
            <p:nvPr/>
          </p:nvSpPr>
          <p:spPr>
            <a:xfrm flipV="1">
              <a:off x="1438275" y="3743325"/>
              <a:ext cx="1" cy="1095375"/>
            </a:xfrm>
            <a:prstGeom prst="line">
              <a:avLst/>
            </a:prstGeom>
            <a:noFill/>
            <a:ln w="19050">
              <a:solidFill>
                <a:schemeClr val="accent1"/>
              </a:solidFill>
              <a:tailEnd type="arrow" w="med" len="med"/>
            </a:ln>
          </p:spPr>
        </p:sp>
        <p:sp>
          <p:nvSpPr>
            <p:cNvPr id="14" name="Rectangle 14"/>
            <p:cNvSpPr/>
            <p:nvPr/>
          </p:nvSpPr>
          <p:spPr>
            <a:xfrm>
              <a:off x="609600" y="2571750"/>
              <a:ext cx="1657350" cy="1028700"/>
            </a:xfrm>
            <a:prstGeom prst="rect">
              <a:avLst/>
            </a:prstGeom>
            <a:solidFill>
              <a:schemeClr val="lt2"/>
            </a:solidFill>
            <a:ln>
              <a:noFill/>
            </a:ln>
          </p:spPr>
        </p:sp>
        <p:sp>
          <p:nvSpPr>
            <p:cNvPr id="15" name="TextBox 15"/>
            <p:cNvSpPr txBox="1"/>
            <p:nvPr/>
          </p:nvSpPr>
          <p:spPr>
            <a:xfrm>
              <a:off x="806031" y="2773680"/>
              <a:ext cx="1264489" cy="410718"/>
            </a:xfrm>
            <a:prstGeom prst="rect">
              <a:avLst/>
            </a:prstGeom>
            <a:noFill/>
            <a:ln>
              <a:noFill/>
            </a:ln>
          </p:spPr>
          <p:txBody>
            <a:bodyPr wrap="none" lIns="0" tIns="0" rIns="0" bIns="0" anchor="t" anchorCtr="0">
              <a:spAutoFit/>
            </a:bodyPr>
            <a:lstStyle/>
            <a:p>
              <a:pPr algn="ctr"/>
              <a:r>
                <a:rPr lang="en-US" sz="2100" b="1" dirty="0">
                  <a:solidFill>
                    <a:schemeClr val="accent1"/>
                  </a:solidFill>
                  <a:latin typeface="+mn-lt"/>
                  <a:ea typeface="+mn-ea"/>
                  <a:cs typeface="+mn-cs"/>
                </a:rPr>
                <a:t>Query qₜ</a:t>
              </a:r>
            </a:p>
          </p:txBody>
        </p:sp>
        <p:sp>
          <p:nvSpPr>
            <p:cNvPr id="16" name="TextBox 16"/>
            <p:cNvSpPr txBox="1"/>
            <p:nvPr/>
          </p:nvSpPr>
          <p:spPr>
            <a:xfrm>
              <a:off x="682849" y="3155632"/>
              <a:ext cx="1510852" cy="322707"/>
            </a:xfrm>
            <a:prstGeom prst="rect">
              <a:avLst/>
            </a:prstGeom>
            <a:noFill/>
            <a:ln>
              <a:noFill/>
            </a:ln>
          </p:spPr>
          <p:txBody>
            <a:bodyPr wrap="none" lIns="0" tIns="0" rIns="0" bIns="0" anchor="t" anchorCtr="0">
              <a:spAutoFit/>
            </a:bodyPr>
            <a:lstStyle/>
            <a:p>
              <a:pPr algn="ctr"/>
              <a:r>
                <a:rPr lang="en-US" sz="1650" dirty="0">
                  <a:solidFill>
                    <a:schemeClr val="accent5"/>
                  </a:solidFill>
                  <a:latin typeface="+mn-lt"/>
                  <a:ea typeface="+mn-ea"/>
                  <a:cs typeface="+mn-cs"/>
                </a:rPr>
                <a:t>new interaction</a:t>
              </a:r>
            </a:p>
          </p:txBody>
        </p:sp>
        <p:sp>
          <p:nvSpPr>
            <p:cNvPr id="17" name="Rectangle 17"/>
            <p:cNvSpPr/>
            <p:nvPr/>
          </p:nvSpPr>
          <p:spPr>
            <a:xfrm>
              <a:off x="3057525" y="1809750"/>
              <a:ext cx="2724150" cy="1085850"/>
            </a:xfrm>
            <a:prstGeom prst="rect">
              <a:avLst/>
            </a:prstGeom>
            <a:solidFill>
              <a:srgbClr val="E6F2F3"/>
            </a:solidFill>
            <a:ln>
              <a:noFill/>
            </a:ln>
          </p:spPr>
        </p:sp>
        <p:sp>
          <p:nvSpPr>
            <p:cNvPr id="18" name="TextBox 18"/>
            <p:cNvSpPr txBox="1"/>
            <p:nvPr/>
          </p:nvSpPr>
          <p:spPr>
            <a:xfrm>
              <a:off x="3246882" y="1992630"/>
              <a:ext cx="1646587"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Exploitation</a:t>
              </a:r>
            </a:p>
          </p:txBody>
        </p:sp>
        <p:sp>
          <p:nvSpPr>
            <p:cNvPr id="19" name="TextBox 19"/>
            <p:cNvSpPr txBox="1"/>
            <p:nvPr/>
          </p:nvSpPr>
          <p:spPr>
            <a:xfrm>
              <a:off x="3246882" y="2392680"/>
              <a:ext cx="1867502"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Full answer a₁</a:t>
              </a:r>
            </a:p>
          </p:txBody>
        </p:sp>
        <p:sp>
          <p:nvSpPr>
            <p:cNvPr id="20" name="Rectangle 20"/>
            <p:cNvSpPr/>
            <p:nvPr/>
          </p:nvSpPr>
          <p:spPr>
            <a:xfrm>
              <a:off x="3057525" y="3276600"/>
              <a:ext cx="2724150" cy="1085850"/>
            </a:xfrm>
            <a:prstGeom prst="rect">
              <a:avLst/>
            </a:prstGeom>
            <a:solidFill>
              <a:srgbClr val="FBEEE4"/>
            </a:solidFill>
            <a:ln>
              <a:noFill/>
            </a:ln>
          </p:spPr>
        </p:sp>
        <p:sp>
          <p:nvSpPr>
            <p:cNvPr id="21" name="TextBox 21"/>
            <p:cNvSpPr txBox="1"/>
            <p:nvPr/>
          </p:nvSpPr>
          <p:spPr>
            <a:xfrm>
              <a:off x="3246882" y="3459480"/>
              <a:ext cx="1584312" cy="410718"/>
            </a:xfrm>
            <a:prstGeom prst="rect">
              <a:avLst/>
            </a:prstGeom>
            <a:noFill/>
            <a:ln>
              <a:noFill/>
            </a:ln>
          </p:spPr>
          <p:txBody>
            <a:bodyPr wrap="none" lIns="0" tIns="0" rIns="0" bIns="0" anchor="t" anchorCtr="0">
              <a:spAutoFit/>
            </a:bodyPr>
            <a:lstStyle/>
            <a:p>
              <a:pPr algn="l"/>
              <a:r>
                <a:rPr lang="en-US" sz="2100" b="1" dirty="0">
                  <a:solidFill>
                    <a:schemeClr val="accent3"/>
                  </a:solidFill>
                  <a:latin typeface="+mn-lt"/>
                  <a:ea typeface="+mn-ea"/>
                  <a:cs typeface="+mn-cs"/>
                </a:rPr>
                <a:t>Exploration</a:t>
              </a:r>
            </a:p>
          </p:txBody>
        </p:sp>
        <p:sp>
          <p:nvSpPr>
            <p:cNvPr id="22" name="TextBox 22"/>
            <p:cNvSpPr txBox="1"/>
            <p:nvPr/>
          </p:nvSpPr>
          <p:spPr>
            <a:xfrm>
              <a:off x="3246882" y="3859530"/>
              <a:ext cx="1867502"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Full answer a₂</a:t>
              </a:r>
            </a:p>
          </p:txBody>
        </p:sp>
        <p:sp>
          <p:nvSpPr>
            <p:cNvPr id="23" name="Rectangle 23"/>
            <p:cNvSpPr/>
            <p:nvPr/>
          </p:nvSpPr>
          <p:spPr>
            <a:xfrm>
              <a:off x="6781800" y="2571750"/>
              <a:ext cx="1866900" cy="1028700"/>
            </a:xfrm>
            <a:prstGeom prst="rect">
              <a:avLst/>
            </a:prstGeom>
            <a:solidFill>
              <a:schemeClr val="accent1"/>
            </a:solidFill>
            <a:ln>
              <a:noFill/>
            </a:ln>
          </p:spPr>
        </p:sp>
        <p:sp>
          <p:nvSpPr>
            <p:cNvPr id="24" name="TextBox 24"/>
            <p:cNvSpPr txBox="1"/>
            <p:nvPr/>
          </p:nvSpPr>
          <p:spPr>
            <a:xfrm>
              <a:off x="6898642" y="2773680"/>
              <a:ext cx="1633216" cy="410718"/>
            </a:xfrm>
            <a:prstGeom prst="rect">
              <a:avLst/>
            </a:prstGeom>
            <a:noFill/>
            <a:ln>
              <a:noFill/>
            </a:ln>
          </p:spPr>
          <p:txBody>
            <a:bodyPr wrap="none" lIns="0" tIns="0" rIns="0" bIns="0" anchor="t" anchorCtr="0">
              <a:spAutoFit/>
            </a:bodyPr>
            <a:lstStyle/>
            <a:p>
              <a:pPr algn="ctr"/>
              <a:r>
                <a:rPr lang="en-US" sz="2100" b="1" dirty="0">
                  <a:solidFill>
                    <a:srgbClr val="FFFFFF"/>
                  </a:solidFill>
                  <a:latin typeface="+mn-lt"/>
                  <a:ea typeface="+mn-ea"/>
                  <a:cs typeface="+mn-cs"/>
                </a:rPr>
                <a:t>User choice</a:t>
              </a:r>
            </a:p>
          </p:txBody>
        </p:sp>
        <p:sp>
          <p:nvSpPr>
            <p:cNvPr id="25" name="TextBox 25"/>
            <p:cNvSpPr txBox="1"/>
            <p:nvPr/>
          </p:nvSpPr>
          <p:spPr>
            <a:xfrm>
              <a:off x="7164088" y="3155632"/>
              <a:ext cx="1102324" cy="322707"/>
            </a:xfrm>
            <a:prstGeom prst="rect">
              <a:avLst/>
            </a:prstGeom>
            <a:noFill/>
            <a:ln>
              <a:noFill/>
            </a:ln>
          </p:spPr>
          <p:txBody>
            <a:bodyPr wrap="none" lIns="0" tIns="0" rIns="0" bIns="0" anchor="t" anchorCtr="0">
              <a:spAutoFit/>
            </a:bodyPr>
            <a:lstStyle/>
            <a:p>
              <a:pPr algn="ctr"/>
              <a:r>
                <a:rPr lang="en-US" sz="1650" dirty="0">
                  <a:solidFill>
                    <a:srgbClr val="FFFFFF"/>
                  </a:solidFill>
                  <a:latin typeface="+mn-lt"/>
                  <a:ea typeface="+mn-ea"/>
                  <a:cs typeface="+mn-cs"/>
                </a:rPr>
                <a:t>one label ℓ</a:t>
              </a:r>
            </a:p>
          </p:txBody>
        </p:sp>
        <p:sp>
          <p:nvSpPr>
            <p:cNvPr id="26" name="Rectangle 26"/>
            <p:cNvSpPr/>
            <p:nvPr/>
          </p:nvSpPr>
          <p:spPr>
            <a:xfrm>
              <a:off x="9344025" y="2571750"/>
              <a:ext cx="2238375" cy="1028700"/>
            </a:xfrm>
            <a:prstGeom prst="rect">
              <a:avLst/>
            </a:prstGeom>
            <a:solidFill>
              <a:schemeClr val="lt2"/>
            </a:solidFill>
            <a:ln>
              <a:noFill/>
            </a:ln>
          </p:spPr>
        </p:sp>
        <p:sp>
          <p:nvSpPr>
            <p:cNvPr id="27" name="TextBox 27"/>
            <p:cNvSpPr txBox="1"/>
            <p:nvPr/>
          </p:nvSpPr>
          <p:spPr>
            <a:xfrm>
              <a:off x="9727743" y="2773680"/>
              <a:ext cx="1461414" cy="410718"/>
            </a:xfrm>
            <a:prstGeom prst="rect">
              <a:avLst/>
            </a:prstGeom>
            <a:noFill/>
            <a:ln>
              <a:noFill/>
            </a:ln>
          </p:spPr>
          <p:txBody>
            <a:bodyPr wrap="none" lIns="0" tIns="0" rIns="0" bIns="0" anchor="t" anchorCtr="0">
              <a:spAutoFit/>
            </a:bodyPr>
            <a:lstStyle/>
            <a:p>
              <a:pPr algn="ctr"/>
              <a:r>
                <a:rPr lang="en-US" sz="2100" b="1" dirty="0">
                  <a:solidFill>
                    <a:schemeClr val="accent1"/>
                  </a:solidFill>
                  <a:latin typeface="+mn-lt"/>
                  <a:ea typeface="+mn-ea"/>
                  <a:cs typeface="+mn-cs"/>
                </a:rPr>
                <a:t>History Dₜ</a:t>
              </a:r>
            </a:p>
          </p:txBody>
        </p:sp>
        <p:sp>
          <p:nvSpPr>
            <p:cNvPr id="28" name="TextBox 28"/>
            <p:cNvSpPr txBox="1"/>
            <p:nvPr/>
          </p:nvSpPr>
          <p:spPr>
            <a:xfrm>
              <a:off x="9822415" y="3155632"/>
              <a:ext cx="1272070" cy="322707"/>
            </a:xfrm>
            <a:prstGeom prst="rect">
              <a:avLst/>
            </a:prstGeom>
            <a:noFill/>
            <a:ln>
              <a:noFill/>
            </a:ln>
          </p:spPr>
          <p:txBody>
            <a:bodyPr wrap="none" lIns="0" tIns="0" rIns="0" bIns="0" anchor="t" anchorCtr="0">
              <a:spAutoFit/>
            </a:bodyPr>
            <a:lstStyle/>
            <a:p>
              <a:pPr algn="ctr"/>
              <a:r>
                <a:rPr lang="en-US" sz="1650" dirty="0">
                  <a:solidFill>
                    <a:schemeClr val="accent5"/>
                  </a:solidFill>
                  <a:latin typeface="+mn-lt"/>
                  <a:ea typeface="+mn-ea"/>
                  <a:cs typeface="+mn-cs"/>
                </a:rPr>
                <a:t>(q, a₁, a₂, ℓ)</a:t>
              </a:r>
            </a:p>
          </p:txBody>
        </p:sp>
        <p:sp>
          <p:nvSpPr>
            <p:cNvPr id="29" name="Rectangle 29"/>
            <p:cNvSpPr/>
            <p:nvPr/>
          </p:nvSpPr>
          <p:spPr>
            <a:xfrm>
              <a:off x="5476875" y="4505325"/>
              <a:ext cx="2124075" cy="685800"/>
            </a:xfrm>
            <a:prstGeom prst="rect">
              <a:avLst/>
            </a:prstGeom>
            <a:solidFill>
              <a:schemeClr val="accent1"/>
            </a:solidFill>
            <a:ln>
              <a:noFill/>
            </a:ln>
          </p:spPr>
        </p:sp>
        <p:sp>
          <p:nvSpPr>
            <p:cNvPr id="30" name="TextBox 30"/>
            <p:cNvSpPr txBox="1"/>
            <p:nvPr/>
          </p:nvSpPr>
          <p:spPr>
            <a:xfrm>
              <a:off x="5802907" y="4707255"/>
              <a:ext cx="1481537" cy="410718"/>
            </a:xfrm>
            <a:prstGeom prst="rect">
              <a:avLst/>
            </a:prstGeom>
            <a:noFill/>
            <a:ln>
              <a:noFill/>
            </a:ln>
          </p:spPr>
          <p:txBody>
            <a:bodyPr wrap="none" lIns="0" tIns="0" rIns="0" bIns="0" anchor="t" anchorCtr="0">
              <a:spAutoFit/>
            </a:bodyPr>
            <a:lstStyle/>
            <a:p>
              <a:pPr algn="ctr"/>
              <a:r>
                <a:rPr lang="en-US" sz="2100" dirty="0">
                  <a:solidFill>
                    <a:srgbClr val="FFFFFF"/>
                  </a:solidFill>
                  <a:latin typeface="+mn-lt"/>
                  <a:ea typeface="+mn-ea"/>
                  <a:cs typeface="+mn-cs"/>
                </a:rPr>
                <a:t>Update RM</a:t>
              </a:r>
            </a:p>
          </p:txBody>
        </p:sp>
        <p:sp>
          <p:nvSpPr>
            <p:cNvPr id="31" name="TextBox 31"/>
            <p:cNvSpPr txBox="1"/>
            <p:nvPr/>
          </p:nvSpPr>
          <p:spPr>
            <a:xfrm>
              <a:off x="2620518" y="5041582"/>
              <a:ext cx="1523202"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next interaction</a:t>
              </a:r>
            </a:p>
          </p:txBody>
        </p:sp>
        <p:sp>
          <p:nvSpPr>
            <p:cNvPr id="32" name="TextBox 32"/>
            <p:cNvSpPr txBox="1"/>
            <p:nvPr/>
          </p:nvSpPr>
          <p:spPr>
            <a:xfrm>
              <a:off x="6287643" y="1736408"/>
              <a:ext cx="1899864"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Both policies share</a:t>
              </a:r>
            </a:p>
          </p:txBody>
        </p:sp>
        <p:sp>
          <p:nvSpPr>
            <p:cNvPr id="33" name="TextBox 33"/>
            <p:cNvSpPr txBox="1"/>
            <p:nvPr/>
          </p:nvSpPr>
          <p:spPr>
            <a:xfrm>
              <a:off x="6287643" y="2069782"/>
              <a:ext cx="3062186"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the frozen LLM + current RM</a:t>
              </a:r>
            </a:p>
          </p:txBody>
        </p:sp>
      </p:grpSp>
      <p:grpSp>
        <p:nvGrpSpPr>
          <p:cNvPr id="37" name="deployment"/>
          <p:cNvGrpSpPr/>
          <p:nvPr/>
        </p:nvGrpSpPr>
        <p:grpSpPr>
          <a:xfrm>
            <a:off x="609600" y="5610225"/>
            <a:ext cx="10972800" cy="619125"/>
            <a:chOff x="609600" y="5610225"/>
            <a:chExt cx="10972800" cy="619125"/>
          </a:xfrm>
        </p:grpSpPr>
        <p:sp>
          <p:nvSpPr>
            <p:cNvPr id="35" name="Rectangle 35"/>
            <p:cNvSpPr/>
            <p:nvPr/>
          </p:nvSpPr>
          <p:spPr>
            <a:xfrm>
              <a:off x="609600" y="5610225"/>
              <a:ext cx="10972800" cy="619125"/>
            </a:xfrm>
            <a:prstGeom prst="rect">
              <a:avLst/>
            </a:prstGeom>
            <a:solidFill>
              <a:schemeClr val="lt2"/>
            </a:solidFill>
            <a:ln>
              <a:noFill/>
            </a:ln>
          </p:spPr>
        </p:sp>
        <p:sp>
          <p:nvSpPr>
            <p:cNvPr id="36" name="TextBox 36"/>
            <p:cNvSpPr txBox="1"/>
            <p:nvPr/>
          </p:nvSpPr>
          <p:spPr>
            <a:xfrm>
              <a:off x="771906" y="5796915"/>
              <a:ext cx="8396940"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Online:</a:t>
              </a:r>
              <a:r>
                <a:rPr lang="en-US" sz="1800" dirty="0">
                  <a:solidFill>
                    <a:schemeClr val="accent1"/>
                  </a:solidFill>
                  <a:latin typeface="+mn-lt"/>
                  <a:ea typeface="+mn-ea"/>
                  <a:cs typeface="+mn-cs"/>
                </a:rPr>
                <a:t xml:space="preserve"> 2 answers → feedback. </a:t>
              </a:r>
              <a:r>
                <a:rPr lang="en-US" sz="1800" b="1" dirty="0">
                  <a:solidFill>
                    <a:schemeClr val="accent1"/>
                  </a:solidFill>
                  <a:latin typeface="+mn-lt"/>
                  <a:ea typeface="+mn-ea"/>
                  <a:cs typeface="+mn-cs"/>
                </a:rPr>
                <a:t>Final deployment:</a:t>
              </a:r>
              <a:r>
                <a:rPr lang="en-US" sz="1800" dirty="0">
                  <a:solidFill>
                    <a:schemeClr val="accent1"/>
                  </a:solidFill>
                  <a:latin typeface="+mn-lt"/>
                  <a:ea typeface="+mn-ea"/>
                  <a:cs typeface="+mn-cs"/>
                </a:rPr>
                <a:t xml:space="preserve"> 1 answer via exploitation.</a:t>
              </a:r>
            </a:p>
          </p:txBody>
        </p:sp>
      </p:grpSp>
      <p:grpSp>
        <p:nvGrpSpPr>
          <p:cNvPr id="40" name="footer"/>
          <p:cNvGrpSpPr/>
          <p:nvPr/>
        </p:nvGrpSpPr>
        <p:grpSpPr>
          <a:xfrm>
            <a:off x="603504" y="6404610"/>
            <a:ext cx="10984992" cy="234696"/>
            <a:chOff x="603504" y="6404610"/>
            <a:chExt cx="10984992" cy="234696"/>
          </a:xfrm>
        </p:grpSpPr>
        <p:sp>
          <p:nvSpPr>
            <p:cNvPr id="38" name="TextBox 38"/>
            <p:cNvSpPr txBox="1"/>
            <p:nvPr/>
          </p:nvSpPr>
          <p:spPr>
            <a:xfrm>
              <a:off x="603504" y="6404610"/>
              <a:ext cx="6298553"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Fig. 1; Algorithm 1; §3.2 · Current RM parameters stay fixed while the pair is generated.</a:t>
              </a:r>
            </a:p>
          </p:txBody>
        </p:sp>
        <p:sp>
          <p:nvSpPr>
            <p:cNvPr id="39" name="TextBox 39"/>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04 / 08</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8208664" cy="971169"/>
            <a:chOff x="592836" y="461010"/>
            <a:chExt cx="8208664" cy="971169"/>
          </a:xfrm>
        </p:grpSpPr>
        <p:sp>
          <p:nvSpPr>
            <p:cNvPr id="2" name="TextBox 2"/>
            <p:cNvSpPr txBox="1"/>
            <p:nvPr/>
          </p:nvSpPr>
          <p:spPr>
            <a:xfrm>
              <a:off x="603504" y="461010"/>
              <a:ext cx="323683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METHOD 2/3 · DATA → MODEL → LOSS</a:t>
              </a:r>
            </a:p>
          </p:txBody>
        </p:sp>
        <p:sp>
          <p:nvSpPr>
            <p:cNvPr id="3" name="TextBox 3"/>
            <p:cNvSpPr txBox="1"/>
            <p:nvPr/>
          </p:nvSpPr>
          <p:spPr>
            <a:xfrm>
              <a:off x="592836" y="786765"/>
              <a:ext cx="8208664"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RM training: pairs to a personal scorer</a:t>
              </a:r>
            </a:p>
          </p:txBody>
        </p:sp>
      </p:grpSp>
      <p:grpSp>
        <p:nvGrpSpPr>
          <p:cNvPr id="24" name="training-pipeline"/>
          <p:cNvGrpSpPr/>
          <p:nvPr/>
        </p:nvGrpSpPr>
        <p:grpSpPr>
          <a:xfrm>
            <a:off x="609600" y="1743075"/>
            <a:ext cx="10972800" cy="1657350"/>
            <a:chOff x="609600" y="1743075"/>
            <a:chExt cx="10972800" cy="1657350"/>
          </a:xfrm>
        </p:grpSpPr>
        <p:sp>
          <p:nvSpPr>
            <p:cNvPr id="5" name="Line 5"/>
            <p:cNvSpPr/>
            <p:nvPr/>
          </p:nvSpPr>
          <p:spPr>
            <a:xfrm>
              <a:off x="2657475" y="2466975"/>
              <a:ext cx="438150" cy="1"/>
            </a:xfrm>
            <a:prstGeom prst="line">
              <a:avLst/>
            </a:prstGeom>
            <a:noFill/>
            <a:ln w="19050">
              <a:solidFill>
                <a:schemeClr val="accent1"/>
              </a:solidFill>
              <a:tailEnd type="arrow" w="med" len="med"/>
            </a:ln>
          </p:spPr>
        </p:sp>
        <p:sp>
          <p:nvSpPr>
            <p:cNvPr id="6" name="Line 6"/>
            <p:cNvSpPr/>
            <p:nvPr/>
          </p:nvSpPr>
          <p:spPr>
            <a:xfrm>
              <a:off x="5705475" y="2466975"/>
              <a:ext cx="419100" cy="1"/>
            </a:xfrm>
            <a:prstGeom prst="line">
              <a:avLst/>
            </a:prstGeom>
            <a:noFill/>
            <a:ln w="19050">
              <a:solidFill>
                <a:schemeClr val="accent1"/>
              </a:solidFill>
              <a:tailEnd type="arrow" w="med" len="med"/>
            </a:ln>
          </p:spPr>
        </p:sp>
        <p:sp>
          <p:nvSpPr>
            <p:cNvPr id="7" name="Line 7"/>
            <p:cNvSpPr/>
            <p:nvPr/>
          </p:nvSpPr>
          <p:spPr>
            <a:xfrm>
              <a:off x="8753475" y="2466975"/>
              <a:ext cx="438150" cy="1"/>
            </a:xfrm>
            <a:prstGeom prst="line">
              <a:avLst/>
            </a:prstGeom>
            <a:noFill/>
            <a:ln w="19050">
              <a:solidFill>
                <a:schemeClr val="accent1"/>
              </a:solidFill>
              <a:tailEnd type="arrow" w="med" len="med"/>
            </a:ln>
          </p:spPr>
        </p:sp>
        <p:sp>
          <p:nvSpPr>
            <p:cNvPr id="8" name="Rectangle 8"/>
            <p:cNvSpPr/>
            <p:nvPr/>
          </p:nvSpPr>
          <p:spPr>
            <a:xfrm>
              <a:off x="609600" y="1743075"/>
              <a:ext cx="1924050" cy="1657350"/>
            </a:xfrm>
            <a:prstGeom prst="rect">
              <a:avLst/>
            </a:prstGeom>
            <a:solidFill>
              <a:schemeClr val="lt2"/>
            </a:solidFill>
            <a:ln>
              <a:noFill/>
            </a:ln>
          </p:spPr>
        </p:sp>
        <p:sp>
          <p:nvSpPr>
            <p:cNvPr id="9" name="TextBox 9"/>
            <p:cNvSpPr txBox="1"/>
            <p:nvPr/>
          </p:nvSpPr>
          <p:spPr>
            <a:xfrm>
              <a:off x="753618" y="1907858"/>
              <a:ext cx="2134404"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B pairs from history</a:t>
              </a:r>
            </a:p>
          </p:txBody>
        </p:sp>
        <p:sp>
          <p:nvSpPr>
            <p:cNvPr id="10" name="TextBox 10"/>
            <p:cNvSpPr txBox="1"/>
            <p:nvPr/>
          </p:nvSpPr>
          <p:spPr>
            <a:xfrm>
              <a:off x="753618" y="2355532"/>
              <a:ext cx="1682351" cy="694182"/>
            </a:xfrm>
            <a:prstGeom prst="rect">
              <a:avLst/>
            </a:prstGeom>
            <a:noFill/>
            <a:ln>
              <a:noFill/>
            </a:ln>
          </p:spPr>
          <p:txBody>
            <a:bodyPr wrap="none" lIns="0" tIns="0" rIns="0" bIns="0" anchor="t" anchorCtr="0">
              <a:spAutoFit/>
            </a:bodyPr>
            <a:lstStyle/>
            <a:p>
              <a:pPr algn="l">
                <a:lnSpc>
                  <a:spcPts val="2925"/>
                </a:lnSpc>
              </a:pPr>
              <a:r>
                <a:rPr lang="en-US" sz="1650" dirty="0">
                  <a:solidFill>
                    <a:schemeClr val="dk1"/>
                  </a:solidFill>
                  <a:latin typeface="+mn-lt"/>
                  <a:ea typeface="+mn-ea"/>
                  <a:cs typeface="+mn-cs"/>
                </a:rPr>
                <a:t>[q, a₁] and [q, a₂]</a:t>
              </a:r>
              <a:br/>
              <a:r>
                <a:rPr lang="en-US" sz="1650" dirty="0">
                  <a:solidFill>
                    <a:schemeClr val="dk1"/>
                  </a:solidFill>
                  <a:latin typeface="+mn-lt"/>
                  <a:ea typeface="+mn-ea"/>
                  <a:cs typeface="+mn-cs"/>
                </a:rPr>
                <a:t>2B complete texts</a:t>
              </a:r>
            </a:p>
          </p:txBody>
        </p:sp>
        <p:sp>
          <p:nvSpPr>
            <p:cNvPr id="11" name="TextBox 11"/>
            <p:cNvSpPr txBox="1"/>
            <p:nvPr/>
          </p:nvSpPr>
          <p:spPr>
            <a:xfrm>
              <a:off x="753618" y="3060382"/>
              <a:ext cx="1937082"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B preference labels</a:t>
              </a:r>
            </a:p>
          </p:txBody>
        </p:sp>
        <p:sp>
          <p:nvSpPr>
            <p:cNvPr id="12" name="Rectangle 12"/>
            <p:cNvSpPr/>
            <p:nvPr/>
          </p:nvSpPr>
          <p:spPr>
            <a:xfrm>
              <a:off x="3238500" y="1743075"/>
              <a:ext cx="2333625" cy="1657350"/>
            </a:xfrm>
            <a:prstGeom prst="rect">
              <a:avLst/>
            </a:prstGeom>
            <a:solidFill>
              <a:schemeClr val="lt2"/>
            </a:solidFill>
            <a:ln>
              <a:noFill/>
            </a:ln>
          </p:spPr>
        </p:sp>
        <p:sp>
          <p:nvSpPr>
            <p:cNvPr id="13" name="TextBox 13"/>
            <p:cNvSpPr txBox="1"/>
            <p:nvPr/>
          </p:nvSpPr>
          <p:spPr>
            <a:xfrm>
              <a:off x="3420618" y="1907858"/>
              <a:ext cx="1677849"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Frozen encoder</a:t>
              </a:r>
            </a:p>
          </p:txBody>
        </p:sp>
        <p:sp>
          <p:nvSpPr>
            <p:cNvPr id="14" name="TextBox 14"/>
            <p:cNvSpPr txBox="1"/>
            <p:nvPr/>
          </p:nvSpPr>
          <p:spPr>
            <a:xfrm>
              <a:off x="3420618" y="2317432"/>
              <a:ext cx="1892362"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dk1"/>
                  </a:solidFill>
                  <a:latin typeface="+mn-lt"/>
                  <a:ea typeface="+mn-ea"/>
                  <a:cs typeface="+mn-cs"/>
                </a:rPr>
                <a:t>Qwen3-Embedding</a:t>
              </a:r>
              <a:br/>
              <a:r>
                <a:rPr lang="en-US" sz="1650" dirty="0">
                  <a:solidFill>
                    <a:schemeClr val="dk1"/>
                  </a:solidFill>
                  <a:latin typeface="+mn-lt"/>
                  <a:ea typeface="+mn-ea"/>
                  <a:cs typeface="+mn-cs"/>
                </a:rPr>
                <a:t>0.6B · mean pooling</a:t>
              </a:r>
            </a:p>
          </p:txBody>
        </p:sp>
        <p:sp>
          <p:nvSpPr>
            <p:cNvPr id="15" name="TextBox 15"/>
            <p:cNvSpPr txBox="1"/>
            <p:nvPr/>
          </p:nvSpPr>
          <p:spPr>
            <a:xfrm>
              <a:off x="3420618" y="3050858"/>
              <a:ext cx="1399640"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E: (2B, 1024)</a:t>
              </a:r>
            </a:p>
          </p:txBody>
        </p:sp>
        <p:sp>
          <p:nvSpPr>
            <p:cNvPr id="16" name="Rectangle 16"/>
            <p:cNvSpPr/>
            <p:nvPr/>
          </p:nvSpPr>
          <p:spPr>
            <a:xfrm>
              <a:off x="6267450" y="1743075"/>
              <a:ext cx="2352675" cy="1657350"/>
            </a:xfrm>
            <a:prstGeom prst="rect">
              <a:avLst/>
            </a:prstGeom>
            <a:solidFill>
              <a:schemeClr val="accent1"/>
            </a:solidFill>
            <a:ln>
              <a:noFill/>
            </a:ln>
          </p:spPr>
        </p:sp>
        <p:sp>
          <p:nvSpPr>
            <p:cNvPr id="17" name="TextBox 17"/>
            <p:cNvSpPr txBox="1"/>
            <p:nvPr/>
          </p:nvSpPr>
          <p:spPr>
            <a:xfrm>
              <a:off x="6449568" y="1907858"/>
              <a:ext cx="1754572" cy="322707"/>
            </a:xfrm>
            <a:prstGeom prst="rect">
              <a:avLst/>
            </a:prstGeom>
            <a:noFill/>
            <a:ln>
              <a:noFill/>
            </a:ln>
          </p:spPr>
          <p:txBody>
            <a:bodyPr wrap="none" lIns="0" tIns="0" rIns="0" bIns="0" anchor="t" anchorCtr="0">
              <a:spAutoFit/>
            </a:bodyPr>
            <a:lstStyle/>
            <a:p>
              <a:pPr algn="l"/>
              <a:r>
                <a:rPr lang="el-GR" sz="1650" b="1" dirty="0">
                  <a:solidFill>
                    <a:srgbClr val="FFFFFF"/>
                  </a:solidFill>
                  <a:latin typeface="+mn-lt"/>
                  <a:ea typeface="+mn-ea"/>
                  <a:cs typeface="+mn-cs"/>
                </a:rPr>
                <a:t>Trainable MLP θ</a:t>
              </a:r>
            </a:p>
          </p:txBody>
        </p:sp>
        <p:sp>
          <p:nvSpPr>
            <p:cNvPr id="18" name="TextBox 18"/>
            <p:cNvSpPr txBox="1"/>
            <p:nvPr/>
          </p:nvSpPr>
          <p:spPr>
            <a:xfrm>
              <a:off x="6449568" y="2336482"/>
              <a:ext cx="1752509" cy="665607"/>
            </a:xfrm>
            <a:prstGeom prst="rect">
              <a:avLst/>
            </a:prstGeom>
            <a:noFill/>
            <a:ln>
              <a:noFill/>
            </a:ln>
          </p:spPr>
          <p:txBody>
            <a:bodyPr wrap="none" lIns="0" tIns="0" rIns="0" bIns="0" anchor="t" anchorCtr="0">
              <a:spAutoFit/>
            </a:bodyPr>
            <a:lstStyle/>
            <a:p>
              <a:pPr algn="l">
                <a:lnSpc>
                  <a:spcPts val="2700"/>
                </a:lnSpc>
              </a:pPr>
              <a:r>
                <a:rPr lang="en-US" sz="1650" dirty="0">
                  <a:solidFill>
                    <a:srgbClr val="FFFFFF"/>
                  </a:solidFill>
                  <a:latin typeface="+mn-lt"/>
                  <a:ea typeface="+mn-ea"/>
                  <a:cs typeface="+mn-cs"/>
                </a:rPr>
                <a:t>1024 → 1024 → 1</a:t>
              </a:r>
              <a:br/>
              <a:r>
                <a:rPr lang="en-US" sz="1650" dirty="0">
                  <a:solidFill>
                    <a:srgbClr val="FFFFFF"/>
                  </a:solidFill>
                  <a:latin typeface="+mn-lt"/>
                  <a:ea typeface="+mn-ea"/>
                  <a:cs typeface="+mn-cs"/>
                </a:rPr>
                <a:t>ReLU hidden layer</a:t>
              </a:r>
            </a:p>
          </p:txBody>
        </p:sp>
        <p:sp>
          <p:nvSpPr>
            <p:cNvPr id="19" name="TextBox 19"/>
            <p:cNvSpPr txBox="1"/>
            <p:nvPr/>
          </p:nvSpPr>
          <p:spPr>
            <a:xfrm>
              <a:off x="6449568" y="3050858"/>
              <a:ext cx="1706847" cy="322707"/>
            </a:xfrm>
            <a:prstGeom prst="rect">
              <a:avLst/>
            </a:prstGeom>
            <a:noFill/>
            <a:ln>
              <a:noFill/>
            </a:ln>
          </p:spPr>
          <p:txBody>
            <a:bodyPr wrap="none" lIns="0" tIns="0" rIns="0" bIns="0" anchor="t" anchorCtr="0">
              <a:spAutoFit/>
            </a:bodyPr>
            <a:lstStyle/>
            <a:p>
              <a:pPr algn="l"/>
              <a:r>
                <a:rPr lang="en-US" sz="1650" dirty="0">
                  <a:solidFill>
                    <a:srgbClr val="FFFFFF"/>
                  </a:solidFill>
                  <a:latin typeface="+mn-lt"/>
                  <a:ea typeface="+mn-ea"/>
                  <a:cs typeface="+mn-cs"/>
                </a:rPr>
                <a:t>Rewards: (2B, 1)</a:t>
              </a:r>
            </a:p>
          </p:txBody>
        </p:sp>
        <p:sp>
          <p:nvSpPr>
            <p:cNvPr id="20" name="Rectangle 20"/>
            <p:cNvSpPr/>
            <p:nvPr/>
          </p:nvSpPr>
          <p:spPr>
            <a:xfrm>
              <a:off x="9344025" y="1743075"/>
              <a:ext cx="2238375" cy="1657350"/>
            </a:xfrm>
            <a:prstGeom prst="rect">
              <a:avLst/>
            </a:prstGeom>
            <a:solidFill>
              <a:srgbClr val="E6F2F3"/>
            </a:solidFill>
            <a:ln>
              <a:noFill/>
            </a:ln>
          </p:spPr>
        </p:sp>
        <p:sp>
          <p:nvSpPr>
            <p:cNvPr id="21" name="TextBox 21"/>
            <p:cNvSpPr txBox="1"/>
            <p:nvPr/>
          </p:nvSpPr>
          <p:spPr>
            <a:xfrm>
              <a:off x="9516618" y="1907858"/>
              <a:ext cx="1740180"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Reshape by pair</a:t>
              </a:r>
            </a:p>
          </p:txBody>
        </p:sp>
        <p:sp>
          <p:nvSpPr>
            <p:cNvPr id="22" name="TextBox 22"/>
            <p:cNvSpPr txBox="1"/>
            <p:nvPr/>
          </p:nvSpPr>
          <p:spPr>
            <a:xfrm>
              <a:off x="9514332" y="2364105"/>
              <a:ext cx="1133292" cy="410718"/>
            </a:xfrm>
            <a:prstGeom prst="rect">
              <a:avLst/>
            </a:prstGeom>
            <a:noFill/>
            <a:ln>
              <a:noFill/>
            </a:ln>
          </p:spPr>
          <p:txBody>
            <a:bodyPr wrap="none" lIns="0" tIns="0" rIns="0" bIns="0" anchor="t" anchorCtr="0">
              <a:spAutoFit/>
            </a:bodyPr>
            <a:lstStyle/>
            <a:p>
              <a:pPr algn="l"/>
              <a:r>
                <a:rPr lang="en-US" sz="2100" dirty="0">
                  <a:solidFill>
                    <a:schemeClr val="accent1"/>
                  </a:solidFill>
                  <a:latin typeface="+mn-lt"/>
                  <a:ea typeface="+mn-ea"/>
                  <a:cs typeface="+mn-cs"/>
                </a:rPr>
                <a:t>R: (B, 2)</a:t>
              </a:r>
            </a:p>
          </p:txBody>
        </p:sp>
        <p:sp>
          <p:nvSpPr>
            <p:cNvPr id="23" name="TextBox 23"/>
            <p:cNvSpPr txBox="1"/>
            <p:nvPr/>
          </p:nvSpPr>
          <p:spPr>
            <a:xfrm>
              <a:off x="9516618" y="2879408"/>
              <a:ext cx="1764625"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Score per answer</a:t>
              </a:r>
            </a:p>
          </p:txBody>
        </p:sp>
      </p:grpSp>
      <mc:AlternateContent xmlns:mc="http://schemas.openxmlformats.org/markup-compatibility/2006">
        <mc:Choice xmlns:a14="http://schemas.microsoft.com/office/drawing/2010/main" Requires="a14">
          <p:sp>
            <p:nvSpPr>
              <p:cNvPr id="25" name="btl"/>
              <p:cNvSpPr txBox="1">
                <a:spLocks noGrp="1"/>
              </p:cNvSpPr>
              <p:nvPr/>
            </p:nvSpPr>
            <p:spPr>
              <a:xfrm>
                <a:off x="609600" y="3790950"/>
                <a:ext cx="4600575" cy="666750"/>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sSub>
                        <m:e>
                          <m:r>
                            <a:rPr lang="en-US" sz="2100" dirty="0">
                              <a:solidFill>
                                <a:srgbClr val="10243A"/>
                              </a:solidFill>
                              <a:latin typeface="Cambria Math"/>
                              <a:ea typeface="Cambria Math"/>
                              <a:cs typeface="Cambria Math"/>
                            </a:rPr>
                            <m:t>p</m:t>
                          </m:r>
                        </m:e>
                        <m:sub>
                          <m:r>
                            <a:rPr lang="en-US" sz="2100" dirty="0">
                              <a:solidFill>
                                <a:srgbClr val="10243A"/>
                              </a:solidFill>
                              <a:latin typeface="Cambria Math"/>
                              <a:ea typeface="Cambria Math"/>
                              <a:cs typeface="Cambria Math"/>
                            </a:rPr>
                            <m:t>i</m:t>
                          </m:r>
                        </m:sub>
                      </m:sSub>
                      <m:r>
                        <m:rPr>
                          <m:sty m:val="p"/>
                        </m:rPr>
                        <a:rPr lang="en-US" sz="2100" dirty="0">
                          <a:solidFill>
                            <a:srgbClr val="10243A"/>
                          </a:solidFill>
                          <a:latin typeface="Cambria Math"/>
                          <a:ea typeface="Cambria Math"/>
                          <a:cs typeface="Cambria Math"/>
                        </a:rPr>
                        <m:t>=</m:t>
                      </m:r>
                      <m:r>
                        <a:rPr lang="en-US" sz="2100" dirty="0">
                          <a:solidFill>
                            <a:srgbClr val="10243A"/>
                          </a:solidFill>
                          <a:latin typeface="Cambria Math"/>
                          <a:ea typeface="Cambria Math"/>
                          <a:cs typeface="Cambria Math"/>
                        </a:rPr>
                        <m:t>σ</m:t>
                      </m:r>
                      <m:d>
                        <m:dPr>
                          <m:begChr m:val="("/>
                          <m:sepChr m:val=""/>
                          <m:endChr m:val=")"/>
                          <m:grow m:val="on"/>
                          <m:ctrlPr>
                            <a:rPr lang="en-US" sz="2100" dirty="0">
                              <a:solidFill>
                                <a:srgbClr val="10243A"/>
                              </a:solidFill>
                              <a:latin typeface="Cambria Math"/>
                              <a:ea typeface="Cambria Math"/>
                              <a:cs typeface="Cambria Math"/>
                            </a:rPr>
                          </m:ctrlPr>
                        </m:dPr>
                        <m:e>
                          <m:sSub>
                            <m:e>
                              <m:r>
                                <a:rPr lang="en-US" sz="2100" dirty="0">
                                  <a:solidFill>
                                    <a:srgbClr val="10243A"/>
                                  </a:solidFill>
                                  <a:latin typeface="Cambria Math"/>
                                  <a:ea typeface="Cambria Math"/>
                                  <a:cs typeface="Cambria Math"/>
                                </a:rPr>
                                <m:t>R</m:t>
                              </m:r>
                            </m:e>
                            <m:sub>
                              <m:r>
                                <a:rPr lang="en-US" sz="2100" dirty="0">
                                  <a:solidFill>
                                    <a:srgbClr val="10243A"/>
                                  </a:solidFill>
                                  <a:latin typeface="Cambria Math"/>
                                  <a:ea typeface="Cambria Math"/>
                                  <a:cs typeface="Cambria Math"/>
                                </a:rPr>
                                <m:t>i</m:t>
                              </m:r>
                              <m:r>
                                <m:rPr>
                                  <m:sty m:val="p"/>
                                </m:rPr>
                                <a:rPr lang="en-US" sz="2100" dirty="0">
                                  <a:solidFill>
                                    <a:srgbClr val="10243A"/>
                                  </a:solidFill>
                                  <a:latin typeface="Cambria Math"/>
                                  <a:ea typeface="Cambria Math"/>
                                  <a:cs typeface="Cambria Math"/>
                                </a:rPr>
                                <m:t>,</m:t>
                              </m:r>
                              <m:r>
                                <a:rPr lang="en-US" sz="2100" dirty="0">
                                  <a:solidFill>
                                    <a:srgbClr val="10243A"/>
                                  </a:solidFill>
                                  <a:latin typeface="Cambria Math"/>
                                  <a:ea typeface="Cambria Math"/>
                                  <a:cs typeface="Cambria Math"/>
                                </a:rPr>
                                <m:t>1</m:t>
                              </m:r>
                            </m:sub>
                          </m:sSub>
                          <m:r>
                            <m:rPr>
                              <m:sty m:val="p"/>
                            </m:rPr>
                            <a:rPr lang="en-US" sz="2100" dirty="0">
                              <a:solidFill>
                                <a:srgbClr val="10243A"/>
                              </a:solidFill>
                              <a:latin typeface="Cambria Math"/>
                              <a:ea typeface="Cambria Math"/>
                              <a:cs typeface="Cambria Math"/>
                            </a:rPr>
                            <m:t>−</m:t>
                          </m:r>
                          <m:sSub>
                            <m:e>
                              <m:r>
                                <a:rPr lang="en-US" sz="2100" dirty="0">
                                  <a:solidFill>
                                    <a:srgbClr val="10243A"/>
                                  </a:solidFill>
                                  <a:latin typeface="Cambria Math"/>
                                  <a:ea typeface="Cambria Math"/>
                                  <a:cs typeface="Cambria Math"/>
                                </a:rPr>
                                <m:t>R</m:t>
                              </m:r>
                            </m:e>
                            <m:sub>
                              <m:r>
                                <a:rPr lang="en-US" sz="2100" dirty="0">
                                  <a:solidFill>
                                    <a:srgbClr val="10243A"/>
                                  </a:solidFill>
                                  <a:latin typeface="Cambria Math"/>
                                  <a:ea typeface="Cambria Math"/>
                                  <a:cs typeface="Cambria Math"/>
                                </a:rPr>
                                <m:t>i</m:t>
                              </m:r>
                              <m:r>
                                <m:rPr>
                                  <m:sty m:val="p"/>
                                </m:rPr>
                                <a:rPr lang="en-US" sz="2100" dirty="0">
                                  <a:solidFill>
                                    <a:srgbClr val="10243A"/>
                                  </a:solidFill>
                                  <a:latin typeface="Cambria Math"/>
                                  <a:ea typeface="Cambria Math"/>
                                  <a:cs typeface="Cambria Math"/>
                                </a:rPr>
                                <m:t>,</m:t>
                              </m:r>
                              <m:r>
                                <a:rPr lang="en-US" sz="2100" dirty="0">
                                  <a:solidFill>
                                    <a:srgbClr val="10243A"/>
                                  </a:solidFill>
                                  <a:latin typeface="Cambria Math"/>
                                  <a:ea typeface="Cambria Math"/>
                                  <a:cs typeface="Cambria Math"/>
                                </a:rPr>
                                <m:t>2</m:t>
                              </m:r>
                            </m:sub>
                          </m:sSub>
                        </m:e>
                      </m:d>
                    </m:oMath>
                  </m:oMathPara>
                </a14:m>
              </a:p>
            </p:txBody>
          </p:sp>
        </mc:Choice>
      </mc:AlternateContent>
      <p:grpSp>
        <p:nvGrpSpPr>
          <p:cNvPr id="27" name="probability-meaning"/>
          <p:cNvGrpSpPr/>
          <p:nvPr/>
        </p:nvGrpSpPr>
        <p:grpSpPr>
          <a:xfrm>
            <a:off x="5639943" y="3841432"/>
            <a:ext cx="3533097" cy="646557"/>
            <a:chOff x="5639943" y="3841432"/>
            <a:chExt cx="3533097" cy="646557"/>
          </a:xfrm>
        </p:grpSpPr>
        <p:sp>
          <p:nvSpPr>
            <p:cNvPr id="26" name="TextBox 26"/>
            <p:cNvSpPr txBox="1"/>
            <p:nvPr/>
          </p:nvSpPr>
          <p:spPr>
            <a:xfrm>
              <a:off x="5639943" y="3841432"/>
              <a:ext cx="3533097" cy="646557"/>
            </a:xfrm>
            <a:prstGeom prst="rect">
              <a:avLst/>
            </a:prstGeom>
            <a:noFill/>
            <a:ln>
              <a:noFill/>
            </a:ln>
          </p:spPr>
          <p:txBody>
            <a:bodyPr wrap="none" lIns="0" tIns="0" rIns="0" bIns="0" anchor="t" anchorCtr="0">
              <a:spAutoFit/>
            </a:bodyPr>
            <a:lstStyle/>
            <a:p>
              <a:pPr algn="l">
                <a:lnSpc>
                  <a:spcPts val="2550"/>
                </a:lnSpc>
              </a:pPr>
              <a:r>
                <a:rPr lang="en-US" sz="1650" dirty="0">
                  <a:solidFill>
                    <a:schemeClr val="accent5"/>
                  </a:solidFill>
                  <a:latin typeface="+mn-lt"/>
                  <a:ea typeface="+mn-ea"/>
                  <a:cs typeface="+mn-cs"/>
                </a:rPr>
                <a:t>pᵢ predicts that answer 1 is preferred.</a:t>
              </a:r>
              <a:br/>
              <a:r>
                <a:rPr lang="en-US" sz="1650" dirty="0">
                  <a:solidFill>
                    <a:schemeClr val="accent5"/>
                  </a:solidFill>
                  <a:latin typeface="+mn-lt"/>
                  <a:ea typeface="+mn-ea"/>
                  <a:cs typeface="+mn-cs"/>
                </a:rPr>
                <a:t>ℓᵢ = 1 if the user chooses answer 1.</a:t>
              </a:r>
            </a:p>
          </p:txBody>
        </p:sp>
      </p:grpSp>
      <mc:AlternateContent xmlns:mc="http://schemas.openxmlformats.org/markup-compatibility/2006">
        <mc:Choice xmlns:a14="http://schemas.microsoft.com/office/drawing/2010/main" Requires="a14">
          <p:sp>
            <p:nvSpPr>
              <p:cNvPr id="28" name="bce"/>
              <p:cNvSpPr txBox="1">
                <a:spLocks noGrp="1"/>
              </p:cNvSpPr>
              <p:nvPr/>
            </p:nvSpPr>
            <p:spPr>
              <a:xfrm>
                <a:off x="609600" y="4591050"/>
                <a:ext cx="10972800" cy="885825"/>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sSub>
                        <m:e>
                          <m:r>
                            <m:rPr>
                              <m:scr m:val="script"/>
                              <m:sty m:val="p"/>
                            </m:rPr>
                            <a:rPr lang="en-US" sz="2100" dirty="0">
                              <a:solidFill>
                                <a:srgbClr val="10243A"/>
                              </a:solidFill>
                              <a:latin typeface="Cambria Math"/>
                              <a:ea typeface="Cambria Math"/>
                              <a:cs typeface="Cambria Math"/>
                            </a:rPr>
                            <m:t>L</m:t>
                          </m:r>
                        </m:e>
                        <m:sub>
                          <m:r>
                            <a:rPr lang="en-US" sz="2100" dirty="0">
                              <a:solidFill>
                                <a:srgbClr val="10243A"/>
                              </a:solidFill>
                              <a:latin typeface="Cambria Math"/>
                              <a:ea typeface="Cambria Math"/>
                              <a:cs typeface="Cambria Math"/>
                            </a:rPr>
                            <m:t>t</m:t>
                          </m:r>
                        </m:sub>
                      </m:sSub>
                      <m:d>
                        <m:dPr>
                          <m:begChr m:val="("/>
                          <m:sepChr m:val=""/>
                          <m:endChr m:val=")"/>
                          <m:grow m:val="on"/>
                          <m:ctrlPr>
                            <a:rPr lang="en-US" sz="2100" dirty="0">
                              <a:solidFill>
                                <a:srgbClr val="10243A"/>
                              </a:solidFill>
                              <a:latin typeface="Cambria Math"/>
                              <a:ea typeface="Cambria Math"/>
                              <a:cs typeface="Cambria Math"/>
                            </a:rPr>
                          </m:ctrlPr>
                        </m:dPr>
                        <m:e>
                          <m:r>
                            <a:rPr lang="en-US" sz="2100" dirty="0">
                              <a:solidFill>
                                <a:srgbClr val="10243A"/>
                              </a:solidFill>
                              <a:latin typeface="Cambria Math"/>
                              <a:ea typeface="Cambria Math"/>
                              <a:cs typeface="Cambria Math"/>
                            </a:rPr>
                            <m:t>θ</m:t>
                          </m:r>
                        </m:e>
                      </m:d>
                      <m:r>
                        <m:rPr>
                          <m:sty m:val="p"/>
                        </m:rPr>
                        <a:rPr lang="en-US" sz="2100" dirty="0">
                          <a:solidFill>
                            <a:srgbClr val="10243A"/>
                          </a:solidFill>
                          <a:latin typeface="Cambria Math"/>
                          <a:ea typeface="Cambria Math"/>
                          <a:cs typeface="Cambria Math"/>
                        </a:rPr>
                        <m:t>=−</m:t>
                      </m:r>
                      <m:nary>
                        <m:naryPr>
                          <m:chr m:val="∑"/>
                          <m:limLoc m:val="undOvr"/>
                          <m:grow m:val="off"/>
                          <m:subHide m:val="off"/>
                          <m:supHide m:val="off"/>
                          <m:ctrlPr>
                            <a:rPr lang="en-US" sz="2100" dirty="0">
                              <a:solidFill>
                                <a:srgbClr val="10243A"/>
                              </a:solidFill>
                              <a:latin typeface="Cambria Math"/>
                              <a:ea typeface="Cambria Math"/>
                              <a:cs typeface="Cambria Math"/>
                            </a:rPr>
                          </m:ctrlPr>
                        </m:naryPr>
                        <m:sub>
                          <m:r>
                            <a:rPr lang="en-US" sz="2100" dirty="0">
                              <a:solidFill>
                                <a:srgbClr val="10243A"/>
                              </a:solidFill>
                              <a:latin typeface="Cambria Math"/>
                              <a:ea typeface="Cambria Math"/>
                              <a:cs typeface="Cambria Math"/>
                            </a:rPr>
                            <m:t>i</m:t>
                          </m:r>
                          <m:r>
                            <m:rPr>
                              <m:sty m:val="p"/>
                            </m:rPr>
                            <a:rPr lang="en-US" sz="2100" dirty="0">
                              <a:solidFill>
                                <a:srgbClr val="10243A"/>
                              </a:solidFill>
                              <a:latin typeface="Cambria Math"/>
                              <a:ea typeface="Cambria Math"/>
                              <a:cs typeface="Cambria Math"/>
                            </a:rPr>
                            <m:t>=</m:t>
                          </m:r>
                          <m:r>
                            <a:rPr lang="en-US" sz="2100" dirty="0">
                              <a:solidFill>
                                <a:srgbClr val="10243A"/>
                              </a:solidFill>
                              <a:latin typeface="Cambria Math"/>
                              <a:ea typeface="Cambria Math"/>
                              <a:cs typeface="Cambria Math"/>
                            </a:rPr>
                            <m:t>1</m:t>
                          </m:r>
                        </m:sub>
                        <m:sup>
                          <m:r>
                            <a:rPr lang="en-US" sz="2100" dirty="0">
                              <a:solidFill>
                                <a:srgbClr val="10243A"/>
                              </a:solidFill>
                              <a:latin typeface="Cambria Math"/>
                              <a:ea typeface="Cambria Math"/>
                              <a:cs typeface="Cambria Math"/>
                            </a:rPr>
                            <m:t>t</m:t>
                          </m:r>
                        </m:sup>
                        <m:e>
                          <m:d>
                            <m:dPr>
                              <m:begChr m:val="["/>
                              <m:sepChr m:val=""/>
                              <m:endChr m:val="]"/>
                              <m:grow m:val="on"/>
                              <m:ctrlPr>
                                <a:rPr lang="en-US" sz="2100" dirty="0">
                                  <a:solidFill>
                                    <a:srgbClr val="10243A"/>
                                  </a:solidFill>
                                  <a:latin typeface="Cambria Math"/>
                                  <a:ea typeface="Cambria Math"/>
                                  <a:cs typeface="Cambria Math"/>
                                </a:rPr>
                              </m:ctrlPr>
                            </m:dPr>
                            <m:e>
                              <m:sSub>
                                <m:e>
                                  <m:r>
                                    <m:rPr>
                                      <m:sty m:val="p"/>
                                    </m:rPr>
                                    <a:rPr lang="en-US" sz="2100" dirty="0">
                                      <a:solidFill>
                                        <a:srgbClr val="10243A"/>
                                      </a:solidFill>
                                      <a:latin typeface="Cambria Math"/>
                                      <a:ea typeface="Cambria Math"/>
                                      <a:cs typeface="Cambria Math"/>
                                    </a:rPr>
                                    <m:t>ℓ</m:t>
                                  </m:r>
                                </m:e>
                                <m:sub>
                                  <m:r>
                                    <a:rPr lang="en-US" sz="2100" dirty="0">
                                      <a:solidFill>
                                        <a:srgbClr val="10243A"/>
                                      </a:solidFill>
                                      <a:latin typeface="Cambria Math"/>
                                      <a:ea typeface="Cambria Math"/>
                                      <a:cs typeface="Cambria Math"/>
                                    </a:rPr>
                                    <m:t>i</m:t>
                                  </m:r>
                                </m:sub>
                              </m:sSub>
                              <m:func>
                                <m:funcPr/>
                                <m:fName>
                                  <m:r>
                                    <m:rPr>
                                      <m:sty m:val="p"/>
                                    </m:rPr>
                                    <a:rPr lang="en-US" sz="2100" dirty="0">
                                      <a:solidFill>
                                        <a:srgbClr val="10243A"/>
                                      </a:solidFill>
                                      <a:latin typeface="Cambria Math"/>
                                      <a:ea typeface="Cambria Math"/>
                                      <a:cs typeface="Cambria Math"/>
                                    </a:rPr>
                                    <m:t>log</m:t>
                                  </m:r>
                                </m:fName>
                                <m:e>
                                  <m:sSub>
                                    <m:e>
                                      <m:r>
                                        <a:rPr lang="en-US" sz="2100" dirty="0">
                                          <a:solidFill>
                                            <a:srgbClr val="10243A"/>
                                          </a:solidFill>
                                          <a:latin typeface="Cambria Math"/>
                                          <a:ea typeface="Cambria Math"/>
                                          <a:cs typeface="Cambria Math"/>
                                        </a:rPr>
                                        <m:t>p</m:t>
                                      </m:r>
                                    </m:e>
                                    <m:sub>
                                      <m:r>
                                        <a:rPr lang="en-US" sz="2100" dirty="0">
                                          <a:solidFill>
                                            <a:srgbClr val="10243A"/>
                                          </a:solidFill>
                                          <a:latin typeface="Cambria Math"/>
                                          <a:ea typeface="Cambria Math"/>
                                          <a:cs typeface="Cambria Math"/>
                                        </a:rPr>
                                        <m:t>i</m:t>
                                      </m:r>
                                    </m:sub>
                                  </m:sSub>
                                </m:e>
                              </m:func>
                              <m:r>
                                <m:rPr>
                                  <m:sty m:val="p"/>
                                </m:rPr>
                                <a:rPr lang="en-US" sz="2100" dirty="0">
                                  <a:solidFill>
                                    <a:srgbClr val="10243A"/>
                                  </a:solidFill>
                                  <a:latin typeface="Cambria Math"/>
                                  <a:ea typeface="Cambria Math"/>
                                  <a:cs typeface="Cambria Math"/>
                                </a:rPr>
                                <m:t>+</m:t>
                              </m:r>
                              <m:d>
                                <m:dPr>
                                  <m:begChr m:val="("/>
                                  <m:sepChr m:val=""/>
                                  <m:endChr m:val=")"/>
                                  <m:grow m:val="on"/>
                                  <m:ctrlPr>
                                    <a:rPr lang="en-US" sz="2100" dirty="0">
                                      <a:solidFill>
                                        <a:srgbClr val="10243A"/>
                                      </a:solidFill>
                                      <a:latin typeface="Cambria Math"/>
                                      <a:ea typeface="Cambria Math"/>
                                      <a:cs typeface="Cambria Math"/>
                                    </a:rPr>
                                  </m:ctrlPr>
                                </m:dPr>
                                <m:e>
                                  <m:r>
                                    <a:rPr lang="en-US" sz="2100" dirty="0">
                                      <a:solidFill>
                                        <a:srgbClr val="10243A"/>
                                      </a:solidFill>
                                      <a:latin typeface="Cambria Math"/>
                                      <a:ea typeface="Cambria Math"/>
                                      <a:cs typeface="Cambria Math"/>
                                    </a:rPr>
                                    <m:t>1</m:t>
                                  </m:r>
                                  <m:r>
                                    <m:rPr>
                                      <m:sty m:val="p"/>
                                    </m:rPr>
                                    <a:rPr lang="en-US" sz="2100" dirty="0">
                                      <a:solidFill>
                                        <a:srgbClr val="10243A"/>
                                      </a:solidFill>
                                      <a:latin typeface="Cambria Math"/>
                                      <a:ea typeface="Cambria Math"/>
                                      <a:cs typeface="Cambria Math"/>
                                    </a:rPr>
                                    <m:t>−</m:t>
                                  </m:r>
                                  <m:sSub>
                                    <m:e>
                                      <m:r>
                                        <m:rPr>
                                          <m:sty m:val="p"/>
                                        </m:rPr>
                                        <a:rPr lang="en-US" sz="2100" dirty="0">
                                          <a:solidFill>
                                            <a:srgbClr val="10243A"/>
                                          </a:solidFill>
                                          <a:latin typeface="Cambria Math"/>
                                          <a:ea typeface="Cambria Math"/>
                                          <a:cs typeface="Cambria Math"/>
                                        </a:rPr>
                                        <m:t>ℓ</m:t>
                                      </m:r>
                                    </m:e>
                                    <m:sub>
                                      <m:r>
                                        <a:rPr lang="en-US" sz="2100" dirty="0">
                                          <a:solidFill>
                                            <a:srgbClr val="10243A"/>
                                          </a:solidFill>
                                          <a:latin typeface="Cambria Math"/>
                                          <a:ea typeface="Cambria Math"/>
                                          <a:cs typeface="Cambria Math"/>
                                        </a:rPr>
                                        <m:t>i</m:t>
                                      </m:r>
                                    </m:sub>
                                  </m:sSub>
                                </m:e>
                              </m:d>
                              <m:func>
                                <m:funcPr/>
                                <m:fName>
                                  <m:r>
                                    <m:rPr>
                                      <m:sty m:val="p"/>
                                    </m:rPr>
                                    <a:rPr lang="en-US" sz="2100" dirty="0">
                                      <a:solidFill>
                                        <a:srgbClr val="10243A"/>
                                      </a:solidFill>
                                      <a:latin typeface="Cambria Math"/>
                                      <a:ea typeface="Cambria Math"/>
                                      <a:cs typeface="Cambria Math"/>
                                    </a:rPr>
                                    <m:t>log</m:t>
                                  </m:r>
                                </m:fName>
                                <m:e>
                                  <m:d>
                                    <m:dPr>
                                      <m:begChr m:val="("/>
                                      <m:sepChr m:val=""/>
                                      <m:endChr m:val=")"/>
                                      <m:grow m:val="on"/>
                                      <m:ctrlPr>
                                        <a:rPr lang="en-US" sz="2100" dirty="0">
                                          <a:solidFill>
                                            <a:srgbClr val="10243A"/>
                                          </a:solidFill>
                                          <a:latin typeface="Cambria Math"/>
                                          <a:ea typeface="Cambria Math"/>
                                          <a:cs typeface="Cambria Math"/>
                                        </a:rPr>
                                      </m:ctrlPr>
                                    </m:dPr>
                                    <m:e>
                                      <m:r>
                                        <a:rPr lang="en-US" sz="2100" dirty="0">
                                          <a:solidFill>
                                            <a:srgbClr val="10243A"/>
                                          </a:solidFill>
                                          <a:latin typeface="Cambria Math"/>
                                          <a:ea typeface="Cambria Math"/>
                                          <a:cs typeface="Cambria Math"/>
                                        </a:rPr>
                                        <m:t>1</m:t>
                                      </m:r>
                                      <m:r>
                                        <m:rPr>
                                          <m:sty m:val="p"/>
                                        </m:rPr>
                                        <a:rPr lang="en-US" sz="2100" dirty="0">
                                          <a:solidFill>
                                            <a:srgbClr val="10243A"/>
                                          </a:solidFill>
                                          <a:latin typeface="Cambria Math"/>
                                          <a:ea typeface="Cambria Math"/>
                                          <a:cs typeface="Cambria Math"/>
                                        </a:rPr>
                                        <m:t>−</m:t>
                                      </m:r>
                                      <m:sSub>
                                        <m:e>
                                          <m:r>
                                            <a:rPr lang="en-US" sz="2100" dirty="0">
                                              <a:solidFill>
                                                <a:srgbClr val="10243A"/>
                                              </a:solidFill>
                                              <a:latin typeface="Cambria Math"/>
                                              <a:ea typeface="Cambria Math"/>
                                              <a:cs typeface="Cambria Math"/>
                                            </a:rPr>
                                            <m:t>p</m:t>
                                          </m:r>
                                        </m:e>
                                        <m:sub>
                                          <m:r>
                                            <a:rPr lang="en-US" sz="2100" dirty="0">
                                              <a:solidFill>
                                                <a:srgbClr val="10243A"/>
                                              </a:solidFill>
                                              <a:latin typeface="Cambria Math"/>
                                              <a:ea typeface="Cambria Math"/>
                                              <a:cs typeface="Cambria Math"/>
                                            </a:rPr>
                                            <m:t>i</m:t>
                                          </m:r>
                                        </m:sub>
                                      </m:sSub>
                                    </m:e>
                                  </m:d>
                                </m:e>
                              </m:func>
                            </m:e>
                          </m:d>
                        </m:e>
                      </m:nary>
                      <m:r>
                        <m:rPr>
                          <m:sty m:val="p"/>
                        </m:rPr>
                        <a:rPr lang="en-US" sz="2100" dirty="0">
                          <a:solidFill>
                            <a:srgbClr val="10243A"/>
                          </a:solidFill>
                          <a:latin typeface="Cambria Math"/>
                          <a:ea typeface="Cambria Math"/>
                          <a:cs typeface="Cambria Math"/>
                        </a:rPr>
                        <m:t>+</m:t>
                      </m:r>
                      <m:r>
                        <a:rPr lang="en-US" sz="2100" dirty="0">
                          <a:solidFill>
                            <a:srgbClr val="10243A"/>
                          </a:solidFill>
                          <a:latin typeface="Cambria Math"/>
                          <a:ea typeface="Cambria Math"/>
                          <a:cs typeface="Cambria Math"/>
                        </a:rPr>
                        <m:t>λ</m:t>
                      </m:r>
                      <m:sSubSup>
                        <m:e>
                          <m:d>
                            <m:dPr>
                              <m:begChr m:val="‖"/>
                              <m:sepChr m:val=""/>
                              <m:endChr m:val="‖"/>
                              <m:grow m:val="on"/>
                              <m:ctrlPr>
                                <a:rPr lang="en-US" sz="2100" dirty="0">
                                  <a:solidFill>
                                    <a:srgbClr val="10243A"/>
                                  </a:solidFill>
                                  <a:latin typeface="Cambria Math"/>
                                  <a:ea typeface="Cambria Math"/>
                                  <a:cs typeface="Cambria Math"/>
                                </a:rPr>
                              </m:ctrlPr>
                            </m:dPr>
                            <m:e>
                              <m:r>
                                <a:rPr lang="en-US" sz="2100" dirty="0">
                                  <a:solidFill>
                                    <a:srgbClr val="10243A"/>
                                  </a:solidFill>
                                  <a:latin typeface="Cambria Math"/>
                                  <a:ea typeface="Cambria Math"/>
                                  <a:cs typeface="Cambria Math"/>
                                </a:rPr>
                                <m:t>θ</m:t>
                              </m:r>
                            </m:e>
                          </m:d>
                        </m:e>
                        <m:sub>
                          <m:r>
                            <a:rPr lang="en-US" sz="2100" dirty="0">
                              <a:solidFill>
                                <a:srgbClr val="10243A"/>
                              </a:solidFill>
                              <a:latin typeface="Cambria Math"/>
                              <a:ea typeface="Cambria Math"/>
                              <a:cs typeface="Cambria Math"/>
                            </a:rPr>
                            <m:t>2</m:t>
                          </m:r>
                        </m:sub>
                        <m:sup>
                          <m:r>
                            <a:rPr lang="en-US" sz="2100" dirty="0">
                              <a:solidFill>
                                <a:srgbClr val="10243A"/>
                              </a:solidFill>
                              <a:latin typeface="Cambria Math"/>
                              <a:ea typeface="Cambria Math"/>
                              <a:cs typeface="Cambria Math"/>
                            </a:rPr>
                            <m:t>2</m:t>
                          </m:r>
                        </m:sup>
                      </m:sSubSup>
                    </m:oMath>
                  </m:oMathPara>
                </a14:m>
              </a:p>
            </p:txBody>
          </p:sp>
        </mc:Choice>
      </mc:AlternateContent>
      <p:grpSp>
        <p:nvGrpSpPr>
          <p:cNvPr id="31" name="training-boundary"/>
          <p:cNvGrpSpPr/>
          <p:nvPr/>
        </p:nvGrpSpPr>
        <p:grpSpPr>
          <a:xfrm>
            <a:off x="598932" y="5678805"/>
            <a:ext cx="8733700" cy="657034"/>
            <a:chOff x="598932" y="5678805"/>
            <a:chExt cx="8733700" cy="657034"/>
          </a:xfrm>
        </p:grpSpPr>
        <p:sp>
          <p:nvSpPr>
            <p:cNvPr id="29" name="TextBox 29"/>
            <p:cNvSpPr txBox="1"/>
            <p:nvPr/>
          </p:nvSpPr>
          <p:spPr>
            <a:xfrm>
              <a:off x="598932" y="5678805"/>
              <a:ext cx="8733700"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After full-answer feedback:</a:t>
              </a:r>
              <a:r>
                <a:rPr lang="el-GR" sz="2100" dirty="0">
                  <a:solidFill>
                    <a:schemeClr val="accent1"/>
                  </a:solidFill>
                  <a:latin typeface="+mn-lt"/>
                  <a:ea typeface="+mn-ea"/>
                  <a:cs typeface="+mn-cs"/>
                </a:rPr>
                <a:t xml:space="preserve"> update θ using the accumulated history.</a:t>
              </a:r>
            </a:p>
          </p:txBody>
        </p:sp>
        <p:sp>
          <p:nvSpPr>
            <p:cNvPr id="30" name="TextBox 30"/>
            <p:cNvSpPr txBox="1"/>
            <p:nvPr/>
          </p:nvSpPr>
          <p:spPr>
            <a:xfrm>
              <a:off x="601218" y="6013132"/>
              <a:ext cx="5990481"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Only the MLP learns. Encoder and base LLM remain frozen.</a:t>
              </a:r>
            </a:p>
          </p:txBody>
        </p:sp>
      </p:grpSp>
      <p:grpSp>
        <p:nvGrpSpPr>
          <p:cNvPr id="34" name="footer"/>
          <p:cNvGrpSpPr/>
          <p:nvPr/>
        </p:nvGrpSpPr>
        <p:grpSpPr>
          <a:xfrm>
            <a:off x="603504" y="6404610"/>
            <a:ext cx="10984992" cy="234696"/>
            <a:chOff x="603504" y="6404610"/>
            <a:chExt cx="10984992" cy="234696"/>
          </a:xfrm>
        </p:grpSpPr>
        <p:sp>
          <p:nvSpPr>
            <p:cNvPr id="32" name="TextBox 32"/>
            <p:cNvSpPr txBox="1"/>
            <p:nvPr/>
          </p:nvSpPr>
          <p:spPr>
            <a:xfrm>
              <a:off x="603504" y="6404610"/>
              <a:ext cx="526968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Eq. (2); Algorithm 1, line 17; Appendix B; official encoder implementation.</a:t>
              </a:r>
            </a:p>
          </p:txBody>
        </p:sp>
        <p:sp>
          <p:nvSpPr>
            <p:cNvPr id="33" name="TextBox 33"/>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05 / 08</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8862247" cy="971169"/>
            <a:chOff x="592836" y="461010"/>
            <a:chExt cx="8862247" cy="971169"/>
          </a:xfrm>
        </p:grpSpPr>
        <p:sp>
          <p:nvSpPr>
            <p:cNvPr id="2" name="TextBox 2"/>
            <p:cNvSpPr txBox="1"/>
            <p:nvPr/>
          </p:nvSpPr>
          <p:spPr>
            <a:xfrm>
              <a:off x="603504" y="461010"/>
              <a:ext cx="4004926"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METHOD 3/3 · ONE COMPLETE DECODING STEP</a:t>
              </a:r>
            </a:p>
          </p:txBody>
        </p:sp>
        <p:sp>
          <p:nvSpPr>
            <p:cNvPr id="3" name="TextBox 3"/>
            <p:cNvSpPr txBox="1"/>
            <p:nvPr/>
          </p:nvSpPr>
          <p:spPr>
            <a:xfrm>
              <a:off x="592836" y="786765"/>
              <a:ext cx="8862247"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Two-arm decoding: score, explore, repeat</a:t>
              </a:r>
            </a:p>
          </p:txBody>
        </p:sp>
      </p:grpSp>
      <mc:AlternateContent xmlns:mc="http://schemas.openxmlformats.org/markup-compatibility/2006">
        <mc:Choice xmlns:a14="http://schemas.microsoft.com/office/drawing/2010/main" Requires="a14">
          <p:sp>
            <p:nvSpPr>
              <p:cNvPr id="5" name="candidates"/>
              <p:cNvSpPr txBox="1">
                <a:spLocks noGrp="1"/>
              </p:cNvSpPr>
              <p:nvPr/>
            </p:nvSpPr>
            <p:spPr>
              <a:xfrm>
                <a:off x="609600" y="1590675"/>
                <a:ext cx="10972800" cy="609600"/>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r>
                        <m:rPr>
                          <m:scr m:val="script"/>
                          <m:sty m:val="p"/>
                        </m:rPr>
                        <a:rPr lang="en-US" sz="2100" dirty="0">
                          <a:solidFill>
                            <a:srgbClr val="10243A"/>
                          </a:solidFill>
                          <a:latin typeface="Cambria Math"/>
                          <a:ea typeface="Cambria Math"/>
                          <a:cs typeface="Cambria Math"/>
                        </a:rPr>
                        <m:t>C</m:t>
                      </m:r>
                      <m:r>
                        <m:rPr>
                          <m:sty m:val="p"/>
                        </m:rPr>
                        <a:rPr lang="en-US" sz="2100" dirty="0">
                          <a:solidFill>
                            <a:srgbClr val="10243A"/>
                          </a:solidFill>
                          <a:latin typeface="Cambria Math"/>
                          <a:ea typeface="Cambria Math"/>
                          <a:cs typeface="Cambria Math"/>
                        </a:rPr>
                        <m:t>=</m:t>
                      </m:r>
                      <m:func>
                        <m:funcPr/>
                        <m:fName>
                          <m:r>
                            <m:rPr>
                              <m:sty m:val="p"/>
                            </m:rPr>
                            <a:rPr lang="en-US" sz="2100" dirty="0">
                              <a:solidFill>
                                <a:srgbClr val="10243A"/>
                              </a:solidFill>
                              <a:latin typeface="Cambria Math"/>
                              <a:ea typeface="Cambria Math"/>
                              <a:cs typeface="Cambria Math"/>
                            </a:rPr>
                            <m:t>Top40</m:t>
                          </m:r>
                        </m:fName>
                        <m:e>
                          <m:d>
                            <m:dPr>
                              <m:begChr m:val="("/>
                              <m:sepChr m:val=""/>
                              <m:endChr m:val=")"/>
                              <m:grow m:val="on"/>
                              <m:ctrlPr>
                                <a:rPr lang="en-US" sz="2100" dirty="0">
                                  <a:solidFill>
                                    <a:srgbClr val="10243A"/>
                                  </a:solidFill>
                                  <a:latin typeface="Cambria Math"/>
                                  <a:ea typeface="Cambria Math"/>
                                  <a:cs typeface="Cambria Math"/>
                                </a:rPr>
                              </m:ctrlPr>
                            </m:dPr>
                            <m:e>
                              <m:sSub>
                                <m:e>
                                  <m:r>
                                    <a:rPr lang="en-US" sz="2100" dirty="0">
                                      <a:solidFill>
                                        <a:srgbClr val="10243A"/>
                                      </a:solidFill>
                                      <a:latin typeface="Cambria Math"/>
                                      <a:ea typeface="Cambria Math"/>
                                      <a:cs typeface="Cambria Math"/>
                                    </a:rPr>
                                    <m:t>π</m:t>
                                  </m:r>
                                </m:e>
                                <m:sub>
                                  <m:r>
                                    <a:rPr lang="en-US" sz="2100" dirty="0">
                                      <a:solidFill>
                                        <a:srgbClr val="10243A"/>
                                      </a:solidFill>
                                      <a:latin typeface="Cambria Math"/>
                                      <a:ea typeface="Cambria Math"/>
                                      <a:cs typeface="Cambria Math"/>
                                    </a:rPr>
                                    <m:t>1</m:t>
                                  </m:r>
                                </m:sub>
                              </m:sSub>
                            </m:e>
                          </m:d>
                        </m:e>
                      </m:func>
                      <m:r>
                        <m:rPr>
                          <m:sty m:val="p"/>
                        </m:rPr>
                        <a:rPr lang="en-US" sz="2100" dirty="0">
                          <a:solidFill>
                            <a:srgbClr val="10243A"/>
                          </a:solidFill>
                          <a:latin typeface="Cambria Math"/>
                          <a:ea typeface="Cambria Math"/>
                          <a:cs typeface="Cambria Math"/>
                        </a:rPr>
                        <m:t>∪</m:t>
                      </m:r>
                      <m:func>
                        <m:funcPr/>
                        <m:fName>
                          <m:r>
                            <m:rPr>
                              <m:sty m:val="p"/>
                            </m:rPr>
                            <a:rPr lang="en-US" sz="2100" dirty="0">
                              <a:solidFill>
                                <a:srgbClr val="10243A"/>
                              </a:solidFill>
                              <a:latin typeface="Cambria Math"/>
                              <a:ea typeface="Cambria Math"/>
                              <a:cs typeface="Cambria Math"/>
                            </a:rPr>
                            <m:t>Top40</m:t>
                          </m:r>
                        </m:fName>
                        <m:e>
                          <m:d>
                            <m:dPr>
                              <m:begChr m:val="("/>
                              <m:sepChr m:val=""/>
                              <m:endChr m:val=")"/>
                              <m:grow m:val="on"/>
                              <m:ctrlPr>
                                <a:rPr lang="en-US" sz="2100" dirty="0">
                                  <a:solidFill>
                                    <a:srgbClr val="10243A"/>
                                  </a:solidFill>
                                  <a:latin typeface="Cambria Math"/>
                                  <a:ea typeface="Cambria Math"/>
                                  <a:cs typeface="Cambria Math"/>
                                </a:rPr>
                              </m:ctrlPr>
                            </m:dPr>
                            <m:e>
                              <m:sSub>
                                <m:e>
                                  <m:r>
                                    <a:rPr lang="en-US" sz="2100" dirty="0">
                                      <a:solidFill>
                                        <a:srgbClr val="10243A"/>
                                      </a:solidFill>
                                      <a:latin typeface="Cambria Math"/>
                                      <a:ea typeface="Cambria Math"/>
                                      <a:cs typeface="Cambria Math"/>
                                    </a:rPr>
                                    <m:t>π</m:t>
                                  </m:r>
                                </m:e>
                                <m:sub>
                                  <m:r>
                                    <a:rPr lang="en-US" sz="2100" dirty="0">
                                      <a:solidFill>
                                        <a:srgbClr val="10243A"/>
                                      </a:solidFill>
                                      <a:latin typeface="Cambria Math"/>
                                      <a:ea typeface="Cambria Math"/>
                                      <a:cs typeface="Cambria Math"/>
                                    </a:rPr>
                                    <m:t>2</m:t>
                                  </m:r>
                                </m:sub>
                              </m:sSub>
                            </m:e>
                          </m:d>
                        </m:e>
                      </m:func>
                      <m:r>
                        <m:rPr>
                          <m:sty m:val="p"/>
                        </m:rPr>
                        <a:rPr lang="en-US" sz="2100" dirty="0">
                          <a:solidFill>
                            <a:srgbClr val="10243A"/>
                          </a:solidFill>
                          <a:latin typeface="Cambria Math"/>
                          <a:ea typeface="Cambria Math"/>
                          <a:cs typeface="Cambria Math"/>
                        </a:rPr>
                        <m:t>,</m:t>
                      </m:r>
                      <m:r>
                        <a:rPr lang="en-US" sz="2100" dirty="0">
                          <a:solidFill>
                            <a:srgbClr val="10243A"/>
                          </a:solidFill>
                          <a:latin typeface="Cambria Math"/>
                          <a:ea typeface="Cambria Math"/>
                          <a:cs typeface="Cambria Math"/>
                        </a:rPr>
                        <m:t xml:space="preserve"> </m:t>
                      </m:r>
                      <m:d>
                        <m:dPr>
                          <m:begChr m:val="|"/>
                          <m:sepChr m:val=""/>
                          <m:endChr m:val="|"/>
                          <m:grow m:val="on"/>
                          <m:ctrlPr>
                            <a:rPr lang="en-US" sz="2100" dirty="0">
                              <a:solidFill>
                                <a:srgbClr val="10243A"/>
                              </a:solidFill>
                              <a:latin typeface="Cambria Math"/>
                              <a:ea typeface="Cambria Math"/>
                              <a:cs typeface="Cambria Math"/>
                            </a:rPr>
                          </m:ctrlPr>
                        </m:dPr>
                        <m:e>
                          <m:r>
                            <m:rPr>
                              <m:scr m:val="script"/>
                              <m:sty m:val="p"/>
                            </m:rPr>
                            <a:rPr lang="en-US" sz="2100" dirty="0">
                              <a:solidFill>
                                <a:srgbClr val="10243A"/>
                              </a:solidFill>
                              <a:latin typeface="Cambria Math"/>
                              <a:ea typeface="Cambria Math"/>
                              <a:cs typeface="Cambria Math"/>
                            </a:rPr>
                            <m:t>C</m:t>
                          </m:r>
                        </m:e>
                      </m:d>
                      <m:r>
                        <m:rPr>
                          <m:sty m:val="p"/>
                        </m:rPr>
                        <a:rPr lang="en-US" sz="2100" dirty="0">
                          <a:solidFill>
                            <a:srgbClr val="10243A"/>
                          </a:solidFill>
                          <a:latin typeface="Cambria Math"/>
                          <a:ea typeface="Cambria Math"/>
                          <a:cs typeface="Cambria Math"/>
                        </a:rPr>
                        <m:t>≤</m:t>
                      </m:r>
                      <m:r>
                        <a:rPr lang="en-US" sz="2100" dirty="0">
                          <a:solidFill>
                            <a:srgbClr val="10243A"/>
                          </a:solidFill>
                          <a:latin typeface="Cambria Math"/>
                          <a:ea typeface="Cambria Math"/>
                          <a:cs typeface="Cambria Math"/>
                        </a:rPr>
                        <m:t>80</m:t>
                      </m:r>
                    </m:oMath>
                  </m:oMathPara>
                </a14:m>
              </a:p>
            </p:txBody>
          </p:sp>
        </mc:Choice>
      </mc:AlternateContent>
      <p:grpSp>
        <p:nvGrpSpPr>
          <p:cNvPr id="7" name="prefix-ownership"/>
          <p:cNvGrpSpPr/>
          <p:nvPr/>
        </p:nvGrpSpPr>
        <p:grpSpPr>
          <a:xfrm>
            <a:off x="601218" y="2326958"/>
            <a:ext cx="9646516" cy="322707"/>
            <a:chOff x="601218" y="2326958"/>
            <a:chExt cx="9646516" cy="322707"/>
          </a:xfrm>
        </p:grpSpPr>
        <p:sp>
          <p:nvSpPr>
            <p:cNvPr id="6" name="TextBox 6"/>
            <p:cNvSpPr txBox="1"/>
            <p:nvPr/>
          </p:nvSpPr>
          <p:spPr>
            <a:xfrm>
              <a:off x="601218" y="2326958"/>
              <a:ext cx="9646516" cy="322707"/>
            </a:xfrm>
            <a:prstGeom prst="rect">
              <a:avLst/>
            </a:prstGeom>
            <a:noFill/>
            <a:ln>
              <a:noFill/>
            </a:ln>
          </p:spPr>
          <p:txBody>
            <a:bodyPr wrap="none" lIns="0" tIns="0" rIns="0" bIns="0" anchor="t" anchorCtr="0">
              <a:spAutoFit/>
            </a:bodyPr>
            <a:lstStyle/>
            <a:p>
              <a:pPr algn="l"/>
              <a:r>
                <a:rPr lang="el-GR" sz="1650" dirty="0">
                  <a:solidFill>
                    <a:schemeClr val="accent5"/>
                  </a:solidFill>
                  <a:latin typeface="+mn-lt"/>
                  <a:ea typeface="+mn-ea"/>
                  <a:cs typeface="+mn-cs"/>
                </a:rPr>
                <a:t>Each arm keeps its own prefix: rⱼ(v) = rθ([sⱼ, v]). Its probability and reward vectors have length C.</a:t>
              </a:r>
            </a:p>
          </p:txBody>
        </p:sp>
      </p:grpSp>
      <p:grpSp>
        <p:nvGrpSpPr>
          <p:cNvPr id="14" name="policy-fields"/>
          <p:cNvGrpSpPr/>
          <p:nvPr/>
        </p:nvGrpSpPr>
        <p:grpSpPr>
          <a:xfrm>
            <a:off x="609600" y="2752725"/>
            <a:ext cx="10972800" cy="1323975"/>
            <a:chOff x="609600" y="2752725"/>
            <a:chExt cx="10972800" cy="1323975"/>
          </a:xfrm>
        </p:grpSpPr>
        <p:sp>
          <p:nvSpPr>
            <p:cNvPr id="8" name="Rectangle 8"/>
            <p:cNvSpPr/>
            <p:nvPr/>
          </p:nvSpPr>
          <p:spPr>
            <a:xfrm>
              <a:off x="609600" y="2752725"/>
              <a:ext cx="5276850" cy="1323975"/>
            </a:xfrm>
            <a:prstGeom prst="rect">
              <a:avLst/>
            </a:prstGeom>
            <a:solidFill>
              <a:srgbClr val="E6F2F3"/>
            </a:solidFill>
            <a:ln>
              <a:noFill/>
            </a:ln>
          </p:spPr>
        </p:sp>
        <p:sp>
          <p:nvSpPr>
            <p:cNvPr id="9" name="Rectangle 9"/>
            <p:cNvSpPr/>
            <p:nvPr/>
          </p:nvSpPr>
          <p:spPr>
            <a:xfrm>
              <a:off x="6305550" y="2752725"/>
              <a:ext cx="5276850" cy="1323975"/>
            </a:xfrm>
            <a:prstGeom prst="rect">
              <a:avLst/>
            </a:prstGeom>
            <a:solidFill>
              <a:srgbClr val="FBEEE4"/>
            </a:solidFill>
            <a:ln>
              <a:noFill/>
            </a:ln>
          </p:spPr>
        </p:sp>
        <p:sp>
          <p:nvSpPr>
            <p:cNvPr id="10" name="TextBox 10"/>
            <p:cNvSpPr txBox="1"/>
            <p:nvPr/>
          </p:nvSpPr>
          <p:spPr>
            <a:xfrm>
              <a:off x="810768" y="2907982"/>
              <a:ext cx="5219458"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1. EXPLOIT: MAXIMIZE THE CURRENT SCORE</a:t>
              </a:r>
            </a:p>
          </p:txBody>
        </p:sp>
        <p:sp>
          <p:nvSpPr>
            <p:cNvPr id="11" name="TextBox 11"/>
            <p:cNvSpPr txBox="1"/>
            <p:nvPr/>
          </p:nvSpPr>
          <p:spPr>
            <a:xfrm>
              <a:off x="6506718" y="2907982"/>
              <a:ext cx="3798280"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n-lt"/>
                  <a:ea typeface="+mn-ea"/>
                  <a:cs typeface="+mn-cs"/>
                </a:rPr>
                <a:t>2. EXPLORE: ADD UNCERTAINTY</a:t>
              </a:r>
            </a:p>
          </p:txBody>
        </p:sp>
        <mc:AlternateContent xmlns:mc="http://schemas.openxmlformats.org/markup-compatibility/2006">
          <mc:Choice xmlns:a14="http://schemas.microsoft.com/office/drawing/2010/main" Requires="a14">
            <p:sp>
              <p:nvSpPr>
                <p:cNvPr id="12" name="exploit-policy"/>
                <p:cNvSpPr txBox="1">
                  <a:spLocks noGrp="1"/>
                </p:cNvSpPr>
                <p:nvPr/>
              </p:nvSpPr>
              <p:spPr>
                <a:xfrm>
                  <a:off x="800100" y="3295650"/>
                  <a:ext cx="4895850" cy="695325"/>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sSubSup>
                          <m:e>
                            <m:r>
                              <a:rPr lang="en-US" sz="2100" dirty="0">
                                <a:solidFill>
                                  <a:srgbClr val="10243A"/>
                                </a:solidFill>
                                <a:latin typeface="Cambria Math"/>
                                <a:ea typeface="Cambria Math"/>
                                <a:cs typeface="Cambria Math"/>
                              </a:rPr>
                              <m:t>v</m:t>
                            </m:r>
                          </m:e>
                          <m:sub>
                            <m:r>
                              <a:rPr lang="en-US" sz="2100" dirty="0">
                                <a:solidFill>
                                  <a:srgbClr val="10243A"/>
                                </a:solidFill>
                                <a:latin typeface="Cambria Math"/>
                                <a:ea typeface="Cambria Math"/>
                                <a:cs typeface="Cambria Math"/>
                              </a:rPr>
                              <m:t>1</m:t>
                            </m:r>
                          </m:sub>
                          <m:sup>
                            <m:r>
                              <m:rPr>
                                <m:sty m:val="p"/>
                              </m:rPr>
                              <a:rPr lang="en-US" sz="2100" dirty="0">
                                <a:solidFill>
                                  <a:srgbClr val="10243A"/>
                                </a:solidFill>
                                <a:latin typeface="Cambria Math"/>
                                <a:ea typeface="Cambria Math"/>
                                <a:cs typeface="Cambria Math"/>
                              </a:rPr>
                              <m:t>⋆</m:t>
                            </m:r>
                          </m:sup>
                        </m:sSubSup>
                        <m:r>
                          <m:rPr>
                            <m:sty m:val="p"/>
                          </m:rPr>
                          <a:rPr lang="en-US" sz="2100" dirty="0">
                            <a:solidFill>
                              <a:srgbClr val="10243A"/>
                            </a:solidFill>
                            <a:latin typeface="Cambria Math"/>
                            <a:ea typeface="Cambria Math"/>
                            <a:cs typeface="Cambria Math"/>
                          </a:rPr>
                          <m:t>=</m:t>
                        </m:r>
                        <m:func>
                          <m:funcPr/>
                          <m:fName>
                            <m:r>
                              <m:rPr>
                                <m:sty m:val="p"/>
                              </m:rPr>
                              <a:rPr lang="en-US" sz="2100" dirty="0">
                                <a:solidFill>
                                  <a:srgbClr val="10243A"/>
                                </a:solidFill>
                                <a:latin typeface="Cambria Math"/>
                                <a:ea typeface="Cambria Math"/>
                                <a:cs typeface="Cambria Math"/>
                              </a:rPr>
                              <m:t>arg</m:t>
                            </m:r>
                          </m:fName>
                          <m:e>
                            <m:func>
                              <m:funcPr/>
                              <m:fName>
                                <m:limLow>
                                  <m:limLowPr/>
                                  <m:e>
                                    <m:r>
                                      <m:rPr>
                                        <m:sty m:val="p"/>
                                      </m:rPr>
                                      <a:rPr lang="en-US" sz="2100" dirty="0">
                                        <a:solidFill>
                                          <a:srgbClr val="10243A"/>
                                        </a:solidFill>
                                        <a:latin typeface="Cambria Math"/>
                                        <a:ea typeface="Cambria Math"/>
                                        <a:cs typeface="Cambria Math"/>
                                      </a:rPr>
                                      <m:t>max</m:t>
                                    </m:r>
                                  </m:e>
                                  <m:lim>
                                    <m:r>
                                      <a:rPr lang="en-US" sz="2100" dirty="0">
                                        <a:solidFill>
                                          <a:srgbClr val="10243A"/>
                                        </a:solidFill>
                                        <a:latin typeface="Cambria Math"/>
                                        <a:ea typeface="Cambria Math"/>
                                        <a:cs typeface="Cambria Math"/>
                                      </a:rPr>
                                      <m:t>v</m:t>
                                    </m:r>
                                    <m:r>
                                      <m:rPr>
                                        <m:sty m:val="p"/>
                                      </m:rPr>
                                      <a:rPr lang="en-US" sz="2100" dirty="0">
                                        <a:solidFill>
                                          <a:srgbClr val="10243A"/>
                                        </a:solidFill>
                                        <a:latin typeface="Cambria Math"/>
                                        <a:ea typeface="Cambria Math"/>
                                        <a:cs typeface="Cambria Math"/>
                                      </a:rPr>
                                      <m:t>∈</m:t>
                                    </m:r>
                                    <m:r>
                                      <m:rPr>
                                        <m:scr m:val="script"/>
                                        <m:sty m:val="p"/>
                                      </m:rPr>
                                      <a:rPr lang="en-US" sz="2100" dirty="0">
                                        <a:solidFill>
                                          <a:srgbClr val="10243A"/>
                                        </a:solidFill>
                                        <a:latin typeface="Cambria Math"/>
                                        <a:ea typeface="Cambria Math"/>
                                        <a:cs typeface="Cambria Math"/>
                                      </a:rPr>
                                      <m:t>C</m:t>
                                    </m:r>
                                  </m:lim>
                                </m:limLow>
                              </m:fName>
                              <m:e>
                                <m:d>
                                  <m:dPr>
                                    <m:begChr m:val="["/>
                                    <m:sepChr m:val=""/>
                                    <m:endChr m:val="]"/>
                                    <m:grow m:val="on"/>
                                    <m:ctrlPr>
                                      <a:rPr lang="en-US" sz="2100" dirty="0">
                                        <a:solidFill>
                                          <a:srgbClr val="10243A"/>
                                        </a:solidFill>
                                        <a:latin typeface="Cambria Math"/>
                                        <a:ea typeface="Cambria Math"/>
                                        <a:cs typeface="Cambria Math"/>
                                      </a:rPr>
                                    </m:ctrlPr>
                                  </m:dPr>
                                  <m:e>
                                    <m:sSub>
                                      <m:e>
                                        <m:r>
                                          <a:rPr lang="en-US" sz="2100" dirty="0">
                                            <a:solidFill>
                                              <a:srgbClr val="10243A"/>
                                            </a:solidFill>
                                            <a:latin typeface="Cambria Math"/>
                                            <a:ea typeface="Cambria Math"/>
                                            <a:cs typeface="Cambria Math"/>
                                          </a:rPr>
                                          <m:t>π</m:t>
                                        </m:r>
                                      </m:e>
                                      <m:sub>
                                        <m:r>
                                          <a:rPr lang="en-US" sz="2100" dirty="0">
                                            <a:solidFill>
                                              <a:srgbClr val="10243A"/>
                                            </a:solidFill>
                                            <a:latin typeface="Cambria Math"/>
                                            <a:ea typeface="Cambria Math"/>
                                            <a:cs typeface="Cambria Math"/>
                                          </a:rPr>
                                          <m:t>1</m:t>
                                        </m:r>
                                      </m:sub>
                                    </m:sSub>
                                    <m:d>
                                      <m:dPr>
                                        <m:begChr m:val="("/>
                                        <m:sepChr m:val=""/>
                                        <m:endChr m:val=")"/>
                                        <m:grow m:val="on"/>
                                        <m:ctrlPr>
                                          <a:rPr lang="en-US" sz="2100" dirty="0">
                                            <a:solidFill>
                                              <a:srgbClr val="10243A"/>
                                            </a:solidFill>
                                            <a:latin typeface="Cambria Math"/>
                                            <a:ea typeface="Cambria Math"/>
                                            <a:cs typeface="Cambria Math"/>
                                          </a:rPr>
                                        </m:ctrlPr>
                                      </m:dPr>
                                      <m:e>
                                        <m:r>
                                          <a:rPr lang="en-US" sz="2100" dirty="0">
                                            <a:solidFill>
                                              <a:srgbClr val="10243A"/>
                                            </a:solidFill>
                                            <a:latin typeface="Cambria Math"/>
                                            <a:ea typeface="Cambria Math"/>
                                            <a:cs typeface="Cambria Math"/>
                                          </a:rPr>
                                          <m:t>v</m:t>
                                        </m:r>
                                      </m:e>
                                    </m:d>
                                    <m:r>
                                      <m:rPr>
                                        <m:sty m:val="p"/>
                                      </m:rPr>
                                      <a:rPr lang="en-US" sz="2100" dirty="0">
                                        <a:solidFill>
                                          <a:srgbClr val="10243A"/>
                                        </a:solidFill>
                                        <a:latin typeface="Cambria Math"/>
                                        <a:ea typeface="Cambria Math"/>
                                        <a:cs typeface="Cambria Math"/>
                                      </a:rPr>
                                      <m:t>+</m:t>
                                    </m:r>
                                    <m:r>
                                      <a:rPr lang="en-US" sz="2100" dirty="0">
                                        <a:solidFill>
                                          <a:srgbClr val="10243A"/>
                                        </a:solidFill>
                                        <a:latin typeface="Cambria Math"/>
                                        <a:ea typeface="Cambria Math"/>
                                        <a:cs typeface="Cambria Math"/>
                                      </a:rPr>
                                      <m:t>ω</m:t>
                                    </m:r>
                                    <m:sSub>
                                      <m:e>
                                        <m:r>
                                          <a:rPr lang="en-US" sz="2100" dirty="0">
                                            <a:solidFill>
                                              <a:srgbClr val="10243A"/>
                                            </a:solidFill>
                                            <a:latin typeface="Cambria Math"/>
                                            <a:ea typeface="Cambria Math"/>
                                            <a:cs typeface="Cambria Math"/>
                                          </a:rPr>
                                          <m:t>r</m:t>
                                        </m:r>
                                      </m:e>
                                      <m:sub>
                                        <m:r>
                                          <a:rPr lang="en-US" sz="2100" dirty="0">
                                            <a:solidFill>
                                              <a:srgbClr val="10243A"/>
                                            </a:solidFill>
                                            <a:latin typeface="Cambria Math"/>
                                            <a:ea typeface="Cambria Math"/>
                                            <a:cs typeface="Cambria Math"/>
                                          </a:rPr>
                                          <m:t>1</m:t>
                                        </m:r>
                                      </m:sub>
                                    </m:sSub>
                                    <m:d>
                                      <m:dPr>
                                        <m:begChr m:val="("/>
                                        <m:sepChr m:val=""/>
                                        <m:endChr m:val=")"/>
                                        <m:grow m:val="on"/>
                                        <m:ctrlPr>
                                          <a:rPr lang="en-US" sz="2100" dirty="0">
                                            <a:solidFill>
                                              <a:srgbClr val="10243A"/>
                                            </a:solidFill>
                                            <a:latin typeface="Cambria Math"/>
                                            <a:ea typeface="Cambria Math"/>
                                            <a:cs typeface="Cambria Math"/>
                                          </a:rPr>
                                        </m:ctrlPr>
                                      </m:dPr>
                                      <m:e>
                                        <m:r>
                                          <a:rPr lang="en-US" sz="2100" dirty="0">
                                            <a:solidFill>
                                              <a:srgbClr val="10243A"/>
                                            </a:solidFill>
                                            <a:latin typeface="Cambria Math"/>
                                            <a:ea typeface="Cambria Math"/>
                                            <a:cs typeface="Cambria Math"/>
                                          </a:rPr>
                                          <m:t>v</m:t>
                                        </m:r>
                                      </m:e>
                                    </m:d>
                                  </m:e>
                                </m:d>
                              </m:e>
                            </m:func>
                          </m:e>
                        </m:func>
                      </m:oMath>
                    </m:oMathPara>
                  </a14:m>
                </a:p>
              </p:txBody>
            </p:sp>
          </mc:Choice>
        </mc:AlternateContent>
        <mc:AlternateContent xmlns:mc="http://schemas.openxmlformats.org/markup-compatibility/2006">
          <mc:Choice xmlns:a14="http://schemas.microsoft.com/office/drawing/2010/main" Requires="a14">
            <p:sp>
              <p:nvSpPr>
                <p:cNvPr id="13" name="explore-policy"/>
                <p:cNvSpPr txBox="1">
                  <a:spLocks noGrp="1"/>
                </p:cNvSpPr>
                <p:nvPr/>
              </p:nvSpPr>
              <p:spPr>
                <a:xfrm>
                  <a:off x="6496050" y="3295650"/>
                  <a:ext cx="4895850" cy="695325"/>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sSubSup>
                          <m:e>
                            <m:r>
                              <a:rPr lang="en-US" sz="1800" dirty="0">
                                <a:solidFill>
                                  <a:srgbClr val="10243A"/>
                                </a:solidFill>
                                <a:latin typeface="Cambria Math"/>
                                <a:ea typeface="Cambria Math"/>
                                <a:cs typeface="Cambria Math"/>
                              </a:rPr>
                              <m:t>v</m:t>
                            </m:r>
                          </m:e>
                          <m:sub>
                            <m:r>
                              <a:rPr lang="en-US" sz="1800" dirty="0">
                                <a:solidFill>
                                  <a:srgbClr val="10243A"/>
                                </a:solidFill>
                                <a:latin typeface="Cambria Math"/>
                                <a:ea typeface="Cambria Math"/>
                                <a:cs typeface="Cambria Math"/>
                              </a:rPr>
                              <m:t>2</m:t>
                            </m:r>
                          </m:sub>
                          <m:sup>
                            <m:r>
                              <m:rPr>
                                <m:sty m:val="p"/>
                              </m:rPr>
                              <a:rPr lang="en-US" sz="1800" dirty="0">
                                <a:solidFill>
                                  <a:srgbClr val="10243A"/>
                                </a:solidFill>
                                <a:latin typeface="Cambria Math"/>
                                <a:ea typeface="Cambria Math"/>
                                <a:cs typeface="Cambria Math"/>
                              </a:rPr>
                              <m:t>⋆</m:t>
                            </m:r>
                          </m:sup>
                        </m:sSubSup>
                        <m:r>
                          <m:rPr>
                            <m:sty m:val="p"/>
                          </m:rPr>
                          <a:rPr lang="en-US" sz="1800" dirty="0">
                            <a:solidFill>
                              <a:srgbClr val="10243A"/>
                            </a:solidFill>
                            <a:latin typeface="Cambria Math"/>
                            <a:ea typeface="Cambria Math"/>
                            <a:cs typeface="Cambria Math"/>
                          </a:rPr>
                          <m:t>=</m:t>
                        </m:r>
                        <m:func>
                          <m:funcPr/>
                          <m:fName>
                            <m:r>
                              <m:rPr>
                                <m:sty m:val="p"/>
                              </m:rPr>
                              <a:rPr lang="en-US" sz="1800" dirty="0">
                                <a:solidFill>
                                  <a:srgbClr val="10243A"/>
                                </a:solidFill>
                                <a:latin typeface="Cambria Math"/>
                                <a:ea typeface="Cambria Math"/>
                                <a:cs typeface="Cambria Math"/>
                              </a:rPr>
                              <m:t>arg</m:t>
                            </m:r>
                          </m:fName>
                          <m:e>
                            <m:func>
                              <m:funcPr/>
                              <m:fName>
                                <m:limLow>
                                  <m:limLowPr/>
                                  <m:e>
                                    <m:r>
                                      <m:rPr>
                                        <m:sty m:val="p"/>
                                      </m:rPr>
                                      <a:rPr lang="en-US" sz="1800" dirty="0">
                                        <a:solidFill>
                                          <a:srgbClr val="10243A"/>
                                        </a:solidFill>
                                        <a:latin typeface="Cambria Math"/>
                                        <a:ea typeface="Cambria Math"/>
                                        <a:cs typeface="Cambria Math"/>
                                      </a:rPr>
                                      <m:t>max</m:t>
                                    </m:r>
                                  </m:e>
                                  <m:lim>
                                    <m:r>
                                      <a:rPr lang="en-US" sz="1800" dirty="0">
                                        <a:solidFill>
                                          <a:srgbClr val="10243A"/>
                                        </a:solidFill>
                                        <a:latin typeface="Cambria Math"/>
                                        <a:ea typeface="Cambria Math"/>
                                        <a:cs typeface="Cambria Math"/>
                                      </a:rPr>
                                      <m:t>v</m:t>
                                    </m:r>
                                    <m:r>
                                      <m:rPr>
                                        <m:sty m:val="p"/>
                                      </m:rPr>
                                      <a:rPr lang="en-US" sz="1800" dirty="0">
                                        <a:solidFill>
                                          <a:srgbClr val="10243A"/>
                                        </a:solidFill>
                                        <a:latin typeface="Cambria Math"/>
                                        <a:ea typeface="Cambria Math"/>
                                        <a:cs typeface="Cambria Math"/>
                                      </a:rPr>
                                      <m:t>∈</m:t>
                                    </m:r>
                                    <m:r>
                                      <m:rPr>
                                        <m:scr m:val="script"/>
                                        <m:sty m:val="p"/>
                                      </m:rPr>
                                      <a:rPr lang="en-US" sz="1800" dirty="0">
                                        <a:solidFill>
                                          <a:srgbClr val="10243A"/>
                                        </a:solidFill>
                                        <a:latin typeface="Cambria Math"/>
                                        <a:ea typeface="Cambria Math"/>
                                        <a:cs typeface="Cambria Math"/>
                                      </a:rPr>
                                      <m:t>C</m:t>
                                    </m:r>
                                  </m:lim>
                                </m:limLow>
                              </m:fName>
                              <m:e>
                                <m:d>
                                  <m:dPr>
                                    <m:begChr m:val="["/>
                                    <m:sepChr m:val=""/>
                                    <m:endChr m:val="]"/>
                                    <m:grow m:val="on"/>
                                    <m:ctrlPr>
                                      <a:rPr lang="en-US" sz="1800" dirty="0">
                                        <a:solidFill>
                                          <a:srgbClr val="10243A"/>
                                        </a:solidFill>
                                        <a:latin typeface="Cambria Math"/>
                                        <a:ea typeface="Cambria Math"/>
                                        <a:cs typeface="Cambria Math"/>
                                      </a:rPr>
                                    </m:ctrlPr>
                                  </m:dPr>
                                  <m:e>
                                    <m:sSub>
                                      <m:e>
                                        <m:r>
                                          <a:rPr lang="en-US" sz="1800" dirty="0">
                                            <a:solidFill>
                                              <a:srgbClr val="10243A"/>
                                            </a:solidFill>
                                            <a:latin typeface="Cambria Math"/>
                                            <a:ea typeface="Cambria Math"/>
                                            <a:cs typeface="Cambria Math"/>
                                          </a:rPr>
                                          <m:t>π</m:t>
                                        </m:r>
                                      </m:e>
                                      <m:sub>
                                        <m:r>
                                          <a:rPr lang="en-US" sz="1800" dirty="0">
                                            <a:solidFill>
                                              <a:srgbClr val="10243A"/>
                                            </a:solidFill>
                                            <a:latin typeface="Cambria Math"/>
                                            <a:ea typeface="Cambria Math"/>
                                            <a:cs typeface="Cambria Math"/>
                                          </a:rPr>
                                          <m:t>2</m:t>
                                        </m:r>
                                      </m:sub>
                                    </m:sSub>
                                    <m:d>
                                      <m:dPr>
                                        <m:begChr m:val="("/>
                                        <m:sepChr m:val=""/>
                                        <m:endChr m:val=")"/>
                                        <m:grow m:val="on"/>
                                        <m:ctrlPr>
                                          <a:rPr lang="en-US" sz="1800" dirty="0">
                                            <a:solidFill>
                                              <a:srgbClr val="10243A"/>
                                            </a:solidFill>
                                            <a:latin typeface="Cambria Math"/>
                                            <a:ea typeface="Cambria Math"/>
                                            <a:cs typeface="Cambria Math"/>
                                          </a:rPr>
                                        </m:ctrlPr>
                                      </m:dPr>
                                      <m:e>
                                        <m:r>
                                          <a:rPr lang="en-US" sz="1800" dirty="0">
                                            <a:solidFill>
                                              <a:srgbClr val="10243A"/>
                                            </a:solidFill>
                                            <a:latin typeface="Cambria Math"/>
                                            <a:ea typeface="Cambria Math"/>
                                            <a:cs typeface="Cambria Math"/>
                                          </a:rPr>
                                          <m:t>v</m:t>
                                        </m:r>
                                      </m:e>
                                    </m:d>
                                    <m:r>
                                      <m:rPr>
                                        <m:sty m:val="p"/>
                                      </m:rPr>
                                      <a:rPr lang="en-US" sz="1800" dirty="0">
                                        <a:solidFill>
                                          <a:srgbClr val="10243A"/>
                                        </a:solidFill>
                                        <a:latin typeface="Cambria Math"/>
                                        <a:ea typeface="Cambria Math"/>
                                        <a:cs typeface="Cambria Math"/>
                                      </a:rPr>
                                      <m:t>+</m:t>
                                    </m:r>
                                    <m:r>
                                      <a:rPr lang="en-US" sz="1800" dirty="0">
                                        <a:solidFill>
                                          <a:srgbClr val="10243A"/>
                                        </a:solidFill>
                                        <a:latin typeface="Cambria Math"/>
                                        <a:ea typeface="Cambria Math"/>
                                        <a:cs typeface="Cambria Math"/>
                                      </a:rPr>
                                      <m:t>ω</m:t>
                                    </m:r>
                                    <m:sSub>
                                      <m:e>
                                        <m:r>
                                          <a:rPr lang="en-US" sz="1800" dirty="0">
                                            <a:solidFill>
                                              <a:srgbClr val="10243A"/>
                                            </a:solidFill>
                                            <a:latin typeface="Cambria Math"/>
                                            <a:ea typeface="Cambria Math"/>
                                            <a:cs typeface="Cambria Math"/>
                                          </a:rPr>
                                          <m:t>r</m:t>
                                        </m:r>
                                      </m:e>
                                      <m:sub>
                                        <m:r>
                                          <a:rPr lang="en-US" sz="1800" dirty="0">
                                            <a:solidFill>
                                              <a:srgbClr val="10243A"/>
                                            </a:solidFill>
                                            <a:latin typeface="Cambria Math"/>
                                            <a:ea typeface="Cambria Math"/>
                                            <a:cs typeface="Cambria Math"/>
                                          </a:rPr>
                                          <m:t>2</m:t>
                                        </m:r>
                                      </m:sub>
                                    </m:sSub>
                                    <m:d>
                                      <m:dPr>
                                        <m:begChr m:val="("/>
                                        <m:sepChr m:val=""/>
                                        <m:endChr m:val=")"/>
                                        <m:grow m:val="on"/>
                                        <m:ctrlPr>
                                          <a:rPr lang="en-US" sz="1800" dirty="0">
                                            <a:solidFill>
                                              <a:srgbClr val="10243A"/>
                                            </a:solidFill>
                                            <a:latin typeface="Cambria Math"/>
                                            <a:ea typeface="Cambria Math"/>
                                            <a:cs typeface="Cambria Math"/>
                                          </a:rPr>
                                        </m:ctrlPr>
                                      </m:dPr>
                                      <m:e>
                                        <m:r>
                                          <a:rPr lang="en-US" sz="1800" dirty="0">
                                            <a:solidFill>
                                              <a:srgbClr val="10243A"/>
                                            </a:solidFill>
                                            <a:latin typeface="Cambria Math"/>
                                            <a:ea typeface="Cambria Math"/>
                                            <a:cs typeface="Cambria Math"/>
                                          </a:rPr>
                                          <m:t>v</m:t>
                                        </m:r>
                                      </m:e>
                                    </m:d>
                                    <m:r>
                                      <m:rPr>
                                        <m:sty m:val="p"/>
                                      </m:rPr>
                                      <a:rPr lang="en-US" sz="1800" dirty="0">
                                        <a:solidFill>
                                          <a:srgbClr val="10243A"/>
                                        </a:solidFill>
                                        <a:latin typeface="Cambria Math"/>
                                        <a:ea typeface="Cambria Math"/>
                                        <a:cs typeface="Cambria Math"/>
                                      </a:rPr>
                                      <m:t>+</m:t>
                                    </m:r>
                                    <m:r>
                                      <a:rPr lang="en-US" sz="1800" dirty="0">
                                        <a:solidFill>
                                          <a:srgbClr val="10243A"/>
                                        </a:solidFill>
                                        <a:latin typeface="Cambria Math"/>
                                        <a:ea typeface="Cambria Math"/>
                                        <a:cs typeface="Cambria Math"/>
                                      </a:rPr>
                                      <m:t>ωνu</m:t>
                                    </m:r>
                                    <m:d>
                                      <m:dPr>
                                        <m:begChr m:val="("/>
                                        <m:sepChr m:val=""/>
                                        <m:endChr m:val=")"/>
                                        <m:grow m:val="on"/>
                                        <m:ctrlPr>
                                          <a:rPr lang="en-US" sz="1800" dirty="0">
                                            <a:solidFill>
                                              <a:srgbClr val="10243A"/>
                                            </a:solidFill>
                                            <a:latin typeface="Cambria Math"/>
                                            <a:ea typeface="Cambria Math"/>
                                            <a:cs typeface="Cambria Math"/>
                                          </a:rPr>
                                        </m:ctrlPr>
                                      </m:dPr>
                                      <m:e>
                                        <m:r>
                                          <a:rPr lang="en-US" sz="1800" dirty="0">
                                            <a:solidFill>
                                              <a:srgbClr val="10243A"/>
                                            </a:solidFill>
                                            <a:latin typeface="Cambria Math"/>
                                            <a:ea typeface="Cambria Math"/>
                                            <a:cs typeface="Cambria Math"/>
                                          </a:rPr>
                                          <m:t>v</m:t>
                                        </m:r>
                                      </m:e>
                                    </m:d>
                                  </m:e>
                                </m:d>
                              </m:e>
                            </m:func>
                          </m:e>
                        </m:func>
                      </m:oMath>
                    </m:oMathPara>
                  </a14:m>
                </a:p>
              </p:txBody>
            </p:sp>
          </mc:Choice>
        </mc:AlternateContent>
      </p:grpSp>
      <mc:AlternateContent xmlns:mc="http://schemas.openxmlformats.org/markup-compatibility/2006">
        <mc:Choice xmlns:a14="http://schemas.microsoft.com/office/drawing/2010/main" Requires="a14">
          <p:sp>
            <p:nvSpPr>
              <p:cNvPr id="15" name="uncertainty"/>
              <p:cNvSpPr txBox="1">
                <a:spLocks noGrp="1"/>
              </p:cNvSpPr>
              <p:nvPr/>
            </p:nvSpPr>
            <p:spPr>
              <a:xfrm>
                <a:off x="609600" y="4238625"/>
                <a:ext cx="3667125" cy="609600"/>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r>
                        <a:rPr lang="en-US" sz="2100" dirty="0">
                          <a:solidFill>
                            <a:srgbClr val="10243A"/>
                          </a:solidFill>
                          <a:latin typeface="Cambria Math"/>
                          <a:ea typeface="Cambria Math"/>
                          <a:cs typeface="Cambria Math"/>
                        </a:rPr>
                        <m:t>u</m:t>
                      </m:r>
                      <m:d>
                        <m:dPr>
                          <m:begChr m:val="("/>
                          <m:sepChr m:val=""/>
                          <m:endChr m:val=")"/>
                          <m:grow m:val="on"/>
                          <m:ctrlPr>
                            <a:rPr lang="en-US" sz="2100" dirty="0">
                              <a:solidFill>
                                <a:srgbClr val="10243A"/>
                              </a:solidFill>
                              <a:latin typeface="Cambria Math"/>
                              <a:ea typeface="Cambria Math"/>
                              <a:cs typeface="Cambria Math"/>
                            </a:rPr>
                          </m:ctrlPr>
                        </m:dPr>
                        <m:e>
                          <m:r>
                            <a:rPr lang="en-US" sz="2100" dirty="0">
                              <a:solidFill>
                                <a:srgbClr val="10243A"/>
                              </a:solidFill>
                              <a:latin typeface="Cambria Math"/>
                              <a:ea typeface="Cambria Math"/>
                              <a:cs typeface="Cambria Math"/>
                            </a:rPr>
                            <m:t>v</m:t>
                          </m:r>
                        </m:e>
                      </m:d>
                      <m:r>
                        <m:rPr>
                          <m:sty m:val="p"/>
                        </m:rPr>
                        <a:rPr lang="en-US" sz="2100" dirty="0">
                          <a:solidFill>
                            <a:srgbClr val="10243A"/>
                          </a:solidFill>
                          <a:latin typeface="Cambria Math"/>
                          <a:ea typeface="Cambria Math"/>
                          <a:cs typeface="Cambria Math"/>
                        </a:rPr>
                        <m:t>=</m:t>
                      </m:r>
                      <m:rad>
                        <m:radPr>
                          <m:degHide m:val="on"/>
                          <m:ctrlPr>
                            <a:rPr lang="en-US" sz="2100" dirty="0">
                              <a:solidFill>
                                <a:srgbClr val="10243A"/>
                              </a:solidFill>
                              <a:latin typeface="Cambria Math"/>
                              <a:ea typeface="Cambria Math"/>
                              <a:cs typeface="Cambria Math"/>
                            </a:rPr>
                          </m:ctrlPr>
                        </m:radPr>
                        <m:deg/>
                        <m:e>
                          <m:r>
                            <a:rPr lang="en-US" sz="2100" dirty="0">
                              <a:solidFill>
                                <a:srgbClr val="10243A"/>
                              </a:solidFill>
                              <a:latin typeface="Cambria Math"/>
                              <a:ea typeface="Cambria Math"/>
                              <a:cs typeface="Cambria Math"/>
                            </a:rPr>
                            <m:t>z</m:t>
                          </m:r>
                          <m:sSup>
                            <m:e>
                              <m:d>
                                <m:dPr>
                                  <m:begChr m:val="("/>
                                  <m:sepChr m:val=""/>
                                  <m:endChr m:val=")"/>
                                  <m:grow m:val="on"/>
                                  <m:ctrlPr>
                                    <a:rPr lang="en-US" sz="2100" dirty="0">
                                      <a:solidFill>
                                        <a:srgbClr val="10243A"/>
                                      </a:solidFill>
                                      <a:latin typeface="Cambria Math"/>
                                      <a:ea typeface="Cambria Math"/>
                                      <a:cs typeface="Cambria Math"/>
                                    </a:rPr>
                                  </m:ctrlPr>
                                </m:dPr>
                                <m:e>
                                  <m:r>
                                    <a:rPr lang="en-US" sz="2100" dirty="0">
                                      <a:solidFill>
                                        <a:srgbClr val="10243A"/>
                                      </a:solidFill>
                                      <a:latin typeface="Cambria Math"/>
                                      <a:ea typeface="Cambria Math"/>
                                      <a:cs typeface="Cambria Math"/>
                                    </a:rPr>
                                    <m:t>v</m:t>
                                  </m:r>
                                </m:e>
                              </m:d>
                            </m:e>
                            <m:sup>
                              <m:r>
                                <m:rPr>
                                  <m:sty m:val="p"/>
                                </m:rPr>
                                <a:rPr lang="en-US" sz="2100" dirty="0">
                                  <a:solidFill>
                                    <a:srgbClr val="10243A"/>
                                  </a:solidFill>
                                  <a:latin typeface="Cambria Math"/>
                                  <a:ea typeface="Cambria Math"/>
                                  <a:cs typeface="Cambria Math"/>
                                </a:rPr>
                                <m:t>⊤</m:t>
                              </m:r>
                            </m:sup>
                          </m:sSup>
                          <m:sSup>
                            <m:e>
                              <m:r>
                                <a:rPr lang="en-US" sz="2100" dirty="0">
                                  <a:solidFill>
                                    <a:srgbClr val="10243A"/>
                                  </a:solidFill>
                                  <a:latin typeface="Cambria Math"/>
                                  <a:ea typeface="Cambria Math"/>
                                  <a:cs typeface="Cambria Math"/>
                                </a:rPr>
                                <m:t>V</m:t>
                              </m:r>
                            </m:e>
                            <m:sup>
                              <m:r>
                                <m:rPr>
                                  <m:sty m:val="p"/>
                                </m:rPr>
                                <a:rPr lang="en-US" sz="2100" dirty="0">
                                  <a:solidFill>
                                    <a:srgbClr val="10243A"/>
                                  </a:solidFill>
                                  <a:latin typeface="Cambria Math"/>
                                  <a:ea typeface="Cambria Math"/>
                                  <a:cs typeface="Cambria Math"/>
                                </a:rPr>
                                <m:t>−</m:t>
                              </m:r>
                              <m:r>
                                <a:rPr lang="en-US" sz="2100" dirty="0">
                                  <a:solidFill>
                                    <a:srgbClr val="10243A"/>
                                  </a:solidFill>
                                  <a:latin typeface="Cambria Math"/>
                                  <a:ea typeface="Cambria Math"/>
                                  <a:cs typeface="Cambria Math"/>
                                </a:rPr>
                                <m:t>1</m:t>
                              </m:r>
                            </m:sup>
                          </m:sSup>
                          <m:r>
                            <a:rPr lang="en-US" sz="2100" dirty="0">
                              <a:solidFill>
                                <a:srgbClr val="10243A"/>
                              </a:solidFill>
                              <a:latin typeface="Cambria Math"/>
                              <a:ea typeface="Cambria Math"/>
                              <a:cs typeface="Cambria Math"/>
                            </a:rPr>
                            <m:t>z</m:t>
                          </m:r>
                          <m:d>
                            <m:dPr>
                              <m:begChr m:val="("/>
                              <m:sepChr m:val=""/>
                              <m:endChr m:val=")"/>
                              <m:grow m:val="on"/>
                              <m:ctrlPr>
                                <a:rPr lang="en-US" sz="2100" dirty="0">
                                  <a:solidFill>
                                    <a:srgbClr val="10243A"/>
                                  </a:solidFill>
                                  <a:latin typeface="Cambria Math"/>
                                  <a:ea typeface="Cambria Math"/>
                                  <a:cs typeface="Cambria Math"/>
                                </a:rPr>
                              </m:ctrlPr>
                            </m:dPr>
                            <m:e>
                              <m:r>
                                <a:rPr lang="en-US" sz="2100" dirty="0">
                                  <a:solidFill>
                                    <a:srgbClr val="10243A"/>
                                  </a:solidFill>
                                  <a:latin typeface="Cambria Math"/>
                                  <a:ea typeface="Cambria Math"/>
                                  <a:cs typeface="Cambria Math"/>
                                </a:rPr>
                                <m:t>v</m:t>
                              </m:r>
                            </m:e>
                          </m:d>
                        </m:e>
                      </m:rad>
                    </m:oMath>
                  </m:oMathPara>
                </a14:m>
              </a:p>
            </p:txBody>
          </p:sp>
        </mc:Choice>
      </mc:AlternateContent>
      <mc:AlternateContent xmlns:mc="http://schemas.openxmlformats.org/markup-compatibility/2006">
        <mc:Choice xmlns:a14="http://schemas.microsoft.com/office/drawing/2010/main" Requires="a14">
          <p:sp>
            <p:nvSpPr>
              <p:cNvPr id="16" name="gradient-difference"/>
              <p:cNvSpPr txBox="1">
                <a:spLocks noGrp="1"/>
              </p:cNvSpPr>
              <p:nvPr/>
            </p:nvSpPr>
            <p:spPr>
              <a:xfrm>
                <a:off x="4495800" y="4238625"/>
                <a:ext cx="7086600" cy="609600"/>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r>
                        <a:rPr lang="en-US" sz="1950" dirty="0">
                          <a:solidFill>
                            <a:srgbClr val="10243A"/>
                          </a:solidFill>
                          <a:latin typeface="Cambria Math"/>
                          <a:ea typeface="Cambria Math"/>
                          <a:cs typeface="Cambria Math"/>
                        </a:rPr>
                        <m:t>z</m:t>
                      </m:r>
                      <m:d>
                        <m:dPr>
                          <m:begChr m:val="("/>
                          <m:sepChr m:val=""/>
                          <m:endChr m:val=")"/>
                          <m:grow m:val="on"/>
                          <m:ctrlPr>
                            <a:rPr lang="en-US" sz="1950" dirty="0">
                              <a:solidFill>
                                <a:srgbClr val="10243A"/>
                              </a:solidFill>
                              <a:latin typeface="Cambria Math"/>
                              <a:ea typeface="Cambria Math"/>
                              <a:cs typeface="Cambria Math"/>
                            </a:rPr>
                          </m:ctrlPr>
                        </m:dPr>
                        <m:e>
                          <m:r>
                            <a:rPr lang="en-US" sz="1950" dirty="0">
                              <a:solidFill>
                                <a:srgbClr val="10243A"/>
                              </a:solidFill>
                              <a:latin typeface="Cambria Math"/>
                              <a:ea typeface="Cambria Math"/>
                              <a:cs typeface="Cambria Math"/>
                            </a:rPr>
                            <m:t>v</m:t>
                          </m:r>
                        </m:e>
                      </m:d>
                      <m:r>
                        <m:rPr>
                          <m:sty m:val="p"/>
                        </m:rPr>
                        <a:rPr lang="en-US" sz="1950" dirty="0">
                          <a:solidFill>
                            <a:srgbClr val="10243A"/>
                          </a:solidFill>
                          <a:latin typeface="Cambria Math"/>
                          <a:ea typeface="Cambria Math"/>
                          <a:cs typeface="Cambria Math"/>
                        </a:rPr>
                        <m:t>=</m:t>
                      </m:r>
                      <m:sSub>
                        <m:e>
                          <m:r>
                            <m:rPr>
                              <m:sty m:val="p"/>
                            </m:rPr>
                            <a:rPr lang="en-US" sz="1950" dirty="0">
                              <a:solidFill>
                                <a:srgbClr val="10243A"/>
                              </a:solidFill>
                              <a:latin typeface="Cambria Math"/>
                              <a:ea typeface="Cambria Math"/>
                              <a:cs typeface="Cambria Math"/>
                            </a:rPr>
                            <m:t>∇</m:t>
                          </m:r>
                        </m:e>
                        <m:sub>
                          <m:r>
                            <a:rPr lang="en-US" sz="1950" dirty="0">
                              <a:solidFill>
                                <a:srgbClr val="10243A"/>
                              </a:solidFill>
                              <a:latin typeface="Cambria Math"/>
                              <a:ea typeface="Cambria Math"/>
                              <a:cs typeface="Cambria Math"/>
                            </a:rPr>
                            <m:t>θ</m:t>
                          </m:r>
                        </m:sub>
                      </m:sSub>
                      <m:sSub>
                        <m:e>
                          <m:r>
                            <a:rPr lang="en-US" sz="1950" dirty="0">
                              <a:solidFill>
                                <a:srgbClr val="10243A"/>
                              </a:solidFill>
                              <a:latin typeface="Cambria Math"/>
                              <a:ea typeface="Cambria Math"/>
                              <a:cs typeface="Cambria Math"/>
                            </a:rPr>
                            <m:t>r</m:t>
                          </m:r>
                        </m:e>
                        <m:sub>
                          <m:r>
                            <a:rPr lang="en-US" sz="1950" dirty="0">
                              <a:solidFill>
                                <a:srgbClr val="10243A"/>
                              </a:solidFill>
                              <a:latin typeface="Cambria Math"/>
                              <a:ea typeface="Cambria Math"/>
                              <a:cs typeface="Cambria Math"/>
                            </a:rPr>
                            <m:t>2</m:t>
                          </m:r>
                        </m:sub>
                      </m:sSub>
                      <m:d>
                        <m:dPr>
                          <m:begChr m:val="("/>
                          <m:sepChr m:val=""/>
                          <m:endChr m:val=")"/>
                          <m:grow m:val="on"/>
                          <m:ctrlPr>
                            <a:rPr lang="en-US" sz="1950" dirty="0">
                              <a:solidFill>
                                <a:srgbClr val="10243A"/>
                              </a:solidFill>
                              <a:latin typeface="Cambria Math"/>
                              <a:ea typeface="Cambria Math"/>
                              <a:cs typeface="Cambria Math"/>
                            </a:rPr>
                          </m:ctrlPr>
                        </m:dPr>
                        <m:e>
                          <m:r>
                            <a:rPr lang="en-US" sz="1950" dirty="0">
                              <a:solidFill>
                                <a:srgbClr val="10243A"/>
                              </a:solidFill>
                              <a:latin typeface="Cambria Math"/>
                              <a:ea typeface="Cambria Math"/>
                              <a:cs typeface="Cambria Math"/>
                            </a:rPr>
                            <m:t>v</m:t>
                          </m:r>
                        </m:e>
                      </m:d>
                      <m:r>
                        <m:rPr>
                          <m:sty m:val="p"/>
                        </m:rPr>
                        <a:rPr lang="en-US" sz="1950" dirty="0">
                          <a:solidFill>
                            <a:srgbClr val="10243A"/>
                          </a:solidFill>
                          <a:latin typeface="Cambria Math"/>
                          <a:ea typeface="Cambria Math"/>
                          <a:cs typeface="Cambria Math"/>
                        </a:rPr>
                        <m:t>−</m:t>
                      </m:r>
                      <m:sSub>
                        <m:e>
                          <m:r>
                            <m:rPr>
                              <m:sty m:val="p"/>
                            </m:rPr>
                            <a:rPr lang="en-US" sz="1950" dirty="0">
                              <a:solidFill>
                                <a:srgbClr val="10243A"/>
                              </a:solidFill>
                              <a:latin typeface="Cambria Math"/>
                              <a:ea typeface="Cambria Math"/>
                              <a:cs typeface="Cambria Math"/>
                            </a:rPr>
                            <m:t>∇</m:t>
                          </m:r>
                        </m:e>
                        <m:sub>
                          <m:r>
                            <a:rPr lang="en-US" sz="1950" dirty="0">
                              <a:solidFill>
                                <a:srgbClr val="10243A"/>
                              </a:solidFill>
                              <a:latin typeface="Cambria Math"/>
                              <a:ea typeface="Cambria Math"/>
                              <a:cs typeface="Cambria Math"/>
                            </a:rPr>
                            <m:t>θ</m:t>
                          </m:r>
                        </m:sub>
                      </m:sSub>
                      <m:sSub>
                        <m:e>
                          <m:r>
                            <a:rPr lang="en-US" sz="1950" dirty="0">
                              <a:solidFill>
                                <a:srgbClr val="10243A"/>
                              </a:solidFill>
                              <a:latin typeface="Cambria Math"/>
                              <a:ea typeface="Cambria Math"/>
                              <a:cs typeface="Cambria Math"/>
                            </a:rPr>
                            <m:t>r</m:t>
                          </m:r>
                        </m:e>
                        <m:sub>
                          <m:r>
                            <a:rPr lang="en-US" sz="1950" dirty="0">
                              <a:solidFill>
                                <a:srgbClr val="10243A"/>
                              </a:solidFill>
                              <a:latin typeface="Cambria Math"/>
                              <a:ea typeface="Cambria Math"/>
                              <a:cs typeface="Cambria Math"/>
                            </a:rPr>
                            <m:t>1</m:t>
                          </m:r>
                        </m:sub>
                      </m:sSub>
                      <m:d>
                        <m:dPr>
                          <m:begChr m:val="("/>
                          <m:sepChr m:val=""/>
                          <m:endChr m:val=")"/>
                          <m:grow m:val="on"/>
                          <m:ctrlPr>
                            <a:rPr lang="en-US" sz="1950" dirty="0">
                              <a:solidFill>
                                <a:srgbClr val="10243A"/>
                              </a:solidFill>
                              <a:latin typeface="Cambria Math"/>
                              <a:ea typeface="Cambria Math"/>
                              <a:cs typeface="Cambria Math"/>
                            </a:rPr>
                          </m:ctrlPr>
                        </m:dPr>
                        <m:e>
                          <m:sSubSup>
                            <m:e>
                              <m:r>
                                <a:rPr lang="en-US" sz="1950" dirty="0">
                                  <a:solidFill>
                                    <a:srgbClr val="10243A"/>
                                  </a:solidFill>
                                  <a:latin typeface="Cambria Math"/>
                                  <a:ea typeface="Cambria Math"/>
                                  <a:cs typeface="Cambria Math"/>
                                </a:rPr>
                                <m:t>v</m:t>
                              </m:r>
                            </m:e>
                            <m:sub>
                              <m:r>
                                <a:rPr lang="en-US" sz="1950" dirty="0">
                                  <a:solidFill>
                                    <a:srgbClr val="10243A"/>
                                  </a:solidFill>
                                  <a:latin typeface="Cambria Math"/>
                                  <a:ea typeface="Cambria Math"/>
                                  <a:cs typeface="Cambria Math"/>
                                </a:rPr>
                                <m:t>1</m:t>
                              </m:r>
                            </m:sub>
                            <m:sup>
                              <m:r>
                                <m:rPr>
                                  <m:sty m:val="p"/>
                                </m:rPr>
                                <a:rPr lang="en-US" sz="1950" dirty="0">
                                  <a:solidFill>
                                    <a:srgbClr val="10243A"/>
                                  </a:solidFill>
                                  <a:latin typeface="Cambria Math"/>
                                  <a:ea typeface="Cambria Math"/>
                                  <a:cs typeface="Cambria Math"/>
                                </a:rPr>
                                <m:t>⋆</m:t>
                              </m:r>
                            </m:sup>
                          </m:sSubSup>
                        </m:e>
                      </m:d>
                      <m:r>
                        <m:rPr>
                          <m:sty m:val="p"/>
                        </m:rPr>
                        <a:rPr lang="en-US" sz="1950" dirty="0">
                          <a:solidFill>
                            <a:srgbClr val="10243A"/>
                          </a:solidFill>
                          <a:latin typeface="Cambria Math"/>
                          <a:ea typeface="Cambria Math"/>
                          <a:cs typeface="Cambria Math"/>
                        </a:rPr>
                        <m:t>∈</m:t>
                      </m:r>
                      <m:sSup>
                        <m:e>
                          <m:r>
                            <m:rPr>
                              <m:scr m:val="double-struck"/>
                              <m:sty m:val="p"/>
                            </m:rPr>
                            <a:rPr lang="en-US" sz="1950" dirty="0">
                              <a:solidFill>
                                <a:srgbClr val="10243A"/>
                              </a:solidFill>
                              <a:latin typeface="Cambria Math"/>
                              <a:ea typeface="Cambria Math"/>
                              <a:cs typeface="Cambria Math"/>
                            </a:rPr>
                            <m:t>R</m:t>
                          </m:r>
                        </m:e>
                        <m:sup>
                          <m:r>
                            <a:rPr lang="en-US" sz="1950" dirty="0">
                              <a:solidFill>
                                <a:srgbClr val="10243A"/>
                              </a:solidFill>
                              <a:latin typeface="Cambria Math"/>
                              <a:ea typeface="Cambria Math"/>
                              <a:cs typeface="Cambria Math"/>
                            </a:rPr>
                            <m:t>P</m:t>
                          </m:r>
                        </m:sup>
                      </m:sSup>
                    </m:oMath>
                  </m:oMathPara>
                </a14:m>
              </a:p>
            </p:txBody>
          </p:sp>
        </mc:Choice>
      </mc:AlternateContent>
      <p:grpSp>
        <p:nvGrpSpPr>
          <p:cNvPr id="18" name="uncertainty-meaning"/>
          <p:cNvGrpSpPr/>
          <p:nvPr/>
        </p:nvGrpSpPr>
        <p:grpSpPr>
          <a:xfrm>
            <a:off x="601218" y="4946332"/>
            <a:ext cx="9248429" cy="322707"/>
            <a:chOff x="601218" y="4946332"/>
            <a:chExt cx="9248429" cy="322707"/>
          </a:xfrm>
        </p:grpSpPr>
        <p:sp>
          <p:nvSpPr>
            <p:cNvPr id="17" name="TextBox 17"/>
            <p:cNvSpPr txBox="1"/>
            <p:nvPr/>
          </p:nvSpPr>
          <p:spPr>
            <a:xfrm>
              <a:off x="601218" y="4946332"/>
              <a:ext cx="9248429"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P = RM parameter count. V tracks covered directions; the reference is the exploitation winner.</a:t>
              </a:r>
            </a:p>
          </p:txBody>
        </p:sp>
      </p:grpSp>
      <mc:AlternateContent xmlns:mc="http://schemas.openxmlformats.org/markup-compatibility/2006">
        <mc:Choice xmlns:a14="http://schemas.microsoft.com/office/drawing/2010/main" Requires="a14">
          <p:sp>
            <p:nvSpPr>
              <p:cNvPr id="19" name="state-update"/>
              <p:cNvSpPr txBox="1">
                <a:spLocks noGrp="1"/>
              </p:cNvSpPr>
              <p:nvPr/>
            </p:nvSpPr>
            <p:spPr>
              <a:xfrm>
                <a:off x="609600" y="5286375"/>
                <a:ext cx="5181600" cy="600075"/>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r>
                        <a:rPr lang="en-US" sz="2100" dirty="0">
                          <a:solidFill>
                            <a:srgbClr val="10243A"/>
                          </a:solidFill>
                          <a:latin typeface="Cambria Math"/>
                          <a:ea typeface="Cambria Math"/>
                          <a:cs typeface="Cambria Math"/>
                        </a:rPr>
                        <m:t>V</m:t>
                      </m:r>
                      <m:r>
                        <m:rPr>
                          <m:sty m:val="p"/>
                        </m:rPr>
                        <a:rPr lang="en-US" sz="2100" dirty="0">
                          <a:solidFill>
                            <a:srgbClr val="10243A"/>
                          </a:solidFill>
                          <a:latin typeface="Cambria Math"/>
                          <a:ea typeface="Cambria Math"/>
                          <a:cs typeface="Cambria Math"/>
                        </a:rPr>
                        <m:t>←</m:t>
                      </m:r>
                      <m:r>
                        <a:rPr lang="en-US" sz="2100" dirty="0">
                          <a:solidFill>
                            <a:srgbClr val="10243A"/>
                          </a:solidFill>
                          <a:latin typeface="Cambria Math"/>
                          <a:ea typeface="Cambria Math"/>
                          <a:cs typeface="Cambria Math"/>
                        </a:rPr>
                        <m:t>V</m:t>
                      </m:r>
                      <m:r>
                        <m:rPr>
                          <m:sty m:val="p"/>
                        </m:rPr>
                        <a:rPr lang="en-US" sz="2100" dirty="0">
                          <a:solidFill>
                            <a:srgbClr val="10243A"/>
                          </a:solidFill>
                          <a:latin typeface="Cambria Math"/>
                          <a:ea typeface="Cambria Math"/>
                          <a:cs typeface="Cambria Math"/>
                        </a:rPr>
                        <m:t>+</m:t>
                      </m:r>
                      <m:r>
                        <a:rPr lang="en-US" sz="2100" dirty="0">
                          <a:solidFill>
                            <a:srgbClr val="10243A"/>
                          </a:solidFill>
                          <a:latin typeface="Cambria Math"/>
                          <a:ea typeface="Cambria Math"/>
                          <a:cs typeface="Cambria Math"/>
                        </a:rPr>
                        <m:t>δ</m:t>
                      </m:r>
                      <m:sSup>
                        <m:e>
                          <m:r>
                            <a:rPr lang="en-US" sz="2100" dirty="0">
                              <a:solidFill>
                                <a:srgbClr val="10243A"/>
                              </a:solidFill>
                              <a:latin typeface="Cambria Math"/>
                              <a:ea typeface="Cambria Math"/>
                              <a:cs typeface="Cambria Math"/>
                            </a:rPr>
                            <m:t>δ</m:t>
                          </m:r>
                        </m:e>
                        <m:sup>
                          <m:r>
                            <m:rPr>
                              <m:sty m:val="p"/>
                            </m:rPr>
                            <a:rPr lang="en-US" sz="2100" dirty="0">
                              <a:solidFill>
                                <a:srgbClr val="10243A"/>
                              </a:solidFill>
                              <a:latin typeface="Cambria Math"/>
                              <a:ea typeface="Cambria Math"/>
                              <a:cs typeface="Cambria Math"/>
                            </a:rPr>
                            <m:t>⊤</m:t>
                          </m:r>
                        </m:sup>
                      </m:sSup>
                      <m:r>
                        <m:rPr>
                          <m:sty m:val="p"/>
                        </m:rPr>
                        <a:rPr lang="en-US" sz="2100" dirty="0">
                          <a:solidFill>
                            <a:srgbClr val="10243A"/>
                          </a:solidFill>
                          <a:latin typeface="Cambria Math"/>
                          <a:ea typeface="Cambria Math"/>
                          <a:cs typeface="Cambria Math"/>
                        </a:rPr>
                        <m:t>,</m:t>
                      </m:r>
                      <m:r>
                        <a:rPr lang="en-US" sz="2100" dirty="0">
                          <a:solidFill>
                            <a:srgbClr val="10243A"/>
                          </a:solidFill>
                          <a:latin typeface="Cambria Math"/>
                          <a:ea typeface="Cambria Math"/>
                          <a:cs typeface="Cambria Math"/>
                        </a:rPr>
                        <m:t xml:space="preserve"> </m:t>
                      </m:r>
                      <m:r>
                        <a:rPr lang="en-US" sz="2100" dirty="0">
                          <a:solidFill>
                            <a:srgbClr val="10243A"/>
                          </a:solidFill>
                          <a:latin typeface="Cambria Math"/>
                          <a:ea typeface="Cambria Math"/>
                          <a:cs typeface="Cambria Math"/>
                        </a:rPr>
                        <m:t>δ</m:t>
                      </m:r>
                      <m:r>
                        <m:rPr>
                          <m:sty m:val="p"/>
                        </m:rPr>
                        <a:rPr lang="en-US" sz="2100" dirty="0">
                          <a:solidFill>
                            <a:srgbClr val="10243A"/>
                          </a:solidFill>
                          <a:latin typeface="Cambria Math"/>
                          <a:ea typeface="Cambria Math"/>
                          <a:cs typeface="Cambria Math"/>
                        </a:rPr>
                        <m:t>=</m:t>
                      </m:r>
                      <m:r>
                        <a:rPr lang="en-US" sz="2100" dirty="0">
                          <a:solidFill>
                            <a:srgbClr val="10243A"/>
                          </a:solidFill>
                          <a:latin typeface="Cambria Math"/>
                          <a:ea typeface="Cambria Math"/>
                          <a:cs typeface="Cambria Math"/>
                        </a:rPr>
                        <m:t>z</m:t>
                      </m:r>
                      <m:d>
                        <m:dPr>
                          <m:begChr m:val="("/>
                          <m:sepChr m:val=""/>
                          <m:endChr m:val=")"/>
                          <m:grow m:val="on"/>
                          <m:ctrlPr>
                            <a:rPr lang="en-US" sz="2100" dirty="0">
                              <a:solidFill>
                                <a:srgbClr val="10243A"/>
                              </a:solidFill>
                              <a:latin typeface="Cambria Math"/>
                              <a:ea typeface="Cambria Math"/>
                              <a:cs typeface="Cambria Math"/>
                            </a:rPr>
                          </m:ctrlPr>
                        </m:dPr>
                        <m:e>
                          <m:sSubSup>
                            <m:e>
                              <m:r>
                                <a:rPr lang="en-US" sz="2100" dirty="0">
                                  <a:solidFill>
                                    <a:srgbClr val="10243A"/>
                                  </a:solidFill>
                                  <a:latin typeface="Cambria Math"/>
                                  <a:ea typeface="Cambria Math"/>
                                  <a:cs typeface="Cambria Math"/>
                                </a:rPr>
                                <m:t>v</m:t>
                              </m:r>
                            </m:e>
                            <m:sub>
                              <m:r>
                                <a:rPr lang="en-US" sz="2100" dirty="0">
                                  <a:solidFill>
                                    <a:srgbClr val="10243A"/>
                                  </a:solidFill>
                                  <a:latin typeface="Cambria Math"/>
                                  <a:ea typeface="Cambria Math"/>
                                  <a:cs typeface="Cambria Math"/>
                                </a:rPr>
                                <m:t>2</m:t>
                              </m:r>
                            </m:sub>
                            <m:sup>
                              <m:r>
                                <m:rPr>
                                  <m:sty m:val="p"/>
                                </m:rPr>
                                <a:rPr lang="en-US" sz="2100" dirty="0">
                                  <a:solidFill>
                                    <a:srgbClr val="10243A"/>
                                  </a:solidFill>
                                  <a:latin typeface="Cambria Math"/>
                                  <a:ea typeface="Cambria Math"/>
                                  <a:cs typeface="Cambria Math"/>
                                </a:rPr>
                                <m:t>⋆</m:t>
                              </m:r>
                            </m:sup>
                          </m:sSubSup>
                        </m:e>
                      </m:d>
                    </m:oMath>
                  </m:oMathPara>
                </a14:m>
              </a:p>
            </p:txBody>
          </p:sp>
        </mc:Choice>
      </mc:AlternateContent>
      <p:grpSp>
        <p:nvGrpSpPr>
          <p:cNvPr id="21" name="update-timing"/>
          <p:cNvGrpSpPr/>
          <p:nvPr/>
        </p:nvGrpSpPr>
        <p:grpSpPr>
          <a:xfrm>
            <a:off x="6087618" y="5336858"/>
            <a:ext cx="3964979" cy="608457"/>
            <a:chOff x="6087618" y="5336858"/>
            <a:chExt cx="3964979" cy="608457"/>
          </a:xfrm>
        </p:grpSpPr>
        <p:sp>
          <p:nvSpPr>
            <p:cNvPr id="20" name="TextBox 20"/>
            <p:cNvSpPr txBox="1"/>
            <p:nvPr/>
          </p:nvSpPr>
          <p:spPr>
            <a:xfrm>
              <a:off x="6087618" y="5336858"/>
              <a:ext cx="3964979" cy="608457"/>
            </a:xfrm>
            <a:prstGeom prst="rect">
              <a:avLst/>
            </a:prstGeom>
            <a:noFill/>
            <a:ln>
              <a:noFill/>
            </a:ln>
          </p:spPr>
          <p:txBody>
            <a:bodyPr wrap="none" lIns="0" tIns="0" rIns="0" bIns="0" anchor="t" anchorCtr="0">
              <a:spAutoFit/>
            </a:bodyPr>
            <a:lstStyle/>
            <a:p>
              <a:pPr algn="l">
                <a:lnSpc>
                  <a:spcPts val="2250"/>
                </a:lnSpc>
              </a:pPr>
              <a:r>
                <a:rPr lang="el-GR" sz="1650" dirty="0">
                  <a:solidFill>
                    <a:schemeClr val="accent1"/>
                  </a:solidFill>
                  <a:latin typeface="+mn-lt"/>
                  <a:ea typeface="+mn-ea"/>
                  <a:cs typeface="+mn-cs"/>
                </a:rPr>
                <a:t>Each token pair updates V, not θ.</a:t>
              </a:r>
              <a:br/>
              <a:r>
                <a:rPr lang="en-US" sz="1650" dirty="0">
                  <a:solidFill>
                    <a:schemeClr val="accent1"/>
                  </a:solidFill>
                  <a:latin typeface="+mn-lt"/>
                  <a:ea typeface="+mn-ea"/>
                  <a:cs typeface="+mn-cs"/>
                </a:rPr>
                <a:t>RM training waits for full-answer feedback.</a:t>
              </a:r>
            </a:p>
          </p:txBody>
        </p:sp>
      </p:grpSp>
      <p:grpSp>
        <p:nvGrpSpPr>
          <p:cNvPr id="23" name="repeat"/>
          <p:cNvGrpSpPr/>
          <p:nvPr/>
        </p:nvGrpSpPr>
        <p:grpSpPr>
          <a:xfrm>
            <a:off x="601218" y="6013132"/>
            <a:ext cx="7923399" cy="322707"/>
            <a:chOff x="601218" y="6013132"/>
            <a:chExt cx="7923399" cy="322707"/>
          </a:xfrm>
        </p:grpSpPr>
        <p:sp>
          <p:nvSpPr>
            <p:cNvPr id="22" name="TextBox 22"/>
            <p:cNvSpPr txBox="1"/>
            <p:nvPr/>
          </p:nvSpPr>
          <p:spPr>
            <a:xfrm>
              <a:off x="601218" y="6013132"/>
              <a:ext cx="7923399"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Append one token per branch and repeat until the answer pair is complete.</a:t>
              </a:r>
            </a:p>
          </p:txBody>
        </p:sp>
      </p:grpSp>
      <p:grpSp>
        <p:nvGrpSpPr>
          <p:cNvPr id="26" name="footer"/>
          <p:cNvGrpSpPr/>
          <p:nvPr/>
        </p:nvGrpSpPr>
        <p:grpSpPr>
          <a:xfrm>
            <a:off x="603504" y="6404610"/>
            <a:ext cx="10984992" cy="234696"/>
            <a:chOff x="603504" y="6404610"/>
            <a:chExt cx="10984992" cy="234696"/>
          </a:xfrm>
        </p:grpSpPr>
        <p:sp>
          <p:nvSpPr>
            <p:cNvPr id="24" name="TextBox 24"/>
            <p:cNvSpPr txBox="1"/>
            <p:nvPr/>
          </p:nvSpPr>
          <p:spPr>
            <a:xfrm>
              <a:off x="603504" y="6404610"/>
              <a:ext cx="6853211" cy="234696"/>
            </a:xfrm>
            <a:prstGeom prst="rect">
              <a:avLst/>
            </a:prstGeom>
            <a:noFill/>
            <a:ln>
              <a:noFill/>
            </a:ln>
          </p:spPr>
          <p:txBody>
            <a:bodyPr wrap="none" lIns="0" tIns="0" rIns="0" bIns="0" anchor="t" anchorCtr="0">
              <a:spAutoFit/>
            </a:bodyPr>
            <a:lstStyle/>
            <a:p>
              <a:pPr algn="l"/>
              <a:r>
                <a:rPr lang="el-GR" sz="1200" dirty="0">
                  <a:solidFill>
                    <a:schemeClr val="accent5"/>
                  </a:solidFill>
                  <a:latin typeface="+mn-lt"/>
                  <a:ea typeface="+mn-ea"/>
                  <a:cs typeface="+mn-cs"/>
                </a:rPr>
                <a:t>Eqs. (1), (4)–(6); Algorithm 1 · δ uses the opposite sign to the printed algorithm; δδᵀ is identical.</a:t>
              </a:r>
            </a:p>
          </p:txBody>
        </p:sp>
        <p:sp>
          <p:nvSpPr>
            <p:cNvPr id="25" name="TextBox 25"/>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06 / 08</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9379498" cy="971169"/>
            <a:chOff x="592836" y="461010"/>
            <a:chExt cx="9379498" cy="971169"/>
          </a:xfrm>
        </p:grpSpPr>
        <p:sp>
          <p:nvSpPr>
            <p:cNvPr id="2" name="TextBox 2"/>
            <p:cNvSpPr txBox="1"/>
            <p:nvPr/>
          </p:nvSpPr>
          <p:spPr>
            <a:xfrm>
              <a:off x="603504" y="461010"/>
              <a:ext cx="4147041"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EXPERIMENTS · MAIN RESULT AND TWO CHECKS</a:t>
              </a:r>
            </a:p>
          </p:txBody>
        </p:sp>
        <p:sp>
          <p:nvSpPr>
            <p:cNvPr id="3" name="TextBox 3"/>
            <p:cNvSpPr txBox="1"/>
            <p:nvPr/>
          </p:nvSpPr>
          <p:spPr>
            <a:xfrm>
              <a:off x="592836" y="786765"/>
              <a:ext cx="9379498"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Evidence: stronger alignment, uneven gains</a:t>
              </a:r>
            </a:p>
          </p:txBody>
        </p:sp>
      </p:grpSp>
      <p:grpSp>
        <p:nvGrpSpPr>
          <p:cNvPr id="6" name="metric"/>
          <p:cNvGrpSpPr/>
          <p:nvPr/>
        </p:nvGrpSpPr>
        <p:grpSpPr>
          <a:xfrm>
            <a:off x="601218" y="1717358"/>
            <a:ext cx="7174107" cy="322707"/>
            <a:chOff x="601218" y="1717358"/>
            <a:chExt cx="7174107" cy="322707"/>
          </a:xfrm>
        </p:grpSpPr>
        <p:sp>
          <p:nvSpPr>
            <p:cNvPr id="5" name="TextBox 5"/>
            <p:cNvSpPr txBox="1"/>
            <p:nvPr/>
          </p:nvSpPr>
          <p:spPr>
            <a:xfrm>
              <a:off x="601218" y="1717358"/>
              <a:ext cx="7174107"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Mean ArmoRM score across four preference attributes · Higher is better.</a:t>
              </a:r>
            </a:p>
          </p:txBody>
        </p:sp>
      </p:grpSp>
      <p:graphicFrame>
        <p:nvGraphicFramePr>
          <p:cNvPr id="7" name="alignment-scores"/>
          <p:cNvGraphicFramePr>
            <a:graphicFrameLocks noGrp="1"/>
          </p:cNvGraphicFramePr>
          <p:nvPr/>
        </p:nvGraphicFramePr>
        <p:xfrm>
          <a:off x="609600" y="2266950"/>
          <a:ext cx="6743700" cy="2343150"/>
        </p:xfrm>
        <a:graphic>
          <a:graphicData uri="http://schemas.openxmlformats.org/drawingml/2006/table">
            <a:tbl>
              <a:tblPr firstRow="1" bandRow="0">
                <a:tableStyleId>{5C22544A-7EE6-4342-B048-85BDC9FD1C3A}</a:tableStyleId>
              </a:tblPr>
              <a:tblGrid>
                <a:gridCol w="2286000"/>
                <a:gridCol w="1390650"/>
                <a:gridCol w="1476375"/>
                <a:gridCol w="1590675"/>
              </a:tblGrid>
              <a:tr h="457200">
                <a:tc>
                  <a:txBody>
                    <a:bodyPr/>
                    <a:lstStyle/>
                    <a:p>
                      <a:pPr/>
                      <a:r>
                        <a:rPr lang="en-US" sz="1650" b="1">
                          <a:solidFill>
                            <a:schemeClr val="accent5"/>
                          </a:solidFill>
                          <a:latin typeface="Arial"/>
                          <a:ea typeface="Microsoft YaHei"/>
                          <a:cs typeface="Arial"/>
                        </a:rPr>
                        <a:t>Backbone</a:t>
                      </a:r>
                    </a:p>
                  </a:txBody>
                  <a:tcPr anchor="ctr" marL="171450" marR="171450" marT="81915" marB="81915">
                    <a:lnL>
                      <a:noFill/>
                    </a:lnL>
                    <a:lnR>
                      <a:noFill/>
                    </a:lnR>
                    <a:lnT>
                      <a:noFill/>
                    </a:lnT>
                    <a:lnB w="9525">
                      <a:solidFill>
                        <a:schemeClr val="accent6"/>
                      </a:solidFill>
                      <a:prstDash val="solid"/>
                    </a:lnB>
                    <a:solidFill>
                      <a:schemeClr val="lt2"/>
                    </a:solidFill>
                  </a:tcPr>
                </a:tc>
                <a:tc>
                  <a:txBody>
                    <a:bodyPr/>
                    <a:lstStyle/>
                    <a:p>
                      <a:pPr algn="r"/>
                      <a:r>
                        <a:rPr lang="en-US" sz="1650" b="1">
                          <a:solidFill>
                            <a:schemeClr val="accent5"/>
                          </a:solidFill>
                          <a:latin typeface="Arial"/>
                          <a:ea typeface="Microsoft YaHei"/>
                          <a:cs typeface="Arial"/>
                        </a:rPr>
                        <a:t>Base</a:t>
                      </a:r>
                    </a:p>
                  </a:txBody>
                  <a:tcPr anchor="ctr" marL="171450" marR="171450" marT="81915" marB="81915">
                    <a:lnL>
                      <a:noFill/>
                    </a:lnL>
                    <a:lnR>
                      <a:noFill/>
                    </a:lnR>
                    <a:lnT>
                      <a:noFill/>
                    </a:lnT>
                    <a:lnB w="9525">
                      <a:solidFill>
                        <a:schemeClr val="accent6"/>
                      </a:solidFill>
                      <a:prstDash val="solid"/>
                    </a:lnB>
                    <a:solidFill>
                      <a:schemeClr val="lt2"/>
                    </a:solidFill>
                  </a:tcPr>
                </a:tc>
                <a:tc>
                  <a:txBody>
                    <a:bodyPr/>
                    <a:lstStyle/>
                    <a:p>
                      <a:pPr algn="r"/>
                      <a:r>
                        <a:rPr lang="en-US" sz="1650" b="1">
                          <a:solidFill>
                            <a:schemeClr val="accent5"/>
                          </a:solidFill>
                          <a:latin typeface="Arial"/>
                          <a:ea typeface="Microsoft YaHei"/>
                          <a:cs typeface="Arial"/>
                        </a:rPr>
                        <a:t>AMULET</a:t>
                      </a:r>
                    </a:p>
                  </a:txBody>
                  <a:tcPr anchor="ctr" marL="171450" marR="171450" marT="81915" marB="81915">
                    <a:lnL>
                      <a:noFill/>
                    </a:lnL>
                    <a:lnR>
                      <a:noFill/>
                    </a:lnR>
                    <a:lnT>
                      <a:noFill/>
                    </a:lnT>
                    <a:lnB w="9525">
                      <a:solidFill>
                        <a:schemeClr val="accent6"/>
                      </a:solidFill>
                      <a:prstDash val="solid"/>
                    </a:lnB>
                    <a:solidFill>
                      <a:schemeClr val="lt2"/>
                    </a:solidFill>
                  </a:tcPr>
                </a:tc>
                <a:tc>
                  <a:txBody>
                    <a:bodyPr/>
                    <a:lstStyle/>
                    <a:p>
                      <a:pPr algn="r"/>
                      <a:r>
                        <a:rPr lang="en-US" sz="1650" b="1">
                          <a:solidFill>
                            <a:srgbClr val="FFFFFF"/>
                          </a:solidFill>
                          <a:latin typeface="Arial"/>
                          <a:ea typeface="Microsoft YaHei"/>
                          <a:cs typeface="Arial"/>
                        </a:rPr>
                        <a:t>T-POP</a:t>
                      </a:r>
                    </a:p>
                  </a:txBody>
                  <a:tcPr anchor="ctr" marL="171450" marR="171450" marT="81915" marB="81915">
                    <a:lnL>
                      <a:noFill/>
                    </a:lnL>
                    <a:lnR>
                      <a:noFill/>
                    </a:lnR>
                    <a:lnT>
                      <a:noFill/>
                    </a:lnT>
                    <a:lnB w="9525">
                      <a:solidFill>
                        <a:schemeClr val="accent6"/>
                      </a:solidFill>
                      <a:prstDash val="solid"/>
                    </a:lnB>
                    <a:solidFill>
                      <a:schemeClr val="accent2"/>
                    </a:solidFill>
                  </a:tcPr>
                </a:tc>
              </a:tr>
              <a:tr h="628650">
                <a:tc>
                  <a:txBody>
                    <a:bodyPr/>
                    <a:lstStyle/>
                    <a:p>
                      <a:pPr/>
                      <a:r>
                        <a:rPr lang="en-US" sz="1800" b="0">
                          <a:solidFill>
                            <a:schemeClr val="dk1"/>
                          </a:solidFill>
                          <a:latin typeface="Arial"/>
                          <a:ea typeface="Microsoft YaHei"/>
                          <a:cs typeface="Arial"/>
                        </a:rPr>
                        <a:t>Mistral-7B</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a:ea typeface="Microsoft YaHei"/>
                          <a:cs typeface="Arial"/>
                        </a:rPr>
                        <a:t>0.3550</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a:ea typeface="Microsoft YaHei"/>
                          <a:cs typeface="Arial"/>
                        </a:rPr>
                        <a:t>0.4150</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1">
                          <a:solidFill>
                            <a:schemeClr val="accent2"/>
                          </a:solidFill>
                          <a:latin typeface="Arial"/>
                          <a:ea typeface="Microsoft YaHei"/>
                          <a:cs typeface="Arial"/>
                        </a:rPr>
                        <a:t>0.4975</a:t>
                      </a:r>
                    </a:p>
                  </a:txBody>
                  <a:tcPr anchor="ctr" marL="171450" marR="171450" marT="95250" marB="95250">
                    <a:lnL>
                      <a:noFill/>
                    </a:lnL>
                    <a:lnR>
                      <a:noFill/>
                    </a:lnR>
                    <a:lnT>
                      <a:noFill/>
                    </a:lnT>
                    <a:lnB w="9525">
                      <a:solidFill>
                        <a:schemeClr val="accent6"/>
                      </a:solidFill>
                      <a:prstDash val="solid"/>
                    </a:lnB>
                    <a:solidFill>
                      <a:srgbClr val="E6F2F3"/>
                    </a:solidFill>
                  </a:tcPr>
                </a:tc>
              </a:tr>
              <a:tr h="628650">
                <a:tc>
                  <a:txBody>
                    <a:bodyPr/>
                    <a:lstStyle/>
                    <a:p>
                      <a:pPr/>
                      <a:r>
                        <a:rPr lang="en-US" sz="1800" b="0">
                          <a:solidFill>
                            <a:schemeClr val="dk1"/>
                          </a:solidFill>
                          <a:latin typeface="Arial"/>
                          <a:ea typeface="Microsoft YaHei"/>
                          <a:cs typeface="Arial"/>
                        </a:rPr>
                        <a:t>Qwen2-7B</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a:ea typeface="Microsoft YaHei"/>
                          <a:cs typeface="Arial"/>
                        </a:rPr>
                        <a:t>0.3575</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a:ea typeface="Microsoft YaHei"/>
                          <a:cs typeface="Arial"/>
                        </a:rPr>
                        <a:t>0.4100</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1">
                          <a:solidFill>
                            <a:schemeClr val="accent2"/>
                          </a:solidFill>
                          <a:latin typeface="Arial"/>
                          <a:ea typeface="Microsoft YaHei"/>
                          <a:cs typeface="Arial"/>
                        </a:rPr>
                        <a:t>0.5250</a:t>
                      </a:r>
                    </a:p>
                  </a:txBody>
                  <a:tcPr anchor="ctr" marL="171450" marR="171450" marT="95250" marB="95250">
                    <a:lnL>
                      <a:noFill/>
                    </a:lnL>
                    <a:lnR>
                      <a:noFill/>
                    </a:lnR>
                    <a:lnT>
                      <a:noFill/>
                    </a:lnT>
                    <a:lnB w="9525">
                      <a:solidFill>
                        <a:schemeClr val="accent6"/>
                      </a:solidFill>
                      <a:prstDash val="solid"/>
                    </a:lnB>
                    <a:solidFill>
                      <a:srgbClr val="E6F2F3"/>
                    </a:solidFill>
                  </a:tcPr>
                </a:tc>
              </a:tr>
              <a:tr h="628650">
                <a:tc>
                  <a:txBody>
                    <a:bodyPr/>
                    <a:lstStyle/>
                    <a:p>
                      <a:pPr/>
                      <a:r>
                        <a:rPr lang="en-US" sz="1800" b="0">
                          <a:solidFill>
                            <a:schemeClr val="dk1"/>
                          </a:solidFill>
                          <a:latin typeface="Arial"/>
                          <a:ea typeface="Microsoft YaHei"/>
                          <a:cs typeface="Arial"/>
                        </a:rPr>
                        <a:t>Llama-3.1-8B</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a:ea typeface="Microsoft YaHei"/>
                          <a:cs typeface="Arial"/>
                        </a:rPr>
                        <a:t>0.3450</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a:ea typeface="Microsoft YaHei"/>
                          <a:cs typeface="Arial"/>
                        </a:rPr>
                        <a:t>0.5325</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1">
                          <a:solidFill>
                            <a:schemeClr val="accent2"/>
                          </a:solidFill>
                          <a:latin typeface="Arial"/>
                          <a:ea typeface="Microsoft YaHei"/>
                          <a:cs typeface="Arial"/>
                        </a:rPr>
                        <a:t>0.5350</a:t>
                      </a:r>
                    </a:p>
                  </a:txBody>
                  <a:tcPr anchor="ctr" marL="171450" marR="171450" marT="95250" marB="95250">
                    <a:lnL>
                      <a:noFill/>
                    </a:lnL>
                    <a:lnR>
                      <a:noFill/>
                    </a:lnR>
                    <a:lnT>
                      <a:noFill/>
                    </a:lnT>
                    <a:lnB w="9525">
                      <a:solidFill>
                        <a:schemeClr val="accent6"/>
                      </a:solidFill>
                      <a:prstDash val="solid"/>
                    </a:lnB>
                    <a:solidFill>
                      <a:srgbClr val="E6F2F3"/>
                    </a:solidFill>
                  </a:tcPr>
                </a:tc>
              </a:tr>
            </a:tbl>
          </a:graphicData>
        </a:graphic>
      </p:graphicFrame>
      <p:grpSp>
        <p:nvGrpSpPr>
          <p:cNvPr id="11" name="early-adaptation"/>
          <p:cNvGrpSpPr/>
          <p:nvPr/>
        </p:nvGrpSpPr>
        <p:grpSpPr>
          <a:xfrm>
            <a:off x="7780782" y="2241232"/>
            <a:ext cx="2977552" cy="1484757"/>
            <a:chOff x="7780782" y="2241232"/>
            <a:chExt cx="2977552" cy="1484757"/>
          </a:xfrm>
        </p:grpSpPr>
        <p:sp>
          <p:nvSpPr>
            <p:cNvPr id="8" name="TextBox 8"/>
            <p:cNvSpPr txBox="1"/>
            <p:nvPr/>
          </p:nvSpPr>
          <p:spPr>
            <a:xfrm>
              <a:off x="7783068" y="2241232"/>
              <a:ext cx="2415873"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EARLY ADAPTATION</a:t>
              </a:r>
            </a:p>
          </p:txBody>
        </p:sp>
        <p:sp>
          <p:nvSpPr>
            <p:cNvPr id="9" name="TextBox 9"/>
            <p:cNvSpPr txBox="1"/>
            <p:nvPr/>
          </p:nvSpPr>
          <p:spPr>
            <a:xfrm>
              <a:off x="7780782" y="2611755"/>
              <a:ext cx="2586350" cy="763143"/>
            </a:xfrm>
            <a:prstGeom prst="rect">
              <a:avLst/>
            </a:prstGeom>
            <a:noFill/>
            <a:ln>
              <a:noFill/>
            </a:ln>
          </p:spPr>
          <p:txBody>
            <a:bodyPr wrap="none" lIns="0" tIns="0" rIns="0" bIns="0" anchor="t" anchorCtr="0">
              <a:spAutoFit/>
            </a:bodyPr>
            <a:lstStyle/>
            <a:p>
              <a:pPr algn="l">
                <a:lnSpc>
                  <a:spcPts val="2775"/>
                </a:lnSpc>
              </a:pPr>
              <a:r>
                <a:rPr lang="en-US" sz="2100" dirty="0">
                  <a:solidFill>
                    <a:schemeClr val="dk1"/>
                  </a:solidFill>
                  <a:latin typeface="+mn-lt"/>
                  <a:ea typeface="+mn-ea"/>
                  <a:cs typeface="+mn-cs"/>
                </a:rPr>
                <a:t>Fast gains in the first</a:t>
              </a:r>
              <a:br/>
              <a:r>
                <a:rPr lang="en-US" sz="2100" dirty="0">
                  <a:solidFill>
                    <a:schemeClr val="dk1"/>
                  </a:solidFill>
                  <a:latin typeface="+mn-lt"/>
                  <a:ea typeface="+mn-ea"/>
                  <a:cs typeface="+mn-cs"/>
                </a:rPr>
                <a:t>20 interaction rounds.</a:t>
              </a:r>
            </a:p>
          </p:txBody>
        </p:sp>
        <p:sp>
          <p:nvSpPr>
            <p:cNvPr id="10" name="TextBox 10"/>
            <p:cNvSpPr txBox="1"/>
            <p:nvPr/>
          </p:nvSpPr>
          <p:spPr>
            <a:xfrm>
              <a:off x="7783068" y="3403282"/>
              <a:ext cx="2975266"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Fig. 2 · concise · two datasets</a:t>
              </a:r>
            </a:p>
          </p:txBody>
        </p:sp>
      </p:grpSp>
      <p:grpSp>
        <p:nvGrpSpPr>
          <p:cNvPr id="14" name="exploration-evidence"/>
          <p:cNvGrpSpPr/>
          <p:nvPr/>
        </p:nvGrpSpPr>
        <p:grpSpPr>
          <a:xfrm>
            <a:off x="7783068" y="3946208"/>
            <a:ext cx="2911364" cy="998981"/>
            <a:chOff x="7783068" y="3946208"/>
            <a:chExt cx="2911364" cy="998981"/>
          </a:xfrm>
        </p:grpSpPr>
        <p:sp>
          <p:nvSpPr>
            <p:cNvPr id="12" name="TextBox 12"/>
            <p:cNvSpPr txBox="1"/>
            <p:nvPr/>
          </p:nvSpPr>
          <p:spPr>
            <a:xfrm>
              <a:off x="7783068" y="3946208"/>
              <a:ext cx="2911364"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n-lt"/>
                  <a:ea typeface="+mn-ea"/>
                  <a:cs typeface="+mn-cs"/>
                </a:rPr>
                <a:t>EXPLORATION MATTERS</a:t>
              </a:r>
            </a:p>
          </p:txBody>
        </p:sp>
        <p:sp>
          <p:nvSpPr>
            <p:cNvPr id="13" name="TextBox 13"/>
            <p:cNvSpPr txBox="1"/>
            <p:nvPr/>
          </p:nvSpPr>
          <p:spPr>
            <a:xfrm>
              <a:off x="7783068" y="4317682"/>
              <a:ext cx="2532747" cy="627507"/>
            </a:xfrm>
            <a:prstGeom prst="rect">
              <a:avLst/>
            </a:prstGeom>
            <a:noFill/>
            <a:ln>
              <a:noFill/>
            </a:ln>
          </p:spPr>
          <p:txBody>
            <a:bodyPr wrap="none" lIns="0" tIns="0" rIns="0" bIns="0" anchor="t" anchorCtr="0">
              <a:spAutoFit/>
            </a:bodyPr>
            <a:lstStyle/>
            <a:p>
              <a:pPr algn="l">
                <a:lnSpc>
                  <a:spcPts val="2400"/>
                </a:lnSpc>
              </a:pPr>
              <a:r>
                <a:rPr lang="en-US" sz="1650" dirty="0">
                  <a:solidFill>
                    <a:schemeClr val="dk1"/>
                  </a:solidFill>
                  <a:latin typeface="+mn-lt"/>
                  <a:ea typeface="+mn-ea"/>
                  <a:cs typeface="+mn-cs"/>
                </a:rPr>
                <a:t>Beats entropy / Boltzmann.</a:t>
              </a:r>
              <a:br/>
              <a:r>
                <a:rPr lang="en-US" sz="1650" dirty="0">
                  <a:solidFill>
                    <a:schemeClr val="dk1"/>
                  </a:solidFill>
                  <a:latin typeface="+mn-lt"/>
                  <a:ea typeface="+mn-ea"/>
                  <a:cs typeface="+mn-cs"/>
                </a:rPr>
                <a:t>Llama · Personal · concise</a:t>
              </a:r>
            </a:p>
          </p:txBody>
        </p:sp>
      </p:grpSp>
      <p:grpSp>
        <p:nvGrpSpPr>
          <p:cNvPr id="17" name="evidence-takeaway"/>
          <p:cNvGrpSpPr/>
          <p:nvPr/>
        </p:nvGrpSpPr>
        <p:grpSpPr>
          <a:xfrm>
            <a:off x="598932" y="5250180"/>
            <a:ext cx="7383871" cy="925068"/>
            <a:chOff x="598932" y="5250180"/>
            <a:chExt cx="7383871" cy="925068"/>
          </a:xfrm>
        </p:grpSpPr>
        <p:sp>
          <p:nvSpPr>
            <p:cNvPr id="15" name="TextBox 15"/>
            <p:cNvSpPr txBox="1"/>
            <p:nvPr/>
          </p:nvSpPr>
          <p:spPr>
            <a:xfrm>
              <a:off x="598932" y="5250180"/>
              <a:ext cx="6093130"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Qwen: +28.0% · Mistral: +19.9%</a:t>
              </a:r>
              <a:r>
                <a:rPr lang="en-US" sz="2100" dirty="0">
                  <a:solidFill>
                    <a:schemeClr val="accent1"/>
                  </a:solidFill>
                  <a:latin typeface="+mn-lt"/>
                  <a:ea typeface="+mn-ea"/>
                  <a:cs typeface="+mn-cs"/>
                </a:rPr>
                <a:t xml:space="preserve"> vs. AMULET.</a:t>
              </a:r>
            </a:p>
          </p:txBody>
        </p:sp>
        <p:sp>
          <p:nvSpPr>
            <p:cNvPr id="16" name="TextBox 16"/>
            <p:cNvSpPr txBox="1"/>
            <p:nvPr/>
          </p:nvSpPr>
          <p:spPr>
            <a:xfrm>
              <a:off x="598932" y="5764530"/>
              <a:ext cx="7383871" cy="410718"/>
            </a:xfrm>
            <a:prstGeom prst="rect">
              <a:avLst/>
            </a:prstGeom>
            <a:noFill/>
            <a:ln>
              <a:noFill/>
            </a:ln>
          </p:spPr>
          <p:txBody>
            <a:bodyPr wrap="none" lIns="0" tIns="0" rIns="0" bIns="0" anchor="t" anchorCtr="0">
              <a:spAutoFit/>
            </a:bodyPr>
            <a:lstStyle/>
            <a:p>
              <a:pPr algn="l"/>
              <a:r>
                <a:rPr lang="en-US" sz="2100" dirty="0">
                  <a:solidFill>
                    <a:schemeClr val="accent1"/>
                  </a:solidFill>
                  <a:latin typeface="+mn-lt"/>
                  <a:ea typeface="+mn-ea"/>
                  <a:cs typeface="+mn-cs"/>
                </a:rPr>
                <a:t>Llama is near a tie; gains are not uniform across attributes.</a:t>
              </a:r>
            </a:p>
          </p:txBody>
        </p:sp>
      </p:grpSp>
      <p:grpSp>
        <p:nvGrpSpPr>
          <p:cNvPr id="20" name="footer"/>
          <p:cNvGrpSpPr/>
          <p:nvPr/>
        </p:nvGrpSpPr>
        <p:grpSpPr>
          <a:xfrm>
            <a:off x="603504" y="6404610"/>
            <a:ext cx="10984992" cy="234696"/>
            <a:chOff x="603504" y="6404610"/>
            <a:chExt cx="10984992" cy="234696"/>
          </a:xfrm>
        </p:grpSpPr>
        <p:sp>
          <p:nvSpPr>
            <p:cNvPr id="18" name="TextBox 18"/>
            <p:cNvSpPr txBox="1"/>
            <p:nvPr/>
          </p:nvSpPr>
          <p:spPr>
            <a:xfrm>
              <a:off x="603504" y="6404610"/>
              <a:ext cx="7299441"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Table 1: means calculated from its four “Average” rows per model; Fig. 2; Table 8 (20-round ablation).</a:t>
              </a:r>
            </a:p>
          </p:txBody>
        </p:sp>
        <p:sp>
          <p:nvSpPr>
            <p:cNvPr id="19" name="TextBox 19"/>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07 / 08</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7452458" cy="971169"/>
            <a:chOff x="592836" y="461010"/>
            <a:chExt cx="7452458" cy="971169"/>
          </a:xfrm>
        </p:grpSpPr>
        <p:sp>
          <p:nvSpPr>
            <p:cNvPr id="2" name="TextBox 2"/>
            <p:cNvSpPr txBox="1"/>
            <p:nvPr/>
          </p:nvSpPr>
          <p:spPr>
            <a:xfrm>
              <a:off x="603504" y="461010"/>
              <a:ext cx="4668288"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DISCUSSION / INSIGHTS · LIMITATIONS · FUTURE WORK</a:t>
              </a:r>
            </a:p>
          </p:txBody>
        </p:sp>
        <p:sp>
          <p:nvSpPr>
            <p:cNvPr id="3" name="TextBox 3"/>
            <p:cNvSpPr txBox="1"/>
            <p:nvPr/>
          </p:nvSpPr>
          <p:spPr>
            <a:xfrm>
              <a:off x="592836" y="786765"/>
              <a:ext cx="7452458"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Insights, limits, and next questions</a:t>
              </a:r>
            </a:p>
          </p:txBody>
        </p:sp>
      </p:grpSp>
      <p:grpSp>
        <p:nvGrpSpPr>
          <p:cNvPr id="7" name="main-insight"/>
          <p:cNvGrpSpPr/>
          <p:nvPr/>
        </p:nvGrpSpPr>
        <p:grpSpPr>
          <a:xfrm>
            <a:off x="597408" y="1693545"/>
            <a:ext cx="9651538" cy="909828"/>
            <a:chOff x="597408" y="1693545"/>
            <a:chExt cx="9651538" cy="909828"/>
          </a:xfrm>
        </p:grpSpPr>
        <p:sp>
          <p:nvSpPr>
            <p:cNvPr id="5" name="TextBox 5"/>
            <p:cNvSpPr txBox="1"/>
            <p:nvPr/>
          </p:nvSpPr>
          <p:spPr>
            <a:xfrm>
              <a:off x="597408" y="1693545"/>
              <a:ext cx="9651538"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Learn a personal reward. Choose comparisons that improve it.</a:t>
              </a:r>
            </a:p>
          </p:txBody>
        </p:sp>
        <p:sp>
          <p:nvSpPr>
            <p:cNvPr id="6" name="TextBox 6"/>
            <p:cNvSpPr txBox="1"/>
            <p:nvPr/>
          </p:nvSpPr>
          <p:spPr>
            <a:xfrm>
              <a:off x="598932" y="2192655"/>
              <a:ext cx="8542760"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Data acquisition and generation form one loop, with the LLM frozen.</a:t>
              </a:r>
            </a:p>
          </p:txBody>
        </p:sp>
      </p:grpSp>
      <p:grpSp>
        <p:nvGrpSpPr>
          <p:cNvPr id="10" name="human-evidence"/>
          <p:cNvGrpSpPr/>
          <p:nvPr/>
        </p:nvGrpSpPr>
        <p:grpSpPr>
          <a:xfrm>
            <a:off x="598932" y="2926080"/>
            <a:ext cx="9584398" cy="637984"/>
            <a:chOff x="598932" y="2926080"/>
            <a:chExt cx="9584398" cy="637984"/>
          </a:xfrm>
        </p:grpSpPr>
        <p:sp>
          <p:nvSpPr>
            <p:cNvPr id="8" name="TextBox 8"/>
            <p:cNvSpPr txBox="1"/>
            <p:nvPr/>
          </p:nvSpPr>
          <p:spPr>
            <a:xfrm>
              <a:off x="598932" y="2926080"/>
              <a:ext cx="2214095"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Simulated users</a:t>
              </a:r>
            </a:p>
          </p:txBody>
        </p:sp>
        <p:sp>
          <p:nvSpPr>
            <p:cNvPr id="9" name="TextBox 9"/>
            <p:cNvSpPr txBox="1"/>
            <p:nvPr/>
          </p:nvSpPr>
          <p:spPr>
            <a:xfrm>
              <a:off x="3411093" y="2927032"/>
              <a:ext cx="6772237" cy="637032"/>
            </a:xfrm>
            <a:prstGeom prst="rect">
              <a:avLst/>
            </a:prstGeom>
            <a:noFill/>
            <a:ln>
              <a:noFill/>
            </a:ln>
          </p:spPr>
          <p:txBody>
            <a:bodyPr wrap="none" lIns="0" tIns="0" rIns="0" bIns="0" anchor="t" anchorCtr="0">
              <a:spAutoFit/>
            </a:bodyPr>
            <a:lstStyle/>
            <a:p>
              <a:pPr algn="l">
                <a:lnSpc>
                  <a:spcPts val="2475"/>
                </a:lnSpc>
              </a:pPr>
              <a:r>
                <a:rPr lang="en-US" sz="1650" dirty="0">
                  <a:solidFill>
                    <a:schemeClr val="dk1"/>
                  </a:solidFill>
                  <a:latin typeface="+mn-lt"/>
                  <a:ea typeface="+mn-ea"/>
                  <a:cs typeface="+mn-cs"/>
                </a:rPr>
                <a:t>Main feedback is simulated; cross-judge checks remain model-mediated.</a:t>
              </a:r>
              <a:br/>
              <a:r>
                <a:rPr lang="en-US" sz="1650" dirty="0">
                  <a:solidFill>
                    <a:schemeClr val="dk1"/>
                  </a:solidFill>
                  <a:latin typeface="+mn-lt"/>
                  <a:ea typeface="+mn-ea"/>
                  <a:cs typeface="+mn-cs"/>
                </a:rPr>
                <a:t>Our next test: longitudinal studies with real users.</a:t>
              </a:r>
            </a:p>
          </p:txBody>
        </p:sp>
      </p:grpSp>
      <p:grpSp>
        <p:nvGrpSpPr>
          <p:cNvPr id="13" name="prefix-transfer"/>
          <p:cNvGrpSpPr/>
          <p:nvPr/>
        </p:nvGrpSpPr>
        <p:grpSpPr>
          <a:xfrm>
            <a:off x="598932" y="3840480"/>
            <a:ext cx="9351630" cy="637984"/>
            <a:chOff x="598932" y="3840480"/>
            <a:chExt cx="9351630" cy="637984"/>
          </a:xfrm>
        </p:grpSpPr>
        <p:sp>
          <p:nvSpPr>
            <p:cNvPr id="11" name="TextBox 11"/>
            <p:cNvSpPr txBox="1"/>
            <p:nvPr/>
          </p:nvSpPr>
          <p:spPr>
            <a:xfrm>
              <a:off x="598932" y="3840480"/>
              <a:ext cx="2496410"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Credit assignment</a:t>
              </a:r>
            </a:p>
          </p:txBody>
        </p:sp>
        <p:sp>
          <p:nvSpPr>
            <p:cNvPr id="12" name="TextBox 12"/>
            <p:cNvSpPr txBox="1"/>
            <p:nvPr/>
          </p:nvSpPr>
          <p:spPr>
            <a:xfrm>
              <a:off x="3411093" y="3841432"/>
              <a:ext cx="6539469" cy="637032"/>
            </a:xfrm>
            <a:prstGeom prst="rect">
              <a:avLst/>
            </a:prstGeom>
            <a:noFill/>
            <a:ln>
              <a:noFill/>
            </a:ln>
          </p:spPr>
          <p:txBody>
            <a:bodyPr wrap="none" lIns="0" tIns="0" rIns="0" bIns="0" anchor="t" anchorCtr="0">
              <a:spAutoFit/>
            </a:bodyPr>
            <a:lstStyle/>
            <a:p>
              <a:pPr algn="l">
                <a:lnSpc>
                  <a:spcPts val="2475"/>
                </a:lnSpc>
              </a:pPr>
              <a:r>
                <a:rPr lang="en-US" sz="1650" dirty="0">
                  <a:solidFill>
                    <a:schemeClr val="dk1"/>
                  </a:solidFill>
                  <a:latin typeface="+mn-lt"/>
                  <a:ea typeface="+mn-ea"/>
                  <a:cs typeface="+mn-cs"/>
                </a:rPr>
                <a:t>Training labels compare full answers; decoding scores partial prefixes.</a:t>
              </a:r>
              <a:br/>
              <a:r>
                <a:rPr lang="en-US" sz="1650" dirty="0">
                  <a:solidFill>
                    <a:schemeClr val="dk1"/>
                  </a:solidFill>
                  <a:latin typeface="+mn-lt"/>
                  <a:ea typeface="+mn-ea"/>
                  <a:cs typeface="+mn-cs"/>
                </a:rPr>
                <a:t>Our next test: when does this supervision transfer reliably?</a:t>
              </a:r>
            </a:p>
          </p:txBody>
        </p:sp>
      </p:grpSp>
      <p:grpSp>
        <p:nvGrpSpPr>
          <p:cNvPr id="16" name="compute-cost"/>
          <p:cNvGrpSpPr/>
          <p:nvPr/>
        </p:nvGrpSpPr>
        <p:grpSpPr>
          <a:xfrm>
            <a:off x="598932" y="4754880"/>
            <a:ext cx="8815098" cy="637984"/>
            <a:chOff x="598932" y="4754880"/>
            <a:chExt cx="8815098" cy="637984"/>
          </a:xfrm>
        </p:grpSpPr>
        <p:sp>
          <p:nvSpPr>
            <p:cNvPr id="14" name="TextBox 14"/>
            <p:cNvSpPr txBox="1"/>
            <p:nvPr/>
          </p:nvSpPr>
          <p:spPr>
            <a:xfrm>
              <a:off x="598932" y="4754880"/>
              <a:ext cx="2166733" cy="410718"/>
            </a:xfrm>
            <a:prstGeom prst="rect">
              <a:avLst/>
            </a:prstGeom>
            <a:noFill/>
            <a:ln>
              <a:noFill/>
            </a:ln>
          </p:spPr>
          <p:txBody>
            <a:bodyPr wrap="none" lIns="0" tIns="0" rIns="0" bIns="0" anchor="t" anchorCtr="0">
              <a:spAutoFit/>
            </a:bodyPr>
            <a:lstStyle/>
            <a:p>
              <a:pPr algn="l"/>
              <a:r>
                <a:rPr lang="en-US" sz="2100" b="1" dirty="0">
                  <a:solidFill>
                    <a:schemeClr val="accent3"/>
                  </a:solidFill>
                  <a:latin typeface="+mn-lt"/>
                  <a:ea typeface="+mn-ea"/>
                  <a:cs typeface="+mn-cs"/>
                </a:rPr>
                <a:t>Online compute</a:t>
              </a:r>
            </a:p>
          </p:txBody>
        </p:sp>
        <p:sp>
          <p:nvSpPr>
            <p:cNvPr id="15" name="TextBox 15"/>
            <p:cNvSpPr txBox="1"/>
            <p:nvPr/>
          </p:nvSpPr>
          <p:spPr>
            <a:xfrm>
              <a:off x="3411093" y="4755832"/>
              <a:ext cx="6002937" cy="637032"/>
            </a:xfrm>
            <a:prstGeom prst="rect">
              <a:avLst/>
            </a:prstGeom>
            <a:noFill/>
            <a:ln>
              <a:noFill/>
            </a:ln>
          </p:spPr>
          <p:txBody>
            <a:bodyPr wrap="none" lIns="0" tIns="0" rIns="0" bIns="0" anchor="t" anchorCtr="0">
              <a:spAutoFit/>
            </a:bodyPr>
            <a:lstStyle/>
            <a:p>
              <a:pPr algn="l">
                <a:lnSpc>
                  <a:spcPts val="2475"/>
                </a:lnSpc>
              </a:pPr>
              <a:r>
                <a:rPr lang="en-US" sz="1650" dirty="0">
                  <a:solidFill>
                    <a:schemeClr val="dk1"/>
                  </a:solidFill>
                  <a:latin typeface="+mn-lt"/>
                  <a:ea typeface="+mn-ea"/>
                  <a:cs typeface="+mn-cs"/>
                </a:rPr>
                <a:t>Reported query latency: 23.26 s (T-POP) vs. 11.25 s (AMULET).</a:t>
              </a:r>
              <a:br/>
              <a:r>
                <a:rPr lang="en-US" sz="1650" dirty="0">
                  <a:solidFill>
                    <a:schemeClr val="dk1"/>
                  </a:solidFill>
                  <a:latin typeface="+mn-lt"/>
                  <a:ea typeface="+mn-ea"/>
                  <a:cs typeface="+mn-cs"/>
                </a:rPr>
                <a:t>Our next step: reduce the cost of repeated reward scoring.</a:t>
              </a:r>
            </a:p>
          </p:txBody>
        </p:sp>
      </p:grpSp>
      <p:grpSp>
        <p:nvGrpSpPr>
          <p:cNvPr id="19" name="future-work"/>
          <p:cNvGrpSpPr/>
          <p:nvPr/>
        </p:nvGrpSpPr>
        <p:grpSpPr>
          <a:xfrm>
            <a:off x="609600" y="5705475"/>
            <a:ext cx="10972800" cy="523875"/>
            <a:chOff x="609600" y="5705475"/>
            <a:chExt cx="10972800" cy="523875"/>
          </a:xfrm>
        </p:grpSpPr>
        <p:sp>
          <p:nvSpPr>
            <p:cNvPr id="17" name="Rectangle 17"/>
            <p:cNvSpPr/>
            <p:nvPr/>
          </p:nvSpPr>
          <p:spPr>
            <a:xfrm>
              <a:off x="609600" y="5705475"/>
              <a:ext cx="10972800" cy="523875"/>
            </a:xfrm>
            <a:prstGeom prst="rect">
              <a:avLst/>
            </a:prstGeom>
            <a:solidFill>
              <a:schemeClr val="lt2"/>
            </a:solidFill>
            <a:ln>
              <a:noFill/>
            </a:ln>
          </p:spPr>
        </p:sp>
        <p:sp>
          <p:nvSpPr>
            <p:cNvPr id="18" name="TextBox 18"/>
            <p:cNvSpPr txBox="1"/>
            <p:nvPr/>
          </p:nvSpPr>
          <p:spPr>
            <a:xfrm>
              <a:off x="771906" y="5854065"/>
              <a:ext cx="8164047"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Paper's future directions:</a:t>
              </a:r>
              <a:r>
                <a:rPr lang="en-US" sz="1800" dirty="0">
                  <a:solidFill>
                    <a:schemeClr val="accent1"/>
                  </a:solidFill>
                  <a:latin typeface="+mn-lt"/>
                  <a:ea typeface="+mn-ea"/>
                  <a:cs typeface="+mn-cs"/>
                </a:rPr>
                <a:t xml:space="preserve"> richer feedback and long-term preference shifts.</a:t>
              </a:r>
            </a:p>
          </p:txBody>
        </p:sp>
      </p:grpSp>
      <p:grpSp>
        <p:nvGrpSpPr>
          <p:cNvPr id="22" name="footer"/>
          <p:cNvGrpSpPr/>
          <p:nvPr/>
        </p:nvGrpSpPr>
        <p:grpSpPr>
          <a:xfrm>
            <a:off x="603504" y="6404610"/>
            <a:ext cx="10984992" cy="234696"/>
            <a:chOff x="603504" y="6404610"/>
            <a:chExt cx="10984992" cy="234696"/>
          </a:xfrm>
        </p:grpSpPr>
        <p:sp>
          <p:nvSpPr>
            <p:cNvPr id="20" name="TextBox 20"/>
            <p:cNvSpPr txBox="1"/>
            <p:nvPr/>
          </p:nvSpPr>
          <p:spPr>
            <a:xfrm>
              <a:off x="603504" y="6404610"/>
              <a:ext cx="6845419"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§7; Appendix B, C.3, C.6; Table 13 · “Our” items are discussion proposals, not reported results.</a:t>
              </a:r>
            </a:p>
          </p:txBody>
        </p:sp>
        <p:sp>
          <p:nvSpPr>
            <p:cNvPr id="21" name="TextBox 21"/>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08 / 08</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TPOP_v1">
  <a:themeElements>
    <a:clrScheme name="TPOP_v1">
      <a:dk1>
        <a:srgbClr val="233447"/>
      </a:dk1>
      <a:lt1>
        <a:srgbClr val="FFFFFF"/>
      </a:lt1>
      <a:dk2>
        <a:srgbClr val="1F497D"/>
      </a:dk2>
      <a:lt2>
        <a:srgbClr val="F3F6FA"/>
      </a:lt2>
      <a:accent1>
        <a:srgbClr val="10243A"/>
      </a:accent1>
      <a:accent2>
        <a:srgbClr val="087F8C"/>
      </a:accent2>
      <a:accent3>
        <a:srgbClr val="C86620"/>
      </a:accent3>
      <a:accent4>
        <a:srgbClr val="10243A"/>
      </a:accent4>
      <a:accent5>
        <a:srgbClr val="5B6B7A"/>
      </a:accent5>
      <a:accent6>
        <a:srgbClr val="CBD4DE"/>
      </a:accent6>
      <a:hlink>
        <a:srgbClr val="087F8C"/>
      </a:hlink>
      <a:folHlink>
        <a:srgbClr val="C86620"/>
      </a:folHlink>
    </a:clrScheme>
    <a:fontScheme name="TPOP_v1">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POP_v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POP_v1">
  <a:themeElements>
    <a:clrScheme name="TPOP_v1">
      <a:dk1>
        <a:srgbClr val="233447"/>
      </a:dk1>
      <a:lt1>
        <a:srgbClr val="FFFFFF"/>
      </a:lt1>
      <a:dk2>
        <a:srgbClr val="1F497D"/>
      </a:dk2>
      <a:lt2>
        <a:srgbClr val="F3F6FA"/>
      </a:lt2>
      <a:accent1>
        <a:srgbClr val="10243A"/>
      </a:accent1>
      <a:accent2>
        <a:srgbClr val="087F8C"/>
      </a:accent2>
      <a:accent3>
        <a:srgbClr val="C86620"/>
      </a:accent3>
      <a:accent4>
        <a:srgbClr val="10243A"/>
      </a:accent4>
      <a:accent5>
        <a:srgbClr val="5B6B7A"/>
      </a:accent5>
      <a:accent6>
        <a:srgbClr val="CBD4DE"/>
      </a:accent6>
      <a:hlink>
        <a:srgbClr val="087F8C"/>
      </a:hlink>
      <a:folHlink>
        <a:srgbClr val="C86620"/>
      </a:folHlink>
    </a:clrScheme>
    <a:fontScheme name="TPOP_v1">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POP_v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8</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en-US</dc:language>
  <cp:lastModifiedBy/>
  <cp:revision>1</cp:revision>
  <dcterms:created xsi:type="dcterms:W3CDTF">2026-09-28T06:28:54Z</dcterms:created>
  <dcterms:modified xsi:type="dcterms:W3CDTF">2026-09-28T06:28:54Z</dcterms:modified>
  <cp:category/>
  <cp:contentStatus/>
</cp:coreProperties>
</file>