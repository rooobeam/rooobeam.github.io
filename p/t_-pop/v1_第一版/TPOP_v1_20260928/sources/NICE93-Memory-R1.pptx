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theme/theme5.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1"/>
    <p:sldMasterId id="2147483670" r:id="rId2"/>
    <p:sldMasterId id="2147483662" r:id="rId3"/>
    <p:sldMasterId id="2147483665" r:id="rId4"/>
    <p:sldMasterId id="2147483663" r:id="rId5"/>
    <p:sldMasterId id="2147483680" r:id="rId6"/>
  </p:sldMasterIdLst>
  <p:notesMasterIdLst>
    <p:notesMasterId r:id="rId31"/>
  </p:notesMasterIdLst>
  <p:handoutMasterIdLst>
    <p:handoutMasterId r:id="rId32"/>
  </p:handoutMasterIdLst>
  <p:sldIdLst>
    <p:sldId id="256" r:id="rId7"/>
    <p:sldId id="267" r:id="rId8"/>
    <p:sldId id="1999" r:id="rId9"/>
    <p:sldId id="2000" r:id="rId10"/>
    <p:sldId id="2001" r:id="rId11"/>
    <p:sldId id="2002" r:id="rId12"/>
    <p:sldId id="2004" r:id="rId13"/>
    <p:sldId id="2005" r:id="rId14"/>
    <p:sldId id="2006" r:id="rId15"/>
    <p:sldId id="2007" r:id="rId16"/>
    <p:sldId id="2008" r:id="rId17"/>
    <p:sldId id="2018" r:id="rId18"/>
    <p:sldId id="2009" r:id="rId19"/>
    <p:sldId id="2010" r:id="rId20"/>
    <p:sldId id="2011" r:id="rId21"/>
    <p:sldId id="2020" r:id="rId22"/>
    <p:sldId id="2019" r:id="rId23"/>
    <p:sldId id="2012" r:id="rId24"/>
    <p:sldId id="2013" r:id="rId25"/>
    <p:sldId id="2014" r:id="rId26"/>
    <p:sldId id="2015" r:id="rId27"/>
    <p:sldId id="2016" r:id="rId28"/>
    <p:sldId id="2017" r:id="rId29"/>
    <p:sldId id="263"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0D15"/>
    <a:srgbClr val="616468"/>
    <a:srgbClr val="DBE4F4"/>
    <a:srgbClr val="F2F2F2"/>
    <a:srgbClr val="202321"/>
    <a:srgbClr val="F18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67" autoAdjust="0"/>
    <p:restoredTop sz="88042" autoAdjust="0"/>
  </p:normalViewPr>
  <p:slideViewPr>
    <p:cSldViewPr snapToGrid="0" snapToObjects="1" showGuides="1">
      <p:cViewPr>
        <p:scale>
          <a:sx n="126" d="100"/>
          <a:sy n="126" d="100"/>
        </p:scale>
        <p:origin x="416" y="14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showGuides="1">
      <p:cViewPr varScale="1">
        <p:scale>
          <a:sx n="66" d="100"/>
          <a:sy n="66" d="100"/>
        </p:scale>
        <p:origin x="3134" y="3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B3D6EB26-41B6-4E19-83EC-E73738E884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Arial" panose="020B0604020202020204" pitchFamily="34" charset="0"/>
              <a:cs typeface="Arial" panose="020B0604020202020204" pitchFamily="34" charset="0"/>
            </a:endParaRPr>
          </a:p>
        </p:txBody>
      </p:sp>
      <p:sp>
        <p:nvSpPr>
          <p:cNvPr id="3" name="Datumsplatzhalter 2">
            <a:extLst>
              <a:ext uri="{FF2B5EF4-FFF2-40B4-BE49-F238E27FC236}">
                <a16:creationId xmlns:a16="http://schemas.microsoft.com/office/drawing/2014/main" id="{A19D0FE7-2B93-4C58-A1DB-4617AFF6CC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DFB590-A5F8-45EA-AB8E-CD3CA1FFE559}" type="datetimeFigureOut">
              <a:rPr lang="de-DE" smtClean="0">
                <a:latin typeface="Arial" panose="020B0604020202020204" pitchFamily="34" charset="0"/>
                <a:cs typeface="Arial" panose="020B0604020202020204" pitchFamily="34" charset="0"/>
              </a:rPr>
              <a:t>09.10.25</a:t>
            </a:fld>
            <a:endParaRPr lang="de-DE" dirty="0">
              <a:latin typeface="Arial" panose="020B0604020202020204" pitchFamily="34" charset="0"/>
              <a:cs typeface="Arial" panose="020B0604020202020204" pitchFamily="34" charset="0"/>
            </a:endParaRPr>
          </a:p>
        </p:txBody>
      </p:sp>
      <p:sp>
        <p:nvSpPr>
          <p:cNvPr id="4" name="Fußzeilenplatzhalter 3">
            <a:extLst>
              <a:ext uri="{FF2B5EF4-FFF2-40B4-BE49-F238E27FC236}">
                <a16:creationId xmlns:a16="http://schemas.microsoft.com/office/drawing/2014/main" id="{3C6C06B4-579F-4E55-B0ED-E501BEC3061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Arial" panose="020B0604020202020204" pitchFamily="34" charset="0"/>
              <a:cs typeface="Arial" panose="020B0604020202020204" pitchFamily="34" charset="0"/>
            </a:endParaRPr>
          </a:p>
        </p:txBody>
      </p:sp>
      <p:sp>
        <p:nvSpPr>
          <p:cNvPr id="5" name="Foliennummernplatzhalter 4">
            <a:extLst>
              <a:ext uri="{FF2B5EF4-FFF2-40B4-BE49-F238E27FC236}">
                <a16:creationId xmlns:a16="http://schemas.microsoft.com/office/drawing/2014/main" id="{02145B85-05F0-4185-9F6F-AE416F8A75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BA10E1-8931-4664-8B15-CAB9FC81E556}" type="slidenum">
              <a:rPr lang="de-DE" smtClean="0">
                <a:latin typeface="Arial" panose="020B0604020202020204" pitchFamily="34" charset="0"/>
                <a:cs typeface="Arial" panose="020B0604020202020204" pitchFamily="34" charset="0"/>
              </a:rPr>
              <a:t>‹#›</a:t>
            </a:fld>
            <a:endParaRPr lang="de-D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250884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3"/>
    </inkml:context>
    <inkml:brush xml:id="br0">
      <inkml:brushProperty name="width" value="0.035" units="cm"/>
      <inkml:brushProperty name="height" value="0.035" units="cm"/>
    </inkml:brush>
  </inkml:definitions>
  <inkml:trace contextRef="#ctx0" brushRef="#br0">0 1 24575,'35'26'0,"-12"-10"0,1-1 0,5-4 0,-1 1 0,6 1 0,3 3 0,-10 1 0,-5-5 0,2 6 0,-12-11 0,18 11 0,-12-8 0,6 5 0,-15-11 0,36 9 0,19 10 0,7-8 0,-3 11 0,-49-24 0,2 7 0,-18-8 0,4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4"/>
    </inkml:context>
    <inkml:brush xml:id="br0">
      <inkml:brushProperty name="width" value="0.035" units="cm"/>
      <inkml:brushProperty name="height" value="0.035" units="cm"/>
    </inkml:brush>
  </inkml:definitions>
  <inkml:trace contextRef="#ctx0" brushRef="#br0">1 0 24575,'19'14'0,"-3"-7"0,-1 5 0,-5-7 0,11 9 0,-10-7 0,15 10 0,-18-14 0,4 3 0,-7-3 0,12 3 0,-8-2 0,7 0 0,-6-3 0,-7 1 0,10 0 0,-9 2 0,4-2 0,8 7 0,-4-7 0,7 5 0,2-4 0,-8 3 0,5-2 0,-11 1 0,-6-5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5"/>
    </inkml:context>
    <inkml:brush xml:id="br0">
      <inkml:brushProperty name="width" value="0.05" units="cm"/>
      <inkml:brushProperty name="height" value="0.05" units="cm"/>
    </inkml:brush>
  </inkml:definitions>
  <inkml:trace contextRef="#ctx0" brushRef="#br0">0 0 24575,'4'8'0,"-1"-2"0,0-3 0,0 1 0,23 19 0,-18-15 0,19 16 0,-23-22 0,6 8 0,-4-6 0,3 5 0,-5-6 0,5 6 0,9 3 0,9 7 0,-6-6 0,-1 0 0,6 5 0,0-2 0,4 4 0,-10-5 0,-12-9 0,3 7 0,-6-8 0,5 5 0,-4 2 0,5 0 0,9 12 0,-8-11 0,3 4 0,-1-4 0,3 6 0,3-5 0,-5 0 0,-8-11 0,-2 3 0,0-3 0,3 5 0,-3-4 0,2 1 0,-6-2 0,3-1 0,-2 1 0,1-1 0,0 0 0,1 1 0,-2-1 0,2 0 0,-2 0 0,0-1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6"/>
    </inkml:context>
    <inkml:brush xml:id="br0">
      <inkml:brushProperty name="width" value="0.05" units="cm"/>
      <inkml:brushProperty name="height" value="0.05" units="cm"/>
    </inkml:brush>
  </inkml:definitions>
  <inkml:trace contextRef="#ctx0" brushRef="#br0">1 1 24575,'1'17'0,"2"-1"0,0-8 0,1-3 0,2 1 0,-3-3 0,3 1 0,-1 3 0,1-2 0,0 2 0,0-2 0,2 4 0,-2-2 0,3 2 0,-6-4 0,1-3 0,5 8 0,-4-5 0,5 5 0,-6-5 0,-1 0 0,2 0 0,-1-1 0,-1 1 0,7 5 0,-5-3 0,5 3 0,-6-3 0,-1-1 0,0 0 0,1-3 0,-2 1 0,3 2 0,-2 0 0,2 4 0,-3-6 0,0 2 0,0-4 0,0 1 0,0 2 0,0-2 0,0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7"/>
    </inkml:context>
    <inkml:brush xml:id="br0">
      <inkml:brushProperty name="width" value="0.05" units="cm"/>
      <inkml:brushProperty name="height" value="0.05" units="cm"/>
    </inkml:brush>
  </inkml:definitions>
  <inkml:trace contextRef="#ctx0" brushRef="#br0">1 0 24575,'13'15'0,"-1"-3"0,-10-8 0,3-1 0,-2-1 0,1 1 0,3 1 0,-3 0 0,18 11 0,-16-9 0,13 7 0,-17-10 0,1 0 0,-1 0 0,0 0 0,1 1 0,-1 0 0,2-1 0,-3 2 0,4-2 0,-4 0 0,3-1 0,-1 1 0,-1-1 0,1 0 0,0 0 0,0-1 0,0 2 0,-3-3 0,-11-4 0,6 1 0,-6-3 0,7 1 0,2 1 0,-2-2 0,2 3 0,0 2 0,1-2 0,-5-1 0,1 0 0,-5-3 0,6 3 0,-1-4 0,4 4 0,-1-2 0,1 4 0,-5 0 0,-2 1 0,3 2 0,2 4 0,7 0 0,1 1 0,-1-1 0,-2-4 0,-1 2 0,5 1 0,-3-1 0,3 1 0,1-1 0,-5 0 0,5 0 0,-4-1 0,0 0 0,-1 0 0,-1-1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8"/>
    </inkml:context>
    <inkml:brush xml:id="br0">
      <inkml:brushProperty name="width" value="0.035" units="cm"/>
      <inkml:brushProperty name="height" value="0.035" units="cm"/>
    </inkml:brush>
  </inkml:definitions>
  <inkml:trace contextRef="#ctx0" brushRef="#br0">98 49 24575,'8'6'0,"0"-1"0,13 4 0,14 5 0,12 3 0,1 2 0,-17-10 0,-14-3 0,0 0 0,-8-3 0,7 3 0,-18-5 0,1-1 0,-9 0 0,-12-2 0,7 1 0,-6-3 0,1 4 0,6-1 0,-5 1 0,-1-5 0,15 4 0,-19-15 0,15 11 0,-8-8 0,10 10 0,-8-7 0,8 5 0,-7-4 0,9 4 0,-1 1 0,1 2 0,-5-3 0,6 4 0,-1-1 0,0 0 0,3 0 0,-2 1 0,-3-2 0,1 1 0,-2-2 0,4 2 0,0-2 0,1 1 0,1 0 0,-1-1 0,2 2 0,-2-1 0,1 1 0,0 0 0,0-2 0,0 1 0,0 1 0,-4-1 0,3 2 0,-2-1 0,3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69"/>
    </inkml:context>
    <inkml:brush xml:id="br0">
      <inkml:brushProperty name="width" value="0.035" units="cm"/>
      <inkml:brushProperty name="height" value="0.035" units="cm"/>
    </inkml:brush>
  </inkml:definitions>
  <inkml:trace contextRef="#ctx0" brushRef="#br0">0 9 24575,'5'4'0,"9"2"0,-6 1 0,6 0 0,-8-3 0,1 1 0,0 0 0,4 2 0,5 2 0,-10-6 0,3 1 0,-13-8 0,0 1 0,0-1 0,-8-6 0,9 4 0,-9-4 0,10 8 0,-1-1 0,0 0 0,1-1 0,-1-1 0,2 1 0,-1 2 0,1 0 0,-2 1 0,1-1 0,-1 2 0,-3-3 0,4 3 0,-3-2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0"/>
    </inkml:context>
    <inkml:brush xml:id="br0">
      <inkml:brushProperty name="width" value="0.035" units="cm"/>
      <inkml:brushProperty name="height" value="0.035" units="cm"/>
    </inkml:brush>
  </inkml:definitions>
  <inkml:trace contextRef="#ctx0" brushRef="#br0">1 0 24575,'6'7'0,"-1"-3"0,-2 0 0,-1-2 0,1 1 0,5 6 0,-3-5 0,4 4 0,-7-5 0,1-1 0,3 3 0,-3-2 0,4 2 0,4 9 0,1-1 0,2 6 0,-3-8 0,-3-3 0,-3-4 0,0 0 0,1 1 0,-3-2 0,3 0 0,1 2 0,0-3 0,9 6 0,-6-3 0,1 1 0,2 1 0,13 6 0,-8-4 0,9 6 0,-23-14 0,0 4 0,0-3 0,-3 1 0,1-1 0,-2-1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1"/>
    </inkml:context>
    <inkml:brush xml:id="br0">
      <inkml:brushProperty name="width" value="0.035" units="cm"/>
      <inkml:brushProperty name="height" value="0.035" units="cm"/>
    </inkml:brush>
  </inkml:definitions>
  <inkml:trace contextRef="#ctx0" brushRef="#br0">1 1 24575,'5'0'0,"0"0"0,28 3 0,-21-2 0,20 2 0,-27-3 0,-4 0 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2"/>
    </inkml:context>
    <inkml:brush xml:id="br0">
      <inkml:brushProperty name="width" value="0.1" units="cm"/>
      <inkml:brushProperty name="height" value="0.1" units="cm"/>
      <inkml:brushProperty name="color" value="#F1F5FB"/>
    </inkml:brush>
  </inkml:definitions>
  <inkml:trace contextRef="#ctx0" brushRef="#br0">0 0 24575,'1'11'0,"0"-2"0,1-6 0,-1 2 0,0-2 0,1 0 0,0 0 0,1-1 0,0 1 0,0 0 0,6 7 0,-5-6 0,5 5 0,-6-3 0,1-2 0,-1 3 0,0-4 0,1 1 0,-1-3 0,2 6 0,-2-5 0,2 4 0,-4-4 0,1 0 0,0 1 0,-1-1 0,2 5 0,0 1 0,1 0 0,0-2 0,0-3 0,-1 1 0,1 0 0,0 0 0,-2-1 0,0 1 0,2-1 0,0 0 0,-1 0 0,0 0 0,-1-1 0,0 2 0,1-1 0,1 0 0,-1 1 0,0-2 0,0 1 0,0 0 0,-1-2 0,0 2 0,5 0 0,-3 0 0,1 0 0,-1 2 0,-1-1 0,1 0 0,-2 0 0,2-1 0,-3 0 0,3 1 0,-2-2 0,12 9 0,5-2 0,-1 4 0,-1-5 0,-12-5 0,-4 0 0,3-1 0,-3 1 0,1-1 0,0 1 0,0-1 0,-2 0 0,2 2 0,0-2 0,-1 3 0,0-1 0,-1-1 0,1 2 0,0-1 0,2 0 0,-1 1 0,1-2 0,-2 0 0,1-1 0,0 0 0,6 7 0,-2-4 0,3 4 0,-6-6 0,0-1 0,3 2 0,1 0 0,3 3 0,-3-2 0,-1-1 0,-2-2 0,0-1 0,0 1 0,4 3 0,-3-3 0,1 2 0,-2-2 0,9 9 0,-3-3 0,4 2 0,-9-6 0,-3-3 0,2 5 0,2 0 0,1 0 0,-1-1 0,-2-3 0,-1 2 0,0-3 0,-1 3 0,2-3 0,-4 3 0,3-2 0,0 3 0,0-1 0,1-1 0,0 0 0,-2-1 0,-1-1 0,6 4 0,-3-2 0,7 0 0,-3 0 0,-1-2 0,-3 0 0,-15-5 0,-3 0 0,-5-3 0,8 3 0,1-1 0,7 2 0,-3 0 0,1 2 0,1 1 0,-1-2 0,2 0 0,-1-2 0,2 1 0,0 1 0,1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3"/>
    </inkml:context>
    <inkml:brush xml:id="br0">
      <inkml:brushProperty name="width" value="0.1" units="cm"/>
      <inkml:brushProperty name="height" value="0.1" units="cm"/>
      <inkml:brushProperty name="color" value="#F1F5FB"/>
    </inkml:brush>
  </inkml:definitions>
  <inkml:trace contextRef="#ctx0" brushRef="#br0">411 296 24575,'7'8'0,"-2"-2"0,4 3 0,-4-4 0,8 6 0,-9-8 0,3 0 0,-5-3 0,26 2 0,6 5 0,4-2 0,-10 5 0,-22-7 0,-6-2 0,-17-11 0,3-2 0,-7-1 0,3 3 0,12 8 0,-5-1 0,6 2 0,-17-9 0,-22-5 0,-1-4 0,4 5 0,23 6 0,1 1 0,-20-12 0,-2 2 0,3-1 0,19 11 0,11 2 0,-1 0 0,1 0 0,-1-1 0,5 3 0,-2-2 0,0 1 0,-9-11 0,1 4 0,-4-6 0,-5-3 0,11 12 0,-3-7 0,6 11 0,4 0 0,0 1 0,-2-1 0,-4-6 0,3 6 0,-2-5 0,4 7 0,3-1 0,-8-5 0,5 3 0,-4-3 0,7 7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4"/>
    </inkml:context>
    <inkml:brush xml:id="br0">
      <inkml:brushProperty name="width" value="0.1" units="cm"/>
      <inkml:brushProperty name="height" value="0.1" units="cm"/>
      <inkml:brushProperty name="color" value="#F1F5FB"/>
    </inkml:brush>
  </inkml:definitions>
  <inkml:trace contextRef="#ctx0" brushRef="#br0">1 0 24575,'0'8'0,"2"0"0,1-4 0,1 1 0,-1 0 0,0 0 0,-1-1 0,1-2 0,-2 0 0,9 11 0,-5-4 0,6 5 0,-6-7 0,-1 0 0,0-3 0,5 11 0,-3-10 0,0 6 0,-3-8 0,0 0 0,5 6 0,-2-3 0,5 7 0,0-2 0,-3 0 0,2 0 0,-4-3 0,-2-5 0,-2 1 0,0-2 0,1 2 0,0-1 0,1 2 0,3 1 0,-3 2 0,4-3 0,-5 1 0,1-2 0,0-2 0,0 2 0,-1-2 0,0 1 0,3 1 0,-2 0 0,4 1 0,7 7 0,-3-1 0,4 0 0,-9-3 0,-3-6 0,-3 1 0,6 2 0,-2 0 0,1 0 0,-2-1 0,0 3 0,0-2 0,17 14 0,1-7 0,6 11 0,-8-13 0,-11-2 0,-7-5 0,2 2 0,14 17 0,-9-11 0,6 9 0,-28-28 0,5 3 0,-9-5 0,7 1 0,-3 2 0,3-3 0,-2 4 0,11 0 0,-1-2 0,-1 0 0,2 2 0,-1 1 0,-1 3 0,0-3 0,0 2 0,-2-1 0,3 1 0,-1-1 0,1 3 0,1-1 0,-1 11 0,12 17 0,-5-6 0,7 8 0,-9-22 0,1-4 0,7 5 0,-4-4 0,4 3 0,-7-3 0,-1 0 0,15 8 0,-10-4 0,9 2 0,-10-5 0,10 3 0,-3-1 0,4 2 0,-10-3 0,-1-1 0,-2-1 0,2 0 0,-4-1 0,5 1 0,-4 0 0,2-1 0,-15-13 0,-5-2 0,-4-6 0,3 7 0,5 4 0,7 4 0,-19-13 0,1 3 0,-1-3 0,3 3 0,10 4 0,3 3 0,-3-2 0,5 6 0,1 0 0,1 0 0,0 0 0,0 0 0,-1 1 0,0 1 0,-1 7 0,3-2 0,-2 3 0,2-6 0,-1 0 0,-3-8 0,3 4 0,-4-6 0,4 7 0,-1-3 0,1 1 0,-1 0 0,1 1 0,-1 0 0,1 0 0,-2 1 0,2 1 0,-2-1 0,1-1 0,0-2 0,-1 2 0,2 0 0,-2 1 0,1 0 0,-1 0 0,-1-2 0,4 2 0,-3 0 0,3-2 0,-3 2 0,2-2 0,-1 0 0,2 2 0,1-1 0,-1 1 0,1-4 0,-1-12 0,0 7 0,0-6 0,0 15 0,1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5"/>
    </inkml:context>
    <inkml:brush xml:id="br0">
      <inkml:brushProperty name="width" value="0.1" units="cm"/>
      <inkml:brushProperty name="height" value="0.1" units="cm"/>
      <inkml:brushProperty name="color" value="#F1F5FB"/>
    </inkml:brush>
  </inkml:definitions>
  <inkml:trace contextRef="#ctx0" brushRef="#br0">0 1 24575,'5'6'0,"-1"-1"0,-3-3 0,2-1 0,-1 2 0,0-1 0,1 1 0,-1-2 0,0 1 0,2-1 0,7 6 0,-1-2 0,1 1 0,-6-3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6"/>
    </inkml:context>
    <inkml:brush xml:id="br0">
      <inkml:brushProperty name="width" value="0.035" units="cm"/>
      <inkml:brushProperty name="height" value="0.035" units="cm"/>
    </inkml:brush>
  </inkml:definitions>
  <inkml:trace contextRef="#ctx0" brushRef="#br0">0 1 24575,'35'26'0,"-12"-10"0,1-1 0,5-4 0,-1 1 0,6 1 0,3 3 0,-10 1 0,-5-5 0,2 6 0,-12-11 0,18 11 0,-12-8 0,6 5 0,-15-11 0,36 9 0,19 10 0,7-8 0,-3 11 0,-49-24 0,2 7 0,-18-8 0,4 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7"/>
    </inkml:context>
    <inkml:brush xml:id="br0">
      <inkml:brushProperty name="width" value="0.035" units="cm"/>
      <inkml:brushProperty name="height" value="0.035" units="cm"/>
    </inkml:brush>
  </inkml:definitions>
  <inkml:trace contextRef="#ctx0" brushRef="#br0">1 0 24575,'19'14'0,"-3"-7"0,-1 5 0,-5-7 0,11 9 0,-10-7 0,15 10 0,-18-14 0,4 3 0,-7-3 0,12 3 0,-8-2 0,7 0 0,-6-3 0,-7 1 0,10 0 0,-9 2 0,4-2 0,8 7 0,-4-7 0,7 5 0,2-4 0,-8 3 0,5-2 0,-11 1 0,-6-5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8"/>
    </inkml:context>
    <inkml:brush xml:id="br0">
      <inkml:brushProperty name="width" value="0.05" units="cm"/>
      <inkml:brushProperty name="height" value="0.05" units="cm"/>
    </inkml:brush>
  </inkml:definitions>
  <inkml:trace contextRef="#ctx0" brushRef="#br0">0 0 24575,'4'8'0,"-1"-2"0,0-3 0,0 1 0,23 19 0,-18-15 0,19 16 0,-23-22 0,6 8 0,-4-6 0,3 5 0,-5-6 0,5 6 0,9 3 0,9 7 0,-6-6 0,-1 0 0,6 5 0,0-2 0,4 4 0,-10-5 0,-12-9 0,3 7 0,-6-8 0,5 5 0,-4 2 0,5 0 0,9 12 0,-8-11 0,3 4 0,-1-4 0,3 6 0,3-5 0,-5 0 0,-8-11 0,-2 3 0,0-3 0,3 5 0,-3-4 0,2 1 0,-6-2 0,3-1 0,-2 1 0,1-1 0,0 0 0,1 1 0,-2-1 0,2 0 0,-2 0 0,0-1 0,-1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79"/>
    </inkml:context>
    <inkml:brush xml:id="br0">
      <inkml:brushProperty name="width" value="0.05" units="cm"/>
      <inkml:brushProperty name="height" value="0.05" units="cm"/>
    </inkml:brush>
  </inkml:definitions>
  <inkml:trace contextRef="#ctx0" brushRef="#br0">1 1 24575,'1'17'0,"2"-1"0,0-8 0,1-3 0,2 1 0,-3-3 0,3 1 0,-1 3 0,1-2 0,0 2 0,0-2 0,2 4 0,-2-2 0,3 2 0,-6-4 0,1-3 0,5 8 0,-4-5 0,5 5 0,-6-5 0,-1 0 0,2 0 0,-1-1 0,-1 1 0,7 5 0,-5-3 0,5 3 0,-6-3 0,-1-1 0,0 0 0,1-3 0,-2 1 0,3 2 0,-2 0 0,2 4 0,-3-6 0,0 2 0,0-4 0,0 1 0,0 2 0,0-2 0,0 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80"/>
    </inkml:context>
    <inkml:brush xml:id="br0">
      <inkml:brushProperty name="width" value="0.05" units="cm"/>
      <inkml:brushProperty name="height" value="0.05" units="cm"/>
    </inkml:brush>
  </inkml:definitions>
  <inkml:trace contextRef="#ctx0" brushRef="#br0">1 0 24575,'13'15'0,"-1"-3"0,-10-8 0,3-1 0,-2-1 0,1 1 0,3 1 0,-3 0 0,18 11 0,-16-9 0,13 7 0,-17-10 0,1 0 0,-1 0 0,0 0 0,1 1 0,-1 0 0,2-1 0,-3 2 0,4-2 0,-4 0 0,3-1 0,-1 1 0,-1-1 0,1 0 0,0 0 0,0-1 0,0 2 0,-3-3 0,-11-4 0,6 1 0,-6-3 0,7 1 0,2 1 0,-2-2 0,2 3 0,0 2 0,1-2 0,-5-1 0,1 0 0,-5-3 0,6 3 0,-1-4 0,4 4 0,-1-2 0,1 4 0,-5 0 0,-2 1 0,3 2 0,2 4 0,7 0 0,1 1 0,-1-1 0,-2-4 0,-1 2 0,5 1 0,-3-1 0,3 1 0,1-1 0,-5 0 0,5 0 0,-4-1 0,0 0 0,-1 0 0,-1-1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81"/>
    </inkml:context>
    <inkml:brush xml:id="br0">
      <inkml:brushProperty name="width" value="0.035" units="cm"/>
      <inkml:brushProperty name="height" value="0.035" units="cm"/>
    </inkml:brush>
  </inkml:definitions>
  <inkml:trace contextRef="#ctx0" brushRef="#br0">98 49 24575,'8'6'0,"0"-1"0,13 4 0,14 5 0,12 3 0,1 2 0,-17-10 0,-14-3 0,0 0 0,-8-3 0,7 3 0,-18-5 0,1-1 0,-9 0 0,-12-2 0,7 1 0,-6-3 0,1 4 0,6-1 0,-5 1 0,-1-5 0,15 4 0,-19-15 0,15 11 0,-8-8 0,10 10 0,-8-7 0,8 5 0,-7-4 0,9 4 0,-1 1 0,1 2 0,-5-3 0,6 4 0,-1-1 0,0 0 0,3 0 0,-2 1 0,-3-2 0,1 1 0,-2-2 0,4 2 0,0-2 0,1 1 0,1 0 0,-1-1 0,2 2 0,-2-1 0,1 1 0,0 0 0,0-2 0,0 1 0,0 1 0,-4-1 0,3 2 0,-2-1 0,3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82"/>
    </inkml:context>
    <inkml:brush xml:id="br0">
      <inkml:brushProperty name="width" value="0.035" units="cm"/>
      <inkml:brushProperty name="height" value="0.035" units="cm"/>
    </inkml:brush>
  </inkml:definitions>
  <inkml:trace contextRef="#ctx0" brushRef="#br0">0 9 24575,'5'4'0,"9"2"0,-6 1 0,6 0 0,-8-3 0,1 1 0,0 0 0,4 2 0,5 2 0,-10-6 0,3 1 0,-13-8 0,0 1 0,0-1 0,-8-6 0,9 4 0,-9-4 0,10 8 0,-1-1 0,0 0 0,1-1 0,-1-1 0,2 1 0,-1 2 0,1 0 0,-2 1 0,1-1 0,-1 2 0,-3-3 0,4 3 0,-3-2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83"/>
    </inkml:context>
    <inkml:brush xml:id="br0">
      <inkml:brushProperty name="width" value="0.035" units="cm"/>
      <inkml:brushProperty name="height" value="0.035" units="cm"/>
    </inkml:brush>
  </inkml:definitions>
  <inkml:trace contextRef="#ctx0" brushRef="#br0">1 0 24575,'6'7'0,"-1"-3"0,-2 0 0,-1-2 0,1 1 0,5 6 0,-3-5 0,4 4 0,-7-5 0,1-1 0,3 3 0,-3-2 0,4 2 0,4 9 0,1-1 0,2 6 0,-3-8 0,-3-3 0,-3-4 0,0 0 0,1 1 0,-3-2 0,3 0 0,1 2 0,0-3 0,9 6 0,-6-3 0,1 1 0,2 1 0,13 6 0,-8-4 0,9 6 0,-23-14 0,0 4 0,0-3 0,-3 1 0,1-1 0,-2-1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12:37:57.384"/>
    </inkml:context>
    <inkml:brush xml:id="br0">
      <inkml:brushProperty name="width" value="0.035" units="cm"/>
      <inkml:brushProperty name="height" value="0.035" units="cm"/>
    </inkml:brush>
  </inkml:definitions>
  <inkml:trace contextRef="#ctx0" brushRef="#br0">1 1 24575,'5'0'0,"0"0"0,28 3 0,-21-2 0,20 2 0,-27-3 0,-4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fld id="{41C3ABC7-27AC-6D40-86E4-0C355E54A764}" type="datetimeFigureOut">
              <a:rPr lang="de-DE" smtClean="0"/>
              <a:pPr/>
              <a:t>09.10.25</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cs typeface="Arial" panose="020B0604020202020204" pitchFamily="34" charset="0"/>
              </a:defRPr>
            </a:lvl1pPr>
          </a:lstStyle>
          <a:p>
            <a:fld id="{9E1CAD0D-262D-F145-A422-6EFA995C3514}" type="slidenum">
              <a:rPr lang="de-DE" smtClean="0"/>
              <a:pPr/>
              <a:t>‹#›</a:t>
            </a:fld>
            <a:endParaRPr lang="de-DE" dirty="0"/>
          </a:p>
        </p:txBody>
      </p:sp>
    </p:spTree>
    <p:extLst>
      <p:ext uri="{BB962C8B-B14F-4D97-AF65-F5344CB8AC3E}">
        <p14:creationId xmlns:p14="http://schemas.microsoft.com/office/powerpoint/2010/main" val="3648633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2pPr>
    <a:lvl3pPr marL="9144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3pPr>
    <a:lvl4pPr marL="13716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4pPr>
    <a:lvl5pPr marL="1828800" algn="l" defTabSz="914400" rtl="0" eaLnBrk="1" latinLnBrk="0" hangingPunct="1">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CAD0D-262D-F145-A422-6EFA995C3514}" type="slidenum">
              <a:rPr lang="de-DE" smtClean="0"/>
              <a:pPr/>
              <a:t>1</a:t>
            </a:fld>
            <a:endParaRPr lang="de-DE" dirty="0"/>
          </a:p>
        </p:txBody>
      </p:sp>
    </p:spTree>
    <p:extLst>
      <p:ext uri="{BB962C8B-B14F-4D97-AF65-F5344CB8AC3E}">
        <p14:creationId xmlns:p14="http://schemas.microsoft.com/office/powerpoint/2010/main" val="1753556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CAD0D-262D-F145-A422-6EFA995C3514}" type="slidenum">
              <a:rPr lang="de-DE" smtClean="0"/>
              <a:pPr/>
              <a:t>2</a:t>
            </a:fld>
            <a:endParaRPr lang="de-DE" dirty="0"/>
          </a:p>
        </p:txBody>
      </p:sp>
    </p:spTree>
    <p:extLst>
      <p:ext uri="{BB962C8B-B14F-4D97-AF65-F5344CB8AC3E}">
        <p14:creationId xmlns:p14="http://schemas.microsoft.com/office/powerpoint/2010/main" val="2538862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42571-288D-BC57-AAE6-2A4490208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9F817-8B64-FFD5-4170-98488B067D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CEA7C6-8CAE-1BB6-314D-99BEF9B477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5037BD-0021-56E9-21A6-A2E020EC0C09}"/>
              </a:ext>
            </a:extLst>
          </p:cNvPr>
          <p:cNvSpPr>
            <a:spLocks noGrp="1"/>
          </p:cNvSpPr>
          <p:nvPr>
            <p:ph type="sldNum" sz="quarter" idx="5"/>
          </p:nvPr>
        </p:nvSpPr>
        <p:spPr/>
        <p:txBody>
          <a:bodyPr/>
          <a:lstStyle/>
          <a:p>
            <a:fld id="{9E1CAD0D-262D-F145-A422-6EFA995C3514}" type="slidenum">
              <a:rPr lang="de-DE" smtClean="0"/>
              <a:pPr/>
              <a:t>3</a:t>
            </a:fld>
            <a:endParaRPr lang="de-DE" dirty="0"/>
          </a:p>
        </p:txBody>
      </p:sp>
    </p:spTree>
    <p:extLst>
      <p:ext uri="{BB962C8B-B14F-4D97-AF65-F5344CB8AC3E}">
        <p14:creationId xmlns:p14="http://schemas.microsoft.com/office/powerpoint/2010/main" val="2332623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CAD0D-262D-F145-A422-6EFA995C3514}" type="slidenum">
              <a:rPr lang="de-DE" smtClean="0"/>
              <a:pPr/>
              <a:t>7</a:t>
            </a:fld>
            <a:endParaRPr lang="de-DE" dirty="0"/>
          </a:p>
        </p:txBody>
      </p:sp>
    </p:spTree>
    <p:extLst>
      <p:ext uri="{BB962C8B-B14F-4D97-AF65-F5344CB8AC3E}">
        <p14:creationId xmlns:p14="http://schemas.microsoft.com/office/powerpoint/2010/main" val="1699848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Think of today’s foundation models as a beautifully baked cake—rich pre-training on massive data gives you </a:t>
            </a:r>
            <a:r>
              <a:rPr lang="en-GB" dirty="0" err="1"/>
              <a:t>flavor</a:t>
            </a:r>
            <a:r>
              <a:rPr lang="en-GB" dirty="0"/>
              <a:t> and structure. But no matter how tasty the cake is, you still need that last flourish to make it shine: that’s exactly what reinforcement learning does. RL is the cherry on top—it lets your agent learn from its own trial-and-error, to fine-tune </a:t>
            </a:r>
            <a:r>
              <a:rPr lang="en-GB" dirty="0" err="1"/>
              <a:t>behaviors</a:t>
            </a:r>
            <a:r>
              <a:rPr lang="en-GB" dirty="0"/>
              <a:t>, recover from mistakes, and continuously improve in environments it’s never seen before. In a 6G world of billions of interacting agents, that ability to adapt on-the-fly from sparse rewards will be the true game-changer.</a:t>
            </a:r>
            <a:endParaRPr lang="en-US" dirty="0"/>
          </a:p>
          <a:p>
            <a:endParaRPr lang="en-US" dirty="0"/>
          </a:p>
        </p:txBody>
      </p:sp>
      <p:sp>
        <p:nvSpPr>
          <p:cNvPr id="4" name="Slide Number Placeholder 3"/>
          <p:cNvSpPr>
            <a:spLocks noGrp="1"/>
          </p:cNvSpPr>
          <p:nvPr>
            <p:ph type="sldNum" sz="quarter" idx="5"/>
          </p:nvPr>
        </p:nvSpPr>
        <p:spPr/>
        <p:txBody>
          <a:bodyPr/>
          <a:lstStyle/>
          <a:p>
            <a:fld id="{9E1CAD0D-262D-F145-A422-6EFA995C3514}" type="slidenum">
              <a:rPr lang="de-DE" smtClean="0"/>
              <a:pPr/>
              <a:t>9</a:t>
            </a:fld>
            <a:endParaRPr lang="de-DE" dirty="0"/>
          </a:p>
        </p:txBody>
      </p:sp>
    </p:spTree>
    <p:extLst>
      <p:ext uri="{BB962C8B-B14F-4D97-AF65-F5344CB8AC3E}">
        <p14:creationId xmlns:p14="http://schemas.microsoft.com/office/powerpoint/2010/main" val="4087209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1CAD0D-262D-F145-A422-6EFA995C3514}" type="slidenum">
              <a:rPr lang="de-DE" smtClean="0"/>
              <a:pPr/>
              <a:t>15</a:t>
            </a:fld>
            <a:endParaRPr lang="de-DE" dirty="0"/>
          </a:p>
        </p:txBody>
      </p:sp>
    </p:spTree>
    <p:extLst>
      <p:ext uri="{BB962C8B-B14F-4D97-AF65-F5344CB8AC3E}">
        <p14:creationId xmlns:p14="http://schemas.microsoft.com/office/powerpoint/2010/main" val="2440552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D684-0333-6BC7-2309-02B12E3EE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9718B-A505-10E2-0D9C-CE44219129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27F38-09BC-8CBB-190F-84CDD2AB62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87EB9-8CEB-48F4-9AC4-394AD4C9CDCB}"/>
              </a:ext>
            </a:extLst>
          </p:cNvPr>
          <p:cNvSpPr>
            <a:spLocks noGrp="1"/>
          </p:cNvSpPr>
          <p:nvPr>
            <p:ph type="sldNum" sz="quarter" idx="5"/>
          </p:nvPr>
        </p:nvSpPr>
        <p:spPr/>
        <p:txBody>
          <a:bodyPr/>
          <a:lstStyle/>
          <a:p>
            <a:fld id="{9E1CAD0D-262D-F145-A422-6EFA995C3514}" type="slidenum">
              <a:rPr lang="de-DE" smtClean="0"/>
              <a:pPr/>
              <a:t>16</a:t>
            </a:fld>
            <a:endParaRPr lang="de-DE" dirty="0"/>
          </a:p>
        </p:txBody>
      </p:sp>
    </p:spTree>
    <p:extLst>
      <p:ext uri="{BB962C8B-B14F-4D97-AF65-F5344CB8AC3E}">
        <p14:creationId xmlns:p14="http://schemas.microsoft.com/office/powerpoint/2010/main" val="10988788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281EB-B30A-729B-55A2-6FE5AC641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6EE214-E19D-3067-55C8-AB83DA2F0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050C8-58E4-CC7B-43E6-453A22A066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B29D9E-E48D-F2D7-4074-B8FA90BAF5B9}"/>
              </a:ext>
            </a:extLst>
          </p:cNvPr>
          <p:cNvSpPr>
            <a:spLocks noGrp="1"/>
          </p:cNvSpPr>
          <p:nvPr>
            <p:ph type="sldNum" sz="quarter" idx="5"/>
          </p:nvPr>
        </p:nvSpPr>
        <p:spPr/>
        <p:txBody>
          <a:bodyPr/>
          <a:lstStyle/>
          <a:p>
            <a:fld id="{9E1CAD0D-262D-F145-A422-6EFA995C3514}" type="slidenum">
              <a:rPr lang="de-DE" smtClean="0"/>
              <a:pPr/>
              <a:t>17</a:t>
            </a:fld>
            <a:endParaRPr lang="de-DE" dirty="0"/>
          </a:p>
        </p:txBody>
      </p:sp>
    </p:spTree>
    <p:extLst>
      <p:ext uri="{BB962C8B-B14F-4D97-AF65-F5344CB8AC3E}">
        <p14:creationId xmlns:p14="http://schemas.microsoft.com/office/powerpoint/2010/main" val="3872320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228600" indent="-228600">
              <a:buAutoNum type="arabicPeriod"/>
            </a:pPr>
            <a:r>
              <a:rPr lang="en-US" dirty="0"/>
              <a:t>https://www.51cto.com/article/815325.html</a:t>
            </a:r>
          </a:p>
          <a:p>
            <a:pPr marL="0" indent="0">
              <a:buNone/>
            </a:pPr>
            <a:endParaRPr lang="en-US" dirty="0"/>
          </a:p>
          <a:p>
            <a:pPr>
              <a:buNone/>
            </a:pPr>
            <a:r>
              <a:rPr lang="en-GB" b="1" dirty="0"/>
              <a:t>Left panel:</a:t>
            </a:r>
            <a:r>
              <a:rPr lang="en-GB" dirty="0"/>
              <a:t> the big grey circle is all the compute we pour into pre-training our foundation models. The tiny red dot at the edge? That’s the fraction reserved for reinforcement learning. Historically, RL has been just a small afterthought—what we call the ‘cherry on top.’</a:t>
            </a:r>
          </a:p>
          <a:p>
            <a:pPr>
              <a:buNone/>
            </a:pPr>
            <a:r>
              <a:rPr lang="en-GB" b="1" dirty="0"/>
              <a:t>Right panel:</a:t>
            </a:r>
            <a:r>
              <a:rPr lang="en-GB" dirty="0"/>
              <a:t> here’s the meme itself: RL as the cherry decorating a cake of pre-training.</a:t>
            </a:r>
          </a:p>
          <a:p>
            <a:r>
              <a:rPr lang="en-GB" b="1" dirty="0"/>
              <a:t>Bottom quote:</a:t>
            </a:r>
            <a:r>
              <a:rPr lang="en-GB" dirty="0"/>
              <a:t> Roberts points out that OpenAI is trying to flip this story—elevating reinforcement learning from a mere garnish to the main event. Their new LLM-based RL agents (highlighted in red) signal a shift toward RL-driven adaptation and decision-making as the core of next-generation AI.”</a:t>
            </a:r>
          </a:p>
          <a:p>
            <a:endParaRPr lang="en-US" dirty="0"/>
          </a:p>
        </p:txBody>
      </p:sp>
      <p:sp>
        <p:nvSpPr>
          <p:cNvPr id="4" name="Slide Number Placeholder 3"/>
          <p:cNvSpPr>
            <a:spLocks noGrp="1"/>
          </p:cNvSpPr>
          <p:nvPr>
            <p:ph type="sldNum" sz="quarter" idx="5"/>
          </p:nvPr>
        </p:nvSpPr>
        <p:spPr/>
        <p:txBody>
          <a:bodyPr/>
          <a:lstStyle/>
          <a:p>
            <a:fld id="{9E1CAD0D-262D-F145-A422-6EFA995C3514}" type="slidenum">
              <a:rPr lang="de-DE" smtClean="0"/>
              <a:pPr/>
              <a:t>22</a:t>
            </a:fld>
            <a:endParaRPr lang="de-DE" dirty="0"/>
          </a:p>
        </p:txBody>
      </p:sp>
    </p:spTree>
    <p:extLst>
      <p:ext uri="{BB962C8B-B14F-4D97-AF65-F5344CB8AC3E}">
        <p14:creationId xmlns:p14="http://schemas.microsoft.com/office/powerpoint/2010/main" val="18969541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äsentationstitel, LMU">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8F51A07C-FE1A-F540-8B1D-0E34068DA5FD}"/>
              </a:ext>
            </a:extLst>
          </p:cNvPr>
          <p:cNvPicPr>
            <a:picLocks noChangeAspect="1"/>
          </p:cNvPicPr>
          <p:nvPr userDrawn="1"/>
        </p:nvPicPr>
        <p:blipFill rotWithShape="1">
          <a:blip r:embed="rId2">
            <a:alphaModFix amt="14000"/>
          </a:blip>
          <a:srcRect t="8872" b="1720"/>
          <a:stretch/>
        </p:blipFill>
        <p:spPr>
          <a:xfrm>
            <a:off x="10963933" y="449575"/>
            <a:ext cx="776688" cy="806400"/>
          </a:xfrm>
          <a:prstGeom prst="rect">
            <a:avLst/>
          </a:prstGeom>
        </p:spPr>
      </p:pic>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10" name="Textplatzhalter 4">
            <a:extLst>
              <a:ext uri="{FF2B5EF4-FFF2-40B4-BE49-F238E27FC236}">
                <a16:creationId xmlns:a16="http://schemas.microsoft.com/office/drawing/2014/main" id="{32C0B7F7-E1DB-3246-A459-8E85B8A521F5}"/>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8" name="Titel 1">
            <a:extLst>
              <a:ext uri="{FF2B5EF4-FFF2-40B4-BE49-F238E27FC236}">
                <a16:creationId xmlns:a16="http://schemas.microsoft.com/office/drawing/2014/main" id="{82BFC629-71E6-471E-8487-188A0F977CE1}"/>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4" name="Textplatzhalter 3">
            <a:extLst>
              <a:ext uri="{FF2B5EF4-FFF2-40B4-BE49-F238E27FC236}">
                <a16:creationId xmlns:a16="http://schemas.microsoft.com/office/drawing/2014/main" id="{6B23C141-9C08-4C77-B8A1-5F3A1981A0FE}"/>
              </a:ext>
            </a:extLst>
          </p:cNvPr>
          <p:cNvSpPr>
            <a:spLocks noGrp="1"/>
          </p:cNvSpPr>
          <p:nvPr>
            <p:ph type="body" sz="quarter" idx="15"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pic>
        <p:nvPicPr>
          <p:cNvPr id="11" name="Bildplatzhalter 11">
            <a:extLst>
              <a:ext uri="{FF2B5EF4-FFF2-40B4-BE49-F238E27FC236}">
                <a16:creationId xmlns:a16="http://schemas.microsoft.com/office/drawing/2014/main" id="{78077E49-BB75-47DD-A564-32F635D2129E}"/>
              </a:ext>
            </a:extLst>
          </p:cNvPr>
          <p:cNvPicPr>
            <a:picLocks noChangeAspect="1"/>
          </p:cNvPicPr>
          <p:nvPr userDrawn="1"/>
        </p:nvPicPr>
        <p:blipFill>
          <a:blip r:embed="rId3"/>
          <a:srcRect t="5" b="5"/>
          <a:stretch>
            <a:fillRect/>
          </a:stretch>
        </p:blipFill>
        <p:spPr>
          <a:xfrm>
            <a:off x="5372100" y="1493641"/>
            <a:ext cx="6819900" cy="5373687"/>
          </a:xfrm>
          <a:prstGeom prst="rect">
            <a:avLst/>
          </a:prstGeom>
        </p:spPr>
      </p:pic>
    </p:spTree>
    <p:extLst>
      <p:ext uri="{BB962C8B-B14F-4D97-AF65-F5344CB8AC3E}">
        <p14:creationId xmlns:p14="http://schemas.microsoft.com/office/powerpoint/2010/main" val="3098013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äsentationstitel, Bi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8F51A07C-FE1A-F540-8B1D-0E34068DA5FD}"/>
              </a:ext>
            </a:extLst>
          </p:cNvPr>
          <p:cNvPicPr>
            <a:picLocks noChangeAspect="1"/>
          </p:cNvPicPr>
          <p:nvPr userDrawn="1"/>
        </p:nvPicPr>
        <p:blipFill rotWithShape="1">
          <a:blip r:embed="rId2">
            <a:alphaModFix amt="14000"/>
          </a:blip>
          <a:srcRect t="8872" b="1720"/>
          <a:stretch/>
        </p:blipFill>
        <p:spPr>
          <a:xfrm>
            <a:off x="10963933" y="449575"/>
            <a:ext cx="776688" cy="806400"/>
          </a:xfrm>
          <a:prstGeom prst="rect">
            <a:avLst/>
          </a:prstGeom>
        </p:spPr>
      </p:pic>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10" name="Textplatzhalter 4">
            <a:extLst>
              <a:ext uri="{FF2B5EF4-FFF2-40B4-BE49-F238E27FC236}">
                <a16:creationId xmlns:a16="http://schemas.microsoft.com/office/drawing/2014/main" id="{32C0B7F7-E1DB-3246-A459-8E85B8A521F5}"/>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8" name="Titel 1">
            <a:extLst>
              <a:ext uri="{FF2B5EF4-FFF2-40B4-BE49-F238E27FC236}">
                <a16:creationId xmlns:a16="http://schemas.microsoft.com/office/drawing/2014/main" id="{82BFC629-71E6-471E-8487-188A0F977CE1}"/>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3" name="Bildplatzhalter 2">
            <a:extLst>
              <a:ext uri="{FF2B5EF4-FFF2-40B4-BE49-F238E27FC236}">
                <a16:creationId xmlns:a16="http://schemas.microsoft.com/office/drawing/2014/main" id="{684D7C6A-4C73-4663-8682-62AF58C8B94E}"/>
              </a:ext>
            </a:extLst>
          </p:cNvPr>
          <p:cNvSpPr>
            <a:spLocks noGrp="1"/>
          </p:cNvSpPr>
          <p:nvPr>
            <p:ph type="pic" sz="quarter" idx="14"/>
          </p:nvPr>
        </p:nvSpPr>
        <p:spPr>
          <a:xfrm>
            <a:off x="5372100" y="1484313"/>
            <a:ext cx="6819900" cy="5373687"/>
          </a:xfrm>
          <a:prstGeom prst="rect">
            <a:avLst/>
          </a:prstGeom>
        </p:spPr>
        <p:txBody>
          <a:bodyPr/>
          <a:lstStyle>
            <a:lvl1pPr marL="0" indent="0">
              <a:buNone/>
              <a:defRPr/>
            </a:lvl1pPr>
          </a:lstStyle>
          <a:p>
            <a:r>
              <a:rPr lang="en-GB"/>
              <a:t>Click icon to add picture</a:t>
            </a:r>
            <a:endParaRPr lang="de-DE" dirty="0"/>
          </a:p>
        </p:txBody>
      </p:sp>
      <p:sp>
        <p:nvSpPr>
          <p:cNvPr id="4" name="Textplatzhalter 3">
            <a:extLst>
              <a:ext uri="{FF2B5EF4-FFF2-40B4-BE49-F238E27FC236}">
                <a16:creationId xmlns:a16="http://schemas.microsoft.com/office/drawing/2014/main" id="{6B23C141-9C08-4C77-B8A1-5F3A1981A0FE}"/>
              </a:ext>
            </a:extLst>
          </p:cNvPr>
          <p:cNvSpPr>
            <a:spLocks noGrp="1"/>
          </p:cNvSpPr>
          <p:nvPr>
            <p:ph type="body" sz="quarter" idx="15"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spTree>
    <p:extLst>
      <p:ext uri="{BB962C8B-B14F-4D97-AF65-F5344CB8AC3E}">
        <p14:creationId xmlns:p14="http://schemas.microsoft.com/office/powerpoint/2010/main" val="2835232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äsentationstitel, LMU, LogoTeileinheit">
    <p:spTree>
      <p:nvGrpSpPr>
        <p:cNvPr id="1" name=""/>
        <p:cNvGrpSpPr/>
        <p:nvPr/>
      </p:nvGrpSpPr>
      <p:grpSpPr>
        <a:xfrm>
          <a:off x="0" y="0"/>
          <a:ext cx="0" cy="0"/>
          <a:chOff x="0" y="0"/>
          <a:chExt cx="0" cy="0"/>
        </a:xfrm>
      </p:grpSpPr>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15" name="Bildplatzhalter 6">
            <a:extLst>
              <a:ext uri="{FF2B5EF4-FFF2-40B4-BE49-F238E27FC236}">
                <a16:creationId xmlns:a16="http://schemas.microsoft.com/office/drawing/2014/main" id="{9E3EC0D9-ADF9-484A-8AF7-707A2C63BA89}"/>
              </a:ext>
            </a:extLst>
          </p:cNvPr>
          <p:cNvSpPr>
            <a:spLocks noGrp="1"/>
          </p:cNvSpPr>
          <p:nvPr>
            <p:ph type="pic" sz="quarter" idx="13"/>
          </p:nvPr>
        </p:nvSpPr>
        <p:spPr>
          <a:xfrm>
            <a:off x="10469881" y="613578"/>
            <a:ext cx="886967" cy="455148"/>
          </a:xfrm>
          <a:prstGeom prst="rect">
            <a:avLst/>
          </a:prstGeom>
        </p:spPr>
        <p:txBody>
          <a:bodyPr anchor="ctr" anchorCtr="0"/>
          <a:lstStyle>
            <a:lvl1pPr algn="ctr">
              <a:buFontTx/>
              <a:buNone/>
              <a:defRPr sz="800" baseline="0"/>
            </a:lvl1pPr>
          </a:lstStyle>
          <a:p>
            <a:r>
              <a:rPr lang="en-GB"/>
              <a:t>Click icon to add picture</a:t>
            </a:r>
            <a:endParaRPr lang="de-DE" dirty="0"/>
          </a:p>
        </p:txBody>
      </p:sp>
      <p:sp>
        <p:nvSpPr>
          <p:cNvPr id="17" name="Textplatzhalter 4">
            <a:extLst>
              <a:ext uri="{FF2B5EF4-FFF2-40B4-BE49-F238E27FC236}">
                <a16:creationId xmlns:a16="http://schemas.microsoft.com/office/drawing/2014/main" id="{80A05923-C642-2E4E-840A-327720B765D1}"/>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8" name="Titel 1">
            <a:extLst>
              <a:ext uri="{FF2B5EF4-FFF2-40B4-BE49-F238E27FC236}">
                <a16:creationId xmlns:a16="http://schemas.microsoft.com/office/drawing/2014/main" id="{454D6F9D-B6EB-4F72-A2AF-B87B1D3A9A48}"/>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9" name="Textplatzhalter 3">
            <a:extLst>
              <a:ext uri="{FF2B5EF4-FFF2-40B4-BE49-F238E27FC236}">
                <a16:creationId xmlns:a16="http://schemas.microsoft.com/office/drawing/2014/main" id="{4397F4FF-24FF-46A8-9FD5-D8297FC3345C}"/>
              </a:ext>
            </a:extLst>
          </p:cNvPr>
          <p:cNvSpPr>
            <a:spLocks noGrp="1"/>
          </p:cNvSpPr>
          <p:nvPr>
            <p:ph type="body" sz="quarter" idx="16"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pic>
        <p:nvPicPr>
          <p:cNvPr id="10" name="Bildplatzhalter 11">
            <a:extLst>
              <a:ext uri="{FF2B5EF4-FFF2-40B4-BE49-F238E27FC236}">
                <a16:creationId xmlns:a16="http://schemas.microsoft.com/office/drawing/2014/main" id="{E49330AE-63CD-4FA0-B981-354A53DBEE02}"/>
              </a:ext>
            </a:extLst>
          </p:cNvPr>
          <p:cNvPicPr>
            <a:picLocks noChangeAspect="1"/>
          </p:cNvPicPr>
          <p:nvPr userDrawn="1"/>
        </p:nvPicPr>
        <p:blipFill>
          <a:blip r:embed="rId2"/>
          <a:srcRect t="5" b="5"/>
          <a:stretch>
            <a:fillRect/>
          </a:stretch>
        </p:blipFill>
        <p:spPr>
          <a:xfrm>
            <a:off x="5372100" y="1493641"/>
            <a:ext cx="6819900" cy="5373687"/>
          </a:xfrm>
          <a:prstGeom prst="rect">
            <a:avLst/>
          </a:prstGeom>
        </p:spPr>
      </p:pic>
    </p:spTree>
    <p:extLst>
      <p:ext uri="{BB962C8B-B14F-4D97-AF65-F5344CB8AC3E}">
        <p14:creationId xmlns:p14="http://schemas.microsoft.com/office/powerpoint/2010/main" val="3898159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äsentationstitel, Bild, LogoTeileinheit">
    <p:spTree>
      <p:nvGrpSpPr>
        <p:cNvPr id="1" name=""/>
        <p:cNvGrpSpPr/>
        <p:nvPr/>
      </p:nvGrpSpPr>
      <p:grpSpPr>
        <a:xfrm>
          <a:off x="0" y="0"/>
          <a:ext cx="0" cy="0"/>
          <a:chOff x="0" y="0"/>
          <a:chExt cx="0" cy="0"/>
        </a:xfrm>
      </p:grpSpPr>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15" name="Bildplatzhalter 6">
            <a:extLst>
              <a:ext uri="{FF2B5EF4-FFF2-40B4-BE49-F238E27FC236}">
                <a16:creationId xmlns:a16="http://schemas.microsoft.com/office/drawing/2014/main" id="{9E3EC0D9-ADF9-484A-8AF7-707A2C63BA89}"/>
              </a:ext>
            </a:extLst>
          </p:cNvPr>
          <p:cNvSpPr>
            <a:spLocks noGrp="1"/>
          </p:cNvSpPr>
          <p:nvPr>
            <p:ph type="pic" sz="quarter" idx="13"/>
          </p:nvPr>
        </p:nvSpPr>
        <p:spPr>
          <a:xfrm>
            <a:off x="10469881" y="613578"/>
            <a:ext cx="886967" cy="455148"/>
          </a:xfrm>
          <a:prstGeom prst="rect">
            <a:avLst/>
          </a:prstGeom>
        </p:spPr>
        <p:txBody>
          <a:bodyPr anchor="ctr" anchorCtr="0"/>
          <a:lstStyle>
            <a:lvl1pPr algn="ctr">
              <a:buFontTx/>
              <a:buNone/>
              <a:defRPr sz="800" baseline="0"/>
            </a:lvl1pPr>
          </a:lstStyle>
          <a:p>
            <a:r>
              <a:rPr lang="en-GB"/>
              <a:t>Click icon to add picture</a:t>
            </a:r>
            <a:endParaRPr lang="de-DE" dirty="0"/>
          </a:p>
        </p:txBody>
      </p:sp>
      <p:sp>
        <p:nvSpPr>
          <p:cNvPr id="17" name="Textplatzhalter 4">
            <a:extLst>
              <a:ext uri="{FF2B5EF4-FFF2-40B4-BE49-F238E27FC236}">
                <a16:creationId xmlns:a16="http://schemas.microsoft.com/office/drawing/2014/main" id="{80A05923-C642-2E4E-840A-327720B765D1}"/>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8" name="Titel 1">
            <a:extLst>
              <a:ext uri="{FF2B5EF4-FFF2-40B4-BE49-F238E27FC236}">
                <a16:creationId xmlns:a16="http://schemas.microsoft.com/office/drawing/2014/main" id="{454D6F9D-B6EB-4F72-A2AF-B87B1D3A9A48}"/>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3" name="Bildplatzhalter 2">
            <a:extLst>
              <a:ext uri="{FF2B5EF4-FFF2-40B4-BE49-F238E27FC236}">
                <a16:creationId xmlns:a16="http://schemas.microsoft.com/office/drawing/2014/main" id="{78D60EF3-4399-487D-BFA4-B4727760F97A}"/>
              </a:ext>
            </a:extLst>
          </p:cNvPr>
          <p:cNvSpPr>
            <a:spLocks noGrp="1"/>
          </p:cNvSpPr>
          <p:nvPr>
            <p:ph type="pic" sz="quarter" idx="15"/>
          </p:nvPr>
        </p:nvSpPr>
        <p:spPr>
          <a:xfrm>
            <a:off x="5362575" y="1484313"/>
            <a:ext cx="6829425" cy="5373687"/>
          </a:xfrm>
          <a:prstGeom prst="rect">
            <a:avLst/>
          </a:prstGeom>
        </p:spPr>
        <p:txBody>
          <a:bodyPr/>
          <a:lstStyle>
            <a:lvl1pPr marL="0" indent="0">
              <a:buNone/>
              <a:defRPr/>
            </a:lvl1pPr>
          </a:lstStyle>
          <a:p>
            <a:r>
              <a:rPr lang="en-GB"/>
              <a:t>Click icon to add picture</a:t>
            </a:r>
            <a:endParaRPr lang="de-DE"/>
          </a:p>
        </p:txBody>
      </p:sp>
      <p:sp>
        <p:nvSpPr>
          <p:cNvPr id="9" name="Textplatzhalter 3">
            <a:extLst>
              <a:ext uri="{FF2B5EF4-FFF2-40B4-BE49-F238E27FC236}">
                <a16:creationId xmlns:a16="http://schemas.microsoft.com/office/drawing/2014/main" id="{4397F4FF-24FF-46A8-9FD5-D8297FC3345C}"/>
              </a:ext>
            </a:extLst>
          </p:cNvPr>
          <p:cNvSpPr>
            <a:spLocks noGrp="1"/>
          </p:cNvSpPr>
          <p:nvPr>
            <p:ph type="body" sz="quarter" idx="16"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spTree>
    <p:extLst>
      <p:ext uri="{BB962C8B-B14F-4D97-AF65-F5344CB8AC3E}">
        <p14:creationId xmlns:p14="http://schemas.microsoft.com/office/powerpoint/2010/main" val="2612453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äsentationstitel">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A01B540-1535-644B-B828-DE3173BE5EAF}"/>
              </a:ext>
            </a:extLst>
          </p:cNvPr>
          <p:cNvSpPr/>
          <p:nvPr userDrawn="1"/>
        </p:nvSpPr>
        <p:spPr>
          <a:xfrm>
            <a:off x="5376454" y="1484313"/>
            <a:ext cx="6815545" cy="5373687"/>
          </a:xfrm>
          <a:prstGeom prst="rect">
            <a:avLst/>
          </a:prstGeom>
          <a:solidFill>
            <a:srgbClr val="6164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pic>
        <p:nvPicPr>
          <p:cNvPr id="4" name="Grafik 3">
            <a:extLst>
              <a:ext uri="{FF2B5EF4-FFF2-40B4-BE49-F238E27FC236}">
                <a16:creationId xmlns:a16="http://schemas.microsoft.com/office/drawing/2014/main" id="{06968607-CF30-B14E-8DDB-DAB295493CFF}"/>
              </a:ext>
            </a:extLst>
          </p:cNvPr>
          <p:cNvPicPr>
            <a:picLocks noChangeAspect="1"/>
          </p:cNvPicPr>
          <p:nvPr userDrawn="1"/>
        </p:nvPicPr>
        <p:blipFill>
          <a:blip r:embed="rId2">
            <a:alphaModFix/>
          </a:blip>
          <a:stretch>
            <a:fillRect/>
          </a:stretch>
        </p:blipFill>
        <p:spPr>
          <a:xfrm>
            <a:off x="8648700" y="2743200"/>
            <a:ext cx="3543300" cy="4114800"/>
          </a:xfrm>
          <a:prstGeom prst="rect">
            <a:avLst/>
          </a:prstGeom>
        </p:spPr>
      </p:pic>
      <p:sp>
        <p:nvSpPr>
          <p:cNvPr id="11" name="Textplatzhalter 4">
            <a:extLst>
              <a:ext uri="{FF2B5EF4-FFF2-40B4-BE49-F238E27FC236}">
                <a16:creationId xmlns:a16="http://schemas.microsoft.com/office/drawing/2014/main" id="{9AD86DE8-5751-A440-B2C4-58BF4A19C043}"/>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9" name="Titel 1">
            <a:extLst>
              <a:ext uri="{FF2B5EF4-FFF2-40B4-BE49-F238E27FC236}">
                <a16:creationId xmlns:a16="http://schemas.microsoft.com/office/drawing/2014/main" id="{A0925BAD-1A03-46E3-83C6-927F3F232287}"/>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10" name="Textplatzhalter 3">
            <a:extLst>
              <a:ext uri="{FF2B5EF4-FFF2-40B4-BE49-F238E27FC236}">
                <a16:creationId xmlns:a16="http://schemas.microsoft.com/office/drawing/2014/main" id="{8A3F8208-5ABF-4B9A-B91A-356813173BB7}"/>
              </a:ext>
            </a:extLst>
          </p:cNvPr>
          <p:cNvSpPr>
            <a:spLocks noGrp="1"/>
          </p:cNvSpPr>
          <p:nvPr>
            <p:ph type="body" sz="quarter" idx="15"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spTree>
    <p:extLst>
      <p:ext uri="{BB962C8B-B14F-4D97-AF65-F5344CB8AC3E}">
        <p14:creationId xmlns:p14="http://schemas.microsoft.com/office/powerpoint/2010/main" val="387477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äsentationstitel, LogoTeileinhei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A01B540-1535-644B-B828-DE3173BE5EAF}"/>
              </a:ext>
            </a:extLst>
          </p:cNvPr>
          <p:cNvSpPr/>
          <p:nvPr userDrawn="1"/>
        </p:nvSpPr>
        <p:spPr>
          <a:xfrm>
            <a:off x="5376454" y="1484313"/>
            <a:ext cx="6815545" cy="537368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pic>
        <p:nvPicPr>
          <p:cNvPr id="4" name="Grafik 3">
            <a:extLst>
              <a:ext uri="{FF2B5EF4-FFF2-40B4-BE49-F238E27FC236}">
                <a16:creationId xmlns:a16="http://schemas.microsoft.com/office/drawing/2014/main" id="{06968607-CF30-B14E-8DDB-DAB295493CFF}"/>
              </a:ext>
            </a:extLst>
          </p:cNvPr>
          <p:cNvPicPr>
            <a:picLocks noChangeAspect="1"/>
          </p:cNvPicPr>
          <p:nvPr userDrawn="1"/>
        </p:nvPicPr>
        <p:blipFill>
          <a:blip r:embed="rId2">
            <a:alphaModFix/>
          </a:blip>
          <a:stretch>
            <a:fillRect/>
          </a:stretch>
        </p:blipFill>
        <p:spPr>
          <a:xfrm>
            <a:off x="8648700" y="2743200"/>
            <a:ext cx="3543300" cy="4114800"/>
          </a:xfrm>
          <a:prstGeom prst="rect">
            <a:avLst/>
          </a:prstGeom>
        </p:spPr>
      </p:pic>
      <p:sp>
        <p:nvSpPr>
          <p:cNvPr id="11" name="Textplatzhalter 4">
            <a:extLst>
              <a:ext uri="{FF2B5EF4-FFF2-40B4-BE49-F238E27FC236}">
                <a16:creationId xmlns:a16="http://schemas.microsoft.com/office/drawing/2014/main" id="{9AD86DE8-5751-A440-B2C4-58BF4A19C043}"/>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17" name="Bildplatzhalter 6">
            <a:extLst>
              <a:ext uri="{FF2B5EF4-FFF2-40B4-BE49-F238E27FC236}">
                <a16:creationId xmlns:a16="http://schemas.microsoft.com/office/drawing/2014/main" id="{CB3A64BB-66BD-574D-8D10-B6B91D0A2D65}"/>
              </a:ext>
            </a:extLst>
          </p:cNvPr>
          <p:cNvSpPr>
            <a:spLocks noGrp="1"/>
          </p:cNvSpPr>
          <p:nvPr>
            <p:ph type="pic" sz="quarter" idx="13"/>
          </p:nvPr>
        </p:nvSpPr>
        <p:spPr>
          <a:xfrm>
            <a:off x="10469881" y="613578"/>
            <a:ext cx="886967" cy="455148"/>
          </a:xfrm>
          <a:prstGeom prst="rect">
            <a:avLst/>
          </a:prstGeom>
        </p:spPr>
        <p:txBody>
          <a:bodyPr anchor="ctr" anchorCtr="0"/>
          <a:lstStyle>
            <a:lvl1pPr algn="ctr">
              <a:buFontTx/>
              <a:buNone/>
              <a:defRPr sz="800" baseline="0"/>
            </a:lvl1pPr>
          </a:lstStyle>
          <a:p>
            <a:r>
              <a:rPr lang="en-GB"/>
              <a:t>Click icon to add picture</a:t>
            </a:r>
            <a:endParaRPr lang="de-DE" dirty="0"/>
          </a:p>
        </p:txBody>
      </p:sp>
      <p:sp>
        <p:nvSpPr>
          <p:cNvPr id="10" name="Titel 1">
            <a:extLst>
              <a:ext uri="{FF2B5EF4-FFF2-40B4-BE49-F238E27FC236}">
                <a16:creationId xmlns:a16="http://schemas.microsoft.com/office/drawing/2014/main" id="{9FD34168-7A63-4BE9-B1FA-940397BC8D24}"/>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9" name="Textplatzhalter 3">
            <a:extLst>
              <a:ext uri="{FF2B5EF4-FFF2-40B4-BE49-F238E27FC236}">
                <a16:creationId xmlns:a16="http://schemas.microsoft.com/office/drawing/2014/main" id="{F69A4752-2B43-4B39-B027-47806A5DDC85}"/>
              </a:ext>
            </a:extLst>
          </p:cNvPr>
          <p:cNvSpPr>
            <a:spLocks noGrp="1"/>
          </p:cNvSpPr>
          <p:nvPr>
            <p:ph type="body" sz="quarter" idx="15"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spTree>
    <p:extLst>
      <p:ext uri="{BB962C8B-B14F-4D97-AF65-F5344CB8AC3E}">
        <p14:creationId xmlns:p14="http://schemas.microsoft.com/office/powerpoint/2010/main" val="2086145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Präsentationstitel, Bild">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8F51A07C-FE1A-F540-8B1D-0E34068DA5FD}"/>
              </a:ext>
            </a:extLst>
          </p:cNvPr>
          <p:cNvPicPr>
            <a:picLocks noChangeAspect="1"/>
          </p:cNvPicPr>
          <p:nvPr userDrawn="1"/>
        </p:nvPicPr>
        <p:blipFill rotWithShape="1">
          <a:blip r:embed="rId2" cstate="screen">
            <a:alphaModFix amt="14000"/>
            <a:extLst>
              <a:ext uri="{28A0092B-C50C-407E-A947-70E740481C1C}">
                <a14:useLocalDpi xmlns:a14="http://schemas.microsoft.com/office/drawing/2010/main"/>
              </a:ext>
            </a:extLst>
          </a:blip>
          <a:srcRect/>
          <a:stretch/>
        </p:blipFill>
        <p:spPr>
          <a:xfrm>
            <a:off x="10963933" y="449575"/>
            <a:ext cx="776688" cy="806400"/>
          </a:xfrm>
          <a:prstGeom prst="rect">
            <a:avLst/>
          </a:prstGeom>
        </p:spPr>
      </p:pic>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sp>
        <p:nvSpPr>
          <p:cNvPr id="10" name="Textplatzhalter 4">
            <a:extLst>
              <a:ext uri="{FF2B5EF4-FFF2-40B4-BE49-F238E27FC236}">
                <a16:creationId xmlns:a16="http://schemas.microsoft.com/office/drawing/2014/main" id="{32C0B7F7-E1DB-3246-A459-8E85B8A521F5}"/>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01.11.2020</a:t>
            </a:r>
            <a:endParaRPr lang="de-DE" dirty="0">
              <a:effectLst/>
              <a:latin typeface="Arial" panose="020B0604020202020204" pitchFamily="34" charset="0"/>
            </a:endParaRPr>
          </a:p>
        </p:txBody>
      </p:sp>
      <p:sp>
        <p:nvSpPr>
          <p:cNvPr id="5" name="Textplatzhalter 4">
            <a:extLst>
              <a:ext uri="{FF2B5EF4-FFF2-40B4-BE49-F238E27FC236}">
                <a16:creationId xmlns:a16="http://schemas.microsoft.com/office/drawing/2014/main" id="{479B52C0-6FEE-AE47-AFCB-2DE72A2FC078}"/>
              </a:ext>
            </a:extLst>
          </p:cNvPr>
          <p:cNvSpPr>
            <a:spLocks noGrp="1"/>
          </p:cNvSpPr>
          <p:nvPr>
            <p:ph type="body" sz="quarter" idx="12" hasCustomPrompt="1"/>
          </p:nvPr>
        </p:nvSpPr>
        <p:spPr>
          <a:xfrm>
            <a:off x="446088" y="2160000"/>
            <a:ext cx="4510087" cy="1440000"/>
          </a:xfrm>
          <a:prstGeom prst="rect">
            <a:avLst/>
          </a:prstGeom>
        </p:spPr>
        <p:txBody>
          <a:bodyPr lIns="0" tIns="0" rIns="0" bIns="0"/>
          <a:lstStyle>
            <a:lvl1pPr marL="0" indent="0">
              <a:lnSpc>
                <a:spcPts val="3360"/>
              </a:lnSpc>
              <a:spcBef>
                <a:spcPts val="0"/>
              </a:spcBef>
              <a:buFontTx/>
              <a:buNone/>
              <a:defRPr sz="2800" b="1" i="0" baseline="0">
                <a:solidFill>
                  <a:schemeClr val="bg1"/>
                </a:solidFill>
                <a:latin typeface="Arial" panose="020B0604020202020204" pitchFamily="34" charset="0"/>
              </a:defRPr>
            </a:lvl1pPr>
            <a:lvl2pPr>
              <a:buFontTx/>
              <a:buNone/>
              <a:defRPr sz="2800" b="1" i="0" baseline="0">
                <a:solidFill>
                  <a:schemeClr val="bg1"/>
                </a:solidFill>
                <a:latin typeface="Arial" panose="020B0604020202020204" pitchFamily="34" charset="0"/>
              </a:defRPr>
            </a:lvl2pPr>
            <a:lvl3pPr>
              <a:buFontTx/>
              <a:buNone/>
              <a:defRPr sz="2800" b="1" i="0" baseline="0">
                <a:solidFill>
                  <a:schemeClr val="bg1"/>
                </a:solidFill>
                <a:latin typeface="Arial" panose="020B0604020202020204" pitchFamily="34" charset="0"/>
              </a:defRPr>
            </a:lvl3pPr>
            <a:lvl4pPr>
              <a:buFontTx/>
              <a:buNone/>
              <a:defRPr sz="2800" b="1" i="0" baseline="0">
                <a:solidFill>
                  <a:schemeClr val="bg1"/>
                </a:solidFill>
                <a:latin typeface="Arial" panose="020B0604020202020204" pitchFamily="34" charset="0"/>
              </a:defRPr>
            </a:lvl4pPr>
            <a:lvl5pPr>
              <a:buFontTx/>
              <a:buNone/>
              <a:defRPr sz="2800" b="1" i="0" baseline="0">
                <a:solidFill>
                  <a:schemeClr val="bg1"/>
                </a:solidFill>
                <a:latin typeface="Arial" panose="020B0604020202020204" pitchFamily="34" charset="0"/>
              </a:defRPr>
            </a:lvl5pPr>
          </a:lstStyle>
          <a:p>
            <a:r>
              <a:rPr lang="de-DE" b="1" dirty="0">
                <a:effectLst/>
                <a:latin typeface="Arial" panose="020B0604020202020204" pitchFamily="34" charset="0"/>
              </a:rPr>
              <a:t>Präsentationstitel</a:t>
            </a:r>
            <a:br>
              <a:rPr lang="de-DE" b="1" dirty="0">
                <a:effectLst/>
                <a:latin typeface="Arial" panose="020B0604020202020204" pitchFamily="34" charset="0"/>
              </a:rPr>
            </a:br>
            <a:r>
              <a:rPr lang="de-DE" b="1" dirty="0">
                <a:effectLst/>
                <a:latin typeface="Arial" panose="020B0604020202020204" pitchFamily="34" charset="0"/>
              </a:rPr>
              <a:t>Zeile 2 des Titels</a:t>
            </a:r>
            <a:endParaRPr lang="de-DE" dirty="0">
              <a:effectLst/>
              <a:latin typeface="Arial" panose="020B0604020202020204" pitchFamily="34" charset="0"/>
            </a:endParaRPr>
          </a:p>
        </p:txBody>
      </p:sp>
      <p:sp>
        <p:nvSpPr>
          <p:cNvPr id="13" name="Textplatzhalter 12">
            <a:extLst>
              <a:ext uri="{FF2B5EF4-FFF2-40B4-BE49-F238E27FC236}">
                <a16:creationId xmlns:a16="http://schemas.microsoft.com/office/drawing/2014/main" id="{27521B66-FCA7-E64B-87D2-BEED9E9EEE7D}"/>
              </a:ext>
            </a:extLst>
          </p:cNvPr>
          <p:cNvSpPr>
            <a:spLocks noGrp="1"/>
          </p:cNvSpPr>
          <p:nvPr>
            <p:ph type="body" sz="quarter" idx="13" hasCustomPrompt="1"/>
          </p:nvPr>
        </p:nvSpPr>
        <p:spPr>
          <a:xfrm>
            <a:off x="2292387" y="441325"/>
            <a:ext cx="7724551" cy="825500"/>
          </a:xfrm>
          <a:prstGeom prst="rect">
            <a:avLst/>
          </a:prstGeom>
        </p:spPr>
        <p:txBody>
          <a:bodyPr lIns="54000" tIns="356400" rIns="54000" bIns="43200" anchor="b" anchorCtr="0"/>
          <a:lstStyle>
            <a:lvl1pPr marL="0" indent="0">
              <a:lnSpc>
                <a:spcPct val="88000"/>
              </a:lnSpc>
              <a:spcBef>
                <a:spcPts val="0"/>
              </a:spcBef>
              <a:buFontTx/>
              <a:buNone/>
              <a:defRPr sz="680" b="1" i="0" cap="all" spc="80" baseline="0"/>
            </a:lvl1pPr>
            <a:lvl2pPr indent="0">
              <a:lnSpc>
                <a:spcPts val="880"/>
              </a:lnSpc>
              <a:buFontTx/>
              <a:buNone/>
              <a:defRPr sz="680" b="1" i="0" cap="all" spc="80" baseline="0"/>
            </a:lvl2pPr>
            <a:lvl3pPr indent="0">
              <a:lnSpc>
                <a:spcPts val="880"/>
              </a:lnSpc>
              <a:buFontTx/>
              <a:buNone/>
              <a:defRPr sz="680" b="1" i="0" cap="all" spc="80" baseline="0"/>
            </a:lvl3pPr>
            <a:lvl4pPr indent="0">
              <a:lnSpc>
                <a:spcPts val="880"/>
              </a:lnSpc>
              <a:buFontTx/>
              <a:buNone/>
              <a:defRPr sz="680" b="1" i="0" cap="all" spc="80" baseline="0"/>
            </a:lvl4pPr>
            <a:lvl5pPr indent="0">
              <a:lnSpc>
                <a:spcPts val="880"/>
              </a:lnSpc>
              <a:buFontTx/>
              <a:buNone/>
              <a:defRPr sz="680" b="1" i="0" cap="all" spc="80" baseline="0"/>
            </a:lvl5pPr>
          </a:lstStyle>
          <a:p>
            <a:pPr marL="0" indent="0">
              <a:lnSpc>
                <a:spcPct val="88000"/>
              </a:lnSpc>
              <a:spcBef>
                <a:spcPts val="0"/>
              </a:spcBef>
              <a:buFontTx/>
              <a:buNone/>
            </a:pPr>
            <a:r>
              <a:rPr lang="de-DE" sz="680" b="1" i="0" baseline="0" dirty="0">
                <a:latin typeface="Arial" panose="020B0604020202020204" pitchFamily="34" charset="0"/>
              </a:rPr>
              <a:t>ÜBERSCHRIFT / TITEL / EINRICHTUNG XY</a:t>
            </a:r>
          </a:p>
        </p:txBody>
      </p:sp>
      <p:sp>
        <p:nvSpPr>
          <p:cNvPr id="15" name="Bildplatzhalter 3">
            <a:extLst>
              <a:ext uri="{FF2B5EF4-FFF2-40B4-BE49-F238E27FC236}">
                <a16:creationId xmlns:a16="http://schemas.microsoft.com/office/drawing/2014/main" id="{4C49311C-1CA8-6441-8EF9-44421C1037DF}"/>
              </a:ext>
            </a:extLst>
          </p:cNvPr>
          <p:cNvSpPr>
            <a:spLocks noGrp="1"/>
          </p:cNvSpPr>
          <p:nvPr>
            <p:ph type="pic" sz="quarter" idx="10"/>
          </p:nvPr>
        </p:nvSpPr>
        <p:spPr>
          <a:xfrm>
            <a:off x="5374800" y="1484313"/>
            <a:ext cx="6817200" cy="5373687"/>
          </a:xfrm>
          <a:prstGeom prst="rect">
            <a:avLst/>
          </a:prstGeom>
          <a:solidFill>
            <a:schemeClr val="accent2"/>
          </a:solidFill>
        </p:spPr>
        <p:txBody>
          <a:bodyPr anchor="ctr" anchorCtr="0"/>
          <a:lstStyle>
            <a:lvl1pPr algn="ctr">
              <a:buFontTx/>
              <a:buNone/>
              <a:defRPr sz="800" baseline="0"/>
            </a:lvl1pPr>
          </a:lstStyle>
          <a:p>
            <a:endParaRPr lang="de-DE" dirty="0"/>
          </a:p>
        </p:txBody>
      </p:sp>
    </p:spTree>
    <p:extLst>
      <p:ext uri="{BB962C8B-B14F-4D97-AF65-F5344CB8AC3E}">
        <p14:creationId xmlns:p14="http://schemas.microsoft.com/office/powerpoint/2010/main" val="2208497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äsentationstitel">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A01B540-1535-644B-B828-DE3173BE5EAF}"/>
              </a:ext>
            </a:extLst>
          </p:cNvPr>
          <p:cNvSpPr/>
          <p:nvPr userDrawn="1"/>
        </p:nvSpPr>
        <p:spPr>
          <a:xfrm>
            <a:off x="5376454" y="1484313"/>
            <a:ext cx="6815545" cy="5373687"/>
          </a:xfrm>
          <a:prstGeom prst="rect">
            <a:avLst/>
          </a:prstGeom>
          <a:solidFill>
            <a:srgbClr val="6164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7533C79E-54DD-6F46-82D1-830E85DABCAD}"/>
              </a:ext>
            </a:extLst>
          </p:cNvPr>
          <p:cNvSpPr txBox="1"/>
          <p:nvPr userDrawn="1"/>
        </p:nvSpPr>
        <p:spPr>
          <a:xfrm>
            <a:off x="4006545" y="431809"/>
            <a:ext cx="184731" cy="409343"/>
          </a:xfrm>
          <a:prstGeom prst="rect">
            <a:avLst/>
          </a:prstGeom>
          <a:noFill/>
        </p:spPr>
        <p:txBody>
          <a:bodyPr wrap="none" rtlCol="0">
            <a:spAutoFit/>
          </a:bodyPr>
          <a:lstStyle/>
          <a:p>
            <a:endParaRPr lang="de-DE" sz="2060" dirty="0"/>
          </a:p>
        </p:txBody>
      </p:sp>
      <p:pic>
        <p:nvPicPr>
          <p:cNvPr id="4" name="Grafik 3">
            <a:extLst>
              <a:ext uri="{FF2B5EF4-FFF2-40B4-BE49-F238E27FC236}">
                <a16:creationId xmlns:a16="http://schemas.microsoft.com/office/drawing/2014/main" id="{06968607-CF30-B14E-8DDB-DAB295493CFF}"/>
              </a:ext>
            </a:extLst>
          </p:cNvPr>
          <p:cNvPicPr>
            <a:picLocks noChangeAspect="1"/>
          </p:cNvPicPr>
          <p:nvPr userDrawn="1"/>
        </p:nvPicPr>
        <p:blipFill>
          <a:blip r:embed="rId2">
            <a:alphaModFix/>
          </a:blip>
          <a:stretch>
            <a:fillRect/>
          </a:stretch>
        </p:blipFill>
        <p:spPr>
          <a:xfrm>
            <a:off x="8648700" y="2743200"/>
            <a:ext cx="3543300" cy="4114800"/>
          </a:xfrm>
          <a:prstGeom prst="rect">
            <a:avLst/>
          </a:prstGeom>
        </p:spPr>
      </p:pic>
      <p:sp>
        <p:nvSpPr>
          <p:cNvPr id="11" name="Textplatzhalter 4">
            <a:extLst>
              <a:ext uri="{FF2B5EF4-FFF2-40B4-BE49-F238E27FC236}">
                <a16:creationId xmlns:a16="http://schemas.microsoft.com/office/drawing/2014/main" id="{9AD86DE8-5751-A440-B2C4-58BF4A19C043}"/>
              </a:ext>
            </a:extLst>
          </p:cNvPr>
          <p:cNvSpPr>
            <a:spLocks noGrp="1"/>
          </p:cNvSpPr>
          <p:nvPr>
            <p:ph type="body" sz="quarter" idx="11" hasCustomPrompt="1"/>
          </p:nvPr>
        </p:nvSpPr>
        <p:spPr>
          <a:xfrm>
            <a:off x="446400" y="5184000"/>
            <a:ext cx="4509913"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Untertitel</a:t>
            </a:r>
          </a:p>
          <a:p>
            <a:r>
              <a:rPr lang="de-DE" b="1" dirty="0">
                <a:effectLst/>
                <a:latin typeface="Arial" panose="020B0604020202020204" pitchFamily="34" charset="0"/>
              </a:rPr>
              <a:t>Dr. Max Maria Mustermann </a:t>
            </a:r>
            <a:br>
              <a:rPr lang="de-DE" b="1" dirty="0">
                <a:effectLst/>
                <a:latin typeface="Arial" panose="020B0604020202020204" pitchFamily="34" charset="0"/>
              </a:rPr>
            </a:br>
            <a:r>
              <a:rPr lang="de-DE" b="1" dirty="0">
                <a:effectLst/>
                <a:latin typeface="Arial" panose="020B0604020202020204" pitchFamily="34" charset="0"/>
              </a:rPr>
              <a:t>00.00.2020</a:t>
            </a:r>
            <a:endParaRPr lang="de-DE" dirty="0">
              <a:effectLst/>
              <a:latin typeface="Arial" panose="020B0604020202020204" pitchFamily="34" charset="0"/>
            </a:endParaRPr>
          </a:p>
        </p:txBody>
      </p:sp>
      <p:sp>
        <p:nvSpPr>
          <p:cNvPr id="2" name="Titel 1">
            <a:extLst>
              <a:ext uri="{FF2B5EF4-FFF2-40B4-BE49-F238E27FC236}">
                <a16:creationId xmlns:a16="http://schemas.microsoft.com/office/drawing/2014/main" id="{EA54FBD0-4BBB-413C-96F0-376E5E59CA71}"/>
              </a:ext>
            </a:extLst>
          </p:cNvPr>
          <p:cNvSpPr>
            <a:spLocks noGrp="1"/>
          </p:cNvSpPr>
          <p:nvPr>
            <p:ph type="title" hasCustomPrompt="1"/>
          </p:nvPr>
        </p:nvSpPr>
        <p:spPr>
          <a:xfrm>
            <a:off x="442913" y="2189713"/>
            <a:ext cx="4513400" cy="1463042"/>
          </a:xfrm>
          <a:prstGeom prst="rect">
            <a:avLst/>
          </a:prstGeom>
        </p:spPr>
        <p:txBody>
          <a:bodyPr/>
          <a:lstStyle>
            <a:lvl1pPr>
              <a:defRPr sz="2800" b="1">
                <a:solidFill>
                  <a:schemeClr val="bg1"/>
                </a:solidFill>
              </a:defRPr>
            </a:lvl1pPr>
          </a:lstStyle>
          <a:p>
            <a:r>
              <a:rPr lang="de-DE" dirty="0"/>
              <a:t>Präsentationstitel</a:t>
            </a:r>
          </a:p>
        </p:txBody>
      </p:sp>
      <p:sp>
        <p:nvSpPr>
          <p:cNvPr id="9" name="Textplatzhalter 3">
            <a:extLst>
              <a:ext uri="{FF2B5EF4-FFF2-40B4-BE49-F238E27FC236}">
                <a16:creationId xmlns:a16="http://schemas.microsoft.com/office/drawing/2014/main" id="{D4982841-B6DD-4A02-88CD-381D8C4A32A4}"/>
              </a:ext>
            </a:extLst>
          </p:cNvPr>
          <p:cNvSpPr>
            <a:spLocks noGrp="1"/>
          </p:cNvSpPr>
          <p:nvPr>
            <p:ph type="body" sz="quarter" idx="15" hasCustomPrompt="1"/>
          </p:nvPr>
        </p:nvSpPr>
        <p:spPr>
          <a:xfrm>
            <a:off x="2286000" y="440471"/>
            <a:ext cx="7720013" cy="806450"/>
          </a:xfrm>
          <a:prstGeom prst="rect">
            <a:avLst/>
          </a:prstGeom>
        </p:spPr>
        <p:txBody>
          <a:bodyPr anchor="b"/>
          <a:lstStyle>
            <a:lvl1pPr marL="0" indent="0">
              <a:lnSpc>
                <a:spcPct val="100000"/>
              </a:lnSpc>
              <a:buNone/>
              <a:defRPr sz="680" b="1" cap="all" spc="80" baseline="0"/>
            </a:lvl1pPr>
          </a:lstStyle>
          <a:p>
            <a:pPr lvl="0"/>
            <a:r>
              <a:rPr lang="de-DE" dirty="0"/>
              <a:t>Überschrift / Titel / Einrichtung XY</a:t>
            </a:r>
          </a:p>
        </p:txBody>
      </p:sp>
    </p:spTree>
    <p:extLst>
      <p:ext uri="{BB962C8B-B14F-4D97-AF65-F5344CB8AC3E}">
        <p14:creationId xmlns:p14="http://schemas.microsoft.com/office/powerpoint/2010/main" val="302347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125F89-1710-447C-BA80-DE17C2EF1979}"/>
              </a:ext>
            </a:extLst>
          </p:cNvPr>
          <p:cNvSpPr>
            <a:spLocks noGrp="1"/>
          </p:cNvSpPr>
          <p:nvPr>
            <p:ph type="title" hasCustomPrompt="1"/>
          </p:nvPr>
        </p:nvSpPr>
        <p:spPr>
          <a:xfrm>
            <a:off x="446400" y="2151208"/>
            <a:ext cx="7200000" cy="1418469"/>
          </a:xfrm>
          <a:prstGeom prst="rect">
            <a:avLst/>
          </a:prstGeom>
        </p:spPr>
        <p:txBody>
          <a:bodyPr/>
          <a:lstStyle>
            <a:lvl1pPr>
              <a:defRPr sz="2800" b="1"/>
            </a:lvl1pPr>
          </a:lstStyle>
          <a:p>
            <a:r>
              <a:rPr lang="de-DE" dirty="0"/>
              <a:t>1. Erstes Kapitel</a:t>
            </a:r>
          </a:p>
        </p:txBody>
      </p:sp>
    </p:spTree>
    <p:extLst>
      <p:ext uri="{BB962C8B-B14F-4D97-AF65-F5344CB8AC3E}">
        <p14:creationId xmlns:p14="http://schemas.microsoft.com/office/powerpoint/2010/main" val="2178750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Foliennummernplatzhalter 5">
            <a:extLst>
              <a:ext uri="{FF2B5EF4-FFF2-40B4-BE49-F238E27FC236}">
                <a16:creationId xmlns:a16="http://schemas.microsoft.com/office/drawing/2014/main" id="{F2973FF0-2276-5A4B-B95B-42413B8BD476}"/>
              </a:ext>
            </a:extLst>
          </p:cNvPr>
          <p:cNvSpPr>
            <a:spLocks noGrp="1"/>
          </p:cNvSpPr>
          <p:nvPr>
            <p:ph type="sldNum" sz="quarter" idx="4"/>
          </p:nvPr>
        </p:nvSpPr>
        <p:spPr>
          <a:xfrm>
            <a:off x="446400" y="6426773"/>
            <a:ext cx="720000" cy="270000"/>
          </a:xfrm>
          <a:prstGeom prst="rect">
            <a:avLst/>
          </a:prstGeom>
        </p:spPr>
        <p:txBody>
          <a:bodyPr vert="horz" lIns="0" tIns="0" rIns="0" bIns="0" rtlCol="0" anchor="t" anchorCtr="0"/>
          <a:lstStyle>
            <a:lvl1pPr algn="l">
              <a:defRPr sz="1200" b="1" i="0" baseline="0">
                <a:solidFill>
                  <a:schemeClr val="tx1"/>
                </a:solidFill>
                <a:latin typeface="Arial" panose="020B0604020202020204" pitchFamily="34" charset="0"/>
              </a:defRPr>
            </a:lvl1pPr>
          </a:lstStyle>
          <a:p>
            <a:pPr algn="l"/>
            <a:fld id="{3889EAAA-2A39-E347-B0AA-909793490C00}" type="slidenum">
              <a:rPr lang="de-DE" smtClean="0"/>
              <a:pPr algn="l"/>
              <a:t>‹#›</a:t>
            </a:fld>
            <a:endParaRPr lang="de-DE" dirty="0"/>
          </a:p>
        </p:txBody>
      </p:sp>
      <p:sp>
        <p:nvSpPr>
          <p:cNvPr id="2" name="Titel 1">
            <a:extLst>
              <a:ext uri="{FF2B5EF4-FFF2-40B4-BE49-F238E27FC236}">
                <a16:creationId xmlns:a16="http://schemas.microsoft.com/office/drawing/2014/main" id="{C83A6560-2FDE-481D-9A8E-1866470D9A80}"/>
              </a:ext>
            </a:extLst>
          </p:cNvPr>
          <p:cNvSpPr>
            <a:spLocks noGrp="1"/>
          </p:cNvSpPr>
          <p:nvPr>
            <p:ph type="title" hasCustomPrompt="1"/>
          </p:nvPr>
        </p:nvSpPr>
        <p:spPr>
          <a:xfrm>
            <a:off x="2180491" y="444249"/>
            <a:ext cx="9577019" cy="1042988"/>
          </a:xfrm>
          <a:prstGeom prst="rect">
            <a:avLst/>
          </a:prstGeom>
        </p:spPr>
        <p:txBody>
          <a:bodyPr/>
          <a:lstStyle>
            <a:lvl1pPr marL="0" indent="0">
              <a:buFont typeface="Arial" panose="020B0604020202020204" pitchFamily="34" charset="0"/>
              <a:buNone/>
              <a:defRPr sz="2200" b="1"/>
            </a:lvl1pPr>
          </a:lstStyle>
          <a:p>
            <a:r>
              <a:rPr lang="de-DE" dirty="0"/>
              <a:t>Seitentitel mit einer Zeile oder</a:t>
            </a:r>
            <a:br>
              <a:rPr lang="de-DE" dirty="0"/>
            </a:br>
            <a:r>
              <a:rPr lang="de-DE" dirty="0"/>
              <a:t>maximal zwei Zeilen</a:t>
            </a:r>
          </a:p>
        </p:txBody>
      </p:sp>
      <p:sp>
        <p:nvSpPr>
          <p:cNvPr id="7" name="Textplatzhalter 6">
            <a:extLst>
              <a:ext uri="{FF2B5EF4-FFF2-40B4-BE49-F238E27FC236}">
                <a16:creationId xmlns:a16="http://schemas.microsoft.com/office/drawing/2014/main" id="{15E4071A-44EF-49AA-BAC4-8488C57EBC0C}"/>
              </a:ext>
            </a:extLst>
          </p:cNvPr>
          <p:cNvSpPr>
            <a:spLocks noGrp="1"/>
          </p:cNvSpPr>
          <p:nvPr>
            <p:ph type="body" sz="quarter" idx="12" hasCustomPrompt="1"/>
          </p:nvPr>
        </p:nvSpPr>
        <p:spPr>
          <a:xfrm>
            <a:off x="360486" y="1493101"/>
            <a:ext cx="10166228" cy="938212"/>
          </a:xfrm>
          <a:prstGeom prst="rect">
            <a:avLst/>
          </a:prstGeom>
        </p:spPr>
        <p:txBody>
          <a:bodyPr/>
          <a:lstStyle>
            <a:lvl1pPr marL="0" indent="0">
              <a:lnSpc>
                <a:spcPts val="2280"/>
              </a:lnSpc>
              <a:spcBef>
                <a:spcPts val="0"/>
              </a:spcBef>
              <a:buNone/>
              <a:defRPr sz="1900">
                <a:solidFill>
                  <a:srgbClr val="616468"/>
                </a:solidFill>
              </a:defRPr>
            </a:lvl1pPr>
            <a:lvl2pPr marL="407778" indent="0">
              <a:buNone/>
              <a:defRPr sz="1900">
                <a:solidFill>
                  <a:schemeClr val="tx2"/>
                </a:solidFill>
              </a:defRPr>
            </a:lvl2pPr>
            <a:lvl3pPr marL="815557" indent="0">
              <a:buNone/>
              <a:defRPr>
                <a:solidFill>
                  <a:schemeClr val="tx2"/>
                </a:solidFill>
              </a:defRPr>
            </a:lvl3pPr>
            <a:lvl4pPr marL="1223335" indent="0">
              <a:buNone/>
              <a:defRPr>
                <a:solidFill>
                  <a:schemeClr val="tx2"/>
                </a:solidFill>
              </a:defRPr>
            </a:lvl4pPr>
            <a:lvl5pPr marL="1631113" indent="0">
              <a:buNone/>
              <a:defRPr>
                <a:solidFill>
                  <a:schemeClr val="tx2"/>
                </a:solidFill>
              </a:defRPr>
            </a:lvl5pPr>
          </a:lstStyle>
          <a:p>
            <a:r>
              <a:rPr lang="de-DE" dirty="0">
                <a:solidFill>
                  <a:srgbClr val="2F2F2F"/>
                </a:solidFill>
                <a:effectLst/>
                <a:latin typeface="Arial" panose="020B0604020202020204" pitchFamily="34" charset="0"/>
              </a:rPr>
              <a:t>Ne </a:t>
            </a:r>
            <a:r>
              <a:rPr lang="de-DE" dirty="0" err="1">
                <a:solidFill>
                  <a:srgbClr val="2F2F2F"/>
                </a:solidFill>
                <a:effectLst/>
                <a:latin typeface="Arial" panose="020B0604020202020204" pitchFamily="34" charset="0"/>
              </a:rPr>
              <a:t>quatur</a:t>
            </a:r>
            <a:r>
              <a:rPr lang="de-DE" dirty="0">
                <a:solidFill>
                  <a:srgbClr val="2F2F2F"/>
                </a:solidFill>
                <a:effectLst/>
                <a:latin typeface="Arial" panose="020B0604020202020204" pitchFamily="34" charset="0"/>
              </a:rPr>
              <a:t>? Quam </a:t>
            </a:r>
            <a:r>
              <a:rPr lang="de-DE" dirty="0" err="1">
                <a:solidFill>
                  <a:srgbClr val="2F2F2F"/>
                </a:solidFill>
                <a:effectLst/>
                <a:latin typeface="Arial" panose="020B0604020202020204" pitchFamily="34" charset="0"/>
              </a:rPr>
              <a:t>incipietur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accaepe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lenduciae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Itae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voluptatem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facepelita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dolupta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pore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pos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venti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blanien</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tionsec</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tempellabor</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magnam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soloreria</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quevoluptaturi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dolores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earis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dolute</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vendae</a:t>
            </a:r>
            <a:r>
              <a:rPr lang="de-DE" dirty="0">
                <a:solidFill>
                  <a:srgbClr val="2F2F2F"/>
                </a:solidFill>
                <a:effectLst/>
                <a:latin typeface="Arial" panose="020B0604020202020204" pitchFamily="34" charset="0"/>
              </a:rPr>
              <a:t> nobis </a:t>
            </a:r>
            <a:r>
              <a:rPr lang="de-DE" dirty="0" err="1">
                <a:solidFill>
                  <a:srgbClr val="2F2F2F"/>
                </a:solidFill>
                <a:effectLst/>
                <a:latin typeface="Arial" panose="020B0604020202020204" pitchFamily="34" charset="0"/>
              </a:rPr>
              <a:t>ipsam</a:t>
            </a:r>
            <a:r>
              <a:rPr lang="de-DE" dirty="0">
                <a:solidFill>
                  <a:srgbClr val="2F2F2F"/>
                </a:solidFill>
                <a:effectLst/>
                <a:latin typeface="Arial" panose="020B0604020202020204" pitchFamily="34" charset="0"/>
              </a:rPr>
              <a:t> lab </a:t>
            </a:r>
            <a:r>
              <a:rPr lang="de-DE" dirty="0" err="1">
                <a:solidFill>
                  <a:srgbClr val="2F2F2F"/>
                </a:solidFill>
                <a:effectLst/>
                <a:latin typeface="Arial" panose="020B0604020202020204" pitchFamily="34" charset="0"/>
              </a:rPr>
              <a:t>ium</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acculliqui</a:t>
            </a:r>
            <a:r>
              <a:rPr lang="de-DE" dirty="0">
                <a:solidFill>
                  <a:srgbClr val="2F2F2F"/>
                </a:solidFill>
                <a:effectLst/>
                <a:latin typeface="Arial" panose="020B0604020202020204" pitchFamily="34" charset="0"/>
              </a:rPr>
              <a:t> di </a:t>
            </a:r>
            <a:r>
              <a:rPr lang="de-DE" dirty="0" err="1">
                <a:solidFill>
                  <a:srgbClr val="2F2F2F"/>
                </a:solidFill>
                <a:effectLst/>
                <a:latin typeface="Arial" panose="020B0604020202020204" pitchFamily="34" charset="0"/>
              </a:rPr>
              <a:t>tecte</a:t>
            </a:r>
            <a:r>
              <a:rPr lang="de-DE" dirty="0">
                <a:solidFill>
                  <a:srgbClr val="2F2F2F"/>
                </a:solidFill>
                <a:effectLst/>
                <a:latin typeface="Arial" panose="020B0604020202020204" pitchFamily="34" charset="0"/>
              </a:rPr>
              <a:t> es quam </a:t>
            </a:r>
            <a:r>
              <a:rPr lang="de-DE" dirty="0" err="1">
                <a:solidFill>
                  <a:srgbClr val="2F2F2F"/>
                </a:solidFill>
                <a:effectLst/>
                <a:latin typeface="Arial" panose="020B0604020202020204" pitchFamily="34" charset="0"/>
              </a:rPr>
              <a:t>ressi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ulparis</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apeliqui</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ipiet</a:t>
            </a:r>
            <a:r>
              <a:rPr lang="de-DE" dirty="0">
                <a:solidFill>
                  <a:srgbClr val="2F2F2F"/>
                </a:solidFill>
                <a:effectLst/>
                <a:latin typeface="Arial" panose="020B0604020202020204" pitchFamily="34" charset="0"/>
              </a:rPr>
              <a:t> </a:t>
            </a:r>
            <a:r>
              <a:rPr lang="de-DE" dirty="0" err="1">
                <a:solidFill>
                  <a:srgbClr val="2F2F2F"/>
                </a:solidFill>
                <a:effectLst/>
                <a:latin typeface="Arial" panose="020B0604020202020204" pitchFamily="34" charset="0"/>
              </a:rPr>
              <a:t>modio</a:t>
            </a:r>
            <a:r>
              <a:rPr lang="de-DE" dirty="0">
                <a:solidFill>
                  <a:srgbClr val="2F2F2F"/>
                </a:solidFill>
                <a:effectLst/>
                <a:latin typeface="Arial" panose="020B0604020202020204" pitchFamily="34" charset="0"/>
              </a:rPr>
              <a:t>. </a:t>
            </a:r>
          </a:p>
        </p:txBody>
      </p:sp>
      <p:sp>
        <p:nvSpPr>
          <p:cNvPr id="9" name="Textplatzhalter 8">
            <a:extLst>
              <a:ext uri="{FF2B5EF4-FFF2-40B4-BE49-F238E27FC236}">
                <a16:creationId xmlns:a16="http://schemas.microsoft.com/office/drawing/2014/main" id="{CC99ED17-8C0B-4A38-8622-48A70F4A886A}"/>
              </a:ext>
            </a:extLst>
          </p:cNvPr>
          <p:cNvSpPr>
            <a:spLocks noGrp="1"/>
          </p:cNvSpPr>
          <p:nvPr>
            <p:ph type="body" sz="quarter" idx="13" hasCustomPrompt="1"/>
          </p:nvPr>
        </p:nvSpPr>
        <p:spPr>
          <a:xfrm>
            <a:off x="356684" y="2635982"/>
            <a:ext cx="10166228" cy="2859210"/>
          </a:xfrm>
          <a:prstGeom prst="rect">
            <a:avLst/>
          </a:prstGeom>
        </p:spPr>
        <p:txBody>
          <a:bodyPr/>
          <a:lstStyle>
            <a:lvl1pPr marL="324000" indent="-324000">
              <a:lnSpc>
                <a:spcPct val="100000"/>
              </a:lnSpc>
              <a:spcBef>
                <a:spcPts val="0"/>
              </a:spcBef>
              <a:spcAft>
                <a:spcPts val="0"/>
              </a:spcAft>
              <a:buClr>
                <a:schemeClr val="tx1"/>
              </a:buClr>
              <a:buFont typeface="Wingdings" panose="05000000000000000000" pitchFamily="2" charset="2"/>
              <a:buChar char=""/>
              <a:defRPr sz="1900">
                <a:solidFill>
                  <a:srgbClr val="616468"/>
                </a:solidFill>
                <a:latin typeface="+mn-lt"/>
              </a:defRPr>
            </a:lvl1pPr>
            <a:lvl2pPr>
              <a:lnSpc>
                <a:spcPct val="100000"/>
              </a:lnSpc>
              <a:spcBef>
                <a:spcPts val="0"/>
              </a:spcBef>
              <a:defRPr sz="1900">
                <a:solidFill>
                  <a:srgbClr val="616468"/>
                </a:solidFill>
              </a:defRPr>
            </a:lvl2pPr>
          </a:lstStyle>
          <a:p>
            <a:r>
              <a:rPr lang="de-DE" dirty="0" err="1">
                <a:solidFill>
                  <a:srgbClr val="2F2F2F"/>
                </a:solidFill>
                <a:latin typeface="Arial" panose="020B0604020202020204" pitchFamily="34" charset="0"/>
              </a:rPr>
              <a:t>Itaquas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sitiam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vent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fuga</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Pelit</a:t>
            </a:r>
            <a:r>
              <a:rPr lang="de-DE" dirty="0">
                <a:solidFill>
                  <a:srgbClr val="2F2F2F"/>
                </a:solidFill>
                <a:latin typeface="Arial" panose="020B0604020202020204" pitchFamily="34" charset="0"/>
              </a:rPr>
              <a:t> laut </a:t>
            </a:r>
            <a:r>
              <a:rPr lang="de-DE" dirty="0" err="1">
                <a:solidFill>
                  <a:srgbClr val="2F2F2F"/>
                </a:solidFill>
                <a:latin typeface="Arial" panose="020B0604020202020204" pitchFamily="34" charset="0"/>
              </a:rPr>
              <a:t>pliciis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rem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reptatio</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beatem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illestius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consecabo</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Offici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con</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re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pedi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omnis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essi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sinci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totae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perit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quamet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aut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liscium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landia</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quiasit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iuntur</a:t>
            </a:r>
            <a:r>
              <a:rPr lang="de-DE" dirty="0">
                <a:solidFill>
                  <a:srgbClr val="2F2F2F"/>
                </a:solidFill>
                <a:latin typeface="Arial" panose="020B0604020202020204" pitchFamily="34" charset="0"/>
              </a:rPr>
              <a:t>.</a:t>
            </a:r>
          </a:p>
          <a:p>
            <a:pPr lvl="1"/>
            <a:r>
              <a:rPr lang="de-DE" dirty="0" err="1">
                <a:solidFill>
                  <a:srgbClr val="2F2F2F"/>
                </a:solidFill>
                <a:latin typeface="Arial" panose="020B0604020202020204" pitchFamily="34" charset="0"/>
              </a:rPr>
              <a:t>iuntur</a:t>
            </a:r>
            <a:endParaRPr lang="de-DE" dirty="0">
              <a:solidFill>
                <a:srgbClr val="2F2F2F"/>
              </a:solidFill>
              <a:latin typeface="Arial" panose="020B0604020202020204" pitchFamily="34" charset="0"/>
            </a:endParaRPr>
          </a:p>
          <a:p>
            <a:r>
              <a:rPr lang="de-DE" dirty="0" err="1">
                <a:solidFill>
                  <a:srgbClr val="2F2F2F"/>
                </a:solidFill>
                <a:latin typeface="Arial" panose="020B0604020202020204" pitchFamily="34" charset="0"/>
              </a:rPr>
              <a:t>Quunda</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doloreste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volore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volores</a:t>
            </a:r>
            <a:r>
              <a:rPr lang="de-DE" dirty="0">
                <a:solidFill>
                  <a:srgbClr val="2F2F2F"/>
                </a:solidFill>
                <a:latin typeface="Arial" panose="020B0604020202020204" pitchFamily="34" charset="0"/>
              </a:rPr>
              <a:t> maximus </a:t>
            </a:r>
            <a:r>
              <a:rPr lang="de-DE" dirty="0" err="1">
                <a:solidFill>
                  <a:srgbClr val="2F2F2F"/>
                </a:solidFill>
                <a:latin typeface="Arial" panose="020B0604020202020204" pitchFamily="34" charset="0"/>
              </a:rPr>
              <a:t>eatur</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sapicipici</a:t>
            </a:r>
            <a:r>
              <a:rPr lang="de-DE" dirty="0">
                <a:solidFill>
                  <a:srgbClr val="2F2F2F"/>
                </a:solidFill>
                <a:latin typeface="Arial" panose="020B0604020202020204" pitchFamily="34" charset="0"/>
              </a:rPr>
              <a:t> ab </a:t>
            </a:r>
            <a:r>
              <a:rPr lang="de-DE" dirty="0" err="1">
                <a:solidFill>
                  <a:srgbClr val="2F2F2F"/>
                </a:solidFill>
                <a:latin typeface="Arial" panose="020B0604020202020204" pitchFamily="34" charset="0"/>
              </a:rPr>
              <a:t>ium</a:t>
            </a:r>
            <a:r>
              <a:rPr lang="de-DE" dirty="0">
                <a:solidFill>
                  <a:srgbClr val="2F2F2F"/>
                </a:solidFill>
                <a:latin typeface="Arial" panose="020B0604020202020204" pitchFamily="34" charset="0"/>
              </a:rPr>
              <a:t> non </a:t>
            </a:r>
            <a:r>
              <a:rPr lang="de-DE" dirty="0" err="1">
                <a:solidFill>
                  <a:srgbClr val="2F2F2F"/>
                </a:solidFill>
                <a:latin typeface="Arial" panose="020B0604020202020204" pitchFamily="34" charset="0"/>
              </a:rPr>
              <a:t>nullori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dis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mos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autem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doluptassi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saniscitate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consequi</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audae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simporem</a:t>
            </a:r>
            <a:r>
              <a:rPr lang="de-DE" dirty="0">
                <a:solidFill>
                  <a:srgbClr val="2F2F2F"/>
                </a:solidFill>
                <a:latin typeface="Arial" panose="020B0604020202020204" pitchFamily="34" charset="0"/>
              </a:rPr>
              <a:t> si </a:t>
            </a:r>
            <a:r>
              <a:rPr lang="de-DE" dirty="0" err="1">
                <a:solidFill>
                  <a:srgbClr val="2F2F2F"/>
                </a:solidFill>
                <a:latin typeface="Arial" panose="020B0604020202020204" pitchFamily="34" charset="0"/>
              </a:rPr>
              <a:t>venim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fugia</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voloreptae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res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eturiam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aut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quiae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coribus</a:t>
            </a:r>
            <a:r>
              <a:rPr lang="de-DE" dirty="0">
                <a:solidFill>
                  <a:srgbClr val="2F2F2F"/>
                </a:solidFill>
                <a:latin typeface="Arial" panose="020B0604020202020204" pitchFamily="34" charset="0"/>
              </a:rPr>
              <a:t>.</a:t>
            </a:r>
          </a:p>
          <a:p>
            <a:pPr lvl="1"/>
            <a:r>
              <a:rPr lang="de-DE" dirty="0" err="1">
                <a:solidFill>
                  <a:srgbClr val="2F2F2F"/>
                </a:solidFill>
                <a:latin typeface="Arial" panose="020B0604020202020204" pitchFamily="34" charset="0"/>
              </a:rPr>
              <a:t>iuntur</a:t>
            </a:r>
            <a:endParaRPr lang="de-DE" dirty="0">
              <a:solidFill>
                <a:srgbClr val="2F2F2F"/>
              </a:solidFill>
              <a:latin typeface="Arial" panose="020B0604020202020204" pitchFamily="34" charset="0"/>
            </a:endParaRPr>
          </a:p>
          <a:p>
            <a:pPr lvl="0">
              <a:defRPr/>
            </a:pPr>
            <a:r>
              <a:rPr lang="de-DE" dirty="0" err="1">
                <a:solidFill>
                  <a:srgbClr val="2F2F2F"/>
                </a:solidFill>
                <a:latin typeface="Arial" panose="020B0604020202020204" pitchFamily="34" charset="0"/>
              </a:rPr>
              <a:t>Ucia</a:t>
            </a:r>
            <a:r>
              <a:rPr lang="de-DE" dirty="0">
                <a:solidFill>
                  <a:srgbClr val="2F2F2F"/>
                </a:solidFill>
                <a:latin typeface="Arial" panose="020B0604020202020204" pitchFamily="34" charset="0"/>
              </a:rPr>
              <a:t> sam </a:t>
            </a:r>
            <a:r>
              <a:rPr lang="de-DE" dirty="0" err="1">
                <a:solidFill>
                  <a:srgbClr val="2F2F2F"/>
                </a:solidFill>
                <a:latin typeface="Arial" panose="020B0604020202020204" pitchFamily="34" charset="0"/>
              </a:rPr>
              <a:t>quid</a:t>
            </a:r>
            <a:r>
              <a:rPr lang="de-DE" dirty="0">
                <a:solidFill>
                  <a:srgbClr val="2F2F2F"/>
                </a:solidFill>
                <a:latin typeface="Arial" panose="020B0604020202020204" pitchFamily="34" charset="0"/>
              </a:rPr>
              <a:t> quo </a:t>
            </a:r>
            <a:r>
              <a:rPr lang="de-DE" dirty="0" err="1">
                <a:solidFill>
                  <a:srgbClr val="2F2F2F"/>
                </a:solidFill>
                <a:latin typeface="Arial" panose="020B0604020202020204" pitchFamily="34" charset="0"/>
              </a:rPr>
              <a:t>doles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sequias</a:t>
            </a:r>
            <a:r>
              <a:rPr lang="de-DE" dirty="0">
                <a:solidFill>
                  <a:srgbClr val="2F2F2F"/>
                </a:solidFill>
                <a:latin typeface="Arial" panose="020B0604020202020204" pitchFamily="34" charset="0"/>
              </a:rPr>
              <a:t> rat </a:t>
            </a:r>
            <a:r>
              <a:rPr lang="de-DE" dirty="0" err="1">
                <a:solidFill>
                  <a:srgbClr val="2F2F2F"/>
                </a:solidFill>
                <a:latin typeface="Arial" panose="020B0604020202020204" pitchFamily="34" charset="0"/>
              </a:rPr>
              <a:t>facersp</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edissuntotas</a:t>
            </a:r>
            <a:r>
              <a:rPr lang="de-DE" dirty="0">
                <a:solidFill>
                  <a:srgbClr val="2F2F2F"/>
                </a:solidFill>
                <a:latin typeface="Arial" panose="020B0604020202020204" pitchFamily="34" charset="0"/>
              </a:rPr>
              <a:t> et, </a:t>
            </a:r>
            <a:r>
              <a:rPr lang="de-DE" dirty="0" err="1">
                <a:solidFill>
                  <a:srgbClr val="2F2F2F"/>
                </a:solidFill>
                <a:latin typeface="Arial" panose="020B0604020202020204" pitchFamily="34" charset="0"/>
              </a:rPr>
              <a:t>nis</a:t>
            </a:r>
            <a:r>
              <a:rPr lang="de-DE" dirty="0">
                <a:solidFill>
                  <a:srgbClr val="2F2F2F"/>
                </a:solidFill>
                <a:latin typeface="Arial" panose="020B0604020202020204" pitchFamily="34" charset="0"/>
              </a:rPr>
              <a:t> di </a:t>
            </a:r>
            <a:r>
              <a:rPr lang="de-DE" dirty="0" err="1">
                <a:solidFill>
                  <a:srgbClr val="2F2F2F"/>
                </a:solidFill>
                <a:latin typeface="Arial" panose="020B0604020202020204" pitchFamily="34" charset="0"/>
              </a:rPr>
              <a:t>berum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verore</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sequas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represcium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faccabo</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Adistis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dolor</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atur</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aliquatem</a:t>
            </a:r>
            <a:r>
              <a:rPr lang="de-DE" dirty="0">
                <a:solidFill>
                  <a:srgbClr val="2F2F2F"/>
                </a:solidFill>
                <a:latin typeface="Arial" panose="020B0604020202020204" pitchFamily="34" charset="0"/>
              </a:rPr>
              <a:t> quo </a:t>
            </a:r>
            <a:r>
              <a:rPr lang="de-DE" dirty="0" err="1">
                <a:solidFill>
                  <a:srgbClr val="2F2F2F"/>
                </a:solidFill>
                <a:latin typeface="Arial" panose="020B0604020202020204" pitchFamily="34" charset="0"/>
              </a:rPr>
              <a:t>modis</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accaecum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nossunt</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ipsam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ratiam</a:t>
            </a:r>
            <a:r>
              <a:rPr lang="de-DE" dirty="0">
                <a:solidFill>
                  <a:srgbClr val="2F2F2F"/>
                </a:solidFill>
                <a:latin typeface="Arial" panose="020B0604020202020204" pitchFamily="34" charset="0"/>
              </a:rPr>
              <a:t>, </a:t>
            </a:r>
            <a:r>
              <a:rPr lang="de-DE" dirty="0" err="1">
                <a:solidFill>
                  <a:srgbClr val="2F2F2F"/>
                </a:solidFill>
                <a:latin typeface="Arial" panose="020B0604020202020204" pitchFamily="34" charset="0"/>
              </a:rPr>
              <a:t>voluptur</a:t>
            </a:r>
            <a:r>
              <a:rPr lang="de-DE" dirty="0">
                <a:solidFill>
                  <a:srgbClr val="2F2F2F"/>
                </a:solidFill>
                <a:latin typeface="Arial" panose="020B0604020202020204" pitchFamily="34" charset="0"/>
              </a:rPr>
              <a:t>?</a:t>
            </a:r>
          </a:p>
          <a:p>
            <a:pPr lvl="1">
              <a:defRPr/>
            </a:pPr>
            <a:r>
              <a:rPr lang="de-DE" dirty="0" err="1">
                <a:solidFill>
                  <a:srgbClr val="2F2F2F"/>
                </a:solidFill>
                <a:latin typeface="Arial" panose="020B0604020202020204" pitchFamily="34" charset="0"/>
              </a:rPr>
              <a:t>iuntur</a:t>
            </a:r>
            <a:endParaRPr lang="de-DE" dirty="0">
              <a:solidFill>
                <a:srgbClr val="2F2F2F"/>
              </a:solidFill>
              <a:latin typeface="Arial" panose="020B0604020202020204" pitchFamily="34" charset="0"/>
            </a:endParaRPr>
          </a:p>
        </p:txBody>
      </p:sp>
    </p:spTree>
    <p:extLst>
      <p:ext uri="{BB962C8B-B14F-4D97-AF65-F5344CB8AC3E}">
        <p14:creationId xmlns:p14="http://schemas.microsoft.com/office/powerpoint/2010/main" val="2698513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arbübersicht">
    <p:spTree>
      <p:nvGrpSpPr>
        <p:cNvPr id="1" name=""/>
        <p:cNvGrpSpPr/>
        <p:nvPr/>
      </p:nvGrpSpPr>
      <p:grpSpPr>
        <a:xfrm>
          <a:off x="0" y="0"/>
          <a:ext cx="0" cy="0"/>
          <a:chOff x="0" y="0"/>
          <a:chExt cx="0" cy="0"/>
        </a:xfrm>
      </p:grpSpPr>
      <p:sp>
        <p:nvSpPr>
          <p:cNvPr id="3" name="Foliennummernplatzhalter 5">
            <a:extLst>
              <a:ext uri="{FF2B5EF4-FFF2-40B4-BE49-F238E27FC236}">
                <a16:creationId xmlns:a16="http://schemas.microsoft.com/office/drawing/2014/main" id="{F2973FF0-2276-5A4B-B95B-42413B8BD476}"/>
              </a:ext>
            </a:extLst>
          </p:cNvPr>
          <p:cNvSpPr>
            <a:spLocks noGrp="1"/>
          </p:cNvSpPr>
          <p:nvPr>
            <p:ph type="sldNum" sz="quarter" idx="4"/>
          </p:nvPr>
        </p:nvSpPr>
        <p:spPr>
          <a:xfrm>
            <a:off x="446400" y="6426773"/>
            <a:ext cx="720000" cy="270000"/>
          </a:xfrm>
          <a:prstGeom prst="rect">
            <a:avLst/>
          </a:prstGeom>
        </p:spPr>
        <p:txBody>
          <a:bodyPr vert="horz" lIns="0" tIns="0" rIns="0" bIns="0" rtlCol="0" anchor="t" anchorCtr="0"/>
          <a:lstStyle>
            <a:lvl1pPr algn="l">
              <a:defRPr sz="1200" b="1" i="0" baseline="0">
                <a:solidFill>
                  <a:schemeClr val="tx1"/>
                </a:solidFill>
                <a:latin typeface="Arial" panose="020B0604020202020204" pitchFamily="34" charset="0"/>
              </a:defRPr>
            </a:lvl1pPr>
          </a:lstStyle>
          <a:p>
            <a:pPr algn="l"/>
            <a:fld id="{3889EAAA-2A39-E347-B0AA-909793490C00}" type="slidenum">
              <a:rPr lang="de-DE" smtClean="0"/>
              <a:pPr algn="l"/>
              <a:t>‹#›</a:t>
            </a:fld>
            <a:endParaRPr lang="de-DE" dirty="0"/>
          </a:p>
        </p:txBody>
      </p:sp>
      <p:sp>
        <p:nvSpPr>
          <p:cNvPr id="52" name="Rechteck 51">
            <a:extLst>
              <a:ext uri="{FF2B5EF4-FFF2-40B4-BE49-F238E27FC236}">
                <a16:creationId xmlns:a16="http://schemas.microsoft.com/office/drawing/2014/main" id="{FF3871DC-3AE6-0046-9798-2B74B19887B1}"/>
              </a:ext>
            </a:extLst>
          </p:cNvPr>
          <p:cNvSpPr/>
          <p:nvPr userDrawn="1"/>
        </p:nvSpPr>
        <p:spPr>
          <a:xfrm>
            <a:off x="442800" y="1484313"/>
            <a:ext cx="832193" cy="685829"/>
          </a:xfrm>
          <a:prstGeom prst="rect">
            <a:avLst/>
          </a:prstGeom>
          <a:solidFill>
            <a:schemeClr val="tx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0</a:t>
            </a:r>
          </a:p>
          <a:p>
            <a:r>
              <a:rPr lang="de-DE" sz="915" b="1" baseline="0" dirty="0">
                <a:solidFill>
                  <a:schemeClr val="bg1"/>
                </a:solidFill>
                <a:effectLst/>
                <a:latin typeface="LMU CompatilFact" panose="02000500060000020003" pitchFamily="2" charset="0"/>
              </a:rPr>
              <a:t>G 136</a:t>
            </a:r>
          </a:p>
          <a:p>
            <a:r>
              <a:rPr lang="de-DE" sz="915" b="1" baseline="0" dirty="0">
                <a:solidFill>
                  <a:schemeClr val="bg1"/>
                </a:solidFill>
                <a:effectLst/>
                <a:latin typeface="LMU CompatilFact" panose="02000500060000020003" pitchFamily="2" charset="0"/>
              </a:rPr>
              <a:t>B 58</a:t>
            </a:r>
            <a:endParaRPr lang="de-DE" sz="915" baseline="0" dirty="0">
              <a:solidFill>
                <a:schemeClr val="bg1"/>
              </a:solidFill>
              <a:effectLst/>
              <a:latin typeface="LMU CompatilFact" panose="02000500060000020003" pitchFamily="2" charset="0"/>
            </a:endParaRPr>
          </a:p>
        </p:txBody>
      </p:sp>
      <p:sp>
        <p:nvSpPr>
          <p:cNvPr id="53" name="Rechteck 52">
            <a:extLst>
              <a:ext uri="{FF2B5EF4-FFF2-40B4-BE49-F238E27FC236}">
                <a16:creationId xmlns:a16="http://schemas.microsoft.com/office/drawing/2014/main" id="{323A9624-D6DE-C345-9C75-F17A8B2EFEFC}"/>
              </a:ext>
            </a:extLst>
          </p:cNvPr>
          <p:cNvSpPr/>
          <p:nvPr userDrawn="1"/>
        </p:nvSpPr>
        <p:spPr>
          <a:xfrm>
            <a:off x="2820756" y="1484313"/>
            <a:ext cx="832193" cy="685829"/>
          </a:xfrm>
          <a:prstGeom prst="rect">
            <a:avLst/>
          </a:prstGeom>
          <a:solidFill>
            <a:schemeClr val="bg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tx2"/>
                </a:solidFill>
                <a:effectLst/>
                <a:latin typeface="LMU CompatilFact" panose="02000500060000020003" pitchFamily="2" charset="0"/>
              </a:rPr>
              <a:t>R 255</a:t>
            </a:r>
          </a:p>
          <a:p>
            <a:r>
              <a:rPr lang="de-DE" sz="915" b="1" baseline="0" dirty="0">
                <a:solidFill>
                  <a:schemeClr val="tx2"/>
                </a:solidFill>
                <a:effectLst/>
                <a:latin typeface="LMU CompatilFact" panose="02000500060000020003" pitchFamily="2" charset="0"/>
              </a:rPr>
              <a:t>G 255</a:t>
            </a:r>
          </a:p>
          <a:p>
            <a:r>
              <a:rPr lang="de-DE" sz="915" b="1" baseline="0" dirty="0">
                <a:solidFill>
                  <a:schemeClr val="tx2"/>
                </a:solidFill>
                <a:effectLst/>
                <a:latin typeface="LMU CompatilFact" panose="02000500060000020003" pitchFamily="2" charset="0"/>
              </a:rPr>
              <a:t>B 255</a:t>
            </a:r>
            <a:endParaRPr lang="de-DE" sz="915" baseline="0" dirty="0">
              <a:solidFill>
                <a:schemeClr val="tx2"/>
              </a:solidFill>
              <a:effectLst/>
              <a:latin typeface="LMU CompatilFact" panose="02000500060000020003" pitchFamily="2" charset="0"/>
            </a:endParaRPr>
          </a:p>
        </p:txBody>
      </p:sp>
      <p:sp>
        <p:nvSpPr>
          <p:cNvPr id="54" name="Rechteck 53">
            <a:extLst>
              <a:ext uri="{FF2B5EF4-FFF2-40B4-BE49-F238E27FC236}">
                <a16:creationId xmlns:a16="http://schemas.microsoft.com/office/drawing/2014/main" id="{7699AD87-10CD-5C43-A6B2-3E71A6C1E6A5}"/>
              </a:ext>
            </a:extLst>
          </p:cNvPr>
          <p:cNvSpPr/>
          <p:nvPr userDrawn="1"/>
        </p:nvSpPr>
        <p:spPr>
          <a:xfrm>
            <a:off x="1631778" y="1484313"/>
            <a:ext cx="832193" cy="685829"/>
          </a:xfrm>
          <a:prstGeom prst="rect">
            <a:avLst/>
          </a:prstGeom>
          <a:solidFill>
            <a:schemeClr val="tx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35</a:t>
            </a:r>
          </a:p>
          <a:p>
            <a:r>
              <a:rPr lang="de-DE" sz="915" b="1" baseline="0" dirty="0">
                <a:solidFill>
                  <a:schemeClr val="bg1"/>
                </a:solidFill>
                <a:effectLst/>
                <a:latin typeface="LMU CompatilFact" panose="02000500060000020003" pitchFamily="2" charset="0"/>
              </a:rPr>
              <a:t>G 35</a:t>
            </a:r>
          </a:p>
          <a:p>
            <a:r>
              <a:rPr lang="de-DE" sz="915" b="1" baseline="0" dirty="0">
                <a:solidFill>
                  <a:schemeClr val="bg1"/>
                </a:solidFill>
                <a:effectLst/>
                <a:latin typeface="LMU CompatilFact" panose="02000500060000020003" pitchFamily="2" charset="0"/>
              </a:rPr>
              <a:t>B 35</a:t>
            </a:r>
            <a:endParaRPr lang="de-DE" sz="915" baseline="0" dirty="0">
              <a:solidFill>
                <a:schemeClr val="bg1"/>
              </a:solidFill>
              <a:effectLst/>
              <a:latin typeface="LMU CompatilFact" panose="02000500060000020003" pitchFamily="2" charset="0"/>
            </a:endParaRPr>
          </a:p>
        </p:txBody>
      </p:sp>
      <p:sp>
        <p:nvSpPr>
          <p:cNvPr id="55" name="Rechteck 54">
            <a:extLst>
              <a:ext uri="{FF2B5EF4-FFF2-40B4-BE49-F238E27FC236}">
                <a16:creationId xmlns:a16="http://schemas.microsoft.com/office/drawing/2014/main" id="{7E6E40C0-B5CF-3040-971F-4D8BB55D0746}"/>
              </a:ext>
            </a:extLst>
          </p:cNvPr>
          <p:cNvSpPr/>
          <p:nvPr userDrawn="1"/>
        </p:nvSpPr>
        <p:spPr>
          <a:xfrm>
            <a:off x="442802" y="2240393"/>
            <a:ext cx="832193"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LMU Grün </a:t>
            </a:r>
            <a:br>
              <a:rPr lang="de-DE" sz="800" b="1" baseline="0" dirty="0">
                <a:solidFill>
                  <a:schemeClr val="tx2"/>
                </a:solidFill>
                <a:effectLst/>
                <a:latin typeface="Arial" panose="020B0604020202020204" pitchFamily="34" charset="0"/>
              </a:rPr>
            </a:br>
            <a:endParaRPr lang="de-DE" sz="800" baseline="0" dirty="0">
              <a:solidFill>
                <a:schemeClr val="tx2"/>
              </a:solidFill>
              <a:effectLst/>
              <a:latin typeface="Arial" panose="020B0604020202020204" pitchFamily="34" charset="0"/>
            </a:endParaRPr>
          </a:p>
        </p:txBody>
      </p:sp>
      <p:sp>
        <p:nvSpPr>
          <p:cNvPr id="56" name="Rechteck 55">
            <a:extLst>
              <a:ext uri="{FF2B5EF4-FFF2-40B4-BE49-F238E27FC236}">
                <a16:creationId xmlns:a16="http://schemas.microsoft.com/office/drawing/2014/main" id="{5A2A488E-BCE0-BB4B-959A-3AC0A2CF9AFD}"/>
              </a:ext>
            </a:extLst>
          </p:cNvPr>
          <p:cNvSpPr/>
          <p:nvPr userDrawn="1"/>
        </p:nvSpPr>
        <p:spPr>
          <a:xfrm>
            <a:off x="442800" y="3144823"/>
            <a:ext cx="607189" cy="500399"/>
          </a:xfrm>
          <a:prstGeom prst="rect">
            <a:avLst/>
          </a:prstGeom>
          <a:solidFill>
            <a:schemeClr val="bg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98</a:t>
            </a:r>
          </a:p>
          <a:p>
            <a:r>
              <a:rPr lang="de-DE" sz="915" b="1" baseline="0" dirty="0">
                <a:solidFill>
                  <a:schemeClr val="bg1"/>
                </a:solidFill>
                <a:effectLst/>
                <a:latin typeface="LMU CompatilFact" panose="02000500060000020003" pitchFamily="2" charset="0"/>
              </a:rPr>
              <a:t>G 100</a:t>
            </a:r>
          </a:p>
          <a:p>
            <a:r>
              <a:rPr lang="de-DE" sz="915" b="1" baseline="0" dirty="0">
                <a:solidFill>
                  <a:schemeClr val="bg1"/>
                </a:solidFill>
                <a:effectLst/>
                <a:latin typeface="LMU CompatilFact" panose="02000500060000020003" pitchFamily="2" charset="0"/>
              </a:rPr>
              <a:t>B 104</a:t>
            </a:r>
            <a:endParaRPr lang="de-DE" sz="915" baseline="0" dirty="0">
              <a:solidFill>
                <a:schemeClr val="bg1"/>
              </a:solidFill>
              <a:effectLst/>
              <a:latin typeface="LMU CompatilFact" panose="02000500060000020003" pitchFamily="2" charset="0"/>
            </a:endParaRPr>
          </a:p>
        </p:txBody>
      </p:sp>
      <p:sp>
        <p:nvSpPr>
          <p:cNvPr id="57" name="Rechteck 56">
            <a:extLst>
              <a:ext uri="{FF2B5EF4-FFF2-40B4-BE49-F238E27FC236}">
                <a16:creationId xmlns:a16="http://schemas.microsoft.com/office/drawing/2014/main" id="{BAF76B9D-1CB6-774E-B88E-0CACB598FEF6}"/>
              </a:ext>
            </a:extLst>
          </p:cNvPr>
          <p:cNvSpPr/>
          <p:nvPr userDrawn="1"/>
        </p:nvSpPr>
        <p:spPr>
          <a:xfrm>
            <a:off x="2177818" y="3144823"/>
            <a:ext cx="607189" cy="500399"/>
          </a:xfrm>
          <a:prstGeom prst="rect">
            <a:avLst/>
          </a:prstGeom>
          <a:solidFill>
            <a:schemeClr val="accent2"/>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230</a:t>
            </a:r>
          </a:p>
          <a:p>
            <a:r>
              <a:rPr lang="de-DE" sz="915" b="1" baseline="0" dirty="0">
                <a:solidFill>
                  <a:schemeClr val="bg1"/>
                </a:solidFill>
                <a:effectLst/>
                <a:latin typeface="LMU CompatilFact" panose="02000500060000020003" pitchFamily="2" charset="0"/>
              </a:rPr>
              <a:t>G 230</a:t>
            </a:r>
          </a:p>
          <a:p>
            <a:r>
              <a:rPr lang="de-DE" sz="915" b="1" baseline="0" dirty="0">
                <a:solidFill>
                  <a:schemeClr val="bg1"/>
                </a:solidFill>
                <a:effectLst/>
                <a:latin typeface="LMU CompatilFact" panose="02000500060000020003" pitchFamily="2" charset="0"/>
              </a:rPr>
              <a:t>B 231</a:t>
            </a:r>
            <a:endParaRPr lang="de-DE" sz="915" baseline="0" dirty="0">
              <a:solidFill>
                <a:schemeClr val="bg1"/>
              </a:solidFill>
              <a:effectLst/>
              <a:latin typeface="LMU CompatilFact" panose="02000500060000020003" pitchFamily="2" charset="0"/>
            </a:endParaRPr>
          </a:p>
        </p:txBody>
      </p:sp>
      <p:sp>
        <p:nvSpPr>
          <p:cNvPr id="58" name="Rechteck 57">
            <a:extLst>
              <a:ext uri="{FF2B5EF4-FFF2-40B4-BE49-F238E27FC236}">
                <a16:creationId xmlns:a16="http://schemas.microsoft.com/office/drawing/2014/main" id="{D45CC143-00CB-E043-9C6B-880F634668A7}"/>
              </a:ext>
            </a:extLst>
          </p:cNvPr>
          <p:cNvSpPr/>
          <p:nvPr userDrawn="1"/>
        </p:nvSpPr>
        <p:spPr>
          <a:xfrm>
            <a:off x="1310310" y="3144823"/>
            <a:ext cx="607189" cy="500399"/>
          </a:xfrm>
          <a:prstGeom prst="rect">
            <a:avLst/>
          </a:prstGeom>
          <a:solidFill>
            <a:schemeClr val="accent1"/>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192</a:t>
            </a:r>
          </a:p>
          <a:p>
            <a:r>
              <a:rPr lang="de-DE" sz="915" b="1" baseline="0" dirty="0">
                <a:solidFill>
                  <a:schemeClr val="bg1"/>
                </a:solidFill>
                <a:effectLst/>
                <a:latin typeface="LMU CompatilFact" panose="02000500060000020003" pitchFamily="2" charset="0"/>
              </a:rPr>
              <a:t>G 193</a:t>
            </a:r>
          </a:p>
          <a:p>
            <a:r>
              <a:rPr lang="de-DE" sz="915" b="1" baseline="0" dirty="0">
                <a:solidFill>
                  <a:schemeClr val="bg1"/>
                </a:solidFill>
                <a:effectLst/>
                <a:latin typeface="LMU CompatilFact" panose="02000500060000020003" pitchFamily="2" charset="0"/>
              </a:rPr>
              <a:t>B 195</a:t>
            </a:r>
            <a:endParaRPr lang="de-DE" sz="915" baseline="0" dirty="0">
              <a:solidFill>
                <a:schemeClr val="bg1"/>
              </a:solidFill>
              <a:effectLst/>
              <a:latin typeface="LMU CompatilFact" panose="02000500060000020003" pitchFamily="2" charset="0"/>
            </a:endParaRPr>
          </a:p>
        </p:txBody>
      </p:sp>
      <p:sp>
        <p:nvSpPr>
          <p:cNvPr id="59" name="Rechteck 58">
            <a:extLst>
              <a:ext uri="{FF2B5EF4-FFF2-40B4-BE49-F238E27FC236}">
                <a16:creationId xmlns:a16="http://schemas.microsoft.com/office/drawing/2014/main" id="{C2788AA0-4D28-CA47-A881-1819C9B7F2B2}"/>
              </a:ext>
            </a:extLst>
          </p:cNvPr>
          <p:cNvSpPr/>
          <p:nvPr userDrawn="1"/>
        </p:nvSpPr>
        <p:spPr>
          <a:xfrm>
            <a:off x="3045759" y="3144823"/>
            <a:ext cx="607189" cy="500399"/>
          </a:xfrm>
          <a:prstGeom prst="rect">
            <a:avLst/>
          </a:prstGeom>
          <a:solidFill>
            <a:schemeClr val="accent3"/>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tx2"/>
                </a:solidFill>
                <a:effectLst/>
                <a:latin typeface="LMU CompatilFact" panose="02000500060000020003" pitchFamily="2" charset="0"/>
              </a:rPr>
              <a:t>R 245</a:t>
            </a:r>
          </a:p>
          <a:p>
            <a:r>
              <a:rPr lang="de-DE" sz="915" b="1" baseline="0" dirty="0">
                <a:solidFill>
                  <a:schemeClr val="tx2"/>
                </a:solidFill>
                <a:effectLst/>
                <a:latin typeface="LMU CompatilFact" panose="02000500060000020003" pitchFamily="2" charset="0"/>
              </a:rPr>
              <a:t>G 245</a:t>
            </a:r>
          </a:p>
          <a:p>
            <a:r>
              <a:rPr lang="de-DE" sz="915" b="1" baseline="0" dirty="0">
                <a:solidFill>
                  <a:schemeClr val="tx2"/>
                </a:solidFill>
                <a:effectLst/>
                <a:latin typeface="LMU CompatilFact" panose="02000500060000020003" pitchFamily="2" charset="0"/>
              </a:rPr>
              <a:t>B 245</a:t>
            </a:r>
            <a:endParaRPr lang="de-DE" sz="915" baseline="0" dirty="0">
              <a:solidFill>
                <a:schemeClr val="tx2"/>
              </a:solidFill>
              <a:effectLst/>
              <a:latin typeface="LMU CompatilFact" panose="02000500060000020003" pitchFamily="2" charset="0"/>
            </a:endParaRPr>
          </a:p>
        </p:txBody>
      </p:sp>
      <p:sp>
        <p:nvSpPr>
          <p:cNvPr id="60" name="Rechteck 59">
            <a:extLst>
              <a:ext uri="{FF2B5EF4-FFF2-40B4-BE49-F238E27FC236}">
                <a16:creationId xmlns:a16="http://schemas.microsoft.com/office/drawing/2014/main" id="{20A40CC5-176B-9442-82E4-408CAB2349BC}"/>
              </a:ext>
            </a:extLst>
          </p:cNvPr>
          <p:cNvSpPr/>
          <p:nvPr userDrawn="1"/>
        </p:nvSpPr>
        <p:spPr>
          <a:xfrm>
            <a:off x="442802"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Dunkelgrau</a:t>
            </a:r>
            <a:endParaRPr lang="de-DE" sz="800" baseline="0" dirty="0">
              <a:solidFill>
                <a:schemeClr val="tx2"/>
              </a:solidFill>
              <a:effectLst/>
              <a:latin typeface="Arial" panose="020B0604020202020204" pitchFamily="34" charset="0"/>
            </a:endParaRPr>
          </a:p>
        </p:txBody>
      </p:sp>
      <p:sp>
        <p:nvSpPr>
          <p:cNvPr id="61" name="Rechteck 60">
            <a:extLst>
              <a:ext uri="{FF2B5EF4-FFF2-40B4-BE49-F238E27FC236}">
                <a16:creationId xmlns:a16="http://schemas.microsoft.com/office/drawing/2014/main" id="{FA56A28D-A369-AD4B-AF9B-25C454F18A4E}"/>
              </a:ext>
            </a:extLst>
          </p:cNvPr>
          <p:cNvSpPr/>
          <p:nvPr userDrawn="1"/>
        </p:nvSpPr>
        <p:spPr>
          <a:xfrm>
            <a:off x="1310310"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Mittelgrau</a:t>
            </a:r>
            <a:endParaRPr lang="de-DE" sz="800" baseline="0" dirty="0">
              <a:solidFill>
                <a:schemeClr val="tx2"/>
              </a:solidFill>
              <a:effectLst/>
              <a:latin typeface="Arial" panose="020B0604020202020204" pitchFamily="34" charset="0"/>
            </a:endParaRPr>
          </a:p>
        </p:txBody>
      </p:sp>
      <p:sp>
        <p:nvSpPr>
          <p:cNvPr id="62" name="Rechteck 61">
            <a:extLst>
              <a:ext uri="{FF2B5EF4-FFF2-40B4-BE49-F238E27FC236}">
                <a16:creationId xmlns:a16="http://schemas.microsoft.com/office/drawing/2014/main" id="{7EF2EF5B-E92A-5D4A-8161-D33FFACE7341}"/>
              </a:ext>
            </a:extLst>
          </p:cNvPr>
          <p:cNvSpPr/>
          <p:nvPr userDrawn="1"/>
        </p:nvSpPr>
        <p:spPr>
          <a:xfrm>
            <a:off x="2187234"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Hellgrau</a:t>
            </a:r>
            <a:endParaRPr lang="de-DE" sz="800" baseline="0" dirty="0">
              <a:solidFill>
                <a:schemeClr val="tx2"/>
              </a:solidFill>
              <a:effectLst/>
              <a:latin typeface="Arial" panose="020B0604020202020204" pitchFamily="34" charset="0"/>
            </a:endParaRPr>
          </a:p>
        </p:txBody>
      </p:sp>
      <p:sp>
        <p:nvSpPr>
          <p:cNvPr id="63" name="Rechteck 62">
            <a:extLst>
              <a:ext uri="{FF2B5EF4-FFF2-40B4-BE49-F238E27FC236}">
                <a16:creationId xmlns:a16="http://schemas.microsoft.com/office/drawing/2014/main" id="{14B21CFC-1C2A-AD4E-82DE-A68CEF4308BE}"/>
              </a:ext>
            </a:extLst>
          </p:cNvPr>
          <p:cNvSpPr/>
          <p:nvPr userDrawn="1"/>
        </p:nvSpPr>
        <p:spPr>
          <a:xfrm>
            <a:off x="3048909" y="3750534"/>
            <a:ext cx="607188" cy="24622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Sekundär Lichtgrau</a:t>
            </a:r>
            <a:endParaRPr lang="de-DE" sz="800" baseline="0" dirty="0">
              <a:solidFill>
                <a:schemeClr val="tx2"/>
              </a:solidFill>
              <a:effectLst/>
              <a:latin typeface="Arial" panose="020B0604020202020204" pitchFamily="34" charset="0"/>
            </a:endParaRPr>
          </a:p>
        </p:txBody>
      </p:sp>
      <p:sp>
        <p:nvSpPr>
          <p:cNvPr id="64" name="Rechteck 63">
            <a:extLst>
              <a:ext uri="{FF2B5EF4-FFF2-40B4-BE49-F238E27FC236}">
                <a16:creationId xmlns:a16="http://schemas.microsoft.com/office/drawing/2014/main" id="{C73389B4-7374-AB43-B9CD-0CA5B6ED4B02}"/>
              </a:ext>
            </a:extLst>
          </p:cNvPr>
          <p:cNvSpPr/>
          <p:nvPr userDrawn="1"/>
        </p:nvSpPr>
        <p:spPr>
          <a:xfrm>
            <a:off x="1617118" y="2240392"/>
            <a:ext cx="832193"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Schwarz</a:t>
            </a:r>
            <a:endParaRPr lang="de-DE" sz="800" baseline="0" dirty="0">
              <a:solidFill>
                <a:schemeClr val="tx2"/>
              </a:solidFill>
              <a:effectLst/>
              <a:latin typeface="Arial" panose="020B0604020202020204" pitchFamily="34" charset="0"/>
            </a:endParaRPr>
          </a:p>
        </p:txBody>
      </p:sp>
      <p:sp>
        <p:nvSpPr>
          <p:cNvPr id="65" name="Rechteck 64">
            <a:extLst>
              <a:ext uri="{FF2B5EF4-FFF2-40B4-BE49-F238E27FC236}">
                <a16:creationId xmlns:a16="http://schemas.microsoft.com/office/drawing/2014/main" id="{A8E62580-B452-9141-99B8-14D406341FD8}"/>
              </a:ext>
            </a:extLst>
          </p:cNvPr>
          <p:cNvSpPr/>
          <p:nvPr userDrawn="1"/>
        </p:nvSpPr>
        <p:spPr>
          <a:xfrm>
            <a:off x="2821937" y="2240392"/>
            <a:ext cx="832193" cy="123111"/>
          </a:xfrm>
          <a:prstGeom prst="rect">
            <a:avLst/>
          </a:prstGeom>
        </p:spPr>
        <p:txBody>
          <a:bodyPr wrap="square" lIns="0" tIns="0" rIns="0" bIns="0">
            <a:spAutoFit/>
          </a:bodyPr>
          <a:lstStyle/>
          <a:p>
            <a:r>
              <a:rPr lang="de-DE" sz="800" b="1" baseline="0" dirty="0" err="1">
                <a:solidFill>
                  <a:schemeClr val="tx2"/>
                </a:solidFill>
                <a:effectLst/>
                <a:latin typeface="Arial" panose="020B0604020202020204" pitchFamily="34" charset="0"/>
              </a:rPr>
              <a:t>Weiss</a:t>
            </a:r>
            <a:endParaRPr lang="de-DE" sz="800" baseline="0" dirty="0">
              <a:solidFill>
                <a:schemeClr val="tx2"/>
              </a:solidFill>
              <a:effectLst/>
              <a:latin typeface="Arial" panose="020B0604020202020204" pitchFamily="34" charset="0"/>
            </a:endParaRPr>
          </a:p>
        </p:txBody>
      </p:sp>
      <p:sp>
        <p:nvSpPr>
          <p:cNvPr id="66" name="Rechteck 65">
            <a:extLst>
              <a:ext uri="{FF2B5EF4-FFF2-40B4-BE49-F238E27FC236}">
                <a16:creationId xmlns:a16="http://schemas.microsoft.com/office/drawing/2014/main" id="{5C5DB8B7-067A-624F-90A9-5FE69A8819FA}"/>
              </a:ext>
            </a:extLst>
          </p:cNvPr>
          <p:cNvSpPr/>
          <p:nvPr userDrawn="1"/>
        </p:nvSpPr>
        <p:spPr>
          <a:xfrm>
            <a:off x="4619182" y="1485446"/>
            <a:ext cx="607189" cy="500399"/>
          </a:xfrm>
          <a:prstGeom prst="rect">
            <a:avLst/>
          </a:prstGeom>
          <a:solidFill>
            <a:schemeClr val="accent4"/>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15</a:t>
            </a:r>
          </a:p>
          <a:p>
            <a:r>
              <a:rPr lang="de-DE" sz="915" b="1" baseline="0" dirty="0">
                <a:solidFill>
                  <a:schemeClr val="bg1"/>
                </a:solidFill>
                <a:effectLst/>
                <a:latin typeface="LMU CompatilFact" panose="02000500060000020003" pitchFamily="2" charset="0"/>
              </a:rPr>
              <a:t>G 25</a:t>
            </a:r>
          </a:p>
          <a:p>
            <a:r>
              <a:rPr lang="de-DE" sz="915" b="1" baseline="0" dirty="0">
                <a:solidFill>
                  <a:schemeClr val="bg1"/>
                </a:solidFill>
                <a:effectLst/>
                <a:latin typeface="LMU CompatilFact" panose="02000500060000020003" pitchFamily="2" charset="0"/>
              </a:rPr>
              <a:t>B 135</a:t>
            </a:r>
            <a:endParaRPr lang="de-DE" sz="915" baseline="0" dirty="0">
              <a:solidFill>
                <a:schemeClr val="bg1"/>
              </a:solidFill>
              <a:effectLst/>
              <a:latin typeface="LMU CompatilFact" panose="02000500060000020003" pitchFamily="2" charset="0"/>
            </a:endParaRPr>
          </a:p>
        </p:txBody>
      </p:sp>
      <p:sp>
        <p:nvSpPr>
          <p:cNvPr id="67" name="Rechteck 66">
            <a:extLst>
              <a:ext uri="{FF2B5EF4-FFF2-40B4-BE49-F238E27FC236}">
                <a16:creationId xmlns:a16="http://schemas.microsoft.com/office/drawing/2014/main" id="{1A10FA4C-181C-BD41-AD4E-730F52457796}"/>
              </a:ext>
            </a:extLst>
          </p:cNvPr>
          <p:cNvSpPr/>
          <p:nvPr userDrawn="1"/>
        </p:nvSpPr>
        <p:spPr>
          <a:xfrm>
            <a:off x="6354200" y="1485446"/>
            <a:ext cx="607189" cy="500399"/>
          </a:xfrm>
          <a:prstGeom prst="rect">
            <a:avLst/>
          </a:prstGeom>
          <a:solidFill>
            <a:schemeClr val="accent6"/>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140</a:t>
            </a:r>
          </a:p>
          <a:p>
            <a:r>
              <a:rPr lang="de-DE" sz="915" b="1" baseline="0" dirty="0">
                <a:solidFill>
                  <a:schemeClr val="bg1"/>
                </a:solidFill>
                <a:effectLst/>
                <a:latin typeface="LMU CompatilFact" panose="02000500060000020003" pitchFamily="2" charset="0"/>
              </a:rPr>
              <a:t>G 64</a:t>
            </a:r>
          </a:p>
          <a:p>
            <a:r>
              <a:rPr lang="de-DE" sz="915" b="1" baseline="0" dirty="0">
                <a:solidFill>
                  <a:schemeClr val="bg1"/>
                </a:solidFill>
                <a:effectLst/>
                <a:latin typeface="LMU CompatilFact" panose="02000500060000020003" pitchFamily="2" charset="0"/>
              </a:rPr>
              <a:t>B 145</a:t>
            </a:r>
            <a:endParaRPr lang="de-DE" sz="915" baseline="0" dirty="0">
              <a:solidFill>
                <a:schemeClr val="bg1"/>
              </a:solidFill>
              <a:effectLst/>
              <a:latin typeface="LMU CompatilFact" panose="02000500060000020003" pitchFamily="2" charset="0"/>
            </a:endParaRPr>
          </a:p>
        </p:txBody>
      </p:sp>
      <p:sp>
        <p:nvSpPr>
          <p:cNvPr id="68" name="Rechteck 67">
            <a:extLst>
              <a:ext uri="{FF2B5EF4-FFF2-40B4-BE49-F238E27FC236}">
                <a16:creationId xmlns:a16="http://schemas.microsoft.com/office/drawing/2014/main" id="{A2466A38-6ECC-DF4F-869F-B98502E2D6A6}"/>
              </a:ext>
            </a:extLst>
          </p:cNvPr>
          <p:cNvSpPr/>
          <p:nvPr userDrawn="1"/>
        </p:nvSpPr>
        <p:spPr>
          <a:xfrm>
            <a:off x="5486692" y="1485446"/>
            <a:ext cx="607189" cy="500399"/>
          </a:xfrm>
          <a:prstGeom prst="rect">
            <a:avLst/>
          </a:prstGeom>
          <a:solidFill>
            <a:schemeClr val="accent5"/>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100</a:t>
            </a:r>
          </a:p>
          <a:p>
            <a:r>
              <a:rPr lang="de-DE" sz="915" b="1" baseline="0" dirty="0">
                <a:solidFill>
                  <a:schemeClr val="bg1"/>
                </a:solidFill>
                <a:effectLst/>
                <a:latin typeface="LMU CompatilFact" panose="02000500060000020003" pitchFamily="2" charset="0"/>
              </a:rPr>
              <a:t>G 59</a:t>
            </a:r>
          </a:p>
          <a:p>
            <a:r>
              <a:rPr lang="de-DE" sz="915" b="1" baseline="0" dirty="0">
                <a:solidFill>
                  <a:schemeClr val="bg1"/>
                </a:solidFill>
                <a:effectLst/>
                <a:latin typeface="LMU CompatilFact" panose="02000500060000020003" pitchFamily="2" charset="0"/>
              </a:rPr>
              <a:t>B 227</a:t>
            </a:r>
            <a:endParaRPr lang="de-DE" sz="915" baseline="0" dirty="0">
              <a:solidFill>
                <a:schemeClr val="bg1"/>
              </a:solidFill>
              <a:effectLst/>
              <a:latin typeface="LMU CompatilFact" panose="02000500060000020003" pitchFamily="2" charset="0"/>
            </a:endParaRPr>
          </a:p>
        </p:txBody>
      </p:sp>
      <p:sp>
        <p:nvSpPr>
          <p:cNvPr id="69" name="Rechteck 68">
            <a:extLst>
              <a:ext uri="{FF2B5EF4-FFF2-40B4-BE49-F238E27FC236}">
                <a16:creationId xmlns:a16="http://schemas.microsoft.com/office/drawing/2014/main" id="{59F62C27-0EB2-5442-90B6-6A8F0C17931E}"/>
              </a:ext>
            </a:extLst>
          </p:cNvPr>
          <p:cNvSpPr/>
          <p:nvPr userDrawn="1"/>
        </p:nvSpPr>
        <p:spPr>
          <a:xfrm>
            <a:off x="7222141" y="1485446"/>
            <a:ext cx="607189" cy="500399"/>
          </a:xfrm>
          <a:prstGeom prst="rect">
            <a:avLst/>
          </a:prstGeom>
          <a:solidFill>
            <a:srgbClr val="DC0D15"/>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215</a:t>
            </a:r>
          </a:p>
          <a:p>
            <a:r>
              <a:rPr lang="de-DE" sz="915" b="1" baseline="0" dirty="0">
                <a:solidFill>
                  <a:schemeClr val="bg1"/>
                </a:solidFill>
                <a:effectLst/>
                <a:latin typeface="LMU CompatilFact" panose="02000500060000020003" pitchFamily="2" charset="0"/>
              </a:rPr>
              <a:t>G 25</a:t>
            </a:r>
          </a:p>
          <a:p>
            <a:r>
              <a:rPr lang="de-DE" sz="915" b="1" baseline="0" dirty="0">
                <a:solidFill>
                  <a:schemeClr val="bg1"/>
                </a:solidFill>
                <a:effectLst/>
                <a:latin typeface="LMU CompatilFact" panose="02000500060000020003" pitchFamily="2" charset="0"/>
              </a:rPr>
              <a:t>B 25</a:t>
            </a:r>
            <a:endParaRPr lang="de-DE" sz="915" baseline="0" dirty="0">
              <a:solidFill>
                <a:schemeClr val="bg1"/>
              </a:solidFill>
              <a:effectLst/>
              <a:latin typeface="LMU CompatilFact" panose="02000500060000020003" pitchFamily="2" charset="0"/>
            </a:endParaRPr>
          </a:p>
        </p:txBody>
      </p:sp>
      <p:sp>
        <p:nvSpPr>
          <p:cNvPr id="70" name="Rechteck 69">
            <a:extLst>
              <a:ext uri="{FF2B5EF4-FFF2-40B4-BE49-F238E27FC236}">
                <a16:creationId xmlns:a16="http://schemas.microsoft.com/office/drawing/2014/main" id="{5B9B3239-0231-A24D-B42D-624E409B3D20}"/>
              </a:ext>
            </a:extLst>
          </p:cNvPr>
          <p:cNvSpPr/>
          <p:nvPr userDrawn="1"/>
        </p:nvSpPr>
        <p:spPr>
          <a:xfrm>
            <a:off x="4619184" y="2091158"/>
            <a:ext cx="607188"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Blau</a:t>
            </a:r>
            <a:endParaRPr lang="de-DE" sz="800" baseline="0" dirty="0">
              <a:solidFill>
                <a:schemeClr val="tx2"/>
              </a:solidFill>
              <a:effectLst/>
              <a:latin typeface="Arial" panose="020B0604020202020204" pitchFamily="34" charset="0"/>
            </a:endParaRPr>
          </a:p>
        </p:txBody>
      </p:sp>
      <p:sp>
        <p:nvSpPr>
          <p:cNvPr id="71" name="Rechteck 70">
            <a:extLst>
              <a:ext uri="{FF2B5EF4-FFF2-40B4-BE49-F238E27FC236}">
                <a16:creationId xmlns:a16="http://schemas.microsoft.com/office/drawing/2014/main" id="{D90492F4-04D9-0D48-A32F-3E322C29483A}"/>
              </a:ext>
            </a:extLst>
          </p:cNvPr>
          <p:cNvSpPr/>
          <p:nvPr userDrawn="1"/>
        </p:nvSpPr>
        <p:spPr>
          <a:xfrm>
            <a:off x="5486691" y="2091158"/>
            <a:ext cx="705915"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Cyan</a:t>
            </a:r>
            <a:endParaRPr lang="de-DE" sz="800" baseline="0" dirty="0">
              <a:solidFill>
                <a:schemeClr val="tx2"/>
              </a:solidFill>
              <a:effectLst/>
              <a:latin typeface="Arial" panose="020B0604020202020204" pitchFamily="34" charset="0"/>
            </a:endParaRPr>
          </a:p>
        </p:txBody>
      </p:sp>
      <p:sp>
        <p:nvSpPr>
          <p:cNvPr id="72" name="Rechteck 71">
            <a:extLst>
              <a:ext uri="{FF2B5EF4-FFF2-40B4-BE49-F238E27FC236}">
                <a16:creationId xmlns:a16="http://schemas.microsoft.com/office/drawing/2014/main" id="{0C3949AB-62CF-6643-83F3-F76B12005678}"/>
              </a:ext>
            </a:extLst>
          </p:cNvPr>
          <p:cNvSpPr/>
          <p:nvPr userDrawn="1"/>
        </p:nvSpPr>
        <p:spPr>
          <a:xfrm>
            <a:off x="6363616" y="2091157"/>
            <a:ext cx="705914"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Violett</a:t>
            </a:r>
            <a:endParaRPr lang="de-DE" sz="800" baseline="0" dirty="0">
              <a:solidFill>
                <a:schemeClr val="tx2"/>
              </a:solidFill>
              <a:effectLst/>
              <a:latin typeface="Arial" panose="020B0604020202020204" pitchFamily="34" charset="0"/>
            </a:endParaRPr>
          </a:p>
        </p:txBody>
      </p:sp>
      <p:sp>
        <p:nvSpPr>
          <p:cNvPr id="73" name="Rechteck 72">
            <a:extLst>
              <a:ext uri="{FF2B5EF4-FFF2-40B4-BE49-F238E27FC236}">
                <a16:creationId xmlns:a16="http://schemas.microsoft.com/office/drawing/2014/main" id="{3CD1B9CD-D09C-5D4A-B064-6355897E2041}"/>
              </a:ext>
            </a:extLst>
          </p:cNvPr>
          <p:cNvSpPr/>
          <p:nvPr userDrawn="1"/>
        </p:nvSpPr>
        <p:spPr>
          <a:xfrm>
            <a:off x="7225291" y="2091158"/>
            <a:ext cx="607188"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Rot</a:t>
            </a:r>
            <a:endParaRPr lang="de-DE" sz="800" baseline="0" dirty="0">
              <a:solidFill>
                <a:schemeClr val="tx2"/>
              </a:solidFill>
              <a:effectLst/>
              <a:latin typeface="Arial" panose="020B0604020202020204" pitchFamily="34" charset="0"/>
            </a:endParaRPr>
          </a:p>
        </p:txBody>
      </p:sp>
      <p:sp>
        <p:nvSpPr>
          <p:cNvPr id="74" name="Rechteck 73">
            <a:extLst>
              <a:ext uri="{FF2B5EF4-FFF2-40B4-BE49-F238E27FC236}">
                <a16:creationId xmlns:a16="http://schemas.microsoft.com/office/drawing/2014/main" id="{E0B457DF-BD61-044B-ACA4-342889CA02A1}"/>
              </a:ext>
            </a:extLst>
          </p:cNvPr>
          <p:cNvSpPr/>
          <p:nvPr userDrawn="1"/>
        </p:nvSpPr>
        <p:spPr>
          <a:xfrm>
            <a:off x="4619182" y="2490933"/>
            <a:ext cx="607189" cy="500399"/>
          </a:xfrm>
          <a:prstGeom prst="rect">
            <a:avLst/>
          </a:prstGeom>
          <a:solidFill>
            <a:srgbClr val="F18700"/>
          </a:solidFill>
          <a:ln w="31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sz="915" b="1" baseline="0" dirty="0">
                <a:solidFill>
                  <a:schemeClr val="bg1"/>
                </a:solidFill>
                <a:effectLst/>
                <a:latin typeface="LMU CompatilFact" panose="02000500060000020003" pitchFamily="2" charset="0"/>
              </a:rPr>
              <a:t>R 241</a:t>
            </a:r>
          </a:p>
          <a:p>
            <a:r>
              <a:rPr lang="de-DE" sz="915" b="1" baseline="0" dirty="0">
                <a:solidFill>
                  <a:schemeClr val="bg1"/>
                </a:solidFill>
                <a:effectLst/>
                <a:latin typeface="LMU CompatilFact" panose="02000500060000020003" pitchFamily="2" charset="0"/>
              </a:rPr>
              <a:t>G 135</a:t>
            </a:r>
          </a:p>
          <a:p>
            <a:r>
              <a:rPr lang="de-DE" sz="915" b="1" baseline="0" dirty="0">
                <a:solidFill>
                  <a:schemeClr val="bg1"/>
                </a:solidFill>
                <a:effectLst/>
                <a:latin typeface="LMU CompatilFact" panose="02000500060000020003" pitchFamily="2" charset="0"/>
              </a:rPr>
              <a:t>B 0</a:t>
            </a:r>
            <a:endParaRPr lang="de-DE" sz="915" baseline="0" dirty="0">
              <a:solidFill>
                <a:schemeClr val="bg1"/>
              </a:solidFill>
              <a:effectLst/>
              <a:latin typeface="LMU CompatilFact" panose="02000500060000020003" pitchFamily="2" charset="0"/>
            </a:endParaRPr>
          </a:p>
        </p:txBody>
      </p:sp>
      <p:sp>
        <p:nvSpPr>
          <p:cNvPr id="75" name="Rechteck 74">
            <a:extLst>
              <a:ext uri="{FF2B5EF4-FFF2-40B4-BE49-F238E27FC236}">
                <a16:creationId xmlns:a16="http://schemas.microsoft.com/office/drawing/2014/main" id="{4931D8B5-D9AB-D547-B4C3-602A0499C239}"/>
              </a:ext>
            </a:extLst>
          </p:cNvPr>
          <p:cNvSpPr/>
          <p:nvPr userDrawn="1"/>
        </p:nvSpPr>
        <p:spPr>
          <a:xfrm>
            <a:off x="4619184" y="3096644"/>
            <a:ext cx="867508" cy="123111"/>
          </a:xfrm>
          <a:prstGeom prst="rect">
            <a:avLst/>
          </a:prstGeom>
        </p:spPr>
        <p:txBody>
          <a:bodyPr wrap="square" lIns="0" tIns="0" rIns="0" bIns="0">
            <a:spAutoFit/>
          </a:bodyPr>
          <a:lstStyle/>
          <a:p>
            <a:r>
              <a:rPr lang="de-DE" sz="800" b="1" baseline="0" dirty="0">
                <a:solidFill>
                  <a:schemeClr val="tx2"/>
                </a:solidFill>
                <a:effectLst/>
                <a:latin typeface="Arial" panose="020B0604020202020204" pitchFamily="34" charset="0"/>
              </a:rPr>
              <a:t>Akzent Orange</a:t>
            </a:r>
          </a:p>
        </p:txBody>
      </p:sp>
      <p:sp>
        <p:nvSpPr>
          <p:cNvPr id="2" name="Titel 1">
            <a:extLst>
              <a:ext uri="{FF2B5EF4-FFF2-40B4-BE49-F238E27FC236}">
                <a16:creationId xmlns:a16="http://schemas.microsoft.com/office/drawing/2014/main" id="{48565346-2219-4849-9A7A-79720DD0362B}"/>
              </a:ext>
            </a:extLst>
          </p:cNvPr>
          <p:cNvSpPr>
            <a:spLocks noGrp="1"/>
          </p:cNvSpPr>
          <p:nvPr>
            <p:ph type="title" hasCustomPrompt="1"/>
          </p:nvPr>
        </p:nvSpPr>
        <p:spPr>
          <a:xfrm>
            <a:off x="2177818" y="444257"/>
            <a:ext cx="9571269" cy="1049985"/>
          </a:xfrm>
          <a:prstGeom prst="rect">
            <a:avLst/>
          </a:prstGeom>
        </p:spPr>
        <p:txBody>
          <a:bodyPr/>
          <a:lstStyle>
            <a:lvl1pPr marL="0" indent="0">
              <a:buFont typeface="Arial" panose="020B0604020202020204" pitchFamily="34" charset="0"/>
              <a:buNone/>
              <a:defRPr sz="2200" b="1"/>
            </a:lvl1pPr>
          </a:lstStyle>
          <a:p>
            <a:r>
              <a:rPr lang="de-DE" dirty="0"/>
              <a:t>Farbübersicht</a:t>
            </a:r>
          </a:p>
        </p:txBody>
      </p:sp>
    </p:spTree>
    <p:extLst>
      <p:ext uri="{BB962C8B-B14F-4D97-AF65-F5344CB8AC3E}">
        <p14:creationId xmlns:p14="http://schemas.microsoft.com/office/powerpoint/2010/main" val="2774680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_mit_Inhalt">
    <p:spTree>
      <p:nvGrpSpPr>
        <p:cNvPr id="1" name=""/>
        <p:cNvGrpSpPr/>
        <p:nvPr/>
      </p:nvGrpSpPr>
      <p:grpSpPr>
        <a:xfrm>
          <a:off x="0" y="0"/>
          <a:ext cx="0" cy="0"/>
          <a:chOff x="0" y="0"/>
          <a:chExt cx="0" cy="0"/>
        </a:xfrm>
      </p:grpSpPr>
      <p:sp>
        <p:nvSpPr>
          <p:cNvPr id="3" name="Foliennummernplatzhalter 5">
            <a:extLst>
              <a:ext uri="{FF2B5EF4-FFF2-40B4-BE49-F238E27FC236}">
                <a16:creationId xmlns:a16="http://schemas.microsoft.com/office/drawing/2014/main" id="{F2973FF0-2276-5A4B-B95B-42413B8BD476}"/>
              </a:ext>
            </a:extLst>
          </p:cNvPr>
          <p:cNvSpPr>
            <a:spLocks noGrp="1"/>
          </p:cNvSpPr>
          <p:nvPr>
            <p:ph type="sldNum" sz="quarter" idx="4"/>
          </p:nvPr>
        </p:nvSpPr>
        <p:spPr>
          <a:xfrm>
            <a:off x="446400" y="6426773"/>
            <a:ext cx="720000" cy="270000"/>
          </a:xfrm>
          <a:prstGeom prst="rect">
            <a:avLst/>
          </a:prstGeom>
        </p:spPr>
        <p:txBody>
          <a:bodyPr vert="horz" lIns="0" tIns="0" rIns="0" bIns="0" rtlCol="0" anchor="t" anchorCtr="0"/>
          <a:lstStyle>
            <a:lvl1pPr algn="l">
              <a:defRPr sz="1200" b="1" i="0" baseline="0">
                <a:solidFill>
                  <a:schemeClr val="tx1"/>
                </a:solidFill>
                <a:latin typeface="Arial" panose="020B0604020202020204" pitchFamily="34" charset="0"/>
              </a:defRPr>
            </a:lvl1pPr>
          </a:lstStyle>
          <a:p>
            <a:pPr algn="l"/>
            <a:fld id="{3889EAAA-2A39-E347-B0AA-909793490C00}" type="slidenum">
              <a:rPr lang="de-DE" smtClean="0"/>
              <a:pPr algn="l"/>
              <a:t>‹#›</a:t>
            </a:fld>
            <a:endParaRPr lang="de-DE" dirty="0"/>
          </a:p>
        </p:txBody>
      </p:sp>
      <p:sp>
        <p:nvSpPr>
          <p:cNvPr id="2" name="Titel 1">
            <a:extLst>
              <a:ext uri="{FF2B5EF4-FFF2-40B4-BE49-F238E27FC236}">
                <a16:creationId xmlns:a16="http://schemas.microsoft.com/office/drawing/2014/main" id="{48565346-2219-4849-9A7A-79720DD0362B}"/>
              </a:ext>
            </a:extLst>
          </p:cNvPr>
          <p:cNvSpPr>
            <a:spLocks noGrp="1"/>
          </p:cNvSpPr>
          <p:nvPr>
            <p:ph type="title" hasCustomPrompt="1"/>
          </p:nvPr>
        </p:nvSpPr>
        <p:spPr>
          <a:xfrm>
            <a:off x="2180492" y="444257"/>
            <a:ext cx="9568595" cy="1049985"/>
          </a:xfrm>
          <a:prstGeom prst="rect">
            <a:avLst/>
          </a:prstGeom>
        </p:spPr>
        <p:txBody>
          <a:bodyPr/>
          <a:lstStyle>
            <a:lvl1pPr marL="0" indent="0">
              <a:buFont typeface="Arial" panose="020B0604020202020204" pitchFamily="34" charset="0"/>
              <a:buNone/>
              <a:defRPr sz="2200" b="1"/>
            </a:lvl1pPr>
          </a:lstStyle>
          <a:p>
            <a:r>
              <a:rPr lang="de-DE" dirty="0"/>
              <a:t>Titel mit Inhalt</a:t>
            </a:r>
          </a:p>
        </p:txBody>
      </p:sp>
      <p:sp>
        <p:nvSpPr>
          <p:cNvPr id="5" name="Inhaltsplatzhalter 4">
            <a:extLst>
              <a:ext uri="{FF2B5EF4-FFF2-40B4-BE49-F238E27FC236}">
                <a16:creationId xmlns:a16="http://schemas.microsoft.com/office/drawing/2014/main" id="{DBEFC134-44F4-4ACC-9EF7-B0CCCECBE3AE}"/>
              </a:ext>
            </a:extLst>
          </p:cNvPr>
          <p:cNvSpPr>
            <a:spLocks noGrp="1"/>
          </p:cNvSpPr>
          <p:nvPr>
            <p:ph sz="quarter" idx="10"/>
          </p:nvPr>
        </p:nvSpPr>
        <p:spPr>
          <a:xfrm>
            <a:off x="446088" y="1484313"/>
            <a:ext cx="11303000" cy="4929187"/>
          </a:xfrm>
          <a:prstGeom prst="rect">
            <a:avLst/>
          </a:prstGeom>
        </p:spPr>
        <p:txBody>
          <a:bodyPr/>
          <a:lstStyle>
            <a:lvl1pPr>
              <a:buClr>
                <a:schemeClr val="tx1"/>
              </a:buClr>
              <a:defRPr sz="2200">
                <a:solidFill>
                  <a:srgbClr val="616468"/>
                </a:solidFill>
              </a:defRPr>
            </a:lvl1pPr>
            <a:lvl2pPr>
              <a:buClr>
                <a:schemeClr val="tx1"/>
              </a:buClr>
              <a:defRPr sz="2100">
                <a:solidFill>
                  <a:srgbClr val="616468"/>
                </a:solidFill>
              </a:defRPr>
            </a:lvl2pPr>
            <a:lvl3pPr>
              <a:buClr>
                <a:schemeClr val="tx1"/>
              </a:buClr>
              <a:defRPr sz="2000">
                <a:solidFill>
                  <a:srgbClr val="616468"/>
                </a:solidFill>
              </a:defRPr>
            </a:lvl3pPr>
            <a:lvl4pPr>
              <a:buClr>
                <a:schemeClr val="tx1"/>
              </a:buClr>
              <a:defRPr sz="1900">
                <a:solidFill>
                  <a:srgbClr val="616468"/>
                </a:solidFill>
              </a:defRPr>
            </a:lvl4pPr>
            <a:lvl5pPr>
              <a:buClr>
                <a:schemeClr val="tx1"/>
              </a:buClr>
              <a:defRPr sz="1800">
                <a:solidFill>
                  <a:srgbClr val="616468"/>
                </a:solidFill>
              </a:defRPr>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5953588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ur_Titel">
    <p:spTree>
      <p:nvGrpSpPr>
        <p:cNvPr id="1" name=""/>
        <p:cNvGrpSpPr/>
        <p:nvPr/>
      </p:nvGrpSpPr>
      <p:grpSpPr>
        <a:xfrm>
          <a:off x="0" y="0"/>
          <a:ext cx="0" cy="0"/>
          <a:chOff x="0" y="0"/>
          <a:chExt cx="0" cy="0"/>
        </a:xfrm>
      </p:grpSpPr>
      <p:sp>
        <p:nvSpPr>
          <p:cNvPr id="3" name="Foliennummernplatzhalter 5">
            <a:extLst>
              <a:ext uri="{FF2B5EF4-FFF2-40B4-BE49-F238E27FC236}">
                <a16:creationId xmlns:a16="http://schemas.microsoft.com/office/drawing/2014/main" id="{F2973FF0-2276-5A4B-B95B-42413B8BD476}"/>
              </a:ext>
            </a:extLst>
          </p:cNvPr>
          <p:cNvSpPr>
            <a:spLocks noGrp="1"/>
          </p:cNvSpPr>
          <p:nvPr>
            <p:ph type="sldNum" sz="quarter" idx="4"/>
          </p:nvPr>
        </p:nvSpPr>
        <p:spPr>
          <a:xfrm>
            <a:off x="446400" y="6426773"/>
            <a:ext cx="720000" cy="270000"/>
          </a:xfrm>
          <a:prstGeom prst="rect">
            <a:avLst/>
          </a:prstGeom>
        </p:spPr>
        <p:txBody>
          <a:bodyPr vert="horz" lIns="0" tIns="0" rIns="0" bIns="0" rtlCol="0" anchor="t" anchorCtr="0"/>
          <a:lstStyle>
            <a:lvl1pPr algn="l">
              <a:defRPr sz="1200" b="1" i="0" baseline="0">
                <a:solidFill>
                  <a:schemeClr val="tx1"/>
                </a:solidFill>
                <a:latin typeface="Arial" panose="020B0604020202020204" pitchFamily="34" charset="0"/>
              </a:defRPr>
            </a:lvl1pPr>
          </a:lstStyle>
          <a:p>
            <a:pPr algn="l"/>
            <a:fld id="{3889EAAA-2A39-E347-B0AA-909793490C00}" type="slidenum">
              <a:rPr lang="de-DE" smtClean="0"/>
              <a:pPr algn="l"/>
              <a:t>‹#›</a:t>
            </a:fld>
            <a:endParaRPr lang="de-DE" dirty="0"/>
          </a:p>
        </p:txBody>
      </p:sp>
      <p:sp>
        <p:nvSpPr>
          <p:cNvPr id="2" name="Titel 1">
            <a:extLst>
              <a:ext uri="{FF2B5EF4-FFF2-40B4-BE49-F238E27FC236}">
                <a16:creationId xmlns:a16="http://schemas.microsoft.com/office/drawing/2014/main" id="{48565346-2219-4849-9A7A-79720DD0362B}"/>
              </a:ext>
            </a:extLst>
          </p:cNvPr>
          <p:cNvSpPr>
            <a:spLocks noGrp="1"/>
          </p:cNvSpPr>
          <p:nvPr>
            <p:ph type="title" hasCustomPrompt="1"/>
          </p:nvPr>
        </p:nvSpPr>
        <p:spPr>
          <a:xfrm>
            <a:off x="2171700" y="444257"/>
            <a:ext cx="9577387" cy="1049985"/>
          </a:xfrm>
          <a:prstGeom prst="rect">
            <a:avLst/>
          </a:prstGeom>
        </p:spPr>
        <p:txBody>
          <a:bodyPr/>
          <a:lstStyle>
            <a:lvl1pPr marL="0" indent="0">
              <a:buFont typeface="Arial" panose="020B0604020202020204" pitchFamily="34" charset="0"/>
              <a:buNone/>
              <a:defRPr sz="2200" b="1"/>
            </a:lvl1pPr>
          </a:lstStyle>
          <a:p>
            <a:r>
              <a:rPr lang="de-DE" dirty="0"/>
              <a:t>Nur Titel</a:t>
            </a:r>
          </a:p>
        </p:txBody>
      </p:sp>
    </p:spTree>
    <p:extLst>
      <p:ext uri="{BB962C8B-B14F-4D97-AF65-F5344CB8AC3E}">
        <p14:creationId xmlns:p14="http://schemas.microsoft.com/office/powerpoint/2010/main" val="610248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ücktitel">
    <p:spTree>
      <p:nvGrpSpPr>
        <p:cNvPr id="1" name=""/>
        <p:cNvGrpSpPr/>
        <p:nvPr/>
      </p:nvGrpSpPr>
      <p:grpSpPr>
        <a:xfrm>
          <a:off x="0" y="0"/>
          <a:ext cx="0" cy="0"/>
          <a:chOff x="0" y="0"/>
          <a:chExt cx="0" cy="0"/>
        </a:xfrm>
      </p:grpSpPr>
      <p:sp>
        <p:nvSpPr>
          <p:cNvPr id="4" name="Textplatzhalter 4">
            <a:extLst>
              <a:ext uri="{FF2B5EF4-FFF2-40B4-BE49-F238E27FC236}">
                <a16:creationId xmlns:a16="http://schemas.microsoft.com/office/drawing/2014/main" id="{63CEC714-79BB-CB4B-8FB7-5903011CD8B2}"/>
              </a:ext>
            </a:extLst>
          </p:cNvPr>
          <p:cNvSpPr>
            <a:spLocks noGrp="1"/>
          </p:cNvSpPr>
          <p:nvPr>
            <p:ph type="body" sz="quarter" idx="11" hasCustomPrompt="1"/>
          </p:nvPr>
        </p:nvSpPr>
        <p:spPr>
          <a:xfrm>
            <a:off x="446400" y="5184000"/>
            <a:ext cx="5649600" cy="1276350"/>
          </a:xfrm>
          <a:prstGeom prst="rect">
            <a:avLst/>
          </a:prstGeom>
        </p:spPr>
        <p:txBody>
          <a:bodyPr lIns="0" tIns="0" rIns="0" bIns="0" anchor="b" anchorCtr="0"/>
          <a:lstStyle>
            <a:lvl1pPr marL="0" indent="0" fontAlgn="b">
              <a:lnSpc>
                <a:spcPts val="1800"/>
              </a:lnSpc>
              <a:spcBef>
                <a:spcPts val="0"/>
              </a:spcBef>
              <a:buFontTx/>
              <a:buNone/>
              <a:defRPr sz="1600" b="1" i="0" baseline="0">
                <a:solidFill>
                  <a:schemeClr val="bg1"/>
                </a:solidFill>
                <a:latin typeface="Arial" panose="020B0604020202020204" pitchFamily="34" charset="0"/>
              </a:defRPr>
            </a:lvl1pPr>
            <a:lvl2pPr>
              <a:defRPr sz="1600" b="1" i="0" baseline="0">
                <a:solidFill>
                  <a:schemeClr val="bg1"/>
                </a:solidFill>
                <a:latin typeface="Arial" panose="020B0604020202020204" pitchFamily="34" charset="0"/>
              </a:defRPr>
            </a:lvl2pPr>
            <a:lvl3pPr>
              <a:defRPr sz="1600" b="1" i="0" baseline="0">
                <a:solidFill>
                  <a:schemeClr val="bg1"/>
                </a:solidFill>
                <a:latin typeface="Arial" panose="020B0604020202020204" pitchFamily="34" charset="0"/>
              </a:defRPr>
            </a:lvl3pPr>
            <a:lvl4pPr>
              <a:defRPr sz="1600" b="1" i="0" baseline="0">
                <a:solidFill>
                  <a:schemeClr val="bg1"/>
                </a:solidFill>
                <a:latin typeface="Arial" panose="020B0604020202020204" pitchFamily="34" charset="0"/>
              </a:defRPr>
            </a:lvl4pPr>
            <a:lvl5pPr>
              <a:defRPr sz="1600" b="1" i="0" baseline="0">
                <a:solidFill>
                  <a:schemeClr val="bg1"/>
                </a:solidFill>
                <a:latin typeface="Arial" panose="020B0604020202020204" pitchFamily="34" charset="0"/>
              </a:defRPr>
            </a:lvl5pPr>
          </a:lstStyle>
          <a:p>
            <a:r>
              <a:rPr lang="de-DE" b="1" dirty="0">
                <a:effectLst/>
                <a:latin typeface="Arial" panose="020B0604020202020204" pitchFamily="34" charset="0"/>
              </a:rPr>
              <a:t>Absendername </a:t>
            </a:r>
            <a:br>
              <a:rPr lang="de-DE" b="1" dirty="0">
                <a:effectLst/>
                <a:latin typeface="Arial" panose="020B0604020202020204" pitchFamily="34" charset="0"/>
              </a:rPr>
            </a:br>
            <a:r>
              <a:rPr lang="de-DE" b="1" dirty="0">
                <a:effectLst/>
                <a:latin typeface="Arial" panose="020B0604020202020204" pitchFamily="34" charset="0"/>
              </a:rPr>
              <a:t>Musterstraße 00 · 80000 München · Tel. +49 89 0000 0000 </a:t>
            </a:r>
            <a:br>
              <a:rPr lang="de-DE" b="1" dirty="0">
                <a:effectLst/>
                <a:latin typeface="Arial" panose="020B0604020202020204" pitchFamily="34" charset="0"/>
              </a:rPr>
            </a:br>
            <a:r>
              <a:rPr lang="de-DE" b="1" dirty="0" err="1">
                <a:effectLst/>
                <a:latin typeface="Arial" panose="020B0604020202020204" pitchFamily="34" charset="0"/>
              </a:rPr>
              <a:t>info@musterdomain.de</a:t>
            </a:r>
            <a:r>
              <a:rPr lang="de-DE" b="1" dirty="0">
                <a:effectLst/>
                <a:latin typeface="Arial" panose="020B0604020202020204" pitchFamily="34" charset="0"/>
              </a:rPr>
              <a:t> · </a:t>
            </a:r>
            <a:r>
              <a:rPr lang="de-DE" b="1" dirty="0" err="1">
                <a:effectLst/>
                <a:latin typeface="Arial" panose="020B0604020202020204" pitchFamily="34" charset="0"/>
              </a:rPr>
              <a:t>www.musterdomain.de</a:t>
            </a:r>
            <a:endParaRPr lang="de-DE" dirty="0">
              <a:effectLst/>
              <a:latin typeface="Arial" panose="020B0604020202020204" pitchFamily="34" charset="0"/>
            </a:endParaRPr>
          </a:p>
        </p:txBody>
      </p:sp>
      <p:pic>
        <p:nvPicPr>
          <p:cNvPr id="5" name="Grafik 4">
            <a:extLst>
              <a:ext uri="{FF2B5EF4-FFF2-40B4-BE49-F238E27FC236}">
                <a16:creationId xmlns:a16="http://schemas.microsoft.com/office/drawing/2014/main" id="{DCD72F1F-1A49-6848-A8CB-5DD9EC0B6D6C}"/>
              </a:ext>
            </a:extLst>
          </p:cNvPr>
          <p:cNvPicPr>
            <a:picLocks noChangeAspect="1"/>
          </p:cNvPicPr>
          <p:nvPr userDrawn="1"/>
        </p:nvPicPr>
        <p:blipFill>
          <a:blip r:embed="rId2">
            <a:alphaModFix amt="25000"/>
          </a:blip>
          <a:stretch>
            <a:fillRect/>
          </a:stretch>
        </p:blipFill>
        <p:spPr>
          <a:xfrm>
            <a:off x="8648700" y="2743200"/>
            <a:ext cx="3543300" cy="4114800"/>
          </a:xfrm>
          <a:prstGeom prst="rect">
            <a:avLst/>
          </a:prstGeom>
        </p:spPr>
      </p:pic>
    </p:spTree>
    <p:extLst>
      <p:ext uri="{BB962C8B-B14F-4D97-AF65-F5344CB8AC3E}">
        <p14:creationId xmlns:p14="http://schemas.microsoft.com/office/powerpoint/2010/main" val="1099783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2" name="Rectangle 11"/>
          <p:cNvSpPr/>
          <p:nvPr userDrawn="1"/>
        </p:nvSpPr>
        <p:spPr>
          <a:xfrm>
            <a:off x="-876" y="1879347"/>
            <a:ext cx="12192000" cy="3402772"/>
          </a:xfrm>
          <a:prstGeom prst="rect">
            <a:avLst/>
          </a:prstGeom>
          <a:solidFill>
            <a:srgbClr val="0072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1173" y="506543"/>
            <a:ext cx="3240000" cy="673515"/>
          </a:xfrm>
          <a:prstGeom prst="rect">
            <a:avLst/>
          </a:prstGeom>
        </p:spPr>
      </p:pic>
      <p:sp>
        <p:nvSpPr>
          <p:cNvPr id="14" name="Rectangle 13"/>
          <p:cNvSpPr/>
          <p:nvPr userDrawn="1"/>
        </p:nvSpPr>
        <p:spPr>
          <a:xfrm>
            <a:off x="0" y="5282120"/>
            <a:ext cx="12192000" cy="583836"/>
          </a:xfrm>
          <a:prstGeom prst="rect">
            <a:avLst/>
          </a:prstGeom>
          <a:solidFill>
            <a:srgbClr val="003E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Subtitle 8"/>
          <p:cNvSpPr>
            <a:spLocks noGrp="1"/>
          </p:cNvSpPr>
          <p:nvPr>
            <p:ph type="subTitle" idx="4294967295"/>
          </p:nvPr>
        </p:nvSpPr>
        <p:spPr>
          <a:xfrm>
            <a:off x="541173" y="3213396"/>
            <a:ext cx="11107902" cy="503237"/>
          </a:xfrm>
          <a:prstGeom prst="rect">
            <a:avLst/>
          </a:prstGeom>
        </p:spPr>
        <p:txBody>
          <a:bodyPr>
            <a:noAutofit/>
          </a:bodyPr>
          <a:lstStyle/>
          <a:p>
            <a:pPr marL="0" indent="0" algn="l">
              <a:buNone/>
            </a:pPr>
            <a:endParaRPr lang="en-GB" sz="1800">
              <a:solidFill>
                <a:schemeClr val="bg1"/>
              </a:solidFill>
              <a:latin typeface="Arial" panose="020B0604020202020204" pitchFamily="34" charset="0"/>
              <a:cs typeface="Arial" panose="020B0604020202020204" pitchFamily="34" charset="0"/>
            </a:endParaRPr>
          </a:p>
        </p:txBody>
      </p:sp>
      <p:sp>
        <p:nvSpPr>
          <p:cNvPr id="16" name="Title 1"/>
          <p:cNvSpPr>
            <a:spLocks noGrp="1"/>
          </p:cNvSpPr>
          <p:nvPr>
            <p:ph type="ctrTitle" idx="4294967295"/>
          </p:nvPr>
        </p:nvSpPr>
        <p:spPr>
          <a:xfrm>
            <a:off x="541173" y="2451645"/>
            <a:ext cx="11107902" cy="523875"/>
          </a:xfrm>
          <a:prstGeom prst="rect">
            <a:avLst/>
          </a:prstGeom>
          <a:noFill/>
        </p:spPr>
        <p:txBody>
          <a:bodyPr>
            <a:noAutofit/>
          </a:bodyPr>
          <a:lstStyle/>
          <a:p>
            <a:pPr algn="l"/>
            <a:endParaRPr lang="en-GB" sz="3600">
              <a:solidFill>
                <a:schemeClr val="bg1"/>
              </a:solidFill>
              <a:latin typeface="Arial" panose="020B0604020202020204" pitchFamily="34" charset="0"/>
              <a:cs typeface="Arial" panose="020B0604020202020204" pitchFamily="34" charset="0"/>
            </a:endParaRPr>
          </a:p>
        </p:txBody>
      </p:sp>
      <p:sp>
        <p:nvSpPr>
          <p:cNvPr id="18" name="Rectangle 17"/>
          <p:cNvSpPr/>
          <p:nvPr userDrawn="1"/>
        </p:nvSpPr>
        <p:spPr>
          <a:xfrm>
            <a:off x="0" y="5865955"/>
            <a:ext cx="12192000" cy="338449"/>
          </a:xfrm>
          <a:prstGeom prst="rect">
            <a:avLst/>
          </a:prstGeom>
          <a:solidFill>
            <a:srgbClr val="68A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79862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Text Placeholder 2"/>
          <p:cNvSpPr>
            <a:spLocks noGrp="1"/>
          </p:cNvSpPr>
          <p:nvPr>
            <p:ph type="body" sz="quarter" idx="10" hasCustomPrompt="1"/>
          </p:nvPr>
        </p:nvSpPr>
        <p:spPr>
          <a:xfrm>
            <a:off x="363894" y="355288"/>
            <a:ext cx="11313757" cy="569349"/>
          </a:xfrm>
          <a:prstGeom prst="rect">
            <a:avLst/>
          </a:prstGeom>
        </p:spPr>
        <p:txBody>
          <a:bodyPr>
            <a:normAutofit/>
          </a:bodyPr>
          <a:lstStyle>
            <a:lvl1pPr marL="0" indent="0">
              <a:buNone/>
              <a:defRPr sz="2600" b="1" i="0" baseline="0">
                <a:solidFill>
                  <a:schemeClr val="bg1"/>
                </a:solidFill>
                <a:latin typeface="Arial" panose="020B0604020202020204" pitchFamily="34" charset="0"/>
                <a:cs typeface="Arial" panose="020B0604020202020204" pitchFamily="34" charset="0"/>
              </a:defRPr>
            </a:lvl1pPr>
          </a:lstStyle>
          <a:p>
            <a:pPr lvl="0"/>
            <a:r>
              <a:rPr lang="en-US"/>
              <a:t>Click to add title</a:t>
            </a:r>
          </a:p>
        </p:txBody>
      </p:sp>
      <p:sp>
        <p:nvSpPr>
          <p:cNvPr id="8" name="Rectangle 3"/>
          <p:cNvSpPr>
            <a:spLocks noGrp="1" noChangeArrowheads="1"/>
          </p:cNvSpPr>
          <p:nvPr>
            <p:ph idx="1" hasCustomPrompt="1"/>
          </p:nvPr>
        </p:nvSpPr>
        <p:spPr bwMode="auto">
          <a:xfrm>
            <a:off x="363894" y="1708151"/>
            <a:ext cx="11313757"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normAutofit/>
          </a:bodyPr>
          <a:lstStyle>
            <a:lvl1pPr marL="0" indent="0">
              <a:buNone/>
              <a:defRPr sz="2000">
                <a:solidFill>
                  <a:schemeClr val="accent1">
                    <a:lumMod val="50000"/>
                  </a:schemeClr>
                </a:solidFill>
              </a:defRPr>
            </a:lvl1pPr>
            <a:lvl2pPr>
              <a:defRPr sz="1800">
                <a:solidFill>
                  <a:schemeClr val="accent1">
                    <a:lumMod val="50000"/>
                  </a:schemeClr>
                </a:solidFill>
              </a:defRPr>
            </a:lvl2pPr>
            <a:lvl3pPr>
              <a:defRPr sz="1800">
                <a:solidFill>
                  <a:schemeClr val="accent1">
                    <a:lumMod val="50000"/>
                  </a:schemeClr>
                </a:solidFill>
              </a:defRPr>
            </a:lvl3pPr>
            <a:lvl4pPr>
              <a:defRPr sz="1800">
                <a:solidFill>
                  <a:schemeClr val="accent1">
                    <a:lumMod val="50000"/>
                  </a:schemeClr>
                </a:solidFill>
              </a:defRPr>
            </a:lvl4pPr>
            <a:lvl5pPr>
              <a:defRPr sz="1800">
                <a:solidFill>
                  <a:schemeClr val="accent1">
                    <a:lumMod val="50000"/>
                  </a:schemeClr>
                </a:solidFill>
              </a:defRPr>
            </a:lvl5pPr>
          </a:lstStyle>
          <a:p>
            <a:pPr lvl="0"/>
            <a:r>
              <a:rPr lang="en-GB" altLang="en-US"/>
              <a:t>Click to add text</a:t>
            </a:r>
          </a:p>
        </p:txBody>
      </p:sp>
      <p:sp>
        <p:nvSpPr>
          <p:cNvPr id="9" name="Rectangle 8"/>
          <p:cNvSpPr/>
          <p:nvPr userDrawn="1"/>
        </p:nvSpPr>
        <p:spPr>
          <a:xfrm>
            <a:off x="0" y="6079787"/>
            <a:ext cx="12192000" cy="778213"/>
          </a:xfrm>
          <a:prstGeom prst="rect">
            <a:avLst/>
          </a:prstGeom>
          <a:solidFill>
            <a:srgbClr val="003E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3895" y="6233465"/>
            <a:ext cx="2340000" cy="470386"/>
          </a:xfrm>
          <a:prstGeom prst="rect">
            <a:avLst/>
          </a:prstGeom>
        </p:spPr>
      </p:pic>
    </p:spTree>
    <p:extLst>
      <p:ext uri="{BB962C8B-B14F-4D97-AF65-F5344CB8AC3E}">
        <p14:creationId xmlns:p14="http://schemas.microsoft.com/office/powerpoint/2010/main" val="3246488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9.xml"/><Relationship Id="rId4" Type="http://schemas.openxmlformats.org/officeDocument/2006/relationships/image" Target="../media/image6.emf"/></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6.emf"/><Relationship Id="rId5" Type="http://schemas.openxmlformats.org/officeDocument/2006/relationships/theme" Target="../theme/theme4.xml"/><Relationship Id="rId4" Type="http://schemas.openxmlformats.org/officeDocument/2006/relationships/slideLayout" Target="../slideLayouts/slideLayout13.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FD8EF26-FA82-6D40-93F2-70EAE952FA46}"/>
              </a:ext>
            </a:extLst>
          </p:cNvPr>
          <p:cNvSpPr/>
          <p:nvPr userDrawn="1"/>
        </p:nvSpPr>
        <p:spPr>
          <a:xfrm>
            <a:off x="1" y="1483200"/>
            <a:ext cx="5376454" cy="537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4" name="Grafik 13">
            <a:extLst>
              <a:ext uri="{FF2B5EF4-FFF2-40B4-BE49-F238E27FC236}">
                <a16:creationId xmlns:a16="http://schemas.microsoft.com/office/drawing/2014/main" id="{DA465598-6EE5-EE49-A177-6E3551F9A56A}"/>
              </a:ext>
            </a:extLst>
          </p:cNvPr>
          <p:cNvPicPr>
            <a:picLocks noChangeAspect="1"/>
          </p:cNvPicPr>
          <p:nvPr userDrawn="1"/>
        </p:nvPicPr>
        <p:blipFill>
          <a:blip r:embed="rId9"/>
          <a:stretch>
            <a:fillRect/>
          </a:stretch>
        </p:blipFill>
        <p:spPr>
          <a:xfrm>
            <a:off x="446400" y="434007"/>
            <a:ext cx="11303000" cy="825500"/>
          </a:xfrm>
          <a:prstGeom prst="rect">
            <a:avLst/>
          </a:prstGeom>
        </p:spPr>
      </p:pic>
    </p:spTree>
    <p:extLst>
      <p:ext uri="{BB962C8B-B14F-4D97-AF65-F5344CB8AC3E}">
        <p14:creationId xmlns:p14="http://schemas.microsoft.com/office/powerpoint/2010/main" val="27306029"/>
      </p:ext>
    </p:extLst>
  </p:cSld>
  <p:clrMap bg1="lt1" tx1="dk1" bg2="lt2" tx2="dk2" accent1="accent1" accent2="accent2" accent3="accent3" accent4="accent4" accent5="accent5" accent6="accent6" hlink="hlink" folHlink="folHlink"/>
  <p:sldLayoutIdLst>
    <p:sldLayoutId id="2147483668" r:id="rId1"/>
    <p:sldLayoutId id="2147483676" r:id="rId2"/>
    <p:sldLayoutId id="2147483661" r:id="rId3"/>
    <p:sldLayoutId id="2147483677" r:id="rId4"/>
    <p:sldLayoutId id="2147483669" r:id="rId5"/>
    <p:sldLayoutId id="2147483655" r:id="rId6"/>
    <p:sldLayoutId id="2147483694" r:id="rId7"/>
  </p:sldLayoutIdLst>
  <p:hf hdr="0" ftr="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userDrawn="1">
          <p15:clr>
            <a:srgbClr val="F26B43"/>
          </p15:clr>
        </p15:guide>
        <p15:guide id="5" orient="horz" pos="4042" userDrawn="1">
          <p15:clr>
            <a:srgbClr val="F26B43"/>
          </p15:clr>
        </p15:guide>
        <p15:guide id="9" pos="7401" userDrawn="1">
          <p15:clr>
            <a:srgbClr val="F26B43"/>
          </p15:clr>
        </p15:guide>
        <p15:guide id="13" pos="279" userDrawn="1">
          <p15:clr>
            <a:srgbClr val="F26B43"/>
          </p15:clr>
        </p15:guide>
        <p15:guide id="14" orient="horz" pos="278" userDrawn="1">
          <p15:clr>
            <a:srgbClr val="F26B43"/>
          </p15:clr>
        </p15:guide>
        <p15:guide id="15" orient="horz"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FD8EF26-FA82-6D40-93F2-70EAE952FA46}"/>
              </a:ext>
            </a:extLst>
          </p:cNvPr>
          <p:cNvSpPr/>
          <p:nvPr userDrawn="1"/>
        </p:nvSpPr>
        <p:spPr>
          <a:xfrm>
            <a:off x="1" y="1483200"/>
            <a:ext cx="5376454" cy="5374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5" name="Grafik 4">
            <a:extLst>
              <a:ext uri="{FF2B5EF4-FFF2-40B4-BE49-F238E27FC236}">
                <a16:creationId xmlns:a16="http://schemas.microsoft.com/office/drawing/2014/main" id="{94EC720E-3048-2B4D-B927-E08F3BECF120}"/>
              </a:ext>
            </a:extLst>
          </p:cNvPr>
          <p:cNvPicPr>
            <a:picLocks noChangeAspect="1"/>
          </p:cNvPicPr>
          <p:nvPr userDrawn="1"/>
        </p:nvPicPr>
        <p:blipFill>
          <a:blip r:embed="rId3"/>
          <a:stretch>
            <a:fillRect/>
          </a:stretch>
        </p:blipFill>
        <p:spPr>
          <a:xfrm>
            <a:off x="444500" y="416422"/>
            <a:ext cx="11303000" cy="825500"/>
          </a:xfrm>
          <a:prstGeom prst="rect">
            <a:avLst/>
          </a:prstGeom>
        </p:spPr>
      </p:pic>
    </p:spTree>
    <p:extLst>
      <p:ext uri="{BB962C8B-B14F-4D97-AF65-F5344CB8AC3E}">
        <p14:creationId xmlns:p14="http://schemas.microsoft.com/office/powerpoint/2010/main" val="690856611"/>
      </p:ext>
    </p:extLst>
  </p:cSld>
  <p:clrMap bg1="lt1" tx1="dk1" bg2="lt2" tx2="dk2" accent1="accent1" accent2="accent2" accent3="accent3" accent4="accent4" accent5="accent5" accent6="accent6" hlink="hlink" folHlink="folHlink"/>
  <p:sldLayoutIdLst>
    <p:sldLayoutId id="2147483673" r:id="rId1"/>
  </p:sldLayoutIdLst>
  <p:hf hdr="0" ftr="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2799E554-D74C-2D46-A4A0-20AFFC9B0320}"/>
              </a:ext>
            </a:extLst>
          </p:cNvPr>
          <p:cNvPicPr>
            <a:picLocks noChangeAspect="1"/>
          </p:cNvPicPr>
          <p:nvPr userDrawn="1"/>
        </p:nvPicPr>
        <p:blipFill>
          <a:blip r:embed="rId3">
            <a:alphaModFix amt="15000"/>
          </a:blip>
          <a:stretch>
            <a:fillRect/>
          </a:stretch>
        </p:blipFill>
        <p:spPr>
          <a:xfrm>
            <a:off x="8648700" y="2743200"/>
            <a:ext cx="3543300" cy="4114800"/>
          </a:xfrm>
          <a:prstGeom prst="rect">
            <a:avLst/>
          </a:prstGeom>
        </p:spPr>
      </p:pic>
      <p:pic>
        <p:nvPicPr>
          <p:cNvPr id="5" name="Grafik 4">
            <a:extLst>
              <a:ext uri="{FF2B5EF4-FFF2-40B4-BE49-F238E27FC236}">
                <a16:creationId xmlns:a16="http://schemas.microsoft.com/office/drawing/2014/main" id="{5A7DF8FA-2683-4642-B02D-78840267E6F7}"/>
              </a:ext>
            </a:extLst>
          </p:cNvPr>
          <p:cNvPicPr>
            <a:picLocks noChangeAspect="1"/>
          </p:cNvPicPr>
          <p:nvPr userDrawn="1"/>
        </p:nvPicPr>
        <p:blipFill>
          <a:blip r:embed="rId4"/>
          <a:stretch>
            <a:fillRect/>
          </a:stretch>
        </p:blipFill>
        <p:spPr>
          <a:xfrm>
            <a:off x="446399" y="441325"/>
            <a:ext cx="1744349" cy="825500"/>
          </a:xfrm>
          <a:prstGeom prst="rect">
            <a:avLst/>
          </a:prstGeom>
        </p:spPr>
      </p:pic>
    </p:spTree>
    <p:extLst>
      <p:ext uri="{BB962C8B-B14F-4D97-AF65-F5344CB8AC3E}">
        <p14:creationId xmlns:p14="http://schemas.microsoft.com/office/powerpoint/2010/main" val="2101947696"/>
      </p:ext>
    </p:extLst>
  </p:cSld>
  <p:clrMap bg1="lt1" tx1="dk1" bg2="lt2" tx2="dk2" accent1="accent1" accent2="accent2" accent3="accent3" accent4="accent4" accent5="accent5" accent6="accent6" hlink="hlink" folHlink="folHlink"/>
  <p:sldLayoutIdLst>
    <p:sldLayoutId id="2147483664" r:id="rId1"/>
  </p:sldLayoutIdLst>
  <p:hf hdr="0" ftr="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26BA1FC-2AA7-46D3-BA9A-D73D533597CC}"/>
              </a:ext>
            </a:extLst>
          </p:cNvPr>
          <p:cNvPicPr>
            <a:picLocks noChangeAspect="1"/>
          </p:cNvPicPr>
          <p:nvPr userDrawn="1"/>
        </p:nvPicPr>
        <p:blipFill>
          <a:blip r:embed="rId6"/>
          <a:stretch>
            <a:fillRect/>
          </a:stretch>
        </p:blipFill>
        <p:spPr>
          <a:xfrm>
            <a:off x="446399" y="432533"/>
            <a:ext cx="1744349" cy="825500"/>
          </a:xfrm>
          <a:prstGeom prst="rect">
            <a:avLst/>
          </a:prstGeom>
        </p:spPr>
      </p:pic>
    </p:spTree>
    <p:extLst>
      <p:ext uri="{BB962C8B-B14F-4D97-AF65-F5344CB8AC3E}">
        <p14:creationId xmlns:p14="http://schemas.microsoft.com/office/powerpoint/2010/main" val="273918430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74" r:id="rId3"/>
    <p:sldLayoutId id="2147483675" r:id="rId4"/>
  </p:sldLayoutIdLst>
  <p:hf hdr="0" ftr="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8DED63A8-5311-184A-B74C-C37B428BFE1A}"/>
              </a:ext>
            </a:extLst>
          </p:cNvPr>
          <p:cNvPicPr>
            <a:picLocks noChangeAspect="1"/>
          </p:cNvPicPr>
          <p:nvPr userDrawn="1"/>
        </p:nvPicPr>
        <p:blipFill>
          <a:blip r:embed="rId3"/>
          <a:stretch>
            <a:fillRect/>
          </a:stretch>
        </p:blipFill>
        <p:spPr>
          <a:xfrm>
            <a:off x="446400" y="442801"/>
            <a:ext cx="1745167" cy="825376"/>
          </a:xfrm>
          <a:prstGeom prst="rect">
            <a:avLst/>
          </a:prstGeom>
        </p:spPr>
      </p:pic>
    </p:spTree>
    <p:extLst>
      <p:ext uri="{BB962C8B-B14F-4D97-AF65-F5344CB8AC3E}">
        <p14:creationId xmlns:p14="http://schemas.microsoft.com/office/powerpoint/2010/main" val="3087104571"/>
      </p:ext>
    </p:extLst>
  </p:cSld>
  <p:clrMap bg1="lt1" tx1="dk1" bg2="lt2" tx2="dk2" accent1="accent1" accent2="accent2" accent3="accent3" accent4="accent4" accent5="accent5" accent6="accent6" hlink="hlink" folHlink="folHlink"/>
  <p:sldLayoutIdLst>
    <p:sldLayoutId id="2147483648" r:id="rId1"/>
  </p:sldLayoutIdLst>
  <p:hf hdr="0" ftr="0"/>
  <p:txStyles>
    <p:titleStyle>
      <a:lvl1pPr algn="l" defTabSz="815557" rtl="0" eaLnBrk="1" latinLnBrk="0" hangingPunct="1">
        <a:lnSpc>
          <a:spcPct val="90000"/>
        </a:lnSpc>
        <a:spcBef>
          <a:spcPct val="0"/>
        </a:spcBef>
        <a:buNone/>
        <a:defRPr sz="3925" kern="1200">
          <a:solidFill>
            <a:schemeClr val="tx1"/>
          </a:solidFill>
          <a:latin typeface="+mj-lt"/>
          <a:ea typeface="+mj-ea"/>
          <a:cs typeface="+mj-cs"/>
        </a:defRPr>
      </a:lvl1pPr>
    </p:titleStyle>
    <p:bodyStyle>
      <a:lvl1pPr marL="203890" indent="-203890" algn="l" defTabSz="815557" rtl="0" eaLnBrk="1" latinLnBrk="0" hangingPunct="1">
        <a:lnSpc>
          <a:spcPct val="90000"/>
        </a:lnSpc>
        <a:spcBef>
          <a:spcPts val="892"/>
        </a:spcBef>
        <a:buFont typeface="Arial" panose="020B0604020202020204" pitchFamily="34" charset="0"/>
        <a:buChar char="•"/>
        <a:defRPr sz="2498" kern="1200">
          <a:solidFill>
            <a:schemeClr val="tx1"/>
          </a:solidFill>
          <a:latin typeface="+mn-lt"/>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2141" kern="1200">
          <a:solidFill>
            <a:schemeClr val="tx1"/>
          </a:solidFill>
          <a:latin typeface="+mn-lt"/>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784" kern="1200">
          <a:solidFill>
            <a:schemeClr val="tx1"/>
          </a:solidFill>
          <a:latin typeface="+mn-lt"/>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p:bodyStyle>
    <p:otherStyle>
      <a:defPPr>
        <a:defRPr lang="en-US"/>
      </a:defPPr>
      <a:lvl1pPr marL="0" algn="l" defTabSz="815557" rtl="0" eaLnBrk="1" latinLnBrk="0" hangingPunct="1">
        <a:defRPr sz="1605" kern="1200">
          <a:solidFill>
            <a:schemeClr val="tx1"/>
          </a:solidFill>
          <a:latin typeface="+mn-lt"/>
          <a:ea typeface="+mn-ea"/>
          <a:cs typeface="+mn-cs"/>
        </a:defRPr>
      </a:lvl1pPr>
      <a:lvl2pPr marL="407778" algn="l" defTabSz="815557" rtl="0" eaLnBrk="1" latinLnBrk="0" hangingPunct="1">
        <a:defRPr sz="1605" kern="1200">
          <a:solidFill>
            <a:schemeClr val="tx1"/>
          </a:solidFill>
          <a:latin typeface="+mn-lt"/>
          <a:ea typeface="+mn-ea"/>
          <a:cs typeface="+mn-cs"/>
        </a:defRPr>
      </a:lvl2pPr>
      <a:lvl3pPr marL="815557" algn="l" defTabSz="815557" rtl="0" eaLnBrk="1" latinLnBrk="0" hangingPunct="1">
        <a:defRPr sz="1605" kern="1200">
          <a:solidFill>
            <a:schemeClr val="tx1"/>
          </a:solidFill>
          <a:latin typeface="+mn-lt"/>
          <a:ea typeface="+mn-ea"/>
          <a:cs typeface="+mn-cs"/>
        </a:defRPr>
      </a:lvl3pPr>
      <a:lvl4pPr marL="1223335" algn="l" defTabSz="815557" rtl="0" eaLnBrk="1" latinLnBrk="0" hangingPunct="1">
        <a:defRPr sz="1605" kern="1200">
          <a:solidFill>
            <a:schemeClr val="tx1"/>
          </a:solidFill>
          <a:latin typeface="+mn-lt"/>
          <a:ea typeface="+mn-ea"/>
          <a:cs typeface="+mn-cs"/>
        </a:defRPr>
      </a:lvl4pPr>
      <a:lvl5pPr marL="1631114" algn="l" defTabSz="815557" rtl="0" eaLnBrk="1" latinLnBrk="0" hangingPunct="1">
        <a:defRPr sz="1605" kern="1200">
          <a:solidFill>
            <a:schemeClr val="tx1"/>
          </a:solidFill>
          <a:latin typeface="+mn-lt"/>
          <a:ea typeface="+mn-ea"/>
          <a:cs typeface="+mn-cs"/>
        </a:defRPr>
      </a:lvl5pPr>
      <a:lvl6pPr marL="2038892" algn="l" defTabSz="815557" rtl="0" eaLnBrk="1" latinLnBrk="0" hangingPunct="1">
        <a:defRPr sz="1605" kern="1200">
          <a:solidFill>
            <a:schemeClr val="tx1"/>
          </a:solidFill>
          <a:latin typeface="+mn-lt"/>
          <a:ea typeface="+mn-ea"/>
          <a:cs typeface="+mn-cs"/>
        </a:defRPr>
      </a:lvl6pPr>
      <a:lvl7pPr marL="2446670" algn="l" defTabSz="815557" rtl="0" eaLnBrk="1" latinLnBrk="0" hangingPunct="1">
        <a:defRPr sz="1605" kern="1200">
          <a:solidFill>
            <a:schemeClr val="tx1"/>
          </a:solidFill>
          <a:latin typeface="+mn-lt"/>
          <a:ea typeface="+mn-ea"/>
          <a:cs typeface="+mn-cs"/>
        </a:defRPr>
      </a:lvl7pPr>
      <a:lvl8pPr marL="2854449" algn="l" defTabSz="815557" rtl="0" eaLnBrk="1" latinLnBrk="0" hangingPunct="1">
        <a:defRPr sz="1605" kern="1200">
          <a:solidFill>
            <a:schemeClr val="tx1"/>
          </a:solidFill>
          <a:latin typeface="+mn-lt"/>
          <a:ea typeface="+mn-ea"/>
          <a:cs typeface="+mn-cs"/>
        </a:defRPr>
      </a:lvl8pPr>
      <a:lvl9pPr marL="3262227" algn="l" defTabSz="815557" rtl="0" eaLnBrk="1" latinLnBrk="0" hangingPunct="1">
        <a:defRPr sz="1605"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935">
          <p15:clr>
            <a:srgbClr val="F26B43"/>
          </p15:clr>
        </p15:guide>
        <p15:guide id="5" orient="horz" pos="4042">
          <p15:clr>
            <a:srgbClr val="F26B43"/>
          </p15:clr>
        </p15:guide>
        <p15:guide id="9" pos="7401">
          <p15:clr>
            <a:srgbClr val="F26B43"/>
          </p15:clr>
        </p15:guide>
        <p15:guide id="13" pos="279">
          <p15:clr>
            <a:srgbClr val="F26B43"/>
          </p15:clr>
        </p15:guide>
        <p15:guide id="14" orient="horz" pos="278">
          <p15:clr>
            <a:srgbClr val="F26B43"/>
          </p15:clr>
        </p15:guide>
        <p15:guide id="15" orient="horz">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FE6725-6DE1-325C-712B-DA8029937D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0EC280D-2B33-1929-8127-27B3EC93C5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C630E87-B8F4-43AD-1A8B-D2FF61CCDB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513856-4A6C-8D43-AB8B-7B589FEEA17F}" type="datetimeFigureOut">
              <a:rPr lang="en-US" smtClean="0"/>
              <a:t>10/9/25</a:t>
            </a:fld>
            <a:endParaRPr lang="en-US"/>
          </a:p>
        </p:txBody>
      </p:sp>
      <p:sp>
        <p:nvSpPr>
          <p:cNvPr id="5" name="Footer Placeholder 4">
            <a:extLst>
              <a:ext uri="{FF2B5EF4-FFF2-40B4-BE49-F238E27FC236}">
                <a16:creationId xmlns:a16="http://schemas.microsoft.com/office/drawing/2014/main" id="{C82F4DB1-9AF9-19A8-49C4-E4E34D37BD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B1CF7E-AB99-1E64-2DE1-F8A5E7D1DB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1FA456-4CA6-0343-866B-9B0D9355CC68}" type="slidenum">
              <a:rPr lang="en-US" smtClean="0"/>
              <a:t>‹#›</a:t>
            </a:fld>
            <a:endParaRPr lang="en-US"/>
          </a:p>
        </p:txBody>
      </p:sp>
    </p:spTree>
    <p:extLst>
      <p:ext uri="{BB962C8B-B14F-4D97-AF65-F5344CB8AC3E}">
        <p14:creationId xmlns:p14="http://schemas.microsoft.com/office/powerpoint/2010/main" val="3369072685"/>
      </p:ext>
    </p:extLst>
  </p:cSld>
  <p:clrMap bg1="lt1" tx1="dk1" bg2="lt2" tx2="dk2" accent1="accent1" accent2="accent2" accent3="accent3" accent4="accent4" accent5="accent5" accent6="accent6" hlink="hlink" folHlink="folHlink"/>
  <p:sldLayoutIdLst>
    <p:sldLayoutId id="2147483692" r:id="rId1"/>
    <p:sldLayoutId id="214748369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google.com/url?sa=i&amp;url=https%3A%2F%2Fmedium.com%2F%40maxy_ermayank%2Fthe-power-of-retrieval-augmented-generation-rag-ecc15a767c24&amp;psig=AOvVaw1-lixTLAhKKt9zgaEmUlCT&amp;ust=1751474972051000&amp;source=images&amp;cd=vfe&amp;opi=89978449&amp;ved=0CBQQjRxqFwoTCKik152PnI4DFQAAAAAdAAAAABAE"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250.png"/><Relationship Id="rId26" Type="http://schemas.openxmlformats.org/officeDocument/2006/relationships/image" Target="../media/image35.png"/><Relationship Id="rId39" Type="http://schemas.openxmlformats.org/officeDocument/2006/relationships/customXml" Target="../ink/ink22.xml"/><Relationship Id="rId21" Type="http://schemas.openxmlformats.org/officeDocument/2006/relationships/customXml" Target="../ink/ink9.xml"/><Relationship Id="rId34" Type="http://schemas.openxmlformats.org/officeDocument/2006/relationships/customXml" Target="../ink/ink17.xml"/><Relationship Id="rId7" Type="http://schemas.openxmlformats.org/officeDocument/2006/relationships/image" Target="../media/image29.png"/><Relationship Id="rId12" Type="http://schemas.openxmlformats.org/officeDocument/2006/relationships/customXml" Target="../ink/ink5.xml"/><Relationship Id="rId25" Type="http://schemas.openxmlformats.org/officeDocument/2006/relationships/customXml" Target="../ink/ink11.xml"/><Relationship Id="rId33" Type="http://schemas.openxmlformats.org/officeDocument/2006/relationships/customXml" Target="../ink/ink16.xml"/><Relationship Id="rId38" Type="http://schemas.openxmlformats.org/officeDocument/2006/relationships/customXml" Target="../ink/ink21.xml"/><Relationship Id="rId2" Type="http://schemas.openxmlformats.org/officeDocument/2006/relationships/image" Target="../media/image26.png"/><Relationship Id="rId16" Type="http://schemas.openxmlformats.org/officeDocument/2006/relationships/customXml" Target="../ink/ink7.xml"/><Relationship Id="rId20" Type="http://schemas.openxmlformats.org/officeDocument/2006/relationships/image" Target="../media/image260.png"/><Relationship Id="rId29" Type="http://schemas.openxmlformats.org/officeDocument/2006/relationships/customXml" Target="../ink/ink13.xml"/><Relationship Id="rId1" Type="http://schemas.openxmlformats.org/officeDocument/2006/relationships/slideLayout" Target="../slideLayouts/slideLayout12.xml"/><Relationship Id="rId6" Type="http://schemas.openxmlformats.org/officeDocument/2006/relationships/customXml" Target="../ink/ink2.xml"/><Relationship Id="rId11" Type="http://schemas.openxmlformats.org/officeDocument/2006/relationships/image" Target="../media/image31.png"/><Relationship Id="rId24" Type="http://schemas.openxmlformats.org/officeDocument/2006/relationships/image" Target="../media/image34.png"/><Relationship Id="rId32" Type="http://schemas.openxmlformats.org/officeDocument/2006/relationships/customXml" Target="../ink/ink15.xml"/><Relationship Id="rId37" Type="http://schemas.openxmlformats.org/officeDocument/2006/relationships/customXml" Target="../ink/ink20.xml"/><Relationship Id="rId40" Type="http://schemas.openxmlformats.org/officeDocument/2006/relationships/image" Target="../media/image38.png"/><Relationship Id="rId5" Type="http://schemas.openxmlformats.org/officeDocument/2006/relationships/image" Target="../media/image28.png"/><Relationship Id="rId15" Type="http://schemas.openxmlformats.org/officeDocument/2006/relationships/image" Target="../media/image33.png"/><Relationship Id="rId23" Type="http://schemas.openxmlformats.org/officeDocument/2006/relationships/customXml" Target="../ink/ink10.xml"/><Relationship Id="rId28" Type="http://schemas.openxmlformats.org/officeDocument/2006/relationships/image" Target="../media/image36.png"/><Relationship Id="rId36" Type="http://schemas.openxmlformats.org/officeDocument/2006/relationships/customXml" Target="../ink/ink19.xml"/><Relationship Id="rId10" Type="http://schemas.openxmlformats.org/officeDocument/2006/relationships/customXml" Target="../ink/ink4.xml"/><Relationship Id="rId19" Type="http://schemas.openxmlformats.org/officeDocument/2006/relationships/customXml" Target="../ink/ink8.xml"/><Relationship Id="rId31" Type="http://schemas.openxmlformats.org/officeDocument/2006/relationships/customXml" Target="../ink/ink14.xml"/><Relationship Id="rId4" Type="http://schemas.openxmlformats.org/officeDocument/2006/relationships/customXml" Target="../ink/ink1.xml"/><Relationship Id="rId9" Type="http://schemas.openxmlformats.org/officeDocument/2006/relationships/image" Target="../media/image30.png"/><Relationship Id="rId14" Type="http://schemas.openxmlformats.org/officeDocument/2006/relationships/customXml" Target="../ink/ink6.xml"/><Relationship Id="rId22" Type="http://schemas.openxmlformats.org/officeDocument/2006/relationships/image" Target="../media/image270.png"/><Relationship Id="rId27" Type="http://schemas.openxmlformats.org/officeDocument/2006/relationships/customXml" Target="../ink/ink12.xml"/><Relationship Id="rId30" Type="http://schemas.openxmlformats.org/officeDocument/2006/relationships/image" Target="../media/image37.png"/><Relationship Id="rId35" Type="http://schemas.openxmlformats.org/officeDocument/2006/relationships/customXml" Target="../ink/ink18.xml"/><Relationship Id="rId8" Type="http://schemas.openxmlformats.org/officeDocument/2006/relationships/customXml" Target="../ink/ink3.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 Id="rId4" Type="http://schemas.openxmlformats.org/officeDocument/2006/relationships/image" Target="../media/image45.emf"/></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www.google.com/url?sa=i&amp;url=https%3A%2F%2Fgohighbrow.com%2Fthe-brain-and-memory%2F&amp;psig=AOvVaw2817Pb9xf6Vz1ZxXClS3wr&amp;ust=1758024654880000&amp;source=images&amp;cd=vfe&amp;opi=89978449&amp;ved=0CBUQjRxqFwoTCNCwkqre2o8DFQAAAAAdAAAAABAE"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1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2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4D6A8734-5B11-6443-A825-B6099076A608}"/>
              </a:ext>
            </a:extLst>
          </p:cNvPr>
          <p:cNvSpPr>
            <a:spLocks noGrp="1"/>
          </p:cNvSpPr>
          <p:nvPr>
            <p:ph type="body" sz="quarter" idx="12"/>
          </p:nvPr>
        </p:nvSpPr>
        <p:spPr>
          <a:xfrm>
            <a:off x="252938" y="1813158"/>
            <a:ext cx="4928400" cy="2479442"/>
          </a:xfrm>
        </p:spPr>
        <p:txBody>
          <a:bodyPr/>
          <a:lstStyle/>
          <a:p>
            <a:r>
              <a:rPr lang="en-GB" sz="2000" dirty="0"/>
              <a:t>Memory-R1:</a:t>
            </a:r>
            <a:r>
              <a:rPr lang="zh-CN" altLang="en-US" sz="2000" dirty="0"/>
              <a:t> </a:t>
            </a:r>
            <a:r>
              <a:rPr lang="en-GB" sz="2000" dirty="0"/>
              <a:t>Enhancing Large Language Model Agents to Manage and Utilize Memories via Reinforcement Learning</a:t>
            </a:r>
          </a:p>
          <a:p>
            <a:pPr algn="r"/>
            <a:r>
              <a:rPr lang="zh-CN" altLang="en-US" sz="1200" dirty="0"/>
              <a:t>           </a:t>
            </a:r>
            <a:r>
              <a:rPr lang="en-DE" sz="1200" dirty="0"/>
              <a:t>——</a:t>
            </a:r>
            <a:r>
              <a:rPr lang="en-GB" sz="1200" i="1" dirty="0"/>
              <a:t>LLMs Forget. Memory-R1 Learns to Remember</a:t>
            </a:r>
            <a:r>
              <a:rPr lang="zh-CN" altLang="en-US" sz="1200" i="1" dirty="0"/>
              <a:t> </a:t>
            </a:r>
            <a:r>
              <a:rPr lang="en-US" altLang="zh-CN" sz="1200" i="1" dirty="0"/>
              <a:t>and</a:t>
            </a:r>
            <a:r>
              <a:rPr lang="zh-CN" altLang="en-US" sz="1200" i="1" dirty="0"/>
              <a:t> </a:t>
            </a:r>
            <a:r>
              <a:rPr lang="en-US" altLang="zh-CN" sz="1200" i="1" dirty="0"/>
              <a:t>Use!</a:t>
            </a:r>
            <a:r>
              <a:rPr lang="zh-CN" altLang="en-US" sz="1200" i="1" dirty="0"/>
              <a:t>           </a:t>
            </a:r>
            <a:r>
              <a:rPr lang="en-US" sz="1200" dirty="0"/>
              <a:t>Presenter</a:t>
            </a:r>
            <a:r>
              <a:rPr lang="en-US" altLang="zh-CN" sz="1200" dirty="0"/>
              <a:t>:</a:t>
            </a:r>
            <a:r>
              <a:rPr lang="zh-CN" altLang="en-US" sz="1200" dirty="0"/>
              <a:t> </a:t>
            </a:r>
            <a:r>
              <a:rPr lang="en-US" altLang="zh-CN" sz="1200" dirty="0"/>
              <a:t>Sikuan</a:t>
            </a:r>
            <a:r>
              <a:rPr lang="zh-CN" altLang="en-US" sz="1200" dirty="0"/>
              <a:t> </a:t>
            </a:r>
            <a:r>
              <a:rPr lang="en-US" altLang="zh-CN" sz="1200" dirty="0"/>
              <a:t>Yan</a:t>
            </a:r>
            <a:endParaRPr lang="en-US" sz="1200" i="1" dirty="0"/>
          </a:p>
        </p:txBody>
      </p:sp>
      <p:pic>
        <p:nvPicPr>
          <p:cNvPr id="25" name="Bildplatzhalter 24">
            <a:extLst>
              <a:ext uri="{FF2B5EF4-FFF2-40B4-BE49-F238E27FC236}">
                <a16:creationId xmlns:a16="http://schemas.microsoft.com/office/drawing/2014/main" id="{3F73A085-D320-0248-897C-2D45767D8DAC}"/>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5" name="Textplatzhalter 3">
            <a:extLst>
              <a:ext uri="{FF2B5EF4-FFF2-40B4-BE49-F238E27FC236}">
                <a16:creationId xmlns:a16="http://schemas.microsoft.com/office/drawing/2014/main" id="{2EA1590E-4A15-7681-6675-D662E16ECEDA}"/>
              </a:ext>
            </a:extLst>
          </p:cNvPr>
          <p:cNvSpPr txBox="1">
            <a:spLocks/>
          </p:cNvSpPr>
          <p:nvPr/>
        </p:nvSpPr>
        <p:spPr>
          <a:xfrm>
            <a:off x="252938" y="5288436"/>
            <a:ext cx="4928400" cy="1397239"/>
          </a:xfrm>
          <a:prstGeom prst="rect">
            <a:avLst/>
          </a:prstGeom>
        </p:spPr>
        <p:txBody>
          <a:bodyPr lIns="0" tIns="0" rIns="0" bIns="0" anchor="b" anchorCtr="0"/>
          <a:lstStyle>
            <a:lvl1pPr marL="0" indent="0" algn="l" defTabSz="815557" rtl="0" eaLnBrk="1" fontAlgn="b" latinLnBrk="0" hangingPunct="1">
              <a:lnSpc>
                <a:spcPts val="1800"/>
              </a:lnSpc>
              <a:spcBef>
                <a:spcPts val="0"/>
              </a:spcBef>
              <a:buFontTx/>
              <a:buNone/>
              <a:defRPr sz="1600" b="1" i="0" kern="1200" baseline="0">
                <a:solidFill>
                  <a:schemeClr val="bg1"/>
                </a:solidFill>
                <a:latin typeface="Arial" panose="020B0604020202020204" pitchFamily="34" charset="0"/>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pPr>
              <a:lnSpc>
                <a:spcPts val="1900"/>
              </a:lnSpc>
            </a:pPr>
            <a:r>
              <a:rPr lang="en-US" sz="1000" dirty="0"/>
              <a:t>作者</a:t>
            </a:r>
            <a:r>
              <a:rPr lang="zh-CN" altLang="en-US" sz="1000" dirty="0"/>
              <a:t>：</a:t>
            </a:r>
            <a:r>
              <a:rPr lang="en-GB" sz="1000" b="0" dirty="0"/>
              <a:t>Sikuan Yan, Xiufeng Yang, Zuchao Huang, Ercong Nie, Zifeng Ding, Zonggen Li, Xiaowen Ma, Kristian Kersting, Jeff Z. Pan, Hinrich Schütze, Volker Tresp, </a:t>
            </a:r>
            <a:r>
              <a:rPr lang="en-GB" sz="1000" b="0" dirty="0" err="1"/>
              <a:t>Yunpu</a:t>
            </a:r>
            <a:r>
              <a:rPr lang="en-GB" sz="1000" b="0" dirty="0"/>
              <a:t> Ma</a:t>
            </a:r>
          </a:p>
          <a:p>
            <a:pPr>
              <a:lnSpc>
                <a:spcPts val="1900"/>
              </a:lnSpc>
            </a:pPr>
            <a:r>
              <a:rPr lang="de-DE" sz="700" dirty="0" err="1"/>
              <a:t>机构</a:t>
            </a:r>
            <a:r>
              <a:rPr lang="zh-CN" altLang="en-US" sz="700" dirty="0"/>
              <a:t>：慕尼黑大学、慕尼黑机器学习中心、慕尼黑工业大学、剑桥大学、香港大学、 达姆施塔特工业大学、爱丁堡大学</a:t>
            </a:r>
            <a:endParaRPr lang="de-DE" sz="700" dirty="0"/>
          </a:p>
        </p:txBody>
      </p:sp>
    </p:spTree>
    <p:extLst>
      <p:ext uri="{BB962C8B-B14F-4D97-AF65-F5344CB8AC3E}">
        <p14:creationId xmlns:p14="http://schemas.microsoft.com/office/powerpoint/2010/main" val="2797848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5DB09B-DB06-A6DC-303E-037EE1EDDAF6}"/>
              </a:ext>
            </a:extLst>
          </p:cNvPr>
          <p:cNvSpPr>
            <a:spLocks noGrp="1"/>
          </p:cNvSpPr>
          <p:nvPr>
            <p:ph type="sldNum" sz="quarter" idx="4"/>
          </p:nvPr>
        </p:nvSpPr>
        <p:spPr/>
        <p:txBody>
          <a:bodyPr/>
          <a:lstStyle/>
          <a:p>
            <a:pPr algn="l"/>
            <a:fld id="{3889EAAA-2A39-E347-B0AA-909793490C00}" type="slidenum">
              <a:rPr lang="de-DE" smtClean="0"/>
              <a:pPr algn="l"/>
              <a:t>2</a:t>
            </a:fld>
            <a:endParaRPr lang="de-DE" dirty="0"/>
          </a:p>
        </p:txBody>
      </p:sp>
      <p:sp>
        <p:nvSpPr>
          <p:cNvPr id="3" name="Title 2">
            <a:extLst>
              <a:ext uri="{FF2B5EF4-FFF2-40B4-BE49-F238E27FC236}">
                <a16:creationId xmlns:a16="http://schemas.microsoft.com/office/drawing/2014/main" id="{26D3C4B6-4167-0303-1D98-EF8E7B61DD57}"/>
              </a:ext>
            </a:extLst>
          </p:cNvPr>
          <p:cNvSpPr>
            <a:spLocks noGrp="1"/>
          </p:cNvSpPr>
          <p:nvPr>
            <p:ph type="title"/>
          </p:nvPr>
        </p:nvSpPr>
        <p:spPr/>
        <p:txBody>
          <a:bodyPr/>
          <a:lstStyle/>
          <a:p>
            <a:r>
              <a:rPr lang="en-GB" dirty="0"/>
              <a:t>Why</a:t>
            </a:r>
            <a:r>
              <a:rPr lang="en-GB" sz="2000" dirty="0">
                <a:solidFill>
                  <a:srgbClr val="4F8F8F"/>
                </a:solidFill>
                <a:latin typeface="Aptos" panose="020B0004020202020204" pitchFamily="34" charset="0"/>
                <a:cs typeface="Arial" panose="020B0604020202020204" pitchFamily="34" charset="0"/>
              </a:rPr>
              <a:t> </a:t>
            </a:r>
            <a:r>
              <a:rPr lang="en-GB" dirty="0"/>
              <a:t>Do We Need Retrieval-Augmented Generation?</a:t>
            </a:r>
            <a:br>
              <a:rPr lang="en-US" altLang="zh-CN" dirty="0"/>
            </a:br>
            <a:endParaRPr lang="en-US" dirty="0"/>
          </a:p>
        </p:txBody>
      </p:sp>
      <p:sp>
        <p:nvSpPr>
          <p:cNvPr id="4" name="Content Placeholder 3">
            <a:extLst>
              <a:ext uri="{FF2B5EF4-FFF2-40B4-BE49-F238E27FC236}">
                <a16:creationId xmlns:a16="http://schemas.microsoft.com/office/drawing/2014/main" id="{136E1BE5-AE50-56F8-CAF5-9968135BF35A}"/>
              </a:ext>
            </a:extLst>
          </p:cNvPr>
          <p:cNvSpPr>
            <a:spLocks noGrp="1"/>
          </p:cNvSpPr>
          <p:nvPr>
            <p:ph sz="quarter" idx="10"/>
          </p:nvPr>
        </p:nvSpPr>
        <p:spPr/>
        <p:txBody>
          <a:bodyPr/>
          <a:lstStyle/>
          <a:p>
            <a:pPr marL="285750" indent="-285750">
              <a:spcBef>
                <a:spcPts val="600"/>
              </a:spcBef>
            </a:pPr>
            <a:r>
              <a:rPr lang="en-GB" sz="1800" dirty="0"/>
              <a:t>Limitations of vanilla LLMs (e.g. hallucination, lack of up-to-date info)</a:t>
            </a:r>
          </a:p>
          <a:p>
            <a:pPr marL="285750" indent="-285750">
              <a:spcBef>
                <a:spcPts val="600"/>
              </a:spcBef>
            </a:pPr>
            <a:endParaRPr lang="en-GB" sz="1800" dirty="0"/>
          </a:p>
          <a:p>
            <a:pPr marL="285750" indent="-285750">
              <a:spcBef>
                <a:spcPts val="600"/>
              </a:spcBef>
            </a:pPr>
            <a:r>
              <a:rPr lang="en-GB" sz="1800" dirty="0"/>
              <a:t>Need for grounding LLMs in external knowledge</a:t>
            </a:r>
            <a:r>
              <a:rPr lang="zh-CN" altLang="en-US" sz="1800" dirty="0"/>
              <a:t> </a:t>
            </a:r>
            <a:r>
              <a:rPr lang="en-US" altLang="zh-CN" sz="1800" dirty="0"/>
              <a:t>(LLM</a:t>
            </a:r>
            <a:r>
              <a:rPr lang="zh-CN" altLang="en-US" sz="1800" dirty="0"/>
              <a:t> </a:t>
            </a:r>
            <a:r>
              <a:rPr lang="en-US" altLang="zh-CN" sz="1800" dirty="0"/>
              <a:t>needs</a:t>
            </a:r>
            <a:r>
              <a:rPr lang="zh-CN" altLang="en-US" sz="1800" dirty="0"/>
              <a:t> </a:t>
            </a:r>
            <a:r>
              <a:rPr lang="en-US" altLang="zh-CN" sz="1800" dirty="0"/>
              <a:t>to</a:t>
            </a:r>
            <a:r>
              <a:rPr lang="zh-CN" altLang="en-US" sz="1800" dirty="0"/>
              <a:t> </a:t>
            </a:r>
            <a:r>
              <a:rPr lang="en-US" altLang="zh-CN" sz="1800" dirty="0"/>
              <a:t>know</a:t>
            </a:r>
            <a:r>
              <a:rPr lang="zh-CN" altLang="en-US" sz="1800" dirty="0"/>
              <a:t> </a:t>
            </a:r>
            <a:r>
              <a:rPr lang="en-US" altLang="zh-CN" sz="1800" dirty="0"/>
              <a:t>company</a:t>
            </a:r>
            <a:r>
              <a:rPr lang="zh-CN" altLang="en-US" sz="1800" dirty="0"/>
              <a:t> </a:t>
            </a:r>
            <a:r>
              <a:rPr lang="en-US" altLang="zh-CN" sz="1800" dirty="0"/>
              <a:t>confidential</a:t>
            </a:r>
            <a:r>
              <a:rPr lang="zh-CN" altLang="en-US" sz="1800" dirty="0"/>
              <a:t> </a:t>
            </a:r>
            <a:r>
              <a:rPr lang="en-US" altLang="zh-CN" sz="1800" dirty="0"/>
              <a:t>info</a:t>
            </a:r>
            <a:r>
              <a:rPr lang="zh-CN" altLang="en-US" sz="1800" dirty="0"/>
              <a:t> </a:t>
            </a:r>
            <a:r>
              <a:rPr lang="en-US" altLang="zh-CN" sz="1800" dirty="0"/>
              <a:t>during</a:t>
            </a:r>
            <a:r>
              <a:rPr lang="zh-CN" altLang="en-US" sz="1800" dirty="0"/>
              <a:t> </a:t>
            </a:r>
            <a:r>
              <a:rPr lang="en-US" altLang="zh-CN" sz="1800" dirty="0"/>
              <a:t>inference)</a:t>
            </a:r>
            <a:endParaRPr lang="en-GB" sz="1800" dirty="0"/>
          </a:p>
          <a:p>
            <a:pPr marL="285750" indent="-285750">
              <a:spcBef>
                <a:spcPts val="600"/>
              </a:spcBef>
            </a:pPr>
            <a:endParaRPr lang="en-GB" sz="1800" dirty="0"/>
          </a:p>
          <a:p>
            <a:pPr marL="285750" indent="-285750">
              <a:spcBef>
                <a:spcPts val="600"/>
              </a:spcBef>
            </a:pPr>
            <a:r>
              <a:rPr lang="en-US" altLang="zh-CN" sz="1800" dirty="0"/>
              <a:t>Explainability,</a:t>
            </a:r>
            <a:r>
              <a:rPr lang="zh-CN" altLang="en-US" sz="1800" dirty="0"/>
              <a:t> </a:t>
            </a:r>
            <a:r>
              <a:rPr lang="en-US" altLang="zh-CN" sz="1800" dirty="0"/>
              <a:t>flexibility</a:t>
            </a:r>
            <a:r>
              <a:rPr lang="zh-CN" altLang="en-US" sz="1800" dirty="0"/>
              <a:t> </a:t>
            </a:r>
            <a:r>
              <a:rPr lang="en-US" altLang="zh-CN" sz="1800" dirty="0"/>
              <a:t>&amp;</a:t>
            </a:r>
            <a:r>
              <a:rPr lang="zh-CN" altLang="en-US" sz="1800" dirty="0"/>
              <a:t> </a:t>
            </a:r>
            <a:r>
              <a:rPr lang="en-US" altLang="zh-CN" sz="1800" dirty="0"/>
              <a:t>more</a:t>
            </a:r>
            <a:endParaRPr lang="en-GB" sz="1800" dirty="0"/>
          </a:p>
          <a:p>
            <a:endParaRPr lang="en-US" sz="1800" dirty="0"/>
          </a:p>
          <a:p>
            <a:pPr marL="285750" indent="-285750">
              <a:spcBef>
                <a:spcPts val="600"/>
              </a:spcBef>
            </a:pPr>
            <a:endParaRPr lang="zh-CN" altLang="en-US" sz="1800" dirty="0">
              <a:latin typeface="Aptos" panose="020B0004020202020204" pitchFamily="34" charset="0"/>
              <a:cs typeface="Arial" panose="020B0604020202020204" pitchFamily="34" charset="0"/>
            </a:endParaRPr>
          </a:p>
          <a:p>
            <a:endParaRPr lang="en-US" sz="1800" dirty="0"/>
          </a:p>
        </p:txBody>
      </p:sp>
      <p:pic>
        <p:nvPicPr>
          <p:cNvPr id="5" name="Picture 2" descr="The Power of Retrieval Augmented Generation (RAG) | by Mayank Patel | Medium">
            <a:hlinkClick r:id="rId3"/>
            <a:extLst>
              <a:ext uri="{FF2B5EF4-FFF2-40B4-BE49-F238E27FC236}">
                <a16:creationId xmlns:a16="http://schemas.microsoft.com/office/drawing/2014/main" id="{0411A0F3-A322-10CF-1966-DC8826A93BB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1669" b="16592"/>
          <a:stretch>
            <a:fillRect/>
          </a:stretch>
        </p:blipFill>
        <p:spPr bwMode="auto">
          <a:xfrm>
            <a:off x="1942646" y="3948906"/>
            <a:ext cx="8086384" cy="189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6961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195A5-CE5E-1703-215D-06040E130D9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7E80790-66E8-A765-5CAA-0324100F3B8D}"/>
              </a:ext>
            </a:extLst>
          </p:cNvPr>
          <p:cNvSpPr>
            <a:spLocks noGrp="1"/>
          </p:cNvSpPr>
          <p:nvPr>
            <p:ph type="sldNum" sz="quarter" idx="4"/>
          </p:nvPr>
        </p:nvSpPr>
        <p:spPr/>
        <p:txBody>
          <a:bodyPr/>
          <a:lstStyle/>
          <a:p>
            <a:pPr algn="l"/>
            <a:fld id="{3889EAAA-2A39-E347-B0AA-909793490C00}" type="slidenum">
              <a:rPr lang="de-DE" smtClean="0"/>
              <a:pPr algn="l"/>
              <a:t>3</a:t>
            </a:fld>
            <a:endParaRPr lang="de-DE" dirty="0"/>
          </a:p>
        </p:txBody>
      </p:sp>
      <p:sp>
        <p:nvSpPr>
          <p:cNvPr id="3" name="Title 2">
            <a:extLst>
              <a:ext uri="{FF2B5EF4-FFF2-40B4-BE49-F238E27FC236}">
                <a16:creationId xmlns:a16="http://schemas.microsoft.com/office/drawing/2014/main" id="{B6C65A44-7935-E818-3413-3F34BAC926C2}"/>
              </a:ext>
            </a:extLst>
          </p:cNvPr>
          <p:cNvSpPr>
            <a:spLocks noGrp="1"/>
          </p:cNvSpPr>
          <p:nvPr>
            <p:ph type="title"/>
          </p:nvPr>
        </p:nvSpPr>
        <p:spPr/>
        <p:txBody>
          <a:bodyPr/>
          <a:lstStyle/>
          <a:p>
            <a:r>
              <a:rPr lang="en-GB" dirty="0"/>
              <a:t>What is Retrieval-Augmented Generation (RAG)?</a:t>
            </a:r>
            <a:br>
              <a:rPr lang="en-US" altLang="zh-CN" sz="2000" dirty="0">
                <a:solidFill>
                  <a:srgbClr val="4F8F8F"/>
                </a:solidFill>
                <a:latin typeface="Aptos" panose="020B0004020202020204" pitchFamily="34" charset="0"/>
                <a:cs typeface="Arial" panose="020B0604020202020204" pitchFamily="34" charset="0"/>
              </a:rPr>
            </a:br>
            <a:br>
              <a:rPr lang="en-US" altLang="zh-CN" dirty="0"/>
            </a:br>
            <a:endParaRPr lang="en-US" dirty="0"/>
          </a:p>
        </p:txBody>
      </p:sp>
      <p:sp>
        <p:nvSpPr>
          <p:cNvPr id="4" name="Content Placeholder 3">
            <a:extLst>
              <a:ext uri="{FF2B5EF4-FFF2-40B4-BE49-F238E27FC236}">
                <a16:creationId xmlns:a16="http://schemas.microsoft.com/office/drawing/2014/main" id="{927262CB-584C-E49C-FFD5-0422535DAAEC}"/>
              </a:ext>
            </a:extLst>
          </p:cNvPr>
          <p:cNvSpPr>
            <a:spLocks noGrp="1"/>
          </p:cNvSpPr>
          <p:nvPr>
            <p:ph sz="quarter" idx="10"/>
          </p:nvPr>
        </p:nvSpPr>
        <p:spPr/>
        <p:txBody>
          <a:bodyPr/>
          <a:lstStyle/>
          <a:p>
            <a:pPr marL="285750" indent="-285750"/>
            <a:r>
              <a:rPr lang="en-GB" sz="1800" dirty="0"/>
              <a:t>Short definition: "A hybrid approach that combines retrieval and generation"</a:t>
            </a:r>
          </a:p>
          <a:p>
            <a:pPr marL="285750" indent="-285750"/>
            <a:endParaRPr lang="en-GB" sz="1800" dirty="0"/>
          </a:p>
          <a:p>
            <a:pPr marL="285750" indent="-285750"/>
            <a:r>
              <a:rPr lang="en-US" altLang="zh-CN" sz="1800" dirty="0"/>
              <a:t>RAG</a:t>
            </a:r>
            <a:r>
              <a:rPr lang="zh-CN" altLang="en-US" sz="1800" dirty="0"/>
              <a:t> </a:t>
            </a:r>
            <a:r>
              <a:rPr lang="en-US" altLang="zh-CN" sz="1800" dirty="0"/>
              <a:t>=</a:t>
            </a:r>
            <a:r>
              <a:rPr lang="zh-CN" altLang="en-US" sz="1800" dirty="0"/>
              <a:t> </a:t>
            </a:r>
            <a:r>
              <a:rPr lang="en-US" altLang="zh-CN" sz="1800" dirty="0">
                <a:solidFill>
                  <a:srgbClr val="0070C0"/>
                </a:solidFill>
              </a:rPr>
              <a:t>Retrieval</a:t>
            </a:r>
            <a:r>
              <a:rPr lang="zh-CN" altLang="en-US" sz="1800" dirty="0"/>
              <a:t> </a:t>
            </a:r>
            <a:r>
              <a:rPr lang="en-US" altLang="zh-CN" sz="1800" dirty="0"/>
              <a:t>+</a:t>
            </a:r>
            <a:r>
              <a:rPr lang="zh-CN" altLang="en-US" sz="1800" dirty="0"/>
              <a:t> </a:t>
            </a:r>
            <a:r>
              <a:rPr lang="en-US" altLang="zh-CN" sz="1800" dirty="0">
                <a:solidFill>
                  <a:srgbClr val="FFC000"/>
                </a:solidFill>
              </a:rPr>
              <a:t>Generation</a:t>
            </a:r>
            <a:endParaRPr lang="en-GB" sz="1800" dirty="0">
              <a:solidFill>
                <a:srgbClr val="FFC000"/>
              </a:solidFill>
            </a:endParaRPr>
          </a:p>
          <a:p>
            <a:pPr marL="285750" indent="-285750">
              <a:spcBef>
                <a:spcPts val="600"/>
              </a:spcBef>
            </a:pPr>
            <a:endParaRPr lang="en-GB" sz="1800" dirty="0"/>
          </a:p>
          <a:p>
            <a:pPr marL="285750" indent="-285750"/>
            <a:endParaRPr lang="en-US" sz="1800" dirty="0"/>
          </a:p>
          <a:p>
            <a:pPr marL="285750" indent="-285750">
              <a:spcBef>
                <a:spcPts val="600"/>
              </a:spcBef>
            </a:pPr>
            <a:endParaRPr lang="zh-CN" altLang="en-US" sz="1800" dirty="0">
              <a:latin typeface="Aptos" panose="020B0004020202020204" pitchFamily="34" charset="0"/>
              <a:cs typeface="Arial" panose="020B0604020202020204" pitchFamily="34" charset="0"/>
            </a:endParaRPr>
          </a:p>
        </p:txBody>
      </p:sp>
      <p:pic>
        <p:nvPicPr>
          <p:cNvPr id="6" name="Picture 2" descr="Retrieval Augmented Generation (RAG) für LLMs | Prompt Engineering Guide">
            <a:extLst>
              <a:ext uri="{FF2B5EF4-FFF2-40B4-BE49-F238E27FC236}">
                <a16:creationId xmlns:a16="http://schemas.microsoft.com/office/drawing/2014/main" id="{AB681E5E-7F6E-6455-B83C-1D1BF3B5E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721" y="2784631"/>
            <a:ext cx="5468649" cy="3222768"/>
          </a:xfrm>
          <a:prstGeom prst="rect">
            <a:avLst/>
          </a:prstGeom>
          <a:noFill/>
          <a:extLst>
            <a:ext uri="{909E8E84-426E-40DD-AFC4-6F175D3DCCD1}">
              <a14:hiddenFill xmlns:a14="http://schemas.microsoft.com/office/drawing/2010/main">
                <a:solidFill>
                  <a:srgbClr val="FFFFFF"/>
                </a:solidFill>
              </a14:hiddenFill>
            </a:ext>
          </a:extLst>
        </p:spPr>
      </p:pic>
      <p:sp>
        <p:nvSpPr>
          <p:cNvPr id="7" name="Rounded Rectangle 6">
            <a:extLst>
              <a:ext uri="{FF2B5EF4-FFF2-40B4-BE49-F238E27FC236}">
                <a16:creationId xmlns:a16="http://schemas.microsoft.com/office/drawing/2014/main" id="{69C51D8D-FAEA-9584-C5C2-C082B5DDAC68}"/>
              </a:ext>
            </a:extLst>
          </p:cNvPr>
          <p:cNvSpPr/>
          <p:nvPr/>
        </p:nvSpPr>
        <p:spPr>
          <a:xfrm>
            <a:off x="3696721" y="4829531"/>
            <a:ext cx="3512462" cy="1143851"/>
          </a:xfrm>
          <a:prstGeom prst="roundRect">
            <a:avLst/>
          </a:prstGeom>
          <a:noFill/>
          <a:ln w="190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ounded Rectangle 7">
            <a:extLst>
              <a:ext uri="{FF2B5EF4-FFF2-40B4-BE49-F238E27FC236}">
                <a16:creationId xmlns:a16="http://schemas.microsoft.com/office/drawing/2014/main" id="{6DE25A89-1DE5-488C-930E-F73BF00576B9}"/>
              </a:ext>
            </a:extLst>
          </p:cNvPr>
          <p:cNvSpPr/>
          <p:nvPr/>
        </p:nvSpPr>
        <p:spPr>
          <a:xfrm>
            <a:off x="5447499" y="3950814"/>
            <a:ext cx="1967092" cy="663810"/>
          </a:xfrm>
          <a:prstGeom prst="roundRect">
            <a:avLst/>
          </a:prstGeom>
          <a:noFill/>
          <a:ln w="19050">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TextBox 3">
            <a:extLst>
              <a:ext uri="{FF2B5EF4-FFF2-40B4-BE49-F238E27FC236}">
                <a16:creationId xmlns:a16="http://schemas.microsoft.com/office/drawing/2014/main" id="{CD2939BA-4854-BA0B-08EC-DCF2CB5392B9}"/>
              </a:ext>
            </a:extLst>
          </p:cNvPr>
          <p:cNvSpPr txBox="1"/>
          <p:nvPr/>
        </p:nvSpPr>
        <p:spPr>
          <a:xfrm>
            <a:off x="5447499" y="6083806"/>
            <a:ext cx="2250488"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i="1" dirty="0"/>
              <a:t>Figure:</a:t>
            </a:r>
            <a:r>
              <a:rPr lang="zh-CN" altLang="en-US" sz="1200" i="1" dirty="0"/>
              <a:t> </a:t>
            </a:r>
            <a:r>
              <a:rPr lang="en-US" altLang="zh-CN" sz="1200" i="1" dirty="0"/>
              <a:t>Pipeline</a:t>
            </a:r>
            <a:r>
              <a:rPr lang="zh-CN" altLang="en-US" sz="1200" i="1" dirty="0"/>
              <a:t> </a:t>
            </a:r>
            <a:r>
              <a:rPr lang="en-US" altLang="zh-CN" sz="1200" i="1" dirty="0"/>
              <a:t>of</a:t>
            </a:r>
            <a:r>
              <a:rPr lang="zh-CN" altLang="en-US" sz="1200" i="1" dirty="0"/>
              <a:t> </a:t>
            </a:r>
            <a:r>
              <a:rPr lang="en-US" altLang="zh-CN" sz="1200" i="1" dirty="0"/>
              <a:t>RAG</a:t>
            </a:r>
            <a:r>
              <a:rPr lang="zh-CN" altLang="en-US" sz="1200" i="1" dirty="0"/>
              <a:t> </a:t>
            </a:r>
            <a:r>
              <a:rPr lang="en-US" altLang="zh-CN" sz="1200" i="1" dirty="0"/>
              <a:t>technique</a:t>
            </a:r>
            <a:endParaRPr lang="en-US" sz="1200" i="1" dirty="0"/>
          </a:p>
        </p:txBody>
      </p:sp>
    </p:spTree>
    <p:extLst>
      <p:ext uri="{BB962C8B-B14F-4D97-AF65-F5344CB8AC3E}">
        <p14:creationId xmlns:p14="http://schemas.microsoft.com/office/powerpoint/2010/main" val="1498882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38FC23-1FF4-1E64-72F7-BBEDD7F7C5CE}"/>
              </a:ext>
            </a:extLst>
          </p:cNvPr>
          <p:cNvSpPr>
            <a:spLocks noGrp="1"/>
          </p:cNvSpPr>
          <p:nvPr>
            <p:ph type="sldNum" sz="quarter" idx="4"/>
          </p:nvPr>
        </p:nvSpPr>
        <p:spPr/>
        <p:txBody>
          <a:bodyPr/>
          <a:lstStyle/>
          <a:p>
            <a:pPr algn="l"/>
            <a:fld id="{3889EAAA-2A39-E347-B0AA-909793490C00}" type="slidenum">
              <a:rPr lang="de-DE" smtClean="0"/>
              <a:pPr algn="l"/>
              <a:t>4</a:t>
            </a:fld>
            <a:endParaRPr lang="de-DE" dirty="0"/>
          </a:p>
        </p:txBody>
      </p:sp>
      <p:sp>
        <p:nvSpPr>
          <p:cNvPr id="3" name="Title 2">
            <a:extLst>
              <a:ext uri="{FF2B5EF4-FFF2-40B4-BE49-F238E27FC236}">
                <a16:creationId xmlns:a16="http://schemas.microsoft.com/office/drawing/2014/main" id="{D8676F36-1FF6-BA4C-6D96-20AACB713E2C}"/>
              </a:ext>
            </a:extLst>
          </p:cNvPr>
          <p:cNvSpPr>
            <a:spLocks noGrp="1"/>
          </p:cNvSpPr>
          <p:nvPr>
            <p:ph type="title"/>
          </p:nvPr>
        </p:nvSpPr>
        <p:spPr/>
        <p:txBody>
          <a:bodyPr/>
          <a:lstStyle/>
          <a:p>
            <a:r>
              <a:rPr lang="en-US" altLang="zh-CN" dirty="0"/>
              <a:t>Beyond</a:t>
            </a:r>
            <a:r>
              <a:rPr lang="zh-CN" altLang="en-US" dirty="0"/>
              <a:t> </a:t>
            </a:r>
            <a:r>
              <a:rPr lang="en-US" altLang="zh-CN" dirty="0"/>
              <a:t>RAG:</a:t>
            </a:r>
            <a:r>
              <a:rPr lang="zh-CN" altLang="en-US" dirty="0"/>
              <a:t> </a:t>
            </a:r>
            <a:r>
              <a:rPr lang="en-US" altLang="zh-CN" dirty="0"/>
              <a:t>Toward</a:t>
            </a:r>
            <a:r>
              <a:rPr lang="zh-CN" altLang="en-US" dirty="0"/>
              <a:t> </a:t>
            </a:r>
            <a:r>
              <a:rPr lang="en-US" altLang="zh-CN" dirty="0"/>
              <a:t>Intelligent</a:t>
            </a:r>
            <a:r>
              <a:rPr lang="zh-CN" altLang="en-US" dirty="0"/>
              <a:t> </a:t>
            </a:r>
            <a:r>
              <a:rPr lang="en-US" altLang="zh-CN" dirty="0"/>
              <a:t>Memory</a:t>
            </a:r>
            <a:r>
              <a:rPr lang="zh-CN" altLang="en-US" dirty="0"/>
              <a:t> </a:t>
            </a:r>
            <a:r>
              <a:rPr lang="en-US" altLang="zh-CN" dirty="0"/>
              <a:t>Systems</a:t>
            </a:r>
            <a:endParaRPr lang="en-US" dirty="0"/>
          </a:p>
        </p:txBody>
      </p:sp>
      <p:sp>
        <p:nvSpPr>
          <p:cNvPr id="4" name="Content Placeholder 3">
            <a:extLst>
              <a:ext uri="{FF2B5EF4-FFF2-40B4-BE49-F238E27FC236}">
                <a16:creationId xmlns:a16="http://schemas.microsoft.com/office/drawing/2014/main" id="{BA9B01D1-3896-DA10-80DA-E48A43AAA3A8}"/>
              </a:ext>
            </a:extLst>
          </p:cNvPr>
          <p:cNvSpPr>
            <a:spLocks noGrp="1"/>
          </p:cNvSpPr>
          <p:nvPr>
            <p:ph sz="quarter" idx="10"/>
          </p:nvPr>
        </p:nvSpPr>
        <p:spPr/>
        <p:txBody>
          <a:bodyPr/>
          <a:lstStyle/>
          <a:p>
            <a:pPr marL="285750" indent="-285750">
              <a:spcBef>
                <a:spcPts val="600"/>
              </a:spcBef>
            </a:pPr>
            <a:r>
              <a:rPr lang="en-US" altLang="zh-CN" sz="1600" dirty="0"/>
              <a:t>Why</a:t>
            </a:r>
            <a:r>
              <a:rPr lang="zh-CN" altLang="en-US" sz="1600" dirty="0"/>
              <a:t> </a:t>
            </a:r>
            <a:r>
              <a:rPr lang="en-US" altLang="zh-CN" sz="1600" dirty="0"/>
              <a:t>memory</a:t>
            </a:r>
            <a:r>
              <a:rPr lang="zh-CN" altLang="en-US" sz="1600" dirty="0"/>
              <a:t> </a:t>
            </a:r>
            <a:r>
              <a:rPr lang="en-US" altLang="zh-CN" sz="1600" dirty="0"/>
              <a:t>matters?</a:t>
            </a:r>
          </a:p>
          <a:p>
            <a:pPr marL="285750" indent="-285750">
              <a:spcBef>
                <a:spcPts val="600"/>
              </a:spcBef>
            </a:pPr>
            <a:r>
              <a:rPr lang="en-US" altLang="zh-CN" sz="1600" dirty="0"/>
              <a:t>Without</a:t>
            </a:r>
            <a:r>
              <a:rPr lang="zh-CN" altLang="en-US" sz="1600" dirty="0"/>
              <a:t> </a:t>
            </a:r>
            <a:r>
              <a:rPr lang="en-US" altLang="zh-CN" sz="1600" dirty="0"/>
              <a:t>Memory</a:t>
            </a:r>
          </a:p>
          <a:p>
            <a:pPr marL="742950" lvl="1" indent="-285750">
              <a:spcBef>
                <a:spcPts val="600"/>
              </a:spcBef>
            </a:pPr>
            <a:r>
              <a:rPr lang="en-US" altLang="zh-CN" sz="1600" dirty="0"/>
              <a:t>LLM/Agent</a:t>
            </a:r>
            <a:r>
              <a:rPr lang="zh-CN" altLang="en-US" sz="1600" dirty="0"/>
              <a:t> </a:t>
            </a:r>
            <a:r>
              <a:rPr lang="en-US" altLang="zh-CN" sz="1600" dirty="0"/>
              <a:t>is</a:t>
            </a:r>
            <a:r>
              <a:rPr lang="zh-CN" altLang="en-US" sz="1600" dirty="0"/>
              <a:t> </a:t>
            </a:r>
            <a:r>
              <a:rPr lang="en-US" altLang="zh-CN" sz="1600" dirty="0"/>
              <a:t>stateless</a:t>
            </a:r>
          </a:p>
          <a:p>
            <a:pPr marL="742950" lvl="1" indent="-285750">
              <a:spcBef>
                <a:spcPts val="600"/>
              </a:spcBef>
            </a:pPr>
            <a:r>
              <a:rPr lang="en-GB" sz="1600" dirty="0"/>
              <a:t>Analogy to humans: Without memory, continuous learning, adaptation, and reasoning are impossible.</a:t>
            </a:r>
            <a:endParaRPr lang="en-US" altLang="zh-CN" sz="1600" dirty="0"/>
          </a:p>
          <a:p>
            <a:pPr marL="285750" indent="-285750">
              <a:spcBef>
                <a:spcPts val="600"/>
              </a:spcBef>
            </a:pPr>
            <a:r>
              <a:rPr lang="en-US" altLang="zh-CN" sz="1600" dirty="0"/>
              <a:t>E</a:t>
            </a:r>
            <a:r>
              <a:rPr lang="en-GB" sz="1600" dirty="0"/>
              <a:t>.g</a:t>
            </a:r>
            <a:r>
              <a:rPr lang="en-US" altLang="zh-CN" sz="1600" dirty="0"/>
              <a:t>.</a:t>
            </a:r>
            <a:r>
              <a:rPr lang="en-GB" sz="1600" dirty="0"/>
              <a:t>, forgetting users, repeating answers, inability to handle multi-turn conversations</a:t>
            </a:r>
            <a:endParaRPr lang="en-US" altLang="zh-CN" sz="1600" dirty="0"/>
          </a:p>
          <a:p>
            <a:pPr marL="285750" indent="-285750">
              <a:spcBef>
                <a:spcPts val="600"/>
              </a:spcBef>
            </a:pPr>
            <a:endParaRPr lang="en-US" sz="1600" dirty="0"/>
          </a:p>
          <a:p>
            <a:pPr marL="285750" indent="-285750">
              <a:spcBef>
                <a:spcPts val="600"/>
              </a:spcBef>
            </a:pPr>
            <a:endParaRPr lang="en-GB" sz="1600" dirty="0"/>
          </a:p>
          <a:p>
            <a:endParaRPr lang="en-US" sz="1600" dirty="0"/>
          </a:p>
          <a:p>
            <a:pPr marL="285750" indent="-285750">
              <a:spcBef>
                <a:spcPts val="600"/>
              </a:spcBef>
            </a:pPr>
            <a:endParaRPr lang="zh-CN" altLang="en-US" sz="1600" dirty="0">
              <a:latin typeface="Aptos" panose="020B0004020202020204" pitchFamily="34" charset="0"/>
              <a:cs typeface="Arial" panose="020B0604020202020204" pitchFamily="34" charset="0"/>
            </a:endParaRPr>
          </a:p>
          <a:p>
            <a:endParaRPr lang="en-US" dirty="0"/>
          </a:p>
        </p:txBody>
      </p:sp>
      <p:pic>
        <p:nvPicPr>
          <p:cNvPr id="5" name="Picture 4" descr="A screenshot of a chat&#10;&#10;AI-generated content may be incorrect.">
            <a:extLst>
              <a:ext uri="{FF2B5EF4-FFF2-40B4-BE49-F238E27FC236}">
                <a16:creationId xmlns:a16="http://schemas.microsoft.com/office/drawing/2014/main" id="{C0C2F0D6-77B7-55BF-3C51-8A0E84386471}"/>
              </a:ext>
            </a:extLst>
          </p:cNvPr>
          <p:cNvPicPr>
            <a:picLocks noChangeAspect="1"/>
          </p:cNvPicPr>
          <p:nvPr/>
        </p:nvPicPr>
        <p:blipFill>
          <a:blip r:embed="rId2"/>
          <a:stretch>
            <a:fillRect/>
          </a:stretch>
        </p:blipFill>
        <p:spPr>
          <a:xfrm>
            <a:off x="3741136" y="3429000"/>
            <a:ext cx="5609613" cy="2770779"/>
          </a:xfrm>
          <a:prstGeom prst="rect">
            <a:avLst/>
          </a:prstGeom>
        </p:spPr>
      </p:pic>
      <p:pic>
        <p:nvPicPr>
          <p:cNvPr id="6" name="Picture 2" descr="Goldfish, facts and photos">
            <a:extLst>
              <a:ext uri="{FF2B5EF4-FFF2-40B4-BE49-F238E27FC236}">
                <a16:creationId xmlns:a16="http://schemas.microsoft.com/office/drawing/2014/main" id="{83CBDC9D-D38F-476B-D31D-01FD9291B0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51" t="13125" r="13393"/>
          <a:stretch/>
        </p:blipFill>
        <p:spPr bwMode="auto">
          <a:xfrm>
            <a:off x="1380708" y="3923063"/>
            <a:ext cx="2159378" cy="17826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3">
            <a:extLst>
              <a:ext uri="{FF2B5EF4-FFF2-40B4-BE49-F238E27FC236}">
                <a16:creationId xmlns:a16="http://schemas.microsoft.com/office/drawing/2014/main" id="{60F3CD11-A46E-398B-7D30-7021B5430177}"/>
              </a:ext>
            </a:extLst>
          </p:cNvPr>
          <p:cNvSpPr txBox="1"/>
          <p:nvPr/>
        </p:nvSpPr>
        <p:spPr>
          <a:xfrm>
            <a:off x="3290109" y="6275933"/>
            <a:ext cx="6486776"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i="1" dirty="0"/>
              <a:t>Figure:</a:t>
            </a:r>
            <a:r>
              <a:rPr lang="zh-CN" altLang="en-US" sz="1200" i="1" dirty="0"/>
              <a:t> </a:t>
            </a:r>
            <a:r>
              <a:rPr lang="en-GB" sz="1200" i="1" dirty="0"/>
              <a:t>Comparison </a:t>
            </a:r>
            <a:r>
              <a:rPr lang="en-US" altLang="zh-CN" sz="1200" i="1" dirty="0"/>
              <a:t>of</a:t>
            </a:r>
            <a:r>
              <a:rPr lang="zh-CN" altLang="en-US" sz="1200" i="1" dirty="0"/>
              <a:t> </a:t>
            </a:r>
            <a:r>
              <a:rPr lang="en-GB" sz="1200" b="1" i="1" dirty="0"/>
              <a:t>Stateless LLM </a:t>
            </a:r>
            <a:r>
              <a:rPr lang="en-GB" sz="1200" i="1" dirty="0"/>
              <a:t>vs </a:t>
            </a:r>
            <a:r>
              <a:rPr lang="en-GB" sz="1200" b="1" i="1" dirty="0"/>
              <a:t>Memory-Augmented LLM </a:t>
            </a:r>
            <a:r>
              <a:rPr lang="en-GB" sz="1200" i="1" dirty="0"/>
              <a:t>in remembering user dietary needs</a:t>
            </a:r>
            <a:endParaRPr lang="en-US" sz="1200" i="1" dirty="0"/>
          </a:p>
        </p:txBody>
      </p:sp>
    </p:spTree>
    <p:extLst>
      <p:ext uri="{BB962C8B-B14F-4D97-AF65-F5344CB8AC3E}">
        <p14:creationId xmlns:p14="http://schemas.microsoft.com/office/powerpoint/2010/main" val="3924739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5ADAAC-3E5D-1BFA-0AD7-634AFBACF7F8}"/>
              </a:ext>
            </a:extLst>
          </p:cNvPr>
          <p:cNvSpPr>
            <a:spLocks noGrp="1"/>
          </p:cNvSpPr>
          <p:nvPr>
            <p:ph type="sldNum" sz="quarter" idx="4"/>
          </p:nvPr>
        </p:nvSpPr>
        <p:spPr/>
        <p:txBody>
          <a:bodyPr/>
          <a:lstStyle/>
          <a:p>
            <a:pPr algn="l"/>
            <a:fld id="{3889EAAA-2A39-E347-B0AA-909793490C00}" type="slidenum">
              <a:rPr lang="de-DE" smtClean="0"/>
              <a:pPr algn="l"/>
              <a:t>5</a:t>
            </a:fld>
            <a:endParaRPr lang="de-DE" dirty="0"/>
          </a:p>
        </p:txBody>
      </p:sp>
      <p:sp>
        <p:nvSpPr>
          <p:cNvPr id="3" name="Title 2">
            <a:extLst>
              <a:ext uri="{FF2B5EF4-FFF2-40B4-BE49-F238E27FC236}">
                <a16:creationId xmlns:a16="http://schemas.microsoft.com/office/drawing/2014/main" id="{62CCE8CA-3A0E-A5D3-CD78-CE210C2C1911}"/>
              </a:ext>
            </a:extLst>
          </p:cNvPr>
          <p:cNvSpPr>
            <a:spLocks noGrp="1"/>
          </p:cNvSpPr>
          <p:nvPr>
            <p:ph type="title"/>
          </p:nvPr>
        </p:nvSpPr>
        <p:spPr/>
        <p:txBody>
          <a:bodyPr/>
          <a:lstStyle/>
          <a:p>
            <a:r>
              <a:rPr lang="en-US" altLang="zh-CN" dirty="0"/>
              <a:t>Why</a:t>
            </a:r>
            <a:r>
              <a:rPr lang="zh-CN" altLang="en-US" dirty="0"/>
              <a:t> </a:t>
            </a:r>
            <a:r>
              <a:rPr lang="en-US" altLang="zh-CN" dirty="0"/>
              <a:t>Memory</a:t>
            </a:r>
            <a:r>
              <a:rPr lang="zh-CN" altLang="en-US" dirty="0"/>
              <a:t> </a:t>
            </a:r>
            <a:r>
              <a:rPr lang="en-US" altLang="zh-CN" dirty="0"/>
              <a:t>Matters?</a:t>
            </a:r>
            <a:br>
              <a:rPr lang="en-US" altLang="zh-CN" dirty="0"/>
            </a:br>
            <a:endParaRPr lang="en-US" dirty="0"/>
          </a:p>
        </p:txBody>
      </p:sp>
      <p:sp>
        <p:nvSpPr>
          <p:cNvPr id="4" name="Content Placeholder 3">
            <a:extLst>
              <a:ext uri="{FF2B5EF4-FFF2-40B4-BE49-F238E27FC236}">
                <a16:creationId xmlns:a16="http://schemas.microsoft.com/office/drawing/2014/main" id="{C2A4F9D9-0830-43E8-144D-3BBDC8631FF5}"/>
              </a:ext>
            </a:extLst>
          </p:cNvPr>
          <p:cNvSpPr>
            <a:spLocks noGrp="1"/>
          </p:cNvSpPr>
          <p:nvPr>
            <p:ph sz="quarter" idx="10"/>
          </p:nvPr>
        </p:nvSpPr>
        <p:spPr>
          <a:xfrm>
            <a:off x="446088" y="1484313"/>
            <a:ext cx="5976746" cy="4929187"/>
          </a:xfrm>
        </p:spPr>
        <p:txBody>
          <a:bodyPr/>
          <a:lstStyle/>
          <a:p>
            <a:pPr marL="0" lvl="0" indent="0" defTabSz="914400">
              <a:lnSpc>
                <a:spcPct val="100000"/>
              </a:lnSpc>
              <a:spcBef>
                <a:spcPts val="0"/>
              </a:spcBef>
              <a:buClrTx/>
              <a:buNone/>
              <a:defRPr/>
            </a:pPr>
            <a:r>
              <a:rPr lang="en-GB" sz="1400" dirty="0"/>
              <a:t>Humans</a:t>
            </a:r>
          </a:p>
          <a:p>
            <a:pPr marL="285750" lvl="0" indent="-285750" defTabSz="914400">
              <a:lnSpc>
                <a:spcPct val="100000"/>
              </a:lnSpc>
              <a:spcBef>
                <a:spcPts val="0"/>
              </a:spcBef>
              <a:buClrTx/>
              <a:defRPr/>
            </a:pPr>
            <a:r>
              <a:rPr lang="en-GB" sz="1400" dirty="0"/>
              <a:t>Learn from past problem-solving</a:t>
            </a:r>
          </a:p>
          <a:p>
            <a:pPr marL="285750" lvl="0" indent="-285750" defTabSz="914400">
              <a:lnSpc>
                <a:spcPct val="100000"/>
              </a:lnSpc>
              <a:spcBef>
                <a:spcPts val="0"/>
              </a:spcBef>
              <a:buClrTx/>
              <a:defRPr/>
            </a:pPr>
            <a:r>
              <a:rPr lang="en-GB" sz="1400" dirty="0"/>
              <a:t>Improve efficiency &amp; accuracy over time</a:t>
            </a:r>
          </a:p>
          <a:p>
            <a:pPr marL="285750" lvl="0" indent="-285750" defTabSz="914400">
              <a:lnSpc>
                <a:spcPct val="100000"/>
              </a:lnSpc>
              <a:spcBef>
                <a:spcPts val="0"/>
              </a:spcBef>
              <a:buClrTx/>
              <a:defRPr/>
            </a:pPr>
            <a:endParaRPr lang="en-GB" sz="1400" dirty="0"/>
          </a:p>
          <a:p>
            <a:pPr marL="0" lvl="0" indent="0" defTabSz="914400">
              <a:lnSpc>
                <a:spcPct val="100000"/>
              </a:lnSpc>
              <a:spcBef>
                <a:spcPts val="0"/>
              </a:spcBef>
              <a:buClrTx/>
              <a:buNone/>
              <a:defRPr/>
            </a:pPr>
            <a:r>
              <a:rPr lang="en-GB" sz="1400" dirty="0"/>
              <a:t>LLM Agents (today)</a:t>
            </a:r>
          </a:p>
          <a:p>
            <a:pPr marL="285750" lvl="0" indent="-285750" defTabSz="914400">
              <a:lnSpc>
                <a:spcPct val="100000"/>
              </a:lnSpc>
              <a:spcBef>
                <a:spcPts val="0"/>
              </a:spcBef>
              <a:buClrTx/>
              <a:defRPr/>
            </a:pPr>
            <a:r>
              <a:rPr lang="en-GB" sz="1400" dirty="0"/>
              <a:t>Do not retain experience</a:t>
            </a:r>
          </a:p>
          <a:p>
            <a:pPr marL="285750" lvl="0" indent="-285750" defTabSz="914400">
              <a:lnSpc>
                <a:spcPct val="100000"/>
              </a:lnSpc>
              <a:spcBef>
                <a:spcPts val="0"/>
              </a:spcBef>
              <a:buClrTx/>
              <a:defRPr/>
            </a:pPr>
            <a:r>
              <a:rPr lang="en-GB" sz="1400" dirty="0"/>
              <a:t>Restart from scratch every query</a:t>
            </a:r>
          </a:p>
          <a:p>
            <a:pPr marL="285750" lvl="0" indent="-285750" defTabSz="914400">
              <a:lnSpc>
                <a:spcPct val="100000"/>
              </a:lnSpc>
              <a:spcBef>
                <a:spcPts val="0"/>
              </a:spcBef>
              <a:buClrTx/>
              <a:defRPr/>
            </a:pPr>
            <a:endParaRPr lang="en-GB" sz="1400" dirty="0"/>
          </a:p>
          <a:p>
            <a:pPr marL="0" lvl="0" indent="0" defTabSz="914400">
              <a:lnSpc>
                <a:spcPct val="100000"/>
              </a:lnSpc>
              <a:spcBef>
                <a:spcPts val="0"/>
              </a:spcBef>
              <a:buClrTx/>
              <a:buNone/>
              <a:defRPr/>
            </a:pPr>
            <a:r>
              <a:rPr lang="en-GB" sz="1400" dirty="0"/>
              <a:t>Era of Experience</a:t>
            </a:r>
            <a:r>
              <a:rPr lang="zh-CN" altLang="en-US" sz="1400" dirty="0"/>
              <a:t> </a:t>
            </a:r>
            <a:r>
              <a:rPr lang="en-US" altLang="zh-CN" sz="1400" dirty="0"/>
              <a:t>(Proposed</a:t>
            </a:r>
            <a:r>
              <a:rPr lang="zh-CN" altLang="en-US" sz="1400" dirty="0"/>
              <a:t> </a:t>
            </a:r>
            <a:r>
              <a:rPr lang="en-US" altLang="zh-CN" sz="1400" dirty="0"/>
              <a:t>by</a:t>
            </a:r>
            <a:r>
              <a:rPr lang="zh-CN" altLang="en-US" sz="1400" dirty="0"/>
              <a:t> </a:t>
            </a:r>
            <a:r>
              <a:rPr lang="en-GB" altLang="zh-CN" sz="1400" dirty="0"/>
              <a:t>David Silver, Richard S. Sutton</a:t>
            </a:r>
            <a:r>
              <a:rPr lang="en-US" altLang="zh-CN" sz="1400" dirty="0"/>
              <a:t>)</a:t>
            </a:r>
            <a:endParaRPr lang="en-GB" sz="1400" dirty="0"/>
          </a:p>
          <a:p>
            <a:pPr marL="285750" lvl="0" indent="-285750" defTabSz="914400">
              <a:lnSpc>
                <a:spcPct val="100000"/>
              </a:lnSpc>
              <a:spcBef>
                <a:spcPts val="0"/>
              </a:spcBef>
              <a:buClrTx/>
              <a:defRPr/>
            </a:pPr>
            <a:r>
              <a:rPr lang="en-GB" sz="1400" dirty="0"/>
              <a:t>Beyond simulation &amp; human data</a:t>
            </a:r>
          </a:p>
          <a:p>
            <a:pPr marL="285750" lvl="0" indent="-285750" defTabSz="914400">
              <a:lnSpc>
                <a:spcPct val="100000"/>
              </a:lnSpc>
              <a:spcBef>
                <a:spcPts val="0"/>
              </a:spcBef>
              <a:buClrTx/>
              <a:defRPr/>
            </a:pPr>
            <a:r>
              <a:rPr lang="en-GB" sz="1400" dirty="0"/>
              <a:t>Agents that remember, adapt, and improve with use</a:t>
            </a:r>
          </a:p>
          <a:p>
            <a:pPr marL="285750" lvl="0" indent="-285750" defTabSz="914400">
              <a:lnSpc>
                <a:spcPct val="100000"/>
              </a:lnSpc>
              <a:spcBef>
                <a:spcPts val="0"/>
              </a:spcBef>
              <a:buClrTx/>
              <a:defRPr/>
            </a:pPr>
            <a:r>
              <a:rPr lang="en-DE" sz="1400" dirty="0"/>
              <a:t>“The era of experience marks a pivotal moment in the evolution of AI. Building on today’s strong foundations but moving beyond the limitations of human-derived data, agents will increasingly learn from their own interactions with the world. Agents will autonomously interact with environments through rich observations and actions. They will continue to adapt over the course of lifelong streams of experience. Their goals will be directable towards any combination of grounded signals.”</a:t>
            </a:r>
          </a:p>
          <a:p>
            <a:pPr lvl="0">
              <a:defRPr/>
            </a:pPr>
            <a:endParaRPr lang="en-DE" sz="1400" dirty="0"/>
          </a:p>
          <a:p>
            <a:endParaRPr lang="en-US" sz="1400" dirty="0"/>
          </a:p>
        </p:txBody>
      </p:sp>
      <p:pic>
        <p:nvPicPr>
          <p:cNvPr id="5" name="Picture 4" descr="A graph of a graph&#10;&#10;AI-generated content may be incorrect.">
            <a:extLst>
              <a:ext uri="{FF2B5EF4-FFF2-40B4-BE49-F238E27FC236}">
                <a16:creationId xmlns:a16="http://schemas.microsoft.com/office/drawing/2014/main" id="{52A05924-E4E6-9DC3-292C-4946F57C6943}"/>
              </a:ext>
            </a:extLst>
          </p:cNvPr>
          <p:cNvPicPr>
            <a:picLocks noChangeAspect="1"/>
          </p:cNvPicPr>
          <p:nvPr/>
        </p:nvPicPr>
        <p:blipFill>
          <a:blip r:embed="rId2"/>
          <a:stretch>
            <a:fillRect/>
          </a:stretch>
        </p:blipFill>
        <p:spPr>
          <a:xfrm>
            <a:off x="7392000" y="1160075"/>
            <a:ext cx="4080933" cy="2207384"/>
          </a:xfrm>
          <a:prstGeom prst="rect">
            <a:avLst/>
          </a:prstGeom>
        </p:spPr>
      </p:pic>
      <p:sp>
        <p:nvSpPr>
          <p:cNvPr id="6" name="TextBox 3">
            <a:extLst>
              <a:ext uri="{FF2B5EF4-FFF2-40B4-BE49-F238E27FC236}">
                <a16:creationId xmlns:a16="http://schemas.microsoft.com/office/drawing/2014/main" id="{7002173F-B229-B3C5-5437-041880C1D134}"/>
              </a:ext>
            </a:extLst>
          </p:cNvPr>
          <p:cNvSpPr txBox="1"/>
          <p:nvPr/>
        </p:nvSpPr>
        <p:spPr>
          <a:xfrm>
            <a:off x="7463999" y="3375467"/>
            <a:ext cx="4236023"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1"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Figure:</a:t>
            </a:r>
            <a:r>
              <a:rPr kumimoji="0" lang="zh-CN" altLang="en-US" sz="1200" b="0" i="1"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a:t>
            </a:r>
            <a:r>
              <a:rPr kumimoji="0" lang="en-GB" sz="1200" b="0" i="1" u="none" strike="noStrike" kern="1200" cap="none" spc="0" normalizeH="0" baseline="0" noProof="0" dirty="0">
                <a:ln>
                  <a:noFill/>
                </a:ln>
                <a:solidFill>
                  <a:prstClr val="black"/>
                </a:solidFill>
                <a:effectLst/>
                <a:uLnTx/>
                <a:uFillTx/>
                <a:latin typeface="Calibri" panose="020F0502020204030204"/>
                <a:ea typeface="+mn-ea"/>
                <a:cs typeface="+mn-cs"/>
              </a:rPr>
              <a:t>Evolution of AI — from Simulation &amp; Human Data to the Era of Experience</a:t>
            </a:r>
            <a:endParaRPr kumimoji="0" lang="en-US" sz="12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2152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A66812-6D1A-A976-6188-08C23ABFFB75}"/>
              </a:ext>
            </a:extLst>
          </p:cNvPr>
          <p:cNvSpPr>
            <a:spLocks noGrp="1"/>
          </p:cNvSpPr>
          <p:nvPr>
            <p:ph type="sldNum" sz="quarter" idx="4"/>
          </p:nvPr>
        </p:nvSpPr>
        <p:spPr/>
        <p:txBody>
          <a:bodyPr/>
          <a:lstStyle/>
          <a:p>
            <a:pPr algn="l"/>
            <a:fld id="{3889EAAA-2A39-E347-B0AA-909793490C00}" type="slidenum">
              <a:rPr lang="de-DE" smtClean="0"/>
              <a:pPr algn="l"/>
              <a:t>6</a:t>
            </a:fld>
            <a:endParaRPr lang="de-DE" dirty="0"/>
          </a:p>
        </p:txBody>
      </p:sp>
      <p:sp>
        <p:nvSpPr>
          <p:cNvPr id="3" name="Title 2">
            <a:extLst>
              <a:ext uri="{FF2B5EF4-FFF2-40B4-BE49-F238E27FC236}">
                <a16:creationId xmlns:a16="http://schemas.microsoft.com/office/drawing/2014/main" id="{BA4528E3-A57C-72A4-53FB-EFF525708085}"/>
              </a:ext>
            </a:extLst>
          </p:cNvPr>
          <p:cNvSpPr>
            <a:spLocks noGrp="1"/>
          </p:cNvSpPr>
          <p:nvPr>
            <p:ph type="title"/>
          </p:nvPr>
        </p:nvSpPr>
        <p:spPr/>
        <p:txBody>
          <a:bodyPr/>
          <a:lstStyle/>
          <a:p>
            <a:r>
              <a:rPr lang="en-US" altLang="zh-CN" dirty="0"/>
              <a:t>Beyond</a:t>
            </a:r>
            <a:r>
              <a:rPr lang="zh-CN" altLang="en-US" dirty="0"/>
              <a:t> </a:t>
            </a:r>
            <a:r>
              <a:rPr lang="en-US" altLang="zh-CN" dirty="0"/>
              <a:t>RAG:</a:t>
            </a:r>
            <a:r>
              <a:rPr lang="zh-CN" altLang="en-US" dirty="0"/>
              <a:t> </a:t>
            </a:r>
            <a:r>
              <a:rPr lang="en-US" altLang="zh-CN" dirty="0"/>
              <a:t>Toward</a:t>
            </a:r>
            <a:r>
              <a:rPr lang="zh-CN" altLang="en-US" dirty="0"/>
              <a:t> </a:t>
            </a:r>
            <a:r>
              <a:rPr lang="en-US" altLang="zh-CN" dirty="0"/>
              <a:t>Intelligent</a:t>
            </a:r>
            <a:r>
              <a:rPr lang="zh-CN" altLang="en-US" dirty="0"/>
              <a:t> </a:t>
            </a:r>
            <a:r>
              <a:rPr lang="en-US" altLang="zh-CN" dirty="0"/>
              <a:t>Memory</a:t>
            </a:r>
            <a:r>
              <a:rPr lang="zh-CN" altLang="en-US" dirty="0"/>
              <a:t> </a:t>
            </a:r>
            <a:r>
              <a:rPr lang="en-US" altLang="zh-CN" dirty="0"/>
              <a:t>Systems</a:t>
            </a:r>
            <a:endParaRPr lang="en-US" dirty="0"/>
          </a:p>
        </p:txBody>
      </p:sp>
      <p:graphicFrame>
        <p:nvGraphicFramePr>
          <p:cNvPr id="6" name="Table 5">
            <a:extLst>
              <a:ext uri="{FF2B5EF4-FFF2-40B4-BE49-F238E27FC236}">
                <a16:creationId xmlns:a16="http://schemas.microsoft.com/office/drawing/2014/main" id="{7D1E2C7E-46CD-768C-B08A-7B7DFD624C9B}"/>
              </a:ext>
            </a:extLst>
          </p:cNvPr>
          <p:cNvGraphicFramePr>
            <a:graphicFrameLocks noGrp="1"/>
          </p:cNvGraphicFramePr>
          <p:nvPr>
            <p:extLst>
              <p:ext uri="{D42A27DB-BD31-4B8C-83A1-F6EECF244321}">
                <p14:modId xmlns:p14="http://schemas.microsoft.com/office/powerpoint/2010/main" val="3942974503"/>
              </p:ext>
            </p:extLst>
          </p:nvPr>
        </p:nvGraphicFramePr>
        <p:xfrm>
          <a:off x="1570566" y="2565401"/>
          <a:ext cx="9050868" cy="2057400"/>
        </p:xfrm>
        <a:graphic>
          <a:graphicData uri="http://schemas.openxmlformats.org/drawingml/2006/table">
            <a:tbl>
              <a:tblPr>
                <a:tableStyleId>{3C2FFA5D-87B4-456A-9821-1D502468CF0F}</a:tableStyleId>
              </a:tblPr>
              <a:tblGrid>
                <a:gridCol w="4525434">
                  <a:extLst>
                    <a:ext uri="{9D8B030D-6E8A-4147-A177-3AD203B41FA5}">
                      <a16:colId xmlns:a16="http://schemas.microsoft.com/office/drawing/2014/main" val="3760718610"/>
                    </a:ext>
                  </a:extLst>
                </a:gridCol>
                <a:gridCol w="4525434">
                  <a:extLst>
                    <a:ext uri="{9D8B030D-6E8A-4147-A177-3AD203B41FA5}">
                      <a16:colId xmlns:a16="http://schemas.microsoft.com/office/drawing/2014/main" val="2903307149"/>
                    </a:ext>
                  </a:extLst>
                </a:gridCol>
              </a:tblGrid>
              <a:tr h="411480">
                <a:tc>
                  <a:txBody>
                    <a:bodyPr/>
                    <a:lstStyle/>
                    <a:p>
                      <a:pPr>
                        <a:buNone/>
                      </a:pPr>
                      <a:r>
                        <a:rPr lang="en-GB" sz="1600" b="1" dirty="0"/>
                        <a:t>RAG</a:t>
                      </a:r>
                      <a:r>
                        <a:rPr lang="en-US" altLang="zh-CN" sz="1600" b="1" dirty="0"/>
                        <a:t>-Augmented</a:t>
                      </a:r>
                      <a:r>
                        <a:rPr lang="zh-CN" altLang="en-US" sz="1600" b="1" dirty="0"/>
                        <a:t> </a:t>
                      </a:r>
                      <a:r>
                        <a:rPr lang="en-US" altLang="zh-CN" sz="1600" b="1" dirty="0"/>
                        <a:t>LLMs</a:t>
                      </a:r>
                      <a:endParaRPr lang="en-GB" sz="1600" dirty="0"/>
                    </a:p>
                  </a:txBody>
                  <a:tcPr anchor="ctr"/>
                </a:tc>
                <a:tc>
                  <a:txBody>
                    <a:bodyPr/>
                    <a:lstStyle/>
                    <a:p>
                      <a:pPr>
                        <a:buNone/>
                      </a:pPr>
                      <a:r>
                        <a:rPr lang="en-GB" sz="1600" b="1"/>
                        <a:t>Memory-Augmented LLMs</a:t>
                      </a:r>
                      <a:endParaRPr lang="en-GB" sz="1600"/>
                    </a:p>
                  </a:txBody>
                  <a:tcPr anchor="ctr"/>
                </a:tc>
                <a:extLst>
                  <a:ext uri="{0D108BD9-81ED-4DB2-BD59-A6C34878D82A}">
                    <a16:rowId xmlns:a16="http://schemas.microsoft.com/office/drawing/2014/main" val="2605755548"/>
                  </a:ext>
                </a:extLst>
              </a:tr>
              <a:tr h="411480">
                <a:tc>
                  <a:txBody>
                    <a:bodyPr/>
                    <a:lstStyle/>
                    <a:p>
                      <a:pPr>
                        <a:buNone/>
                      </a:pPr>
                      <a:r>
                        <a:rPr lang="en-GB" sz="1600" dirty="0"/>
                        <a:t>Retrieve </a:t>
                      </a:r>
                      <a:r>
                        <a:rPr lang="en-GB" sz="1600" b="1" dirty="0"/>
                        <a:t>static</a:t>
                      </a:r>
                      <a:r>
                        <a:rPr lang="en-GB" sz="1600" dirty="0"/>
                        <a:t> external knowledge</a:t>
                      </a:r>
                    </a:p>
                  </a:txBody>
                  <a:tcPr anchor="ctr"/>
                </a:tc>
                <a:tc>
                  <a:txBody>
                    <a:bodyPr/>
                    <a:lstStyle/>
                    <a:p>
                      <a:pPr>
                        <a:buNone/>
                      </a:pPr>
                      <a:r>
                        <a:rPr lang="en-GB" sz="1600" dirty="0"/>
                        <a:t>Maintain </a:t>
                      </a:r>
                      <a:r>
                        <a:rPr lang="en-GB" sz="1600" b="1" dirty="0"/>
                        <a:t>dynamic</a:t>
                      </a:r>
                      <a:r>
                        <a:rPr lang="en-GB" sz="1600" dirty="0"/>
                        <a:t>, agent-specific memory</a:t>
                      </a:r>
                    </a:p>
                  </a:txBody>
                  <a:tcPr anchor="ctr"/>
                </a:tc>
                <a:extLst>
                  <a:ext uri="{0D108BD9-81ED-4DB2-BD59-A6C34878D82A}">
                    <a16:rowId xmlns:a16="http://schemas.microsoft.com/office/drawing/2014/main" val="159987386"/>
                  </a:ext>
                </a:extLst>
              </a:tr>
              <a:tr h="411480">
                <a:tc>
                  <a:txBody>
                    <a:bodyPr/>
                    <a:lstStyle/>
                    <a:p>
                      <a:pPr>
                        <a:buNone/>
                      </a:pPr>
                      <a:r>
                        <a:rPr lang="en-GB" sz="1600" dirty="0"/>
                        <a:t>Stateless generation per query</a:t>
                      </a:r>
                    </a:p>
                  </a:txBody>
                  <a:tcPr anchor="ctr"/>
                </a:tc>
                <a:tc>
                  <a:txBody>
                    <a:bodyPr/>
                    <a:lstStyle/>
                    <a:p>
                      <a:pPr>
                        <a:buNone/>
                      </a:pPr>
                      <a:r>
                        <a:rPr lang="en-GB" sz="1600" dirty="0"/>
                        <a:t>Stateful reasoning across time</a:t>
                      </a:r>
                    </a:p>
                  </a:txBody>
                  <a:tcPr anchor="ctr"/>
                </a:tc>
                <a:extLst>
                  <a:ext uri="{0D108BD9-81ED-4DB2-BD59-A6C34878D82A}">
                    <a16:rowId xmlns:a16="http://schemas.microsoft.com/office/drawing/2014/main" val="1245034945"/>
                  </a:ext>
                </a:extLst>
              </a:tr>
              <a:tr h="411480">
                <a:tc>
                  <a:txBody>
                    <a:bodyPr/>
                    <a:lstStyle/>
                    <a:p>
                      <a:pPr>
                        <a:buNone/>
                      </a:pPr>
                      <a:r>
                        <a:rPr lang="en-GB" sz="1600" dirty="0"/>
                        <a:t>Query-based document recall</a:t>
                      </a:r>
                    </a:p>
                  </a:txBody>
                  <a:tcPr anchor="ctr"/>
                </a:tc>
                <a:tc>
                  <a:txBody>
                    <a:bodyPr/>
                    <a:lstStyle/>
                    <a:p>
                      <a:pPr>
                        <a:buNone/>
                      </a:pPr>
                      <a:r>
                        <a:rPr lang="en-GB" sz="1600" dirty="0"/>
                        <a:t>Experience-based task adaptation</a:t>
                      </a:r>
                    </a:p>
                  </a:txBody>
                  <a:tcPr anchor="ctr"/>
                </a:tc>
                <a:extLst>
                  <a:ext uri="{0D108BD9-81ED-4DB2-BD59-A6C34878D82A}">
                    <a16:rowId xmlns:a16="http://schemas.microsoft.com/office/drawing/2014/main" val="1382184570"/>
                  </a:ext>
                </a:extLst>
              </a:tr>
              <a:tr h="411480">
                <a:tc>
                  <a:txBody>
                    <a:bodyPr/>
                    <a:lstStyle/>
                    <a:p>
                      <a:pPr>
                        <a:buNone/>
                      </a:pPr>
                      <a:r>
                        <a:rPr lang="en-GB" sz="1600"/>
                        <a:t>Fixed retriever + generator pipeline</a:t>
                      </a:r>
                    </a:p>
                  </a:txBody>
                  <a:tcPr anchor="ctr"/>
                </a:tc>
                <a:tc>
                  <a:txBody>
                    <a:bodyPr/>
                    <a:lstStyle/>
                    <a:p>
                      <a:pPr>
                        <a:buNone/>
                      </a:pPr>
                      <a:r>
                        <a:rPr lang="en-GB" sz="1600" dirty="0"/>
                        <a:t>Learnable memory usage &amp; update policies</a:t>
                      </a:r>
                    </a:p>
                  </a:txBody>
                  <a:tcPr anchor="ctr"/>
                </a:tc>
                <a:extLst>
                  <a:ext uri="{0D108BD9-81ED-4DB2-BD59-A6C34878D82A}">
                    <a16:rowId xmlns:a16="http://schemas.microsoft.com/office/drawing/2014/main" val="1076190307"/>
                  </a:ext>
                </a:extLst>
              </a:tr>
            </a:tbl>
          </a:graphicData>
        </a:graphic>
      </p:graphicFrame>
      <p:sp>
        <p:nvSpPr>
          <p:cNvPr id="7" name="TextBox 3">
            <a:extLst>
              <a:ext uri="{FF2B5EF4-FFF2-40B4-BE49-F238E27FC236}">
                <a16:creationId xmlns:a16="http://schemas.microsoft.com/office/drawing/2014/main" id="{9A3EB35D-5136-A762-65F5-3DE78BE8B781}"/>
              </a:ext>
            </a:extLst>
          </p:cNvPr>
          <p:cNvSpPr txBox="1"/>
          <p:nvPr/>
        </p:nvSpPr>
        <p:spPr>
          <a:xfrm>
            <a:off x="4558144" y="4725500"/>
            <a:ext cx="2629438"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i="1" dirty="0"/>
              <a:t>Table:</a:t>
            </a:r>
            <a:r>
              <a:rPr lang="zh-CN" altLang="en-US" sz="1200" i="1" dirty="0"/>
              <a:t> </a:t>
            </a:r>
            <a:r>
              <a:rPr lang="en-US" altLang="zh-CN" sz="1200" i="1" dirty="0"/>
              <a:t>Comparison</a:t>
            </a:r>
            <a:r>
              <a:rPr lang="zh-CN" altLang="en-US" sz="1200" i="1" dirty="0"/>
              <a:t> </a:t>
            </a:r>
            <a:r>
              <a:rPr lang="en-US" altLang="zh-CN" sz="1200" i="1" dirty="0"/>
              <a:t>of</a:t>
            </a:r>
            <a:r>
              <a:rPr lang="zh-CN" altLang="en-US" sz="1200" i="1" dirty="0"/>
              <a:t> </a:t>
            </a:r>
            <a:r>
              <a:rPr lang="en-US" altLang="zh-CN" sz="1200" i="1" dirty="0"/>
              <a:t>RAG</a:t>
            </a:r>
            <a:r>
              <a:rPr lang="zh-CN" altLang="en-US" sz="1200" i="1" dirty="0"/>
              <a:t> </a:t>
            </a:r>
            <a:r>
              <a:rPr lang="en-US" altLang="zh-CN" sz="1200" i="1" dirty="0"/>
              <a:t>and</a:t>
            </a:r>
            <a:r>
              <a:rPr lang="zh-CN" altLang="en-US" sz="1200" i="1" dirty="0"/>
              <a:t> </a:t>
            </a:r>
            <a:r>
              <a:rPr lang="en-US" altLang="zh-CN" sz="1200" i="1" dirty="0"/>
              <a:t>Memory</a:t>
            </a:r>
            <a:endParaRPr lang="en-US" sz="1200" i="1" dirty="0"/>
          </a:p>
        </p:txBody>
      </p:sp>
    </p:spTree>
    <p:extLst>
      <p:ext uri="{BB962C8B-B14F-4D97-AF65-F5344CB8AC3E}">
        <p14:creationId xmlns:p14="http://schemas.microsoft.com/office/powerpoint/2010/main" val="1655729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97DE6B-8DD8-5EC3-33F0-D8B2925C86BC}"/>
              </a:ext>
            </a:extLst>
          </p:cNvPr>
          <p:cNvSpPr>
            <a:spLocks noGrp="1"/>
          </p:cNvSpPr>
          <p:nvPr>
            <p:ph type="sldNum" sz="quarter" idx="4"/>
          </p:nvPr>
        </p:nvSpPr>
        <p:spPr/>
        <p:txBody>
          <a:bodyPr/>
          <a:lstStyle/>
          <a:p>
            <a:pPr algn="l"/>
            <a:fld id="{3889EAAA-2A39-E347-B0AA-909793490C00}" type="slidenum">
              <a:rPr lang="de-DE" smtClean="0"/>
              <a:pPr algn="l"/>
              <a:t>7</a:t>
            </a:fld>
            <a:endParaRPr lang="de-DE" dirty="0"/>
          </a:p>
        </p:txBody>
      </p:sp>
      <p:sp>
        <p:nvSpPr>
          <p:cNvPr id="3" name="Title 2">
            <a:extLst>
              <a:ext uri="{FF2B5EF4-FFF2-40B4-BE49-F238E27FC236}">
                <a16:creationId xmlns:a16="http://schemas.microsoft.com/office/drawing/2014/main" id="{C4DD8C6F-3341-58E1-2B99-0936D9B26C22}"/>
              </a:ext>
            </a:extLst>
          </p:cNvPr>
          <p:cNvSpPr>
            <a:spLocks noGrp="1"/>
          </p:cNvSpPr>
          <p:nvPr>
            <p:ph type="title"/>
          </p:nvPr>
        </p:nvSpPr>
        <p:spPr/>
        <p:txBody>
          <a:bodyPr/>
          <a:lstStyle/>
          <a:p>
            <a:r>
              <a:rPr lang="en-US" altLang="zh-CN" dirty="0"/>
              <a:t>Mainstream</a:t>
            </a:r>
            <a:r>
              <a:rPr lang="zh-CN" altLang="en-US" dirty="0"/>
              <a:t> </a:t>
            </a:r>
            <a:r>
              <a:rPr lang="en-US" altLang="zh-CN" dirty="0"/>
              <a:t>Architectures</a:t>
            </a:r>
            <a:r>
              <a:rPr lang="zh-CN" altLang="en-US" dirty="0"/>
              <a:t> </a:t>
            </a:r>
            <a:r>
              <a:rPr lang="en-US" altLang="zh-CN" dirty="0"/>
              <a:t>(1):</a:t>
            </a:r>
            <a:r>
              <a:rPr lang="zh-CN" altLang="en-US" dirty="0"/>
              <a:t> </a:t>
            </a:r>
            <a:r>
              <a:rPr lang="en-GB" dirty="0"/>
              <a:t>Vector Database-Based </a:t>
            </a:r>
            <a:r>
              <a:rPr lang="en-US" altLang="zh-CN" dirty="0"/>
              <a:t>Information</a:t>
            </a:r>
            <a:r>
              <a:rPr lang="zh-CN" altLang="en-US" dirty="0"/>
              <a:t> </a:t>
            </a:r>
            <a:r>
              <a:rPr lang="en-GB" dirty="0"/>
              <a:t>Retrieval &amp; Generation</a:t>
            </a:r>
            <a:br>
              <a:rPr lang="en-US" sz="2000" dirty="0">
                <a:solidFill>
                  <a:srgbClr val="4F8F8F"/>
                </a:solidFill>
                <a:latin typeface="Aptos" panose="020B0004020202020204" pitchFamily="34" charset="0"/>
                <a:cs typeface="Arial" panose="020B0604020202020204" pitchFamily="34" charset="0"/>
              </a:rPr>
            </a:br>
            <a:endParaRPr lang="en-US" dirty="0"/>
          </a:p>
        </p:txBody>
      </p:sp>
      <p:sp>
        <p:nvSpPr>
          <p:cNvPr id="4" name="Content Placeholder 3">
            <a:extLst>
              <a:ext uri="{FF2B5EF4-FFF2-40B4-BE49-F238E27FC236}">
                <a16:creationId xmlns:a16="http://schemas.microsoft.com/office/drawing/2014/main" id="{F2D87572-097C-3FC5-295A-6271CF645EF6}"/>
              </a:ext>
            </a:extLst>
          </p:cNvPr>
          <p:cNvSpPr>
            <a:spLocks noGrp="1"/>
          </p:cNvSpPr>
          <p:nvPr>
            <p:ph sz="quarter" idx="10"/>
          </p:nvPr>
        </p:nvSpPr>
        <p:spPr/>
        <p:txBody>
          <a:bodyPr/>
          <a:lstStyle/>
          <a:p>
            <a:pPr marL="0" indent="0">
              <a:lnSpc>
                <a:spcPct val="60000"/>
              </a:lnSpc>
              <a:buFont typeface="Arial" panose="020B0604020202020204" pitchFamily="34" charset="0"/>
              <a:buNone/>
            </a:pPr>
            <a:r>
              <a:rPr lang="en-GB" sz="1400" b="1" dirty="0"/>
              <a:t>Principle</a:t>
            </a:r>
          </a:p>
          <a:p>
            <a:pPr marL="285750" indent="-285750">
              <a:lnSpc>
                <a:spcPct val="60000"/>
              </a:lnSpc>
            </a:pPr>
            <a:r>
              <a:rPr lang="en-GB" sz="1400" dirty="0"/>
              <a:t>Retrieve external knowledge (docs, DBs) → generate with context</a:t>
            </a:r>
          </a:p>
          <a:p>
            <a:pPr marL="285750" indent="-285750">
              <a:lnSpc>
                <a:spcPct val="60000"/>
              </a:lnSpc>
            </a:pPr>
            <a:r>
              <a:rPr lang="en-GB" sz="1400" dirty="0"/>
              <a:t>Combines i</a:t>
            </a:r>
            <a:r>
              <a:rPr lang="en-GB" sz="1400" b="1" dirty="0"/>
              <a:t>nformation retrieval + language modelling</a:t>
            </a:r>
          </a:p>
          <a:p>
            <a:pPr marL="0" indent="0">
              <a:lnSpc>
                <a:spcPct val="60000"/>
              </a:lnSpc>
              <a:buFont typeface="Arial" panose="020B0604020202020204" pitchFamily="34" charset="0"/>
              <a:buNone/>
            </a:pPr>
            <a:r>
              <a:rPr lang="en-GB" sz="1400" b="1" dirty="0"/>
              <a:t>Workflow</a:t>
            </a:r>
          </a:p>
          <a:p>
            <a:pPr marL="285750" indent="-285750">
              <a:lnSpc>
                <a:spcPct val="60000"/>
              </a:lnSpc>
            </a:pPr>
            <a:r>
              <a:rPr lang="en-GB" sz="1400" dirty="0"/>
              <a:t>User inputs query q</a:t>
            </a:r>
          </a:p>
          <a:p>
            <a:pPr marL="285750" indent="-285750">
              <a:lnSpc>
                <a:spcPct val="60000"/>
              </a:lnSpc>
            </a:pPr>
            <a:r>
              <a:rPr lang="en-GB" sz="1400" dirty="0"/>
              <a:t>Embedding retriever finds similar docs D(q) (e.g., FAISS)</a:t>
            </a:r>
          </a:p>
          <a:p>
            <a:pPr marL="285750" indent="-285750">
              <a:lnSpc>
                <a:spcPct val="60000"/>
              </a:lnSpc>
            </a:pPr>
            <a:r>
              <a:rPr lang="en-GB" sz="1400" dirty="0"/>
              <a:t>LM generates response using [q, D(q)]</a:t>
            </a:r>
          </a:p>
          <a:p>
            <a:pPr marL="0" indent="0">
              <a:lnSpc>
                <a:spcPct val="60000"/>
              </a:lnSpc>
              <a:buFont typeface="Arial" panose="020B0604020202020204" pitchFamily="34" charset="0"/>
              <a:buNone/>
            </a:pPr>
            <a:r>
              <a:rPr lang="en-GB" sz="1400" b="1" dirty="0"/>
              <a:t>Representative Systems</a:t>
            </a:r>
          </a:p>
          <a:p>
            <a:pPr marL="285750" indent="-285750">
              <a:lnSpc>
                <a:spcPct val="60000"/>
              </a:lnSpc>
            </a:pPr>
            <a:r>
              <a:rPr lang="en-GB" sz="1400" dirty="0"/>
              <a:t>RAG (Facebook, 2020)</a:t>
            </a:r>
          </a:p>
          <a:p>
            <a:pPr marL="285750" indent="-285750">
              <a:lnSpc>
                <a:spcPct val="60000"/>
              </a:lnSpc>
            </a:pPr>
            <a:r>
              <a:rPr lang="en-GB" sz="1400" dirty="0" err="1"/>
              <a:t>LoCoMo</a:t>
            </a:r>
            <a:r>
              <a:rPr lang="en-GB" sz="1400" dirty="0"/>
              <a:t> (Snap, 2024)</a:t>
            </a:r>
          </a:p>
          <a:p>
            <a:pPr marL="285750" indent="-285750">
              <a:lnSpc>
                <a:spcPct val="60000"/>
              </a:lnSpc>
            </a:pPr>
            <a:r>
              <a:rPr lang="en-GB" sz="1400" dirty="0"/>
              <a:t>Emerging: </a:t>
            </a:r>
            <a:r>
              <a:rPr lang="en-GB" sz="1400" dirty="0" err="1"/>
              <a:t>DeepRetriever</a:t>
            </a:r>
            <a:r>
              <a:rPr lang="en-GB" sz="1400" dirty="0"/>
              <a:t> (2025) → better query–doc matching</a:t>
            </a:r>
          </a:p>
          <a:p>
            <a:pPr marL="0" indent="0">
              <a:lnSpc>
                <a:spcPct val="60000"/>
              </a:lnSpc>
              <a:buFont typeface="Arial" panose="020B0604020202020204" pitchFamily="34" charset="0"/>
              <a:buNone/>
            </a:pPr>
            <a:r>
              <a:rPr lang="en-GB" sz="1400" b="1" dirty="0"/>
              <a:t>Pros</a:t>
            </a:r>
          </a:p>
          <a:p>
            <a:pPr marL="285750" indent="-285750">
              <a:lnSpc>
                <a:spcPct val="60000"/>
              </a:lnSpc>
            </a:pPr>
            <a:r>
              <a:rPr lang="en-GB" sz="1400" dirty="0"/>
              <a:t>Scalable</a:t>
            </a:r>
          </a:p>
          <a:p>
            <a:pPr marL="285750" indent="-285750">
              <a:lnSpc>
                <a:spcPct val="60000"/>
              </a:lnSpc>
            </a:pPr>
            <a:r>
              <a:rPr lang="en-GB" sz="1400" dirty="0"/>
              <a:t>Knowledge easily updatable</a:t>
            </a:r>
          </a:p>
          <a:p>
            <a:pPr marL="285750" indent="-285750">
              <a:lnSpc>
                <a:spcPct val="60000"/>
              </a:lnSpc>
            </a:pPr>
            <a:r>
              <a:rPr lang="en-GB" sz="1400" dirty="0"/>
              <a:t>Strong interpretability</a:t>
            </a:r>
          </a:p>
          <a:p>
            <a:pPr marL="0" indent="0">
              <a:lnSpc>
                <a:spcPct val="60000"/>
              </a:lnSpc>
              <a:buFont typeface="Arial" panose="020B0604020202020204" pitchFamily="34" charset="0"/>
              <a:buNone/>
            </a:pPr>
            <a:r>
              <a:rPr lang="en-GB" sz="1400" b="1" dirty="0"/>
              <a:t>Cons</a:t>
            </a:r>
          </a:p>
          <a:p>
            <a:pPr marL="285750" indent="-285750">
              <a:lnSpc>
                <a:spcPct val="60000"/>
              </a:lnSpc>
            </a:pPr>
            <a:r>
              <a:rPr lang="en-GB" sz="1400" dirty="0"/>
              <a:t>Dependent on retrieval quality</a:t>
            </a:r>
          </a:p>
          <a:p>
            <a:pPr marL="285750" indent="-285750">
              <a:lnSpc>
                <a:spcPct val="60000"/>
              </a:lnSpc>
            </a:pPr>
            <a:r>
              <a:rPr lang="en-GB" sz="1400" dirty="0"/>
              <a:t>No mechanism for long-term memory updates</a:t>
            </a:r>
          </a:p>
          <a:p>
            <a:pPr>
              <a:lnSpc>
                <a:spcPct val="60000"/>
              </a:lnSpc>
            </a:pPr>
            <a:endParaRPr lang="en-US" sz="1000" dirty="0">
              <a:latin typeface="Calibri" panose="020F0502020204030204" pitchFamily="34" charset="0"/>
              <a:cs typeface="Calibri" panose="020F0502020204030204" pitchFamily="34" charset="0"/>
            </a:endParaRPr>
          </a:p>
        </p:txBody>
      </p:sp>
      <p:pic>
        <p:nvPicPr>
          <p:cNvPr id="5" name="Picture 2">
            <a:extLst>
              <a:ext uri="{FF2B5EF4-FFF2-40B4-BE49-F238E27FC236}">
                <a16:creationId xmlns:a16="http://schemas.microsoft.com/office/drawing/2014/main" id="{1086FA9A-2FC6-4EE5-281C-1E2BA088C4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0874" y="2398496"/>
            <a:ext cx="3921726" cy="23131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6063854-1C98-744A-7813-ECB03736C4C1}"/>
              </a:ext>
            </a:extLst>
          </p:cNvPr>
          <p:cNvSpPr txBox="1"/>
          <p:nvPr/>
        </p:nvSpPr>
        <p:spPr>
          <a:xfrm>
            <a:off x="7247353" y="3686311"/>
            <a:ext cx="1313206" cy="276999"/>
          </a:xfrm>
          <a:prstGeom prst="rect">
            <a:avLst/>
          </a:prstGeom>
          <a:noFill/>
        </p:spPr>
        <p:txBody>
          <a:bodyPr wrap="square" rtlCol="0">
            <a:spAutoFit/>
          </a:bodyPr>
          <a:lstStyle/>
          <a:p>
            <a:r>
              <a:rPr lang="en-GB" sz="1200" dirty="0"/>
              <a:t>retrieval encoder</a:t>
            </a:r>
            <a:endParaRPr lang="en-US" sz="1200" dirty="0"/>
          </a:p>
        </p:txBody>
      </p:sp>
      <p:sp>
        <p:nvSpPr>
          <p:cNvPr id="7" name="TextBox 6">
            <a:extLst>
              <a:ext uri="{FF2B5EF4-FFF2-40B4-BE49-F238E27FC236}">
                <a16:creationId xmlns:a16="http://schemas.microsoft.com/office/drawing/2014/main" id="{92C93D4B-2260-828E-716A-AA1860254AD2}"/>
              </a:ext>
            </a:extLst>
          </p:cNvPr>
          <p:cNvSpPr txBox="1"/>
          <p:nvPr/>
        </p:nvSpPr>
        <p:spPr>
          <a:xfrm>
            <a:off x="8922657" y="4192532"/>
            <a:ext cx="741952" cy="276999"/>
          </a:xfrm>
          <a:prstGeom prst="rect">
            <a:avLst/>
          </a:prstGeom>
          <a:noFill/>
        </p:spPr>
        <p:txBody>
          <a:bodyPr wrap="square" rtlCol="0">
            <a:spAutoFit/>
          </a:bodyPr>
          <a:lstStyle/>
          <a:p>
            <a:r>
              <a:rPr lang="en-GB" sz="1200" dirty="0"/>
              <a:t>retriever</a:t>
            </a:r>
            <a:endParaRPr lang="en-US" sz="1200" dirty="0"/>
          </a:p>
        </p:txBody>
      </p:sp>
      <p:sp>
        <p:nvSpPr>
          <p:cNvPr id="8" name="TextBox 7">
            <a:extLst>
              <a:ext uri="{FF2B5EF4-FFF2-40B4-BE49-F238E27FC236}">
                <a16:creationId xmlns:a16="http://schemas.microsoft.com/office/drawing/2014/main" id="{90B54222-682B-114D-4C7D-64D08731185D}"/>
              </a:ext>
            </a:extLst>
          </p:cNvPr>
          <p:cNvSpPr txBox="1"/>
          <p:nvPr/>
        </p:nvSpPr>
        <p:spPr>
          <a:xfrm>
            <a:off x="10443450" y="3572462"/>
            <a:ext cx="830521" cy="276999"/>
          </a:xfrm>
          <a:prstGeom prst="rect">
            <a:avLst/>
          </a:prstGeom>
          <a:noFill/>
        </p:spPr>
        <p:txBody>
          <a:bodyPr wrap="square" rtlCol="0">
            <a:spAutoFit/>
          </a:bodyPr>
          <a:lstStyle/>
          <a:p>
            <a:r>
              <a:rPr lang="en-US" altLang="zh-CN" sz="1200" dirty="0" err="1"/>
              <a:t>reranker</a:t>
            </a:r>
            <a:endParaRPr lang="en-US" sz="1200" dirty="0"/>
          </a:p>
        </p:txBody>
      </p:sp>
      <p:sp>
        <p:nvSpPr>
          <p:cNvPr id="9" name="TextBox 8">
            <a:extLst>
              <a:ext uri="{FF2B5EF4-FFF2-40B4-BE49-F238E27FC236}">
                <a16:creationId xmlns:a16="http://schemas.microsoft.com/office/drawing/2014/main" id="{6EC7CF8B-BAD6-CB74-0852-9B85C549DA76}"/>
              </a:ext>
            </a:extLst>
          </p:cNvPr>
          <p:cNvSpPr txBox="1"/>
          <p:nvPr/>
        </p:nvSpPr>
        <p:spPr>
          <a:xfrm>
            <a:off x="8922657" y="4711694"/>
            <a:ext cx="2250488"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Pipeline</a:t>
            </a:r>
            <a:r>
              <a:rPr lang="zh-CN" altLang="en-US" sz="1200" i="1" dirty="0"/>
              <a:t> </a:t>
            </a:r>
            <a:r>
              <a:rPr lang="en-US" altLang="zh-CN" sz="1200" i="1" dirty="0"/>
              <a:t>of</a:t>
            </a:r>
            <a:r>
              <a:rPr lang="zh-CN" altLang="en-US" sz="1200" i="1" dirty="0"/>
              <a:t> </a:t>
            </a:r>
            <a:r>
              <a:rPr lang="en-US" altLang="zh-CN" sz="1200" i="1" dirty="0"/>
              <a:t>RAG</a:t>
            </a:r>
            <a:r>
              <a:rPr lang="zh-CN" altLang="en-US" sz="1200" i="1" dirty="0"/>
              <a:t> </a:t>
            </a:r>
            <a:r>
              <a:rPr lang="en-US" altLang="zh-CN" sz="1200" i="1" dirty="0"/>
              <a:t>technique</a:t>
            </a:r>
            <a:endParaRPr lang="en-US" sz="1200" i="1" dirty="0"/>
          </a:p>
        </p:txBody>
      </p:sp>
    </p:spTree>
    <p:extLst>
      <p:ext uri="{BB962C8B-B14F-4D97-AF65-F5344CB8AC3E}">
        <p14:creationId xmlns:p14="http://schemas.microsoft.com/office/powerpoint/2010/main" val="1308077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153391-5420-27B3-009A-276B5FF7C947}"/>
              </a:ext>
            </a:extLst>
          </p:cNvPr>
          <p:cNvSpPr>
            <a:spLocks noGrp="1"/>
          </p:cNvSpPr>
          <p:nvPr>
            <p:ph type="sldNum" sz="quarter" idx="4"/>
          </p:nvPr>
        </p:nvSpPr>
        <p:spPr/>
        <p:txBody>
          <a:bodyPr/>
          <a:lstStyle/>
          <a:p>
            <a:pPr algn="l"/>
            <a:fld id="{3889EAAA-2A39-E347-B0AA-909793490C00}" type="slidenum">
              <a:rPr lang="de-DE" smtClean="0"/>
              <a:pPr algn="l"/>
              <a:t>8</a:t>
            </a:fld>
            <a:endParaRPr lang="de-DE" dirty="0"/>
          </a:p>
        </p:txBody>
      </p:sp>
      <p:sp>
        <p:nvSpPr>
          <p:cNvPr id="3" name="Title 2">
            <a:extLst>
              <a:ext uri="{FF2B5EF4-FFF2-40B4-BE49-F238E27FC236}">
                <a16:creationId xmlns:a16="http://schemas.microsoft.com/office/drawing/2014/main" id="{76C7889F-E2B3-2269-2464-D8AF81DFEB10}"/>
              </a:ext>
            </a:extLst>
          </p:cNvPr>
          <p:cNvSpPr>
            <a:spLocks noGrp="1"/>
          </p:cNvSpPr>
          <p:nvPr>
            <p:ph type="title"/>
          </p:nvPr>
        </p:nvSpPr>
        <p:spPr/>
        <p:txBody>
          <a:bodyPr/>
          <a:lstStyle/>
          <a:p>
            <a:r>
              <a:rPr lang="en-US" altLang="zh-CN" sz="2000" dirty="0"/>
              <a:t>Mainstream</a:t>
            </a:r>
            <a:r>
              <a:rPr lang="zh-CN" altLang="en-US" sz="2000" dirty="0"/>
              <a:t> </a:t>
            </a:r>
            <a:r>
              <a:rPr lang="en-US" altLang="zh-CN" sz="2000" dirty="0"/>
              <a:t>Memory</a:t>
            </a:r>
            <a:r>
              <a:rPr lang="zh-CN" altLang="en-US" sz="2000" dirty="0"/>
              <a:t> </a:t>
            </a:r>
            <a:r>
              <a:rPr lang="en-US" altLang="zh-CN" sz="2000" dirty="0"/>
              <a:t>Architectures</a:t>
            </a:r>
            <a:r>
              <a:rPr lang="zh-CN" altLang="en-US" sz="2000" dirty="0"/>
              <a:t> </a:t>
            </a:r>
            <a:r>
              <a:rPr lang="en-US" altLang="zh-CN" sz="2000" dirty="0"/>
              <a:t>(2):</a:t>
            </a:r>
            <a:r>
              <a:rPr lang="zh-CN" altLang="en-US" sz="2000" dirty="0"/>
              <a:t> </a:t>
            </a:r>
            <a:r>
              <a:rPr lang="en-GB" sz="2000" dirty="0"/>
              <a:t>Memory-Augmented Interactive Agents</a:t>
            </a:r>
            <a:endParaRPr lang="en-US" sz="2000" dirty="0"/>
          </a:p>
        </p:txBody>
      </p:sp>
      <p:sp>
        <p:nvSpPr>
          <p:cNvPr id="4" name="Content Placeholder 3">
            <a:extLst>
              <a:ext uri="{FF2B5EF4-FFF2-40B4-BE49-F238E27FC236}">
                <a16:creationId xmlns:a16="http://schemas.microsoft.com/office/drawing/2014/main" id="{038EB7A9-D27C-FB89-8269-055398C583ED}"/>
              </a:ext>
            </a:extLst>
          </p:cNvPr>
          <p:cNvSpPr>
            <a:spLocks noGrp="1"/>
          </p:cNvSpPr>
          <p:nvPr>
            <p:ph sz="quarter" idx="10"/>
          </p:nvPr>
        </p:nvSpPr>
        <p:spPr/>
        <p:txBody>
          <a:bodyPr/>
          <a:lstStyle/>
          <a:p>
            <a:pPr marL="0" indent="0">
              <a:lnSpc>
                <a:spcPct val="60000"/>
              </a:lnSpc>
              <a:buNone/>
            </a:pPr>
            <a:r>
              <a:rPr lang="en-GB" sz="1600" b="1" dirty="0"/>
              <a:t>Principle</a:t>
            </a:r>
          </a:p>
          <a:p>
            <a:pPr marL="285750" indent="-285750">
              <a:lnSpc>
                <a:spcPct val="60000"/>
              </a:lnSpc>
            </a:pPr>
            <a:r>
              <a:rPr lang="en-GB" sz="1600" dirty="0"/>
              <a:t>Manage </a:t>
            </a:r>
            <a:r>
              <a:rPr lang="en-GB" sz="1600" b="1" dirty="0"/>
              <a:t>memory lifecycle </a:t>
            </a:r>
            <a:r>
              <a:rPr lang="en-GB" sz="1600" dirty="0"/>
              <a:t>→ give LLMs durable internal memory</a:t>
            </a:r>
          </a:p>
          <a:p>
            <a:pPr marL="285750" indent="-285750">
              <a:lnSpc>
                <a:spcPct val="60000"/>
              </a:lnSpc>
            </a:pPr>
            <a:r>
              <a:rPr lang="en-GB" sz="1600" dirty="0"/>
              <a:t>Memory operations depend on model behaviour + context</a:t>
            </a:r>
          </a:p>
          <a:p>
            <a:pPr marL="0" indent="0">
              <a:lnSpc>
                <a:spcPct val="60000"/>
              </a:lnSpc>
              <a:buNone/>
            </a:pPr>
            <a:r>
              <a:rPr lang="en-GB" sz="1600" b="1" dirty="0"/>
              <a:t>Core Mechanisms</a:t>
            </a:r>
          </a:p>
          <a:p>
            <a:pPr marL="285750" indent="-285750">
              <a:lnSpc>
                <a:spcPct val="60000"/>
              </a:lnSpc>
            </a:pPr>
            <a:r>
              <a:rPr lang="en-GB" sz="1600" dirty="0"/>
              <a:t>Long-</a:t>
            </a:r>
            <a:r>
              <a:rPr lang="en-US" altLang="zh-CN" sz="1600" dirty="0"/>
              <a:t>t</a:t>
            </a:r>
            <a:r>
              <a:rPr lang="en-GB" sz="1600" dirty="0"/>
              <a:t>erm &amp;</a:t>
            </a:r>
            <a:r>
              <a:rPr lang="zh-CN" altLang="en-US" sz="1600" dirty="0"/>
              <a:t> </a:t>
            </a:r>
            <a:r>
              <a:rPr lang="en-US" altLang="zh-CN" sz="1600" dirty="0"/>
              <a:t>short-t</a:t>
            </a:r>
            <a:r>
              <a:rPr lang="en-GB" sz="1600" dirty="0"/>
              <a:t>erm </a:t>
            </a:r>
            <a:r>
              <a:rPr lang="en-US" altLang="zh-CN" sz="1600" dirty="0"/>
              <a:t>memory</a:t>
            </a:r>
            <a:r>
              <a:rPr lang="en-GB" sz="1600" dirty="0"/>
              <a:t> </a:t>
            </a:r>
            <a:r>
              <a:rPr lang="en-US" altLang="zh-CN" sz="1600" dirty="0"/>
              <a:t>modules</a:t>
            </a:r>
            <a:endParaRPr lang="en-GB" sz="1600" dirty="0"/>
          </a:p>
          <a:p>
            <a:pPr marL="285750" indent="-285750">
              <a:lnSpc>
                <a:spcPct val="60000"/>
              </a:lnSpc>
            </a:pPr>
            <a:r>
              <a:rPr lang="en-GB" sz="1600" dirty="0"/>
              <a:t>Read/Write </a:t>
            </a:r>
            <a:r>
              <a:rPr lang="en-US" altLang="zh-CN" sz="1600" dirty="0"/>
              <a:t>control</a:t>
            </a:r>
            <a:endParaRPr lang="en-GB" sz="1600" dirty="0"/>
          </a:p>
          <a:p>
            <a:pPr marL="285750" indent="-285750">
              <a:lnSpc>
                <a:spcPct val="60000"/>
              </a:lnSpc>
            </a:pPr>
            <a:r>
              <a:rPr lang="en-US" altLang="zh-CN" sz="1600" dirty="0"/>
              <a:t>R</a:t>
            </a:r>
            <a:r>
              <a:rPr lang="en-GB" sz="1600" dirty="0"/>
              <a:t>ule-based or </a:t>
            </a:r>
            <a:r>
              <a:rPr lang="en-US" altLang="zh-CN" sz="1600" dirty="0"/>
              <a:t>heuristic-driven</a:t>
            </a:r>
            <a:r>
              <a:rPr lang="zh-CN" altLang="en-US" sz="1600" dirty="0"/>
              <a:t> </a:t>
            </a:r>
            <a:r>
              <a:rPr lang="en-GB" sz="1600" dirty="0"/>
              <a:t>Memory Controller </a:t>
            </a:r>
          </a:p>
          <a:p>
            <a:pPr marL="0" indent="0">
              <a:lnSpc>
                <a:spcPct val="60000"/>
              </a:lnSpc>
              <a:buNone/>
            </a:pPr>
            <a:r>
              <a:rPr lang="en-GB" sz="1600" b="1" dirty="0"/>
              <a:t>Representative Systems</a:t>
            </a:r>
          </a:p>
          <a:p>
            <a:pPr marL="285750" indent="-285750">
              <a:lnSpc>
                <a:spcPct val="60000"/>
              </a:lnSpc>
            </a:pPr>
            <a:r>
              <a:rPr lang="en-GB" sz="1600" dirty="0" err="1"/>
              <a:t>MemGPT</a:t>
            </a:r>
            <a:r>
              <a:rPr lang="zh-CN" altLang="en-US" sz="1600" dirty="0"/>
              <a:t> </a:t>
            </a:r>
            <a:r>
              <a:rPr lang="en-US" altLang="zh-CN" sz="1600" dirty="0"/>
              <a:t>(2023)</a:t>
            </a:r>
            <a:endParaRPr lang="en-GB" sz="1600" dirty="0"/>
          </a:p>
          <a:p>
            <a:pPr marL="285750" indent="-285750">
              <a:lnSpc>
                <a:spcPct val="60000"/>
              </a:lnSpc>
            </a:pPr>
            <a:r>
              <a:rPr lang="en-GB" sz="1600" dirty="0"/>
              <a:t>Mem0</a:t>
            </a:r>
            <a:r>
              <a:rPr lang="zh-CN" altLang="en-US" sz="1600" dirty="0"/>
              <a:t> </a:t>
            </a:r>
            <a:r>
              <a:rPr lang="en-US" altLang="zh-CN" sz="1600" dirty="0"/>
              <a:t>(2025)</a:t>
            </a:r>
            <a:endParaRPr lang="en-GB" sz="1600" dirty="0"/>
          </a:p>
          <a:p>
            <a:pPr marL="285750" indent="-285750">
              <a:lnSpc>
                <a:spcPct val="60000"/>
              </a:lnSpc>
            </a:pPr>
            <a:r>
              <a:rPr lang="en-GB" sz="1600" dirty="0"/>
              <a:t>A-Mem</a:t>
            </a:r>
            <a:r>
              <a:rPr lang="zh-CN" altLang="en-US" sz="1600" dirty="0"/>
              <a:t> </a:t>
            </a:r>
            <a:r>
              <a:rPr lang="en-US" altLang="zh-CN" sz="1600" dirty="0"/>
              <a:t>(2025)</a:t>
            </a:r>
            <a:endParaRPr lang="en-GB" sz="1600" dirty="0"/>
          </a:p>
          <a:p>
            <a:pPr marL="0" indent="0">
              <a:lnSpc>
                <a:spcPct val="60000"/>
              </a:lnSpc>
              <a:buNone/>
            </a:pPr>
            <a:r>
              <a:rPr lang="en-GB" sz="1600" b="1" dirty="0"/>
              <a:t>Pros</a:t>
            </a:r>
          </a:p>
          <a:p>
            <a:pPr marL="285750" indent="-285750">
              <a:lnSpc>
                <a:spcPct val="60000"/>
              </a:lnSpc>
            </a:pPr>
            <a:r>
              <a:rPr lang="en-GB" sz="1600" dirty="0"/>
              <a:t>Enables </a:t>
            </a:r>
            <a:r>
              <a:rPr lang="en-GB" sz="1600" b="1" dirty="0"/>
              <a:t>long-term memory </a:t>
            </a:r>
            <a:r>
              <a:rPr lang="en-GB" sz="1600" dirty="0"/>
              <a:t>with contextual consistency</a:t>
            </a:r>
          </a:p>
          <a:p>
            <a:pPr marL="285750" indent="-285750">
              <a:lnSpc>
                <a:spcPct val="60000"/>
              </a:lnSpc>
            </a:pPr>
            <a:r>
              <a:rPr lang="en-GB" sz="1600" dirty="0"/>
              <a:t>Supports multi-turn dialogue &amp; task tracking</a:t>
            </a:r>
          </a:p>
          <a:p>
            <a:pPr marL="0" indent="0">
              <a:lnSpc>
                <a:spcPct val="60000"/>
              </a:lnSpc>
              <a:buNone/>
            </a:pPr>
            <a:r>
              <a:rPr lang="en-GB" sz="1600" b="1" dirty="0"/>
              <a:t>Cons</a:t>
            </a:r>
          </a:p>
          <a:p>
            <a:pPr marL="285750" indent="-285750">
              <a:lnSpc>
                <a:spcPct val="60000"/>
              </a:lnSpc>
            </a:pPr>
            <a:r>
              <a:rPr lang="en-GB" sz="1600" dirty="0"/>
              <a:t>Memory conflicts &amp; redundancy</a:t>
            </a:r>
          </a:p>
          <a:p>
            <a:pPr marL="285750" indent="-285750">
              <a:lnSpc>
                <a:spcPct val="60000"/>
              </a:lnSpc>
            </a:pPr>
            <a:r>
              <a:rPr lang="en-GB" sz="1600" dirty="0"/>
              <a:t>Forgetting risks</a:t>
            </a:r>
          </a:p>
          <a:p>
            <a:pPr marL="285750" indent="-285750">
              <a:lnSpc>
                <a:spcPct val="60000"/>
              </a:lnSpc>
            </a:pPr>
            <a:r>
              <a:rPr lang="en-GB" sz="1600" dirty="0"/>
              <a:t>Working memory degrades if retrieval is poor</a:t>
            </a:r>
          </a:p>
          <a:p>
            <a:pPr>
              <a:lnSpc>
                <a:spcPct val="60000"/>
              </a:lnSpc>
            </a:pPr>
            <a:endParaRPr lang="en-US" sz="1200" dirty="0"/>
          </a:p>
        </p:txBody>
      </p:sp>
      <p:pic>
        <p:nvPicPr>
          <p:cNvPr id="5" name="Picture 4">
            <a:extLst>
              <a:ext uri="{FF2B5EF4-FFF2-40B4-BE49-F238E27FC236}">
                <a16:creationId xmlns:a16="http://schemas.microsoft.com/office/drawing/2014/main" id="{1CA4DBB7-D6FF-2845-6111-DB18B4355830}"/>
              </a:ext>
            </a:extLst>
          </p:cNvPr>
          <p:cNvPicPr>
            <a:picLocks noChangeAspect="1"/>
          </p:cNvPicPr>
          <p:nvPr/>
        </p:nvPicPr>
        <p:blipFill>
          <a:blip r:embed="rId2"/>
          <a:srcRect l="13406" t="11852" r="13420" b="69506"/>
          <a:stretch>
            <a:fillRect/>
          </a:stretch>
        </p:blipFill>
        <p:spPr>
          <a:xfrm>
            <a:off x="6722570" y="2348371"/>
            <a:ext cx="5059030" cy="1667934"/>
          </a:xfrm>
          <a:prstGeom prst="rect">
            <a:avLst/>
          </a:prstGeom>
        </p:spPr>
      </p:pic>
      <p:sp>
        <p:nvSpPr>
          <p:cNvPr id="6" name="TextBox 5">
            <a:extLst>
              <a:ext uri="{FF2B5EF4-FFF2-40B4-BE49-F238E27FC236}">
                <a16:creationId xmlns:a16="http://schemas.microsoft.com/office/drawing/2014/main" id="{612F7B28-3F03-B149-B1C4-B75776FF94CA}"/>
              </a:ext>
            </a:extLst>
          </p:cNvPr>
          <p:cNvSpPr txBox="1"/>
          <p:nvPr/>
        </p:nvSpPr>
        <p:spPr>
          <a:xfrm>
            <a:off x="8286692" y="4016305"/>
            <a:ext cx="2148780" cy="276999"/>
          </a:xfrm>
          <a:prstGeom prst="rect">
            <a:avLst/>
          </a:prstGeom>
          <a:noFill/>
        </p:spPr>
        <p:txBody>
          <a:bodyPr wrap="square" rtlCol="0">
            <a:spAutoFit/>
          </a:bodyPr>
          <a:lstStyle/>
          <a:p>
            <a:r>
              <a:rPr lang="en-US" altLang="zh-CN" sz="1200" i="1" dirty="0"/>
              <a:t>Figure:</a:t>
            </a:r>
            <a:r>
              <a:rPr lang="zh-CN" altLang="en-US" sz="1200" i="1" dirty="0"/>
              <a:t> </a:t>
            </a:r>
            <a:r>
              <a:rPr lang="en-US" altLang="zh-CN" sz="1200" i="1" dirty="0"/>
              <a:t>Pipeline</a:t>
            </a:r>
            <a:r>
              <a:rPr lang="zh-CN" altLang="en-US" sz="1200" i="1" dirty="0"/>
              <a:t> </a:t>
            </a:r>
            <a:r>
              <a:rPr lang="en-US" altLang="zh-CN" sz="1200" i="1" dirty="0"/>
              <a:t>of</a:t>
            </a:r>
            <a:r>
              <a:rPr lang="zh-CN" altLang="en-US" sz="1200" i="1" dirty="0"/>
              <a:t> </a:t>
            </a:r>
            <a:r>
              <a:rPr lang="en-US" altLang="zh-CN" sz="1200" i="1" dirty="0" err="1"/>
              <a:t>MemGPT</a:t>
            </a:r>
            <a:endParaRPr lang="en-US" sz="1200" i="1" dirty="0"/>
          </a:p>
        </p:txBody>
      </p:sp>
    </p:spTree>
    <p:extLst>
      <p:ext uri="{BB962C8B-B14F-4D97-AF65-F5344CB8AC3E}">
        <p14:creationId xmlns:p14="http://schemas.microsoft.com/office/powerpoint/2010/main" val="3854657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2D073D-53D1-584E-DF0C-A75F5C0AA632}"/>
              </a:ext>
            </a:extLst>
          </p:cNvPr>
          <p:cNvSpPr>
            <a:spLocks noGrp="1"/>
          </p:cNvSpPr>
          <p:nvPr>
            <p:ph type="sldNum" sz="quarter" idx="4"/>
          </p:nvPr>
        </p:nvSpPr>
        <p:spPr/>
        <p:txBody>
          <a:bodyPr/>
          <a:lstStyle/>
          <a:p>
            <a:pPr algn="l"/>
            <a:fld id="{3889EAAA-2A39-E347-B0AA-909793490C00}" type="slidenum">
              <a:rPr lang="de-DE" smtClean="0"/>
              <a:pPr algn="l"/>
              <a:t>9</a:t>
            </a:fld>
            <a:endParaRPr lang="de-DE" dirty="0"/>
          </a:p>
        </p:txBody>
      </p:sp>
      <p:sp>
        <p:nvSpPr>
          <p:cNvPr id="3" name="Title 2">
            <a:extLst>
              <a:ext uri="{FF2B5EF4-FFF2-40B4-BE49-F238E27FC236}">
                <a16:creationId xmlns:a16="http://schemas.microsoft.com/office/drawing/2014/main" id="{946074F2-D094-B07E-ABCA-85329EDD7F69}"/>
              </a:ext>
            </a:extLst>
          </p:cNvPr>
          <p:cNvSpPr>
            <a:spLocks noGrp="1"/>
          </p:cNvSpPr>
          <p:nvPr>
            <p:ph type="title"/>
          </p:nvPr>
        </p:nvSpPr>
        <p:spPr/>
        <p:txBody>
          <a:bodyPr/>
          <a:lstStyle/>
          <a:p>
            <a:r>
              <a:rPr lang="en-US" sz="2000" dirty="0"/>
              <a:t>Reinforcement Learning as Cherry on Cake (by Yann LeCun)</a:t>
            </a:r>
          </a:p>
        </p:txBody>
      </p:sp>
      <p:sp>
        <p:nvSpPr>
          <p:cNvPr id="4" name="Content Placeholder 3">
            <a:extLst>
              <a:ext uri="{FF2B5EF4-FFF2-40B4-BE49-F238E27FC236}">
                <a16:creationId xmlns:a16="http://schemas.microsoft.com/office/drawing/2014/main" id="{75C78033-2F3B-A3E3-C2B4-C35A4DF5370F}"/>
              </a:ext>
            </a:extLst>
          </p:cNvPr>
          <p:cNvSpPr>
            <a:spLocks noGrp="1"/>
          </p:cNvSpPr>
          <p:nvPr>
            <p:ph sz="quarter" idx="10"/>
          </p:nvPr>
        </p:nvSpPr>
        <p:spPr/>
        <p:txBody>
          <a:bodyPr/>
          <a:lstStyle/>
          <a:p>
            <a:endParaRPr lang="en-US"/>
          </a:p>
        </p:txBody>
      </p:sp>
      <p:pic>
        <p:nvPicPr>
          <p:cNvPr id="43" name="Picture 2">
            <a:extLst>
              <a:ext uri="{FF2B5EF4-FFF2-40B4-BE49-F238E27FC236}">
                <a16:creationId xmlns:a16="http://schemas.microsoft.com/office/drawing/2014/main" id="{814A4F51-EF8E-8B6A-EF5A-1C6B2AA85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988" y="1813652"/>
            <a:ext cx="8168251" cy="4601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7421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CF39E96-4DE7-B7C9-085A-E8C99C61E1B2}"/>
              </a:ext>
            </a:extLst>
          </p:cNvPr>
          <p:cNvSpPr>
            <a:spLocks noGrp="1"/>
          </p:cNvSpPr>
          <p:nvPr>
            <p:ph type="sldNum" sz="quarter" idx="4"/>
          </p:nvPr>
        </p:nvSpPr>
        <p:spPr/>
        <p:txBody>
          <a:bodyPr/>
          <a:lstStyle/>
          <a:p>
            <a:pPr algn="l"/>
            <a:fld id="{3889EAAA-2A39-E347-B0AA-909793490C00}" type="slidenum">
              <a:rPr lang="de-DE" smtClean="0"/>
              <a:pPr algn="l"/>
              <a:t>10</a:t>
            </a:fld>
            <a:endParaRPr lang="de-DE" dirty="0"/>
          </a:p>
        </p:txBody>
      </p:sp>
      <p:sp>
        <p:nvSpPr>
          <p:cNvPr id="3" name="Title 2">
            <a:extLst>
              <a:ext uri="{FF2B5EF4-FFF2-40B4-BE49-F238E27FC236}">
                <a16:creationId xmlns:a16="http://schemas.microsoft.com/office/drawing/2014/main" id="{CA0AC7DB-1DD2-2AD7-EEB3-1BECE03DE27C}"/>
              </a:ext>
            </a:extLst>
          </p:cNvPr>
          <p:cNvSpPr>
            <a:spLocks noGrp="1"/>
          </p:cNvSpPr>
          <p:nvPr>
            <p:ph type="title"/>
          </p:nvPr>
        </p:nvSpPr>
        <p:spPr/>
        <p:txBody>
          <a:bodyPr/>
          <a:lstStyle/>
          <a:p>
            <a:r>
              <a:rPr lang="en-US" altLang="zh-CN" sz="2000" dirty="0"/>
              <a:t>Motivation</a:t>
            </a:r>
            <a:r>
              <a:rPr lang="zh-CN" altLang="en-US" sz="2000" dirty="0"/>
              <a:t> </a:t>
            </a:r>
            <a:r>
              <a:rPr lang="en-US" altLang="zh-CN" sz="2000" dirty="0"/>
              <a:t>of</a:t>
            </a:r>
            <a:r>
              <a:rPr lang="zh-CN" altLang="en-US" sz="2000" dirty="0"/>
              <a:t> </a:t>
            </a:r>
            <a:r>
              <a:rPr lang="en-US" altLang="zh-CN" sz="2000" dirty="0"/>
              <a:t>Memory-R1</a:t>
            </a:r>
            <a:endParaRPr lang="en-US" sz="2000" dirty="0"/>
          </a:p>
        </p:txBody>
      </p:sp>
      <p:sp>
        <p:nvSpPr>
          <p:cNvPr id="4" name="Content Placeholder 3">
            <a:extLst>
              <a:ext uri="{FF2B5EF4-FFF2-40B4-BE49-F238E27FC236}">
                <a16:creationId xmlns:a16="http://schemas.microsoft.com/office/drawing/2014/main" id="{F327731F-F614-83DC-5A13-45F6135F7CD3}"/>
              </a:ext>
            </a:extLst>
          </p:cNvPr>
          <p:cNvSpPr>
            <a:spLocks noGrp="1"/>
          </p:cNvSpPr>
          <p:nvPr>
            <p:ph sz="quarter" idx="10"/>
          </p:nvPr>
        </p:nvSpPr>
        <p:spPr/>
        <p:txBody>
          <a:bodyPr/>
          <a:lstStyle/>
          <a:p>
            <a:pPr marL="0" indent="0">
              <a:lnSpc>
                <a:spcPct val="50000"/>
              </a:lnSpc>
              <a:spcAft>
                <a:spcPts val="600"/>
              </a:spcAft>
              <a:buNone/>
            </a:pPr>
            <a:r>
              <a:rPr lang="en-US" altLang="zh-CN" sz="1400" dirty="0"/>
              <a:t>Challenges of current external memory system</a:t>
            </a:r>
          </a:p>
          <a:p>
            <a:pPr marL="400050" indent="-400050">
              <a:lnSpc>
                <a:spcPct val="50000"/>
              </a:lnSpc>
              <a:spcAft>
                <a:spcPts val="600"/>
              </a:spcAft>
              <a:buFont typeface="+mj-lt"/>
              <a:buAutoNum type="romanUcPeriod"/>
            </a:pPr>
            <a:r>
              <a:rPr lang="en-US" altLang="zh-CN" sz="1400" dirty="0"/>
              <a:t>Memory Manager</a:t>
            </a:r>
          </a:p>
          <a:p>
            <a:pPr lvl="1">
              <a:lnSpc>
                <a:spcPct val="50000"/>
              </a:lnSpc>
              <a:spcAft>
                <a:spcPts val="600"/>
              </a:spcAft>
            </a:pPr>
            <a:r>
              <a:rPr lang="en-US" altLang="zh-CN" sz="1400" dirty="0"/>
              <a:t>Prompt LLM to make decisions on Memory </a:t>
            </a:r>
          </a:p>
          <a:p>
            <a:pPr marL="407778" lvl="1" indent="0">
              <a:lnSpc>
                <a:spcPct val="50000"/>
              </a:lnSpc>
              <a:spcAft>
                <a:spcPts val="600"/>
              </a:spcAft>
              <a:buNone/>
            </a:pPr>
            <a:r>
              <a:rPr lang="zh-CN" altLang="en-US" sz="1400" dirty="0"/>
              <a:t>    </a:t>
            </a:r>
            <a:r>
              <a:rPr lang="en-US" altLang="zh-CN" sz="1400" dirty="0"/>
              <a:t>Operations: {ADD, UPDATE, DELETE, NOOP}</a:t>
            </a:r>
          </a:p>
          <a:p>
            <a:pPr lvl="1">
              <a:lnSpc>
                <a:spcPct val="50000"/>
              </a:lnSpc>
              <a:spcAft>
                <a:spcPts val="600"/>
              </a:spcAft>
            </a:pPr>
            <a:r>
              <a:rPr lang="en-US" altLang="zh-CN" sz="1400" dirty="0"/>
              <a:t>Rely</a:t>
            </a:r>
            <a:r>
              <a:rPr lang="en-US" sz="1400" dirty="0"/>
              <a:t> on static, heuristic-driven </a:t>
            </a:r>
            <a:r>
              <a:rPr lang="en-US" altLang="zh-CN" sz="1400" dirty="0"/>
              <a:t>approach</a:t>
            </a:r>
          </a:p>
          <a:p>
            <a:pPr marL="400050" indent="-400050">
              <a:lnSpc>
                <a:spcPct val="50000"/>
              </a:lnSpc>
              <a:spcAft>
                <a:spcPts val="600"/>
              </a:spcAft>
              <a:buFont typeface="+mj-lt"/>
              <a:buAutoNum type="romanUcPeriod"/>
            </a:pPr>
            <a:r>
              <a:rPr lang="en-US" altLang="zh-CN" sz="1400" dirty="0"/>
              <a:t>Answer Agent</a:t>
            </a:r>
          </a:p>
          <a:p>
            <a:pPr lvl="1">
              <a:lnSpc>
                <a:spcPct val="50000"/>
              </a:lnSpc>
              <a:spcAft>
                <a:spcPts val="600"/>
              </a:spcAft>
            </a:pPr>
            <a:r>
              <a:rPr lang="en-US" sz="1400" dirty="0"/>
              <a:t>RAG relies on a fixed top-k retrieval strategy</a:t>
            </a:r>
          </a:p>
          <a:p>
            <a:pPr lvl="1">
              <a:lnSpc>
                <a:spcPct val="50000"/>
              </a:lnSpc>
              <a:spcAft>
                <a:spcPts val="600"/>
              </a:spcAft>
            </a:pPr>
            <a:r>
              <a:rPr lang="en-US" altLang="zh-CN" sz="1400" dirty="0"/>
              <a:t>Small k -&gt; </a:t>
            </a:r>
            <a:r>
              <a:rPr lang="en-GB" sz="1400" dirty="0"/>
              <a:t>risk of missing crucial information</a:t>
            </a:r>
            <a:endParaRPr lang="en-US" sz="1400" dirty="0"/>
          </a:p>
          <a:p>
            <a:pPr lvl="1">
              <a:lnSpc>
                <a:spcPct val="50000"/>
              </a:lnSpc>
              <a:spcAft>
                <a:spcPts val="600"/>
              </a:spcAft>
            </a:pPr>
            <a:r>
              <a:rPr lang="en-US" altLang="zh-CN" sz="1400" dirty="0"/>
              <a:t>Large k -&gt; context</a:t>
            </a:r>
            <a:r>
              <a:rPr lang="en-GB" sz="1400" dirty="0"/>
              <a:t> flooded with irrelevant </a:t>
            </a:r>
          </a:p>
          <a:p>
            <a:pPr marL="407778" lvl="1" indent="0">
              <a:lnSpc>
                <a:spcPct val="50000"/>
              </a:lnSpc>
              <a:spcAft>
                <a:spcPts val="600"/>
              </a:spcAft>
              <a:buNone/>
            </a:pPr>
            <a:r>
              <a:rPr lang="zh-CN" altLang="en-US" sz="1400" dirty="0"/>
              <a:t>    </a:t>
            </a:r>
            <a:r>
              <a:rPr lang="en-US" altLang="zh-CN" sz="1400" dirty="0"/>
              <a:t>information</a:t>
            </a:r>
            <a:r>
              <a:rPr lang="en-GB" sz="1400" dirty="0"/>
              <a:t>, leading to distraction and </a:t>
            </a:r>
            <a:r>
              <a:rPr lang="en-US" altLang="zh-CN" sz="1400" dirty="0"/>
              <a:t>degradation</a:t>
            </a:r>
          </a:p>
          <a:p>
            <a:pPr marL="400050" indent="-400050">
              <a:lnSpc>
                <a:spcPct val="50000"/>
              </a:lnSpc>
              <a:spcAft>
                <a:spcPts val="600"/>
              </a:spcAft>
              <a:buFont typeface="+mj-lt"/>
              <a:buAutoNum type="romanUcPeriod"/>
            </a:pPr>
            <a:r>
              <a:rPr lang="en-US" altLang="zh-CN" sz="1400" dirty="0"/>
              <a:t>Training</a:t>
            </a:r>
            <a:r>
              <a:rPr lang="zh-CN" altLang="en-US" sz="1400" dirty="0"/>
              <a:t> </a:t>
            </a:r>
            <a:r>
              <a:rPr lang="en-US" altLang="zh-CN" sz="1400" dirty="0"/>
              <a:t>challenges</a:t>
            </a:r>
          </a:p>
          <a:p>
            <a:pPr lvl="1">
              <a:lnSpc>
                <a:spcPct val="50000"/>
              </a:lnSpc>
              <a:spcAft>
                <a:spcPts val="600"/>
              </a:spcAft>
            </a:pPr>
            <a:r>
              <a:rPr lang="en-GB" sz="1400" dirty="0"/>
              <a:t>No single </a:t>
            </a:r>
            <a:r>
              <a:rPr lang="en-US" altLang="zh-CN" sz="1400" dirty="0"/>
              <a:t>“</a:t>
            </a:r>
            <a:r>
              <a:rPr lang="en-GB" sz="1400" dirty="0"/>
              <a:t>best</a:t>
            </a:r>
            <a:r>
              <a:rPr lang="en-US" altLang="zh-CN" sz="1400" dirty="0"/>
              <a:t>”</a:t>
            </a:r>
            <a:r>
              <a:rPr lang="en-GB" sz="1400" dirty="0"/>
              <a:t> rule for memory </a:t>
            </a:r>
            <a:r>
              <a:rPr lang="en-US" altLang="zh-CN" sz="1400" dirty="0"/>
              <a:t>operations</a:t>
            </a:r>
            <a:endParaRPr lang="en-GB" sz="1400" dirty="0"/>
          </a:p>
          <a:p>
            <a:pPr lvl="1">
              <a:lnSpc>
                <a:spcPct val="50000"/>
              </a:lnSpc>
              <a:spcAft>
                <a:spcPts val="600"/>
              </a:spcAft>
            </a:pPr>
            <a:r>
              <a:rPr lang="en-GB" sz="1400" dirty="0"/>
              <a:t>Memory usefulness depends on context &amp; downstream tasks</a:t>
            </a:r>
          </a:p>
          <a:p>
            <a:pPr lvl="1">
              <a:lnSpc>
                <a:spcPct val="50000"/>
              </a:lnSpc>
              <a:spcAft>
                <a:spcPts val="600"/>
              </a:spcAft>
            </a:pPr>
            <a:r>
              <a:rPr lang="en-GB" sz="1400" dirty="0"/>
              <a:t>Hard to handcraft optimal strategies</a:t>
            </a:r>
          </a:p>
        </p:txBody>
      </p:sp>
      <p:pic>
        <p:nvPicPr>
          <p:cNvPr id="5" name="Picture 4" descr="A screenshot of a computer&#10;&#10;AI-generated content may be incorrect.">
            <a:extLst>
              <a:ext uri="{FF2B5EF4-FFF2-40B4-BE49-F238E27FC236}">
                <a16:creationId xmlns:a16="http://schemas.microsoft.com/office/drawing/2014/main" id="{AC7264CE-FEF5-C0C5-28AB-6E960F110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4094" y="1044167"/>
            <a:ext cx="6077506" cy="2719682"/>
          </a:xfrm>
          <a:prstGeom prst="rect">
            <a:avLst/>
          </a:prstGeom>
        </p:spPr>
      </p:pic>
      <p:sp>
        <p:nvSpPr>
          <p:cNvPr id="6" name="TextBox 5">
            <a:extLst>
              <a:ext uri="{FF2B5EF4-FFF2-40B4-BE49-F238E27FC236}">
                <a16:creationId xmlns:a16="http://schemas.microsoft.com/office/drawing/2014/main" id="{B1E756F7-B9F1-F5BF-F1B0-41997B84149E}"/>
              </a:ext>
            </a:extLst>
          </p:cNvPr>
          <p:cNvSpPr txBox="1"/>
          <p:nvPr/>
        </p:nvSpPr>
        <p:spPr>
          <a:xfrm>
            <a:off x="6452410" y="3799787"/>
            <a:ext cx="4797481" cy="467057"/>
          </a:xfrm>
          <a:prstGeom prst="rect">
            <a:avLst/>
          </a:prstGeom>
          <a:noFill/>
        </p:spPr>
        <p:txBody>
          <a:bodyPr wrap="square" rtlCol="0">
            <a:spAutoFit/>
          </a:bodyPr>
          <a:lstStyle/>
          <a:p>
            <a:r>
              <a:rPr lang="en-US" altLang="zh-CN" sz="1200" i="1" dirty="0"/>
              <a:t>Figure:</a:t>
            </a:r>
            <a:r>
              <a:rPr lang="zh-CN" altLang="en-US" sz="1200" i="1" dirty="0"/>
              <a:t> </a:t>
            </a:r>
            <a:r>
              <a:rPr lang="en-GB" sz="1200" i="1" dirty="0"/>
              <a:t>Comparison of vanilla LLM vs Memory-R1</a:t>
            </a:r>
            <a:r>
              <a:rPr lang="en-US" altLang="zh-CN" sz="1200" i="1" dirty="0"/>
              <a:t>--</a:t>
            </a:r>
            <a:r>
              <a:rPr lang="en-GB" sz="1200" i="1" dirty="0"/>
              <a:t>heuristic </a:t>
            </a:r>
            <a:r>
              <a:rPr lang="en-US" altLang="zh-CN" sz="1200" i="1" dirty="0"/>
              <a:t>approach</a:t>
            </a:r>
            <a:r>
              <a:rPr lang="en-GB" sz="1200" i="1" dirty="0"/>
              <a:t> fails, RL</a:t>
            </a:r>
            <a:r>
              <a:rPr lang="en-US" altLang="zh-CN" sz="1200" i="1" dirty="0"/>
              <a:t>-enhanced</a:t>
            </a:r>
            <a:r>
              <a:rPr lang="en-GB" sz="1200" i="1" dirty="0"/>
              <a:t> </a:t>
            </a:r>
            <a:r>
              <a:rPr lang="en-US" altLang="zh-CN" sz="1200" i="1" dirty="0"/>
              <a:t>approach</a:t>
            </a:r>
            <a:r>
              <a:rPr lang="en-GB" sz="1200" i="1" dirty="0"/>
              <a:t> </a:t>
            </a:r>
            <a:r>
              <a:rPr lang="en-US" altLang="zh-CN" sz="1200" i="1" dirty="0"/>
              <a:t>correctly</a:t>
            </a:r>
            <a:r>
              <a:rPr lang="zh-CN" altLang="en-US" sz="1200" i="1" dirty="0"/>
              <a:t> </a:t>
            </a:r>
            <a:r>
              <a:rPr lang="en-US" altLang="zh-CN" sz="1200" i="1" dirty="0"/>
              <a:t>update</a:t>
            </a:r>
            <a:r>
              <a:rPr lang="en-GB" sz="1200" i="1" dirty="0"/>
              <a:t> </a:t>
            </a:r>
            <a:r>
              <a:rPr lang="en-US" altLang="zh-CN" sz="1200" i="1" dirty="0"/>
              <a:t>memory</a:t>
            </a:r>
            <a:endParaRPr lang="en-US" sz="1200" i="1" dirty="0"/>
          </a:p>
        </p:txBody>
      </p:sp>
      <p:sp>
        <p:nvSpPr>
          <p:cNvPr id="7" name="TextBox 6">
            <a:extLst>
              <a:ext uri="{FF2B5EF4-FFF2-40B4-BE49-F238E27FC236}">
                <a16:creationId xmlns:a16="http://schemas.microsoft.com/office/drawing/2014/main" id="{4E583E0F-8363-3C70-8B10-C37968EDD811}"/>
              </a:ext>
            </a:extLst>
          </p:cNvPr>
          <p:cNvSpPr txBox="1"/>
          <p:nvPr/>
        </p:nvSpPr>
        <p:spPr>
          <a:xfrm>
            <a:off x="834142" y="5475279"/>
            <a:ext cx="10523715" cy="338554"/>
          </a:xfrm>
          <a:prstGeom prst="rect">
            <a:avLst/>
          </a:prstGeom>
          <a:solidFill>
            <a:schemeClr val="accent1">
              <a:lumMod val="40000"/>
              <a:lumOff val="60000"/>
            </a:schemeClr>
          </a:solidFill>
        </p:spPr>
        <p:txBody>
          <a:bodyPr wrap="square" rtlCol="0">
            <a:spAutoFit/>
          </a:bodyPr>
          <a:lstStyle/>
          <a:p>
            <a:r>
              <a:rPr lang="en-GB" sz="1600" b="1" dirty="0"/>
              <a:t>Solution: </a:t>
            </a:r>
            <a:r>
              <a:rPr lang="en-US" altLang="zh-CN" sz="1600" dirty="0"/>
              <a:t>Using</a:t>
            </a:r>
            <a:r>
              <a:rPr lang="zh-CN" altLang="en-US" sz="1600" b="1" dirty="0"/>
              <a:t> </a:t>
            </a:r>
            <a:r>
              <a:rPr lang="en-GB" sz="1600" b="1" dirty="0"/>
              <a:t>Reinforcement Learning</a:t>
            </a:r>
            <a:r>
              <a:rPr lang="zh-CN" altLang="en-US" sz="1600" b="1" dirty="0"/>
              <a:t> </a:t>
            </a:r>
            <a:r>
              <a:rPr lang="en-US" altLang="zh-CN" sz="1600" b="1" dirty="0"/>
              <a:t>(RL)</a:t>
            </a:r>
            <a:r>
              <a:rPr lang="en-GB" sz="1600" b="1" dirty="0"/>
              <a:t> </a:t>
            </a:r>
            <a:r>
              <a:rPr lang="en-US" altLang="zh-CN" sz="1600" dirty="0"/>
              <a:t>to</a:t>
            </a:r>
            <a:r>
              <a:rPr lang="zh-CN" altLang="en-US" sz="1600" dirty="0"/>
              <a:t> </a:t>
            </a:r>
            <a:r>
              <a:rPr lang="en-GB" sz="1600" dirty="0"/>
              <a:t>enable adaptive memory management</a:t>
            </a:r>
            <a:r>
              <a:rPr lang="zh-CN" altLang="en-US" sz="1600" dirty="0"/>
              <a:t> </a:t>
            </a:r>
            <a:r>
              <a:rPr lang="en-US" altLang="zh-CN" sz="1600" dirty="0"/>
              <a:t>and</a:t>
            </a:r>
            <a:r>
              <a:rPr lang="zh-CN" altLang="en-US" sz="1600" dirty="0"/>
              <a:t> </a:t>
            </a:r>
            <a:r>
              <a:rPr lang="en-US" altLang="zh-CN" sz="1600" dirty="0"/>
              <a:t>selective</a:t>
            </a:r>
            <a:r>
              <a:rPr lang="zh-CN" altLang="en-US" sz="1600" dirty="0"/>
              <a:t> </a:t>
            </a:r>
            <a:r>
              <a:rPr lang="en-US" altLang="zh-CN" sz="1600" dirty="0"/>
              <a:t>utilization</a:t>
            </a:r>
            <a:endParaRPr lang="en-US" sz="1600" dirty="0"/>
          </a:p>
        </p:txBody>
      </p:sp>
      <p:sp>
        <p:nvSpPr>
          <p:cNvPr id="10" name="TextBox 9">
            <a:extLst>
              <a:ext uri="{FF2B5EF4-FFF2-40B4-BE49-F238E27FC236}">
                <a16:creationId xmlns:a16="http://schemas.microsoft.com/office/drawing/2014/main" id="{1A4D58E4-D095-5473-1D44-182E98A8CFD7}"/>
              </a:ext>
            </a:extLst>
          </p:cNvPr>
          <p:cNvSpPr txBox="1"/>
          <p:nvPr/>
        </p:nvSpPr>
        <p:spPr>
          <a:xfrm>
            <a:off x="3413113" y="2651877"/>
            <a:ext cx="1158904" cy="307777"/>
          </a:xfrm>
          <a:prstGeom prst="rect">
            <a:avLst/>
          </a:prstGeom>
          <a:solidFill>
            <a:schemeClr val="accent1">
              <a:lumMod val="40000"/>
              <a:lumOff val="60000"/>
            </a:schemeClr>
          </a:solidFill>
        </p:spPr>
        <p:txBody>
          <a:bodyPr wrap="square" rtlCol="0">
            <a:spAutoFit/>
          </a:bodyPr>
          <a:lstStyle/>
          <a:p>
            <a:pPr algn="ctr"/>
            <a:r>
              <a:rPr lang="en-US" altLang="zh-CN" sz="1400" dirty="0"/>
              <a:t>“</a:t>
            </a:r>
            <a:r>
              <a:rPr lang="en-US" altLang="zh-CN" sz="1400" dirty="0" err="1"/>
              <a:t>Reranker</a:t>
            </a:r>
            <a:r>
              <a:rPr lang="en-US" altLang="zh-CN" sz="1400" dirty="0"/>
              <a:t>”</a:t>
            </a:r>
            <a:endParaRPr lang="en-US" sz="1400" dirty="0"/>
          </a:p>
        </p:txBody>
      </p:sp>
      <p:sp>
        <p:nvSpPr>
          <p:cNvPr id="13" name="TextBox 12">
            <a:extLst>
              <a:ext uri="{FF2B5EF4-FFF2-40B4-BE49-F238E27FC236}">
                <a16:creationId xmlns:a16="http://schemas.microsoft.com/office/drawing/2014/main" id="{BA11DF7C-4FE1-7C7C-4309-DF9278E2B349}"/>
              </a:ext>
            </a:extLst>
          </p:cNvPr>
          <p:cNvSpPr txBox="1"/>
          <p:nvPr/>
        </p:nvSpPr>
        <p:spPr>
          <a:xfrm>
            <a:off x="2828041" y="1662629"/>
            <a:ext cx="2450969" cy="307777"/>
          </a:xfrm>
          <a:prstGeom prst="rect">
            <a:avLst/>
          </a:prstGeom>
          <a:solidFill>
            <a:schemeClr val="accent1">
              <a:lumMod val="40000"/>
              <a:lumOff val="60000"/>
            </a:schemeClr>
          </a:solidFill>
        </p:spPr>
        <p:txBody>
          <a:bodyPr wrap="square" rtlCol="0">
            <a:spAutoFit/>
          </a:bodyPr>
          <a:lstStyle/>
          <a:p>
            <a:pPr algn="ctr"/>
            <a:r>
              <a:rPr lang="en-US" altLang="zh-CN" sz="1400" dirty="0"/>
              <a:t>“External</a:t>
            </a:r>
            <a:r>
              <a:rPr lang="zh-CN" altLang="en-US" sz="1400" dirty="0"/>
              <a:t> </a:t>
            </a:r>
            <a:r>
              <a:rPr lang="en-US" altLang="zh-CN" sz="1400" dirty="0"/>
              <a:t>knowledge</a:t>
            </a:r>
            <a:r>
              <a:rPr lang="zh-CN" altLang="en-US" sz="1400" dirty="0"/>
              <a:t> </a:t>
            </a:r>
            <a:r>
              <a:rPr lang="en-US" altLang="zh-CN" sz="1400" dirty="0"/>
              <a:t>base”</a:t>
            </a:r>
            <a:endParaRPr lang="en-US" sz="1400" dirty="0"/>
          </a:p>
        </p:txBody>
      </p:sp>
    </p:spTree>
    <p:extLst>
      <p:ext uri="{BB962C8B-B14F-4D97-AF65-F5344CB8AC3E}">
        <p14:creationId xmlns:p14="http://schemas.microsoft.com/office/powerpoint/2010/main" val="1907981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44AD6D-C14F-0EEF-12BD-D2FF94FACCC4}"/>
              </a:ext>
            </a:extLst>
          </p:cNvPr>
          <p:cNvSpPr>
            <a:spLocks noGrp="1"/>
          </p:cNvSpPr>
          <p:nvPr>
            <p:ph type="sldNum" sz="quarter" idx="4"/>
          </p:nvPr>
        </p:nvSpPr>
        <p:spPr/>
        <p:txBody>
          <a:bodyPr/>
          <a:lstStyle/>
          <a:p>
            <a:pPr algn="l"/>
            <a:fld id="{3889EAAA-2A39-E347-B0AA-909793490C00}" type="slidenum">
              <a:rPr lang="de-DE" smtClean="0"/>
              <a:pPr algn="l"/>
              <a:t>11</a:t>
            </a:fld>
            <a:endParaRPr lang="de-DE" dirty="0"/>
          </a:p>
        </p:txBody>
      </p:sp>
      <p:sp>
        <p:nvSpPr>
          <p:cNvPr id="3" name="Title 2">
            <a:extLst>
              <a:ext uri="{FF2B5EF4-FFF2-40B4-BE49-F238E27FC236}">
                <a16:creationId xmlns:a16="http://schemas.microsoft.com/office/drawing/2014/main" id="{6967BB73-4346-AF32-F9E5-74F2604640D8}"/>
              </a:ext>
            </a:extLst>
          </p:cNvPr>
          <p:cNvSpPr>
            <a:spLocks noGrp="1"/>
          </p:cNvSpPr>
          <p:nvPr>
            <p:ph type="title"/>
          </p:nvPr>
        </p:nvSpPr>
        <p:spPr/>
        <p:txBody>
          <a:bodyPr/>
          <a:lstStyle/>
          <a:p>
            <a:r>
              <a:rPr lang="en-US" altLang="zh-CN" sz="2000" dirty="0"/>
              <a:t>Problem</a:t>
            </a:r>
            <a:r>
              <a:rPr lang="zh-CN" altLang="en-US" sz="2000" dirty="0"/>
              <a:t> </a:t>
            </a:r>
            <a:r>
              <a:rPr lang="en-US" altLang="zh-CN" sz="2000" dirty="0"/>
              <a:t>Formulation</a:t>
            </a:r>
            <a:br>
              <a:rPr lang="en-US" altLang="zh-CN" sz="2000" dirty="0">
                <a:solidFill>
                  <a:srgbClr val="4F8F8F"/>
                </a:solidFill>
                <a:latin typeface="Aptos" panose="020B0004020202020204" pitchFamily="34" charset="0"/>
                <a:cs typeface="Arial" panose="020B0604020202020204" pitchFamily="34" charset="0"/>
              </a:rPr>
            </a:br>
            <a:endParaRPr lang="en-US" dirty="0"/>
          </a:p>
        </p:txBody>
      </p:sp>
      <p:sp>
        <p:nvSpPr>
          <p:cNvPr id="4" name="Content Placeholder 3">
            <a:extLst>
              <a:ext uri="{FF2B5EF4-FFF2-40B4-BE49-F238E27FC236}">
                <a16:creationId xmlns:a16="http://schemas.microsoft.com/office/drawing/2014/main" id="{DF1E4EF0-4553-BB21-6413-3A9264C2AA07}"/>
              </a:ext>
            </a:extLst>
          </p:cNvPr>
          <p:cNvSpPr>
            <a:spLocks noGrp="1"/>
          </p:cNvSpPr>
          <p:nvPr>
            <p:ph sz="quarter" idx="10"/>
          </p:nvPr>
        </p:nvSpPr>
        <p:spPr/>
        <p:txBody>
          <a:bodyPr/>
          <a:lstStyle/>
          <a:p>
            <a:pPr marL="0" indent="0">
              <a:lnSpc>
                <a:spcPct val="60000"/>
              </a:lnSpc>
              <a:buFont typeface="Arial" panose="020B0604020202020204" pitchFamily="34" charset="0"/>
              <a:buNone/>
            </a:pPr>
            <a:r>
              <a:rPr lang="en-US" sz="1600" b="1" dirty="0"/>
              <a:t>Setting:</a:t>
            </a:r>
          </a:p>
          <a:p>
            <a:pPr marL="285750" indent="-285750">
              <a:lnSpc>
                <a:spcPct val="60000"/>
              </a:lnSpc>
            </a:pPr>
            <a:r>
              <a:rPr lang="en-GB" sz="1600" dirty="0"/>
              <a:t>Multi-session dialogues</a:t>
            </a:r>
          </a:p>
          <a:p>
            <a:pPr marL="285750" indent="-285750">
              <a:lnSpc>
                <a:spcPct val="60000"/>
              </a:lnSpc>
            </a:pPr>
            <a:r>
              <a:rPr lang="en-GB" sz="1600" dirty="0"/>
              <a:t>Facts spread across distant turns</a:t>
            </a:r>
          </a:p>
          <a:p>
            <a:pPr marL="285750" indent="-285750">
              <a:lnSpc>
                <a:spcPct val="60000"/>
              </a:lnSpc>
            </a:pPr>
            <a:r>
              <a:rPr lang="en-GB" sz="1600" dirty="0"/>
              <a:t>External memory needed for QA</a:t>
            </a:r>
          </a:p>
          <a:p>
            <a:pPr indent="-228600">
              <a:lnSpc>
                <a:spcPct val="60000"/>
              </a:lnSpc>
              <a:spcAft>
                <a:spcPts val="600"/>
              </a:spcAft>
            </a:pPr>
            <a:endParaRPr lang="en-US" sz="1600" dirty="0"/>
          </a:p>
          <a:p>
            <a:pPr marL="0" indent="0">
              <a:lnSpc>
                <a:spcPct val="60000"/>
              </a:lnSpc>
              <a:buFont typeface="Arial" panose="020B0604020202020204" pitchFamily="34" charset="0"/>
              <a:buNone/>
            </a:pPr>
            <a:r>
              <a:rPr lang="en-US" sz="1600" b="1" dirty="0"/>
              <a:t>Goal:</a:t>
            </a:r>
          </a:p>
          <a:p>
            <a:pPr marL="285750" indent="-285750">
              <a:lnSpc>
                <a:spcPct val="60000"/>
              </a:lnSpc>
            </a:pPr>
            <a:r>
              <a:rPr lang="en-GB" sz="1600" dirty="0"/>
              <a:t>Adaptive memory management</a:t>
            </a:r>
            <a:r>
              <a:rPr lang="zh-CN" altLang="en-US" sz="1600" dirty="0"/>
              <a:t> </a:t>
            </a:r>
            <a:r>
              <a:rPr lang="en-US" altLang="zh-CN" sz="1600" dirty="0"/>
              <a:t>(Memory</a:t>
            </a:r>
            <a:r>
              <a:rPr lang="zh-CN" altLang="en-US" sz="1600" dirty="0"/>
              <a:t> </a:t>
            </a:r>
            <a:r>
              <a:rPr lang="en-US" altLang="zh-CN" sz="1600" dirty="0"/>
              <a:t>Manager)</a:t>
            </a:r>
            <a:endParaRPr lang="en-GB" sz="1600" dirty="0"/>
          </a:p>
          <a:p>
            <a:pPr marL="285750" indent="-285750">
              <a:lnSpc>
                <a:spcPct val="60000"/>
              </a:lnSpc>
            </a:pPr>
            <a:r>
              <a:rPr lang="en-GB" sz="1600" dirty="0"/>
              <a:t>Selective memory utilization</a:t>
            </a:r>
            <a:r>
              <a:rPr lang="zh-CN" altLang="en-US" sz="1600" dirty="0"/>
              <a:t> </a:t>
            </a:r>
            <a:r>
              <a:rPr lang="en-US" altLang="zh-CN" sz="1600" dirty="0"/>
              <a:t>(Answer</a:t>
            </a:r>
            <a:r>
              <a:rPr lang="zh-CN" altLang="en-US" sz="1600" dirty="0"/>
              <a:t> </a:t>
            </a:r>
            <a:r>
              <a:rPr lang="en-US" altLang="zh-CN" sz="1600" dirty="0"/>
              <a:t>Agent)</a:t>
            </a:r>
            <a:endParaRPr lang="en-GB" sz="1600" dirty="0"/>
          </a:p>
          <a:p>
            <a:pPr indent="-228600">
              <a:lnSpc>
                <a:spcPct val="60000"/>
              </a:lnSpc>
              <a:spcAft>
                <a:spcPts val="600"/>
              </a:spcAft>
            </a:pPr>
            <a:endParaRPr lang="en-US" altLang="zh-CN" sz="1600" b="1" dirty="0"/>
          </a:p>
          <a:p>
            <a:pPr marL="0" indent="0">
              <a:lnSpc>
                <a:spcPct val="60000"/>
              </a:lnSpc>
              <a:buFont typeface="Arial" panose="020B0604020202020204" pitchFamily="34" charset="0"/>
              <a:buNone/>
            </a:pPr>
            <a:r>
              <a:rPr lang="en-US" sz="1600" b="1" dirty="0"/>
              <a:t>Core Challenge:</a:t>
            </a:r>
          </a:p>
          <a:p>
            <a:pPr marL="285750" indent="-285750">
              <a:lnSpc>
                <a:spcPct val="60000"/>
              </a:lnSpc>
            </a:pPr>
            <a:r>
              <a:rPr lang="en-GB" sz="1600" dirty="0"/>
              <a:t>Go beyond heuristics &amp; fixed top-k retrieval</a:t>
            </a:r>
          </a:p>
          <a:p>
            <a:pPr marL="285750" indent="-285750">
              <a:lnSpc>
                <a:spcPct val="60000"/>
              </a:lnSpc>
            </a:pPr>
            <a:r>
              <a:rPr lang="en-GB" sz="1600" dirty="0"/>
              <a:t>RL to optimize memory ops &amp; answer correctness</a:t>
            </a:r>
          </a:p>
          <a:p>
            <a:pPr indent="-228600">
              <a:spcAft>
                <a:spcPts val="600"/>
              </a:spcAft>
            </a:pPr>
            <a:endParaRPr lang="en-US" altLang="zh-CN" sz="1800" dirty="0"/>
          </a:p>
          <a:p>
            <a:endParaRPr lang="en-US" sz="1800" dirty="0"/>
          </a:p>
        </p:txBody>
      </p:sp>
      <p:pic>
        <p:nvPicPr>
          <p:cNvPr id="5" name="Picture 4" descr="A screenshot of a chat&#10;&#10;AI-generated content may be incorrect.">
            <a:extLst>
              <a:ext uri="{FF2B5EF4-FFF2-40B4-BE49-F238E27FC236}">
                <a16:creationId xmlns:a16="http://schemas.microsoft.com/office/drawing/2014/main" id="{6BD8CB37-1761-8ED1-44F8-B87DBF426B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273" y="1167225"/>
            <a:ext cx="3190520" cy="4103566"/>
          </a:xfrm>
          <a:prstGeom prst="rect">
            <a:avLst/>
          </a:prstGeom>
        </p:spPr>
      </p:pic>
      <p:pic>
        <p:nvPicPr>
          <p:cNvPr id="6" name="Picture 5" descr="A screenshot of a question answer task&#10;&#10;AI-generated content may be incorrect.">
            <a:extLst>
              <a:ext uri="{FF2B5EF4-FFF2-40B4-BE49-F238E27FC236}">
                <a16:creationId xmlns:a16="http://schemas.microsoft.com/office/drawing/2014/main" id="{E373F782-BDB4-D358-8DE7-ED23F4B90B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64074" y="1542919"/>
            <a:ext cx="2944101" cy="2914659"/>
          </a:xfrm>
          <a:prstGeom prst="rect">
            <a:avLst/>
          </a:prstGeom>
        </p:spPr>
      </p:pic>
      <p:sp>
        <p:nvSpPr>
          <p:cNvPr id="7" name="TextBox 6">
            <a:extLst>
              <a:ext uri="{FF2B5EF4-FFF2-40B4-BE49-F238E27FC236}">
                <a16:creationId xmlns:a16="http://schemas.microsoft.com/office/drawing/2014/main" id="{10AFE994-6D56-6E6D-701F-35FAB94CDDF7}"/>
              </a:ext>
            </a:extLst>
          </p:cNvPr>
          <p:cNvSpPr txBox="1"/>
          <p:nvPr/>
        </p:nvSpPr>
        <p:spPr>
          <a:xfrm>
            <a:off x="8964074" y="4694722"/>
            <a:ext cx="2963682" cy="461665"/>
          </a:xfrm>
          <a:prstGeom prst="rect">
            <a:avLst/>
          </a:prstGeom>
          <a:solidFill>
            <a:schemeClr val="accent1">
              <a:lumMod val="40000"/>
              <a:lumOff val="60000"/>
            </a:schemeClr>
          </a:solidFill>
        </p:spPr>
        <p:txBody>
          <a:bodyPr wrap="square" rtlCol="0">
            <a:spAutoFit/>
          </a:bodyPr>
          <a:lstStyle>
            <a:defPPr>
              <a:defRPr lang="en-US"/>
            </a:defPPr>
            <a:lvl1pPr>
              <a:defRPr sz="1600" b="1"/>
            </a:lvl1pPr>
          </a:lstStyle>
          <a:p>
            <a:pPr algn="ctr"/>
            <a:r>
              <a:rPr lang="en-US" altLang="zh-CN" sz="1200" dirty="0"/>
              <a:t>Questions</a:t>
            </a:r>
            <a:r>
              <a:rPr lang="zh-CN" altLang="en-US" sz="1200" dirty="0"/>
              <a:t> </a:t>
            </a:r>
            <a:r>
              <a:rPr lang="en-US" altLang="zh-CN" sz="1200" dirty="0"/>
              <a:t>can</a:t>
            </a:r>
            <a:r>
              <a:rPr lang="zh-CN" altLang="en-US" sz="1200" dirty="0"/>
              <a:t> </a:t>
            </a:r>
            <a:r>
              <a:rPr lang="en-US" altLang="zh-CN" sz="1200" dirty="0"/>
              <a:t>only</a:t>
            </a:r>
            <a:r>
              <a:rPr lang="zh-CN" altLang="en-US" sz="1200" dirty="0"/>
              <a:t> </a:t>
            </a:r>
            <a:r>
              <a:rPr lang="en-US" altLang="zh-CN" sz="1200" dirty="0"/>
              <a:t>be</a:t>
            </a:r>
            <a:r>
              <a:rPr lang="zh-CN" altLang="en-US" sz="1200" dirty="0"/>
              <a:t> </a:t>
            </a:r>
            <a:r>
              <a:rPr lang="en-US" altLang="zh-CN" sz="1200" dirty="0"/>
              <a:t>answered</a:t>
            </a:r>
            <a:r>
              <a:rPr lang="zh-CN" altLang="en-US" sz="1200" dirty="0"/>
              <a:t> </a:t>
            </a:r>
            <a:r>
              <a:rPr lang="en-US" altLang="zh-CN" sz="1200" dirty="0"/>
              <a:t>with</a:t>
            </a:r>
            <a:r>
              <a:rPr lang="zh-CN" altLang="en-US" sz="1200" dirty="0"/>
              <a:t> </a:t>
            </a:r>
            <a:r>
              <a:rPr lang="en-US" altLang="zh-CN" sz="1200" dirty="0"/>
              <a:t>information</a:t>
            </a:r>
            <a:r>
              <a:rPr lang="zh-CN" altLang="en-US" sz="1200" dirty="0"/>
              <a:t> </a:t>
            </a:r>
            <a:r>
              <a:rPr lang="en-US" altLang="zh-CN" sz="1200" dirty="0"/>
              <a:t>from</a:t>
            </a:r>
            <a:r>
              <a:rPr lang="zh-CN" altLang="en-US" sz="1200" dirty="0"/>
              <a:t> </a:t>
            </a:r>
            <a:r>
              <a:rPr lang="en-US" altLang="zh-CN" sz="1200" dirty="0"/>
              <a:t>the</a:t>
            </a:r>
            <a:r>
              <a:rPr lang="zh-CN" altLang="en-US" sz="1200" dirty="0"/>
              <a:t> </a:t>
            </a:r>
            <a:r>
              <a:rPr lang="en-US" altLang="zh-CN" sz="1200" dirty="0"/>
              <a:t>dialogues</a:t>
            </a:r>
            <a:endParaRPr lang="en-US" sz="1200" dirty="0"/>
          </a:p>
        </p:txBody>
      </p:sp>
      <p:sp>
        <p:nvSpPr>
          <p:cNvPr id="8" name="U-turn Arrow 7">
            <a:extLst>
              <a:ext uri="{FF2B5EF4-FFF2-40B4-BE49-F238E27FC236}">
                <a16:creationId xmlns:a16="http://schemas.microsoft.com/office/drawing/2014/main" id="{2EEA0E31-81FC-257A-68B3-8CBC4F6A5523}"/>
              </a:ext>
            </a:extLst>
          </p:cNvPr>
          <p:cNvSpPr/>
          <p:nvPr/>
        </p:nvSpPr>
        <p:spPr>
          <a:xfrm rot="10800000">
            <a:off x="6908799" y="5217942"/>
            <a:ext cx="3582737" cy="704758"/>
          </a:xfrm>
          <a:prstGeom prst="uturnArrow">
            <a:avLst>
              <a:gd name="adj1" fmla="val 3907"/>
              <a:gd name="adj2" fmla="val 14924"/>
              <a:gd name="adj3" fmla="val 24968"/>
              <a:gd name="adj4" fmla="val 43750"/>
              <a:gd name="adj5" fmla="val 874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05E3EDF7-C0D1-E5F6-43B6-9C9FC3ACB8AA}"/>
              </a:ext>
            </a:extLst>
          </p:cNvPr>
          <p:cNvSpPr txBox="1"/>
          <p:nvPr/>
        </p:nvSpPr>
        <p:spPr>
          <a:xfrm>
            <a:off x="7138667" y="729708"/>
            <a:ext cx="4092595"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Example</a:t>
            </a:r>
            <a:r>
              <a:rPr lang="zh-CN" altLang="en-US" sz="1200" i="1" dirty="0"/>
              <a:t> </a:t>
            </a:r>
            <a:r>
              <a:rPr lang="en-US" altLang="zh-CN" sz="1200" i="1" dirty="0"/>
              <a:t>dialogues</a:t>
            </a:r>
            <a:r>
              <a:rPr lang="zh-CN" altLang="en-US" sz="1200" i="1" dirty="0"/>
              <a:t> </a:t>
            </a:r>
            <a:r>
              <a:rPr lang="en-US" altLang="zh-CN" sz="1200" i="1" dirty="0"/>
              <a:t>and</a:t>
            </a:r>
            <a:r>
              <a:rPr lang="zh-CN" altLang="en-US" sz="1200" i="1" dirty="0"/>
              <a:t> </a:t>
            </a:r>
            <a:r>
              <a:rPr lang="en-US" altLang="zh-CN" sz="1200" i="1" dirty="0"/>
              <a:t>questions</a:t>
            </a:r>
            <a:r>
              <a:rPr lang="zh-CN" altLang="en-US" sz="1200" i="1" dirty="0"/>
              <a:t> </a:t>
            </a:r>
            <a:r>
              <a:rPr lang="en-US" altLang="zh-CN" sz="1200" i="1" dirty="0"/>
              <a:t>from</a:t>
            </a:r>
            <a:r>
              <a:rPr lang="zh-CN" altLang="en-US" sz="1200" i="1" dirty="0"/>
              <a:t> </a:t>
            </a:r>
            <a:r>
              <a:rPr lang="en-US" altLang="zh-CN" sz="1200" i="1" dirty="0" err="1"/>
              <a:t>LoCoMo</a:t>
            </a:r>
            <a:r>
              <a:rPr lang="zh-CN" altLang="en-US" sz="1200" i="1" dirty="0"/>
              <a:t> </a:t>
            </a:r>
            <a:r>
              <a:rPr lang="en-US" altLang="zh-CN" sz="1200" i="1" dirty="0"/>
              <a:t>dataset</a:t>
            </a:r>
            <a:endParaRPr lang="en-US" sz="1200" i="1" dirty="0"/>
          </a:p>
        </p:txBody>
      </p:sp>
    </p:spTree>
    <p:extLst>
      <p:ext uri="{BB962C8B-B14F-4D97-AF65-F5344CB8AC3E}">
        <p14:creationId xmlns:p14="http://schemas.microsoft.com/office/powerpoint/2010/main" val="3954895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1A5AA-FD19-468F-08EE-233C03096D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182537-CFBE-ADA2-5DD3-0F790160B6BC}"/>
              </a:ext>
            </a:extLst>
          </p:cNvPr>
          <p:cNvSpPr>
            <a:spLocks noGrp="1"/>
          </p:cNvSpPr>
          <p:nvPr>
            <p:ph type="sldNum" sz="quarter" idx="4"/>
          </p:nvPr>
        </p:nvSpPr>
        <p:spPr/>
        <p:txBody>
          <a:bodyPr/>
          <a:lstStyle/>
          <a:p>
            <a:pPr algn="l"/>
            <a:fld id="{3889EAAA-2A39-E347-B0AA-909793490C00}" type="slidenum">
              <a:rPr lang="de-DE" smtClean="0"/>
              <a:pPr algn="l"/>
              <a:t>12</a:t>
            </a:fld>
            <a:endParaRPr lang="de-DE" dirty="0"/>
          </a:p>
        </p:txBody>
      </p:sp>
      <p:sp>
        <p:nvSpPr>
          <p:cNvPr id="3" name="Title 2">
            <a:extLst>
              <a:ext uri="{FF2B5EF4-FFF2-40B4-BE49-F238E27FC236}">
                <a16:creationId xmlns:a16="http://schemas.microsoft.com/office/drawing/2014/main" id="{89C1746D-269B-1717-2577-DA6624EA8FA9}"/>
              </a:ext>
            </a:extLst>
          </p:cNvPr>
          <p:cNvSpPr>
            <a:spLocks noGrp="1"/>
          </p:cNvSpPr>
          <p:nvPr>
            <p:ph type="title"/>
          </p:nvPr>
        </p:nvSpPr>
        <p:spPr/>
        <p:txBody>
          <a:bodyPr/>
          <a:lstStyle/>
          <a:p>
            <a:r>
              <a:rPr lang="en-DE" altLang="zh-CN" sz="2000" dirty="0"/>
              <a:t>Dataset</a:t>
            </a:r>
            <a:br>
              <a:rPr lang="en-US" altLang="zh-CN" sz="2000" dirty="0">
                <a:solidFill>
                  <a:srgbClr val="4F8F8F"/>
                </a:solidFill>
                <a:latin typeface="Aptos" panose="020B0004020202020204" pitchFamily="34" charset="0"/>
                <a:cs typeface="Arial" panose="020B0604020202020204" pitchFamily="34" charset="0"/>
              </a:rPr>
            </a:br>
            <a:endParaRPr lang="en-US" dirty="0"/>
          </a:p>
        </p:txBody>
      </p:sp>
      <p:sp>
        <p:nvSpPr>
          <p:cNvPr id="4" name="Content Placeholder 3">
            <a:extLst>
              <a:ext uri="{FF2B5EF4-FFF2-40B4-BE49-F238E27FC236}">
                <a16:creationId xmlns:a16="http://schemas.microsoft.com/office/drawing/2014/main" id="{ED224D9C-50FB-5457-DD65-E923A2A8647F}"/>
              </a:ext>
            </a:extLst>
          </p:cNvPr>
          <p:cNvSpPr>
            <a:spLocks noGrp="1"/>
          </p:cNvSpPr>
          <p:nvPr>
            <p:ph sz="quarter" idx="10"/>
          </p:nvPr>
        </p:nvSpPr>
        <p:spPr/>
        <p:txBody>
          <a:bodyPr/>
          <a:lstStyle/>
          <a:p>
            <a:pPr marL="0" indent="0">
              <a:lnSpc>
                <a:spcPct val="60000"/>
              </a:lnSpc>
              <a:buNone/>
            </a:pPr>
            <a:r>
              <a:rPr lang="en-US" altLang="zh-CN" sz="1600" b="1" dirty="0" err="1"/>
              <a:t>LoCoMo</a:t>
            </a:r>
            <a:r>
              <a:rPr lang="en-US" altLang="zh-CN" sz="1600" b="1" dirty="0"/>
              <a:t>:</a:t>
            </a:r>
          </a:p>
          <a:p>
            <a:pPr>
              <a:lnSpc>
                <a:spcPct val="60000"/>
              </a:lnSpc>
            </a:pPr>
            <a:r>
              <a:rPr lang="en-US" altLang="zh-CN" sz="1400" dirty="0"/>
              <a:t>Published</a:t>
            </a:r>
            <a:r>
              <a:rPr lang="zh-CN" altLang="en-US" sz="1400" dirty="0"/>
              <a:t> </a:t>
            </a:r>
            <a:r>
              <a:rPr lang="en-US" altLang="zh-CN" sz="1400" dirty="0"/>
              <a:t>by</a:t>
            </a:r>
            <a:r>
              <a:rPr lang="zh-CN" altLang="en-US" sz="1400" dirty="0"/>
              <a:t> </a:t>
            </a:r>
            <a:r>
              <a:rPr lang="en-US" altLang="zh-CN" sz="1400" dirty="0"/>
              <a:t>Snap</a:t>
            </a:r>
          </a:p>
          <a:p>
            <a:pPr>
              <a:lnSpc>
                <a:spcPct val="60000"/>
              </a:lnSpc>
            </a:pPr>
            <a:r>
              <a:rPr lang="en-US" altLang="zh-CN" sz="1400" dirty="0"/>
              <a:t>Types:</a:t>
            </a:r>
            <a:r>
              <a:rPr lang="zh-CN" altLang="en-US" sz="1400" dirty="0"/>
              <a:t> </a:t>
            </a:r>
            <a:r>
              <a:rPr lang="en-US" altLang="zh-CN" sz="1400" dirty="0"/>
              <a:t>Single-Hop</a:t>
            </a:r>
            <a:r>
              <a:rPr lang="zh-CN" altLang="en-US" sz="1400" dirty="0"/>
              <a:t> </a:t>
            </a:r>
            <a:r>
              <a:rPr lang="en-US" altLang="zh-CN" sz="1400" dirty="0"/>
              <a:t>Reasoning,</a:t>
            </a:r>
            <a:r>
              <a:rPr lang="zh-CN" altLang="en-US" sz="1400" dirty="0"/>
              <a:t> </a:t>
            </a:r>
            <a:r>
              <a:rPr lang="en-US" altLang="zh-CN" sz="1400" dirty="0"/>
              <a:t>Multi-Hop</a:t>
            </a:r>
            <a:r>
              <a:rPr lang="zh-CN" altLang="en-US" sz="1400" dirty="0"/>
              <a:t> </a:t>
            </a:r>
            <a:r>
              <a:rPr lang="en-US" altLang="zh-CN" sz="1400" dirty="0"/>
              <a:t>Reasoning,</a:t>
            </a:r>
            <a:r>
              <a:rPr lang="zh-CN" altLang="en-US" sz="1400" dirty="0"/>
              <a:t> </a:t>
            </a:r>
            <a:endParaRPr lang="en-US" altLang="zh-CN" sz="1400" dirty="0"/>
          </a:p>
          <a:p>
            <a:pPr>
              <a:lnSpc>
                <a:spcPct val="60000"/>
              </a:lnSpc>
            </a:pPr>
            <a:r>
              <a:rPr lang="en-US" altLang="zh-CN" sz="1400" dirty="0"/>
              <a:t>Commonsense</a:t>
            </a:r>
            <a:r>
              <a:rPr lang="zh-CN" altLang="en-US" sz="1400" dirty="0"/>
              <a:t> </a:t>
            </a:r>
            <a:r>
              <a:rPr lang="en-US" altLang="zh-CN" sz="1400" dirty="0"/>
              <a:t>&amp;</a:t>
            </a:r>
            <a:r>
              <a:rPr lang="zh-CN" altLang="en-US" sz="1400" dirty="0"/>
              <a:t> </a:t>
            </a:r>
            <a:r>
              <a:rPr lang="en-US" altLang="zh-CN" sz="1400" dirty="0"/>
              <a:t>World</a:t>
            </a:r>
            <a:r>
              <a:rPr lang="zh-CN" altLang="en-US" sz="1400" dirty="0"/>
              <a:t> </a:t>
            </a:r>
            <a:r>
              <a:rPr lang="en-US" altLang="zh-CN" sz="1400" dirty="0"/>
              <a:t>Know.,</a:t>
            </a:r>
            <a:r>
              <a:rPr lang="zh-CN" altLang="en-US" sz="1400" dirty="0"/>
              <a:t> </a:t>
            </a:r>
            <a:r>
              <a:rPr lang="en-US" altLang="zh-CN" sz="1400" strike="sngStrike" dirty="0"/>
              <a:t>Adversarial</a:t>
            </a:r>
            <a:r>
              <a:rPr lang="en-US" altLang="zh-CN" sz="1400" dirty="0"/>
              <a:t>,</a:t>
            </a:r>
            <a:r>
              <a:rPr lang="zh-CN" altLang="en-US" sz="1400" dirty="0"/>
              <a:t> </a:t>
            </a:r>
            <a:r>
              <a:rPr lang="en-US" altLang="zh-CN" sz="1400" dirty="0"/>
              <a:t>Temporal</a:t>
            </a:r>
            <a:r>
              <a:rPr lang="zh-CN" altLang="en-US" sz="1400" dirty="0"/>
              <a:t> </a:t>
            </a:r>
            <a:r>
              <a:rPr lang="en-US" altLang="zh-CN" sz="1400" dirty="0"/>
              <a:t>Reasoning</a:t>
            </a:r>
          </a:p>
          <a:p>
            <a:pPr>
              <a:lnSpc>
                <a:spcPct val="60000"/>
              </a:lnSpc>
            </a:pPr>
            <a:r>
              <a:rPr lang="en-US" altLang="zh-CN" sz="1400" dirty="0"/>
              <a:t>10</a:t>
            </a:r>
            <a:r>
              <a:rPr lang="zh-CN" altLang="en-US" sz="1400" dirty="0"/>
              <a:t> </a:t>
            </a:r>
            <a:r>
              <a:rPr lang="en-US" altLang="zh-CN" sz="1400" dirty="0"/>
              <a:t>dialogues</a:t>
            </a:r>
            <a:r>
              <a:rPr lang="zh-CN" altLang="en-US" sz="1400" dirty="0"/>
              <a:t> </a:t>
            </a:r>
            <a:r>
              <a:rPr lang="en-US" altLang="zh-CN" sz="1400" dirty="0"/>
              <a:t>+</a:t>
            </a:r>
            <a:r>
              <a:rPr lang="zh-CN" altLang="en-US" sz="1400" dirty="0"/>
              <a:t> </a:t>
            </a:r>
            <a:r>
              <a:rPr lang="en-US" altLang="zh-CN" sz="1400" dirty="0"/>
              <a:t>1540</a:t>
            </a:r>
            <a:r>
              <a:rPr lang="zh-CN" altLang="en-US" sz="1400" dirty="0"/>
              <a:t> </a:t>
            </a:r>
            <a:r>
              <a:rPr lang="en-US" altLang="zh-CN" sz="1400" dirty="0"/>
              <a:t>QA</a:t>
            </a:r>
          </a:p>
          <a:p>
            <a:pPr marL="0" indent="0">
              <a:lnSpc>
                <a:spcPct val="60000"/>
              </a:lnSpc>
              <a:buNone/>
            </a:pPr>
            <a:endParaRPr lang="en-US" altLang="zh-CN" sz="1600" b="1" dirty="0"/>
          </a:p>
          <a:p>
            <a:pPr marL="0" indent="0">
              <a:lnSpc>
                <a:spcPct val="60000"/>
              </a:lnSpc>
              <a:buNone/>
            </a:pPr>
            <a:r>
              <a:rPr lang="en-US" altLang="zh-CN" sz="1600" b="1" dirty="0"/>
              <a:t>MSC-self-instruct:</a:t>
            </a:r>
            <a:r>
              <a:rPr lang="zh-CN" altLang="en-US" sz="1600" b="1" dirty="0"/>
              <a:t> </a:t>
            </a:r>
            <a:endParaRPr lang="en-US" altLang="zh-CN" sz="1600" b="1" dirty="0"/>
          </a:p>
          <a:p>
            <a:pPr>
              <a:lnSpc>
                <a:spcPct val="60000"/>
              </a:lnSpc>
            </a:pPr>
            <a:r>
              <a:rPr lang="en-US" altLang="zh-CN" sz="1400" dirty="0"/>
              <a:t>Published</a:t>
            </a:r>
            <a:r>
              <a:rPr lang="zh-CN" altLang="en-US" sz="1400" dirty="0"/>
              <a:t> </a:t>
            </a:r>
            <a:r>
              <a:rPr lang="en-US" altLang="zh-CN" sz="1400" dirty="0"/>
              <a:t>by</a:t>
            </a:r>
            <a:r>
              <a:rPr lang="zh-CN" altLang="en-US" sz="1400" dirty="0"/>
              <a:t> </a:t>
            </a:r>
            <a:r>
              <a:rPr lang="en-US" altLang="zh-CN" sz="1400" dirty="0" err="1"/>
              <a:t>MemGPT</a:t>
            </a:r>
            <a:r>
              <a:rPr lang="en-US" altLang="zh-CN" sz="1400" dirty="0"/>
              <a:t>,</a:t>
            </a:r>
            <a:r>
              <a:rPr lang="zh-CN" altLang="en-US" sz="1400" dirty="0"/>
              <a:t> </a:t>
            </a:r>
            <a:r>
              <a:rPr lang="en-US" altLang="zh-CN" sz="1400" dirty="0"/>
              <a:t>derived</a:t>
            </a:r>
            <a:r>
              <a:rPr lang="en-GB" sz="1400" dirty="0"/>
              <a:t> from Multi-Session Chat (MSC) dataset.</a:t>
            </a:r>
            <a:r>
              <a:rPr lang="zh-CN" altLang="en-US" sz="1400" dirty="0"/>
              <a:t> </a:t>
            </a:r>
            <a:endParaRPr lang="en-US" altLang="zh-CN" sz="1400" dirty="0"/>
          </a:p>
          <a:p>
            <a:pPr>
              <a:lnSpc>
                <a:spcPct val="60000"/>
              </a:lnSpc>
            </a:pPr>
            <a:r>
              <a:rPr lang="en-GB" sz="1400" dirty="0"/>
              <a:t>Memory Retrieval QA – user asks about past details </a:t>
            </a:r>
          </a:p>
          <a:p>
            <a:pPr marL="0" indent="0">
              <a:lnSpc>
                <a:spcPct val="60000"/>
              </a:lnSpc>
              <a:buNone/>
            </a:pPr>
            <a:r>
              <a:rPr lang="zh-CN" altLang="en-US" sz="1400" dirty="0"/>
              <a:t>    </a:t>
            </a:r>
            <a:r>
              <a:rPr lang="en-GB" sz="1400" dirty="0"/>
              <a:t>(“What city did I visit last month?”).</a:t>
            </a:r>
            <a:r>
              <a:rPr lang="zh-CN" altLang="en-US" sz="1400" dirty="0"/>
              <a:t> </a:t>
            </a:r>
            <a:endParaRPr lang="en-US" altLang="zh-CN" sz="1400" dirty="0"/>
          </a:p>
          <a:p>
            <a:pPr>
              <a:lnSpc>
                <a:spcPct val="60000"/>
              </a:lnSpc>
            </a:pPr>
            <a:r>
              <a:rPr lang="en-US" altLang="zh-CN" sz="1400" dirty="0"/>
              <a:t>500</a:t>
            </a:r>
            <a:r>
              <a:rPr lang="zh-CN" altLang="en-US" sz="1400" dirty="0"/>
              <a:t> </a:t>
            </a:r>
            <a:r>
              <a:rPr lang="en-US" altLang="zh-CN" sz="1400" dirty="0"/>
              <a:t>dialogues</a:t>
            </a:r>
            <a:r>
              <a:rPr lang="zh-CN" altLang="en-US" sz="1400" dirty="0"/>
              <a:t> </a:t>
            </a:r>
            <a:r>
              <a:rPr lang="en-US" altLang="zh-CN" sz="1400" dirty="0"/>
              <a:t>+</a:t>
            </a:r>
            <a:r>
              <a:rPr lang="zh-CN" altLang="en-US" sz="1400" dirty="0"/>
              <a:t> </a:t>
            </a:r>
            <a:r>
              <a:rPr lang="en-US" altLang="zh-CN" sz="1400" dirty="0"/>
              <a:t>500</a:t>
            </a:r>
            <a:r>
              <a:rPr lang="zh-CN" altLang="en-US" sz="1400" dirty="0"/>
              <a:t> </a:t>
            </a:r>
            <a:r>
              <a:rPr lang="en-US" altLang="zh-CN" sz="1400" dirty="0"/>
              <a:t>QA</a:t>
            </a:r>
          </a:p>
          <a:p>
            <a:pPr marL="0" indent="0">
              <a:lnSpc>
                <a:spcPct val="60000"/>
              </a:lnSpc>
              <a:buNone/>
            </a:pPr>
            <a:endParaRPr lang="en-GB" sz="1600" dirty="0"/>
          </a:p>
          <a:p>
            <a:pPr marL="0" indent="0">
              <a:lnSpc>
                <a:spcPct val="60000"/>
              </a:lnSpc>
              <a:buNone/>
            </a:pPr>
            <a:r>
              <a:rPr lang="en-GB" sz="1600" b="1" dirty="0" err="1"/>
              <a:t>LongMemEval</a:t>
            </a:r>
            <a:endParaRPr lang="en-US" altLang="zh-CN" sz="1400" dirty="0"/>
          </a:p>
          <a:p>
            <a:pPr>
              <a:lnSpc>
                <a:spcPct val="60000"/>
              </a:lnSpc>
            </a:pPr>
            <a:r>
              <a:rPr lang="en-US" altLang="zh-CN" sz="1400" dirty="0"/>
              <a:t>Information Extraction (IE),</a:t>
            </a:r>
            <a:r>
              <a:rPr lang="zh-CN" altLang="en-US" sz="1400" dirty="0"/>
              <a:t> </a:t>
            </a:r>
            <a:r>
              <a:rPr lang="en-GB" altLang="zh-CN" sz="1400" dirty="0"/>
              <a:t>Multi-Session Reasoning (MR)</a:t>
            </a:r>
            <a:r>
              <a:rPr lang="en-US" altLang="zh-CN" sz="1400" dirty="0"/>
              <a:t>,</a:t>
            </a:r>
            <a:r>
              <a:rPr lang="zh-CN" altLang="en-US" sz="1400" dirty="0"/>
              <a:t> </a:t>
            </a:r>
            <a:endParaRPr lang="en-US" altLang="zh-CN" sz="1400" dirty="0"/>
          </a:p>
          <a:p>
            <a:pPr marL="0" indent="0">
              <a:lnSpc>
                <a:spcPct val="60000"/>
              </a:lnSpc>
              <a:buNone/>
            </a:pPr>
            <a:r>
              <a:rPr lang="zh-CN" altLang="en-US" sz="1400" dirty="0"/>
              <a:t>    </a:t>
            </a:r>
            <a:r>
              <a:rPr lang="en-GB" altLang="zh-CN" sz="1400" dirty="0"/>
              <a:t>Knowledge Updates (KU)</a:t>
            </a:r>
            <a:r>
              <a:rPr lang="en-US" altLang="zh-CN" sz="1400" dirty="0"/>
              <a:t>,</a:t>
            </a:r>
            <a:r>
              <a:rPr lang="zh-CN" altLang="en-US" sz="1400" dirty="0"/>
              <a:t> </a:t>
            </a:r>
            <a:r>
              <a:rPr lang="en-GB" altLang="zh-CN" sz="1400" dirty="0"/>
              <a:t>Temporal Reasoning (TR)</a:t>
            </a:r>
            <a:r>
              <a:rPr lang="en-US" altLang="zh-CN" sz="1400" dirty="0"/>
              <a:t>,</a:t>
            </a:r>
            <a:r>
              <a:rPr lang="zh-CN" altLang="en-US" sz="1400" dirty="0"/>
              <a:t> </a:t>
            </a:r>
            <a:r>
              <a:rPr lang="en-GB" altLang="zh-CN" sz="1400" strike="sngStrike" dirty="0"/>
              <a:t>Abstention (ABS)</a:t>
            </a:r>
            <a:endParaRPr lang="en-US" altLang="zh-CN" sz="1400" strike="sngStrike" dirty="0"/>
          </a:p>
          <a:p>
            <a:r>
              <a:rPr lang="en-US" altLang="zh-CN" sz="1400" dirty="0"/>
              <a:t>500</a:t>
            </a:r>
            <a:r>
              <a:rPr lang="zh-CN" altLang="en-US" sz="1400" dirty="0"/>
              <a:t> </a:t>
            </a:r>
            <a:r>
              <a:rPr lang="en-US" altLang="zh-CN" sz="1400" dirty="0"/>
              <a:t>dialogues</a:t>
            </a:r>
            <a:r>
              <a:rPr lang="zh-CN" altLang="en-US" sz="1400" dirty="0"/>
              <a:t> </a:t>
            </a:r>
            <a:r>
              <a:rPr lang="en-US" altLang="zh-CN" sz="1400" dirty="0"/>
              <a:t>+</a:t>
            </a:r>
            <a:r>
              <a:rPr lang="zh-CN" altLang="en-US" sz="1400" dirty="0"/>
              <a:t> </a:t>
            </a:r>
            <a:r>
              <a:rPr lang="en-US" altLang="zh-CN" sz="1400" dirty="0"/>
              <a:t>500</a:t>
            </a:r>
            <a:r>
              <a:rPr lang="zh-CN" altLang="en-US" sz="1400" dirty="0"/>
              <a:t> </a:t>
            </a:r>
            <a:r>
              <a:rPr lang="en-US" altLang="zh-CN" sz="1400" dirty="0"/>
              <a:t>QA</a:t>
            </a:r>
          </a:p>
          <a:p>
            <a:endParaRPr lang="en-US" sz="1800" dirty="0"/>
          </a:p>
        </p:txBody>
      </p:sp>
      <p:sp>
        <p:nvSpPr>
          <p:cNvPr id="11" name="TextBox 10">
            <a:extLst>
              <a:ext uri="{FF2B5EF4-FFF2-40B4-BE49-F238E27FC236}">
                <a16:creationId xmlns:a16="http://schemas.microsoft.com/office/drawing/2014/main" id="{8E775339-79AB-B3FE-B24B-29BEACB2A22B}"/>
              </a:ext>
            </a:extLst>
          </p:cNvPr>
          <p:cNvSpPr txBox="1"/>
          <p:nvPr/>
        </p:nvSpPr>
        <p:spPr>
          <a:xfrm>
            <a:off x="3046429" y="2990206"/>
            <a:ext cx="6099142" cy="369332"/>
          </a:xfrm>
          <a:prstGeom prst="rect">
            <a:avLst/>
          </a:prstGeom>
          <a:noFill/>
        </p:spPr>
        <p:txBody>
          <a:bodyPr wrap="square">
            <a:spAutoFit/>
          </a:bodyPr>
          <a:lstStyle/>
          <a:p>
            <a:endParaRPr lang="en-US" dirty="0"/>
          </a:p>
        </p:txBody>
      </p:sp>
      <p:pic>
        <p:nvPicPr>
          <p:cNvPr id="13" name="Picture 12">
            <a:extLst>
              <a:ext uri="{FF2B5EF4-FFF2-40B4-BE49-F238E27FC236}">
                <a16:creationId xmlns:a16="http://schemas.microsoft.com/office/drawing/2014/main" id="{9C01FA4B-66D0-E1E1-A09A-F98DE1E0C14C}"/>
              </a:ext>
            </a:extLst>
          </p:cNvPr>
          <p:cNvPicPr>
            <a:picLocks noChangeAspect="1"/>
          </p:cNvPicPr>
          <p:nvPr/>
        </p:nvPicPr>
        <p:blipFill>
          <a:blip r:embed="rId2"/>
          <a:srcRect l="17203" t="7560" r="14128" b="10516"/>
          <a:stretch>
            <a:fillRect/>
          </a:stretch>
        </p:blipFill>
        <p:spPr>
          <a:xfrm>
            <a:off x="9882200" y="2010873"/>
            <a:ext cx="1937439" cy="3271026"/>
          </a:xfrm>
          <a:prstGeom prst="rect">
            <a:avLst/>
          </a:prstGeom>
        </p:spPr>
      </p:pic>
      <p:pic>
        <p:nvPicPr>
          <p:cNvPr id="15" name="Picture 14" descr="A screenshot of a chat&#10;&#10;AI-generated content may be incorrect.">
            <a:extLst>
              <a:ext uri="{FF2B5EF4-FFF2-40B4-BE49-F238E27FC236}">
                <a16:creationId xmlns:a16="http://schemas.microsoft.com/office/drawing/2014/main" id="{74659E11-75AF-02F4-F88C-468D4CA19144}"/>
              </a:ext>
            </a:extLst>
          </p:cNvPr>
          <p:cNvPicPr>
            <a:picLocks noChangeAspect="1"/>
          </p:cNvPicPr>
          <p:nvPr/>
        </p:nvPicPr>
        <p:blipFill>
          <a:blip r:embed="rId3"/>
          <a:stretch>
            <a:fillRect/>
          </a:stretch>
        </p:blipFill>
        <p:spPr>
          <a:xfrm>
            <a:off x="6789644" y="4425058"/>
            <a:ext cx="2880903" cy="1897258"/>
          </a:xfrm>
          <a:prstGeom prst="rect">
            <a:avLst/>
          </a:prstGeom>
        </p:spPr>
      </p:pic>
      <p:pic>
        <p:nvPicPr>
          <p:cNvPr id="16" name="Picture 15" descr="A screenshot of a question answer task&#10;&#10;AI-generated content may be incorrect.">
            <a:extLst>
              <a:ext uri="{FF2B5EF4-FFF2-40B4-BE49-F238E27FC236}">
                <a16:creationId xmlns:a16="http://schemas.microsoft.com/office/drawing/2014/main" id="{06352030-E14E-E169-0D75-89ED25D083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5419" y="246454"/>
            <a:ext cx="2161301" cy="2139687"/>
          </a:xfrm>
          <a:prstGeom prst="rect">
            <a:avLst/>
          </a:prstGeom>
        </p:spPr>
      </p:pic>
      <p:sp>
        <p:nvSpPr>
          <p:cNvPr id="17" name="TextBox 16">
            <a:extLst>
              <a:ext uri="{FF2B5EF4-FFF2-40B4-BE49-F238E27FC236}">
                <a16:creationId xmlns:a16="http://schemas.microsoft.com/office/drawing/2014/main" id="{A6FAA4DF-9683-9125-52FE-91C70BA161EE}"/>
              </a:ext>
            </a:extLst>
          </p:cNvPr>
          <p:cNvSpPr txBox="1"/>
          <p:nvPr/>
        </p:nvSpPr>
        <p:spPr>
          <a:xfrm>
            <a:off x="7250499" y="2445444"/>
            <a:ext cx="1959191"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a:</a:t>
            </a:r>
            <a:r>
              <a:rPr lang="zh-CN" altLang="en-US" sz="1200" i="1" dirty="0"/>
              <a:t> </a:t>
            </a:r>
            <a:r>
              <a:rPr lang="en-US" altLang="zh-CN" sz="1200" i="1" dirty="0" err="1"/>
              <a:t>LoCoMo</a:t>
            </a:r>
            <a:r>
              <a:rPr lang="zh-CN" altLang="en-US" sz="1200" i="1" dirty="0"/>
              <a:t> </a:t>
            </a:r>
            <a:r>
              <a:rPr lang="en-US" altLang="zh-CN" sz="1200" i="1" dirty="0"/>
              <a:t>dataset</a:t>
            </a:r>
            <a:endParaRPr lang="en-US" sz="1200" i="1" dirty="0"/>
          </a:p>
        </p:txBody>
      </p:sp>
      <p:sp>
        <p:nvSpPr>
          <p:cNvPr id="18" name="TextBox 17">
            <a:extLst>
              <a:ext uri="{FF2B5EF4-FFF2-40B4-BE49-F238E27FC236}">
                <a16:creationId xmlns:a16="http://schemas.microsoft.com/office/drawing/2014/main" id="{AD60995D-B755-67C2-3B67-2B7921EE34BF}"/>
              </a:ext>
            </a:extLst>
          </p:cNvPr>
          <p:cNvSpPr txBox="1"/>
          <p:nvPr/>
        </p:nvSpPr>
        <p:spPr>
          <a:xfrm>
            <a:off x="9571562" y="5373687"/>
            <a:ext cx="2558714"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b:</a:t>
            </a:r>
            <a:r>
              <a:rPr lang="zh-CN" altLang="en-US" sz="1200" i="1" dirty="0"/>
              <a:t> </a:t>
            </a:r>
            <a:r>
              <a:rPr lang="en-US" altLang="zh-CN" sz="1200" i="1" dirty="0"/>
              <a:t>MSC-self-instruct</a:t>
            </a:r>
            <a:r>
              <a:rPr lang="zh-CN" altLang="en-US" sz="1200" i="1" dirty="0"/>
              <a:t> </a:t>
            </a:r>
            <a:r>
              <a:rPr lang="en-US" altLang="zh-CN" sz="1200" i="1" dirty="0"/>
              <a:t>dataset</a:t>
            </a:r>
            <a:endParaRPr lang="en-US" sz="1200" i="1" dirty="0"/>
          </a:p>
        </p:txBody>
      </p:sp>
      <p:sp>
        <p:nvSpPr>
          <p:cNvPr id="19" name="TextBox 18">
            <a:extLst>
              <a:ext uri="{FF2B5EF4-FFF2-40B4-BE49-F238E27FC236}">
                <a16:creationId xmlns:a16="http://schemas.microsoft.com/office/drawing/2014/main" id="{AE294790-E026-449D-08FE-973BB32D96FA}"/>
              </a:ext>
            </a:extLst>
          </p:cNvPr>
          <p:cNvSpPr txBox="1"/>
          <p:nvPr/>
        </p:nvSpPr>
        <p:spPr>
          <a:xfrm>
            <a:off x="7054132" y="6320593"/>
            <a:ext cx="2351926"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c:</a:t>
            </a:r>
            <a:r>
              <a:rPr lang="zh-CN" altLang="en-US" sz="1200" i="1" dirty="0"/>
              <a:t> </a:t>
            </a:r>
            <a:r>
              <a:rPr lang="en-US" altLang="zh-CN" sz="1200" i="1" dirty="0" err="1"/>
              <a:t>LongMemEval</a:t>
            </a:r>
            <a:r>
              <a:rPr lang="zh-CN" altLang="en-US" sz="1200" i="1" dirty="0"/>
              <a:t> </a:t>
            </a:r>
            <a:r>
              <a:rPr lang="en-US" altLang="zh-CN" sz="1200" i="1" dirty="0"/>
              <a:t>dataset</a:t>
            </a:r>
            <a:endParaRPr lang="en-US" sz="1200" i="1" dirty="0"/>
          </a:p>
        </p:txBody>
      </p:sp>
    </p:spTree>
    <p:extLst>
      <p:ext uri="{BB962C8B-B14F-4D97-AF65-F5344CB8AC3E}">
        <p14:creationId xmlns:p14="http://schemas.microsoft.com/office/powerpoint/2010/main" val="4291566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DCD93C-0680-B6BB-3AF7-C19A9D169F4F}"/>
              </a:ext>
            </a:extLst>
          </p:cNvPr>
          <p:cNvSpPr>
            <a:spLocks noGrp="1"/>
          </p:cNvSpPr>
          <p:nvPr>
            <p:ph type="sldNum" sz="quarter" idx="4"/>
          </p:nvPr>
        </p:nvSpPr>
        <p:spPr/>
        <p:txBody>
          <a:bodyPr/>
          <a:lstStyle/>
          <a:p>
            <a:pPr algn="l"/>
            <a:fld id="{3889EAAA-2A39-E347-B0AA-909793490C00}" type="slidenum">
              <a:rPr lang="de-DE" smtClean="0"/>
              <a:pPr algn="l"/>
              <a:t>13</a:t>
            </a:fld>
            <a:endParaRPr lang="de-DE" dirty="0"/>
          </a:p>
        </p:txBody>
      </p:sp>
      <p:sp>
        <p:nvSpPr>
          <p:cNvPr id="3" name="Title 2">
            <a:extLst>
              <a:ext uri="{FF2B5EF4-FFF2-40B4-BE49-F238E27FC236}">
                <a16:creationId xmlns:a16="http://schemas.microsoft.com/office/drawing/2014/main" id="{8251B3A4-16ED-A108-A140-8EF1304473CC}"/>
              </a:ext>
            </a:extLst>
          </p:cNvPr>
          <p:cNvSpPr>
            <a:spLocks noGrp="1"/>
          </p:cNvSpPr>
          <p:nvPr>
            <p:ph type="title"/>
          </p:nvPr>
        </p:nvSpPr>
        <p:spPr/>
        <p:txBody>
          <a:bodyPr/>
          <a:lstStyle/>
          <a:p>
            <a:r>
              <a:rPr lang="en-US" altLang="zh-CN" sz="2000" dirty="0"/>
              <a:t>Pipeline</a:t>
            </a:r>
            <a:br>
              <a:rPr lang="en-US" altLang="zh-CN" sz="2000" dirty="0">
                <a:solidFill>
                  <a:srgbClr val="4F8F8F"/>
                </a:solidFill>
                <a:latin typeface="Aptos" panose="020B0004020202020204" pitchFamily="34" charset="0"/>
                <a:cs typeface="Arial" panose="020B0604020202020204" pitchFamily="34" charset="0"/>
              </a:rPr>
            </a:br>
            <a:endParaRPr lang="en-US" dirty="0"/>
          </a:p>
        </p:txBody>
      </p:sp>
      <p:sp>
        <p:nvSpPr>
          <p:cNvPr id="4" name="Content Placeholder 3">
            <a:extLst>
              <a:ext uri="{FF2B5EF4-FFF2-40B4-BE49-F238E27FC236}">
                <a16:creationId xmlns:a16="http://schemas.microsoft.com/office/drawing/2014/main" id="{E5D9ED16-CA99-BDF4-8A68-D51DCE95581D}"/>
              </a:ext>
            </a:extLst>
          </p:cNvPr>
          <p:cNvSpPr>
            <a:spLocks noGrp="1"/>
          </p:cNvSpPr>
          <p:nvPr>
            <p:ph sz="quarter" idx="10"/>
          </p:nvPr>
        </p:nvSpPr>
        <p:spPr/>
        <p:txBody>
          <a:bodyPr/>
          <a:lstStyle/>
          <a:p>
            <a:pPr marL="0" indent="0">
              <a:lnSpc>
                <a:spcPct val="60000"/>
              </a:lnSpc>
              <a:buFont typeface="Arial" panose="020B0604020202020204" pitchFamily="34" charset="0"/>
              <a:buNone/>
            </a:pPr>
            <a:r>
              <a:rPr lang="en-GB" sz="1400" b="1" dirty="0"/>
              <a:t>Stage 1: Memory Construction</a:t>
            </a:r>
          </a:p>
          <a:p>
            <a:pPr marL="285750" indent="-285750">
              <a:lnSpc>
                <a:spcPct val="60000"/>
              </a:lnSpc>
            </a:pPr>
            <a:r>
              <a:rPr lang="en-GB" sz="1400" dirty="0"/>
              <a:t>Extract key info from dialogues</a:t>
            </a:r>
          </a:p>
          <a:p>
            <a:pPr marL="285750" indent="-285750">
              <a:lnSpc>
                <a:spcPct val="60000"/>
              </a:lnSpc>
            </a:pPr>
            <a:r>
              <a:rPr lang="en-GB" sz="1400" dirty="0"/>
              <a:t>Memory Manager → {ADD, UPDATE, DELETE, NOOP}</a:t>
            </a:r>
          </a:p>
          <a:p>
            <a:pPr marL="285750" indent="-285750">
              <a:lnSpc>
                <a:spcPct val="60000"/>
              </a:lnSpc>
            </a:pPr>
            <a:r>
              <a:rPr lang="en-GB" sz="1400" dirty="0"/>
              <a:t>Build &amp; evolve memory bank</a:t>
            </a:r>
          </a:p>
          <a:p>
            <a:pPr>
              <a:lnSpc>
                <a:spcPct val="60000"/>
              </a:lnSpc>
            </a:pPr>
            <a:endParaRPr lang="en-GB" sz="1400" dirty="0"/>
          </a:p>
          <a:p>
            <a:pPr>
              <a:lnSpc>
                <a:spcPct val="60000"/>
              </a:lnSpc>
            </a:pPr>
            <a:endParaRPr lang="en-GB" sz="1400" dirty="0"/>
          </a:p>
          <a:p>
            <a:pPr marL="0" indent="0">
              <a:lnSpc>
                <a:spcPct val="60000"/>
              </a:lnSpc>
              <a:buFont typeface="Arial" panose="020B0604020202020204" pitchFamily="34" charset="0"/>
              <a:buNone/>
            </a:pPr>
            <a:r>
              <a:rPr lang="en-GB" sz="1400" b="1" dirty="0"/>
              <a:t>Stage 2: Memory-Guided Answer Generation</a:t>
            </a:r>
          </a:p>
          <a:p>
            <a:pPr marL="285750" indent="-285750">
              <a:lnSpc>
                <a:spcPct val="60000"/>
              </a:lnSpc>
            </a:pPr>
            <a:r>
              <a:rPr lang="en-GB" sz="1400" dirty="0"/>
              <a:t>Retrieve candidate memories</a:t>
            </a:r>
            <a:r>
              <a:rPr lang="zh-CN" altLang="en-US" sz="1400" dirty="0"/>
              <a:t> </a:t>
            </a:r>
            <a:r>
              <a:rPr lang="en-US" altLang="zh-CN" sz="1400" dirty="0"/>
              <a:t>(30</a:t>
            </a:r>
            <a:r>
              <a:rPr lang="zh-CN" altLang="en-US" sz="1400" dirty="0"/>
              <a:t> </a:t>
            </a:r>
            <a:r>
              <a:rPr lang="en-US" altLang="zh-CN" sz="1400" dirty="0"/>
              <a:t>from</a:t>
            </a:r>
            <a:r>
              <a:rPr lang="zh-CN" altLang="en-US" sz="1400" dirty="0"/>
              <a:t> </a:t>
            </a:r>
            <a:r>
              <a:rPr lang="en-US" altLang="zh-CN" sz="1400" dirty="0"/>
              <a:t>each</a:t>
            </a:r>
            <a:r>
              <a:rPr lang="zh-CN" altLang="en-US" sz="1400" dirty="0"/>
              <a:t> </a:t>
            </a:r>
            <a:r>
              <a:rPr lang="en-US" altLang="zh-CN" sz="1400" dirty="0"/>
              <a:t>candidate)</a:t>
            </a:r>
            <a:endParaRPr lang="en-GB" sz="1400" dirty="0"/>
          </a:p>
          <a:p>
            <a:pPr marL="285750" indent="-285750">
              <a:lnSpc>
                <a:spcPct val="60000"/>
              </a:lnSpc>
            </a:pPr>
            <a:r>
              <a:rPr lang="en-GB" sz="1400" dirty="0"/>
              <a:t>Answer Agent with Memory Distillation</a:t>
            </a:r>
          </a:p>
          <a:p>
            <a:pPr marL="285750" indent="-285750">
              <a:lnSpc>
                <a:spcPct val="60000"/>
              </a:lnSpc>
            </a:pPr>
            <a:r>
              <a:rPr lang="en-GB" sz="1400" dirty="0"/>
              <a:t>Generate accurate answers</a:t>
            </a:r>
          </a:p>
          <a:p>
            <a:pPr>
              <a:lnSpc>
                <a:spcPct val="60000"/>
              </a:lnSpc>
            </a:pPr>
            <a:endParaRPr lang="en-US" sz="1400" dirty="0"/>
          </a:p>
        </p:txBody>
      </p:sp>
      <p:pic>
        <p:nvPicPr>
          <p:cNvPr id="5" name="Picture 4" descr="A diagram of a memory management process&#10;&#10;AI-generated content may be incorrect.">
            <a:extLst>
              <a:ext uri="{FF2B5EF4-FFF2-40B4-BE49-F238E27FC236}">
                <a16:creationId xmlns:a16="http://schemas.microsoft.com/office/drawing/2014/main" id="{2BA5FE34-DB31-8AC4-9C4D-E56D102C1F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6046" y="1399802"/>
            <a:ext cx="6210658" cy="2252934"/>
          </a:xfrm>
          <a:prstGeom prst="rect">
            <a:avLst/>
          </a:prstGeom>
        </p:spPr>
      </p:pic>
      <p:pic>
        <p:nvPicPr>
          <p:cNvPr id="6" name="Picture 2" descr="Reinforcement Learning For Business: Real-Life Examples - KITRUM">
            <a:extLst>
              <a:ext uri="{FF2B5EF4-FFF2-40B4-BE49-F238E27FC236}">
                <a16:creationId xmlns:a16="http://schemas.microsoft.com/office/drawing/2014/main" id="{490EA4AD-335B-BBAA-D859-2BC340162D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589" y="4155440"/>
            <a:ext cx="2861948" cy="190796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AC6FEF-F0AE-77DB-F213-6A31429BDB19}"/>
              </a:ext>
            </a:extLst>
          </p:cNvPr>
          <p:cNvSpPr txBox="1"/>
          <p:nvPr/>
        </p:nvSpPr>
        <p:spPr>
          <a:xfrm>
            <a:off x="1405777" y="6192441"/>
            <a:ext cx="8959571" cy="369332"/>
          </a:xfrm>
          <a:prstGeom prst="rect">
            <a:avLst/>
          </a:prstGeom>
          <a:solidFill>
            <a:schemeClr val="accent1">
              <a:lumMod val="40000"/>
              <a:lumOff val="60000"/>
            </a:schemeClr>
          </a:solidFill>
        </p:spPr>
        <p:txBody>
          <a:bodyPr wrap="square" rtlCol="0">
            <a:spAutoFit/>
          </a:bodyPr>
          <a:lstStyle/>
          <a:p>
            <a:pPr algn="ctr"/>
            <a:r>
              <a:rPr lang="en-US" altLang="zh-CN" dirty="0"/>
              <a:t>Formulate</a:t>
            </a:r>
            <a:r>
              <a:rPr lang="zh-CN" altLang="en-US" dirty="0"/>
              <a:t> </a:t>
            </a:r>
            <a:r>
              <a:rPr lang="en-US" altLang="zh-CN" dirty="0"/>
              <a:t>memory</a:t>
            </a:r>
            <a:r>
              <a:rPr lang="zh-CN" altLang="en-US" dirty="0"/>
              <a:t> </a:t>
            </a:r>
            <a:r>
              <a:rPr lang="en-US" altLang="zh-CN" dirty="0"/>
              <a:t>management</a:t>
            </a:r>
            <a:r>
              <a:rPr lang="zh-CN" altLang="en-US" dirty="0"/>
              <a:t> </a:t>
            </a:r>
            <a:r>
              <a:rPr lang="en-US" altLang="zh-CN" dirty="0"/>
              <a:t>&amp;</a:t>
            </a:r>
            <a:r>
              <a:rPr lang="zh-CN" altLang="en-US" dirty="0"/>
              <a:t> </a:t>
            </a:r>
            <a:r>
              <a:rPr lang="en-US" altLang="zh-CN" dirty="0"/>
              <a:t>utilization</a:t>
            </a:r>
            <a:r>
              <a:rPr lang="zh-CN" altLang="en-US" dirty="0"/>
              <a:t> </a:t>
            </a:r>
            <a:r>
              <a:rPr lang="en-US" altLang="zh-CN" dirty="0"/>
              <a:t>into</a:t>
            </a:r>
            <a:r>
              <a:rPr lang="zh-CN" altLang="en-US" dirty="0"/>
              <a:t> </a:t>
            </a:r>
            <a:r>
              <a:rPr lang="en-US" altLang="zh-CN" dirty="0"/>
              <a:t>a</a:t>
            </a:r>
            <a:r>
              <a:rPr lang="zh-CN" altLang="en-US" dirty="0"/>
              <a:t> </a:t>
            </a:r>
            <a:r>
              <a:rPr lang="en-US" altLang="zh-CN" dirty="0"/>
              <a:t>Reinforcement</a:t>
            </a:r>
            <a:r>
              <a:rPr lang="zh-CN" altLang="en-US" dirty="0"/>
              <a:t> </a:t>
            </a:r>
            <a:r>
              <a:rPr lang="en-US" altLang="zh-CN" dirty="0"/>
              <a:t>Learning</a:t>
            </a:r>
            <a:r>
              <a:rPr lang="zh-CN" altLang="en-US" dirty="0"/>
              <a:t> </a:t>
            </a:r>
            <a:r>
              <a:rPr lang="en-US" altLang="zh-CN" dirty="0"/>
              <a:t>problem!</a:t>
            </a:r>
            <a:endParaRPr lang="en-US" dirty="0"/>
          </a:p>
        </p:txBody>
      </p:sp>
      <p:sp>
        <p:nvSpPr>
          <p:cNvPr id="8" name="TextBox 7">
            <a:extLst>
              <a:ext uri="{FF2B5EF4-FFF2-40B4-BE49-F238E27FC236}">
                <a16:creationId xmlns:a16="http://schemas.microsoft.com/office/drawing/2014/main" id="{BF9B4CE3-4ED8-B69B-CBF6-5C9ABFD60657}"/>
              </a:ext>
            </a:extLst>
          </p:cNvPr>
          <p:cNvSpPr txBox="1"/>
          <p:nvPr/>
        </p:nvSpPr>
        <p:spPr>
          <a:xfrm>
            <a:off x="7385016" y="3655998"/>
            <a:ext cx="2889381"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Overview</a:t>
            </a:r>
            <a:r>
              <a:rPr lang="zh-CN" altLang="en-US" sz="1200" i="1" dirty="0"/>
              <a:t> </a:t>
            </a:r>
            <a:r>
              <a:rPr lang="en-US" altLang="zh-CN" sz="1200" i="1" dirty="0"/>
              <a:t>of</a:t>
            </a:r>
            <a:r>
              <a:rPr lang="zh-CN" altLang="en-US" sz="1200" i="1" dirty="0"/>
              <a:t> </a:t>
            </a:r>
            <a:r>
              <a:rPr lang="en-US" altLang="zh-CN" sz="1200" i="1" dirty="0"/>
              <a:t>Memory-R1</a:t>
            </a:r>
            <a:r>
              <a:rPr lang="zh-CN" altLang="en-US" sz="1200" i="1" dirty="0"/>
              <a:t> </a:t>
            </a:r>
            <a:r>
              <a:rPr lang="en-US" altLang="zh-CN" sz="1200" i="1" dirty="0"/>
              <a:t>framework</a:t>
            </a:r>
            <a:endParaRPr lang="en-US" sz="1200" i="1" dirty="0"/>
          </a:p>
        </p:txBody>
      </p:sp>
    </p:spTree>
    <p:extLst>
      <p:ext uri="{BB962C8B-B14F-4D97-AF65-F5344CB8AC3E}">
        <p14:creationId xmlns:p14="http://schemas.microsoft.com/office/powerpoint/2010/main" val="770228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45FCEC6-C5A0-F6E8-FD44-E48622AE5CCD}"/>
              </a:ext>
            </a:extLst>
          </p:cNvPr>
          <p:cNvSpPr>
            <a:spLocks noGrp="1"/>
          </p:cNvSpPr>
          <p:nvPr>
            <p:ph type="sldNum" sz="quarter" idx="4"/>
          </p:nvPr>
        </p:nvSpPr>
        <p:spPr/>
        <p:txBody>
          <a:bodyPr/>
          <a:lstStyle/>
          <a:p>
            <a:pPr algn="l"/>
            <a:fld id="{3889EAAA-2A39-E347-B0AA-909793490C00}" type="slidenum">
              <a:rPr lang="de-DE" smtClean="0"/>
              <a:pPr algn="l"/>
              <a:t>14</a:t>
            </a:fld>
            <a:endParaRPr lang="de-DE" dirty="0"/>
          </a:p>
        </p:txBody>
      </p:sp>
      <p:sp>
        <p:nvSpPr>
          <p:cNvPr id="3" name="Title 2">
            <a:extLst>
              <a:ext uri="{FF2B5EF4-FFF2-40B4-BE49-F238E27FC236}">
                <a16:creationId xmlns:a16="http://schemas.microsoft.com/office/drawing/2014/main" id="{43DAF508-3EBC-F824-2548-65A6BA63BA8B}"/>
              </a:ext>
            </a:extLst>
          </p:cNvPr>
          <p:cNvSpPr>
            <a:spLocks noGrp="1"/>
          </p:cNvSpPr>
          <p:nvPr>
            <p:ph type="title"/>
          </p:nvPr>
        </p:nvSpPr>
        <p:spPr/>
        <p:txBody>
          <a:bodyPr/>
          <a:lstStyle/>
          <a:p>
            <a:r>
              <a:rPr lang="en-US" altLang="zh-CN" sz="2000" dirty="0"/>
              <a:t>Memory-R1</a:t>
            </a:r>
            <a:r>
              <a:rPr lang="zh-CN" altLang="en-US" sz="2000" dirty="0"/>
              <a:t> </a:t>
            </a:r>
            <a:r>
              <a:rPr lang="en-US" altLang="zh-CN" sz="2000" dirty="0"/>
              <a:t>Training</a:t>
            </a:r>
            <a:r>
              <a:rPr lang="zh-CN" altLang="en-US" sz="2000" dirty="0"/>
              <a:t> </a:t>
            </a:r>
            <a:r>
              <a:rPr lang="en-US" altLang="zh-CN" sz="2000" dirty="0"/>
              <a:t>Pipeline</a:t>
            </a:r>
            <a:endParaRPr lang="en-US" sz="2000" dirty="0"/>
          </a:p>
        </p:txBody>
      </p:sp>
      <p:sp>
        <p:nvSpPr>
          <p:cNvPr id="4" name="Content Placeholder 3">
            <a:extLst>
              <a:ext uri="{FF2B5EF4-FFF2-40B4-BE49-F238E27FC236}">
                <a16:creationId xmlns:a16="http://schemas.microsoft.com/office/drawing/2014/main" id="{98DCE2E9-A398-E801-232A-5F187A388C39}"/>
              </a:ext>
            </a:extLst>
          </p:cNvPr>
          <p:cNvSpPr>
            <a:spLocks noGrp="1"/>
          </p:cNvSpPr>
          <p:nvPr>
            <p:ph sz="quarter" idx="10"/>
          </p:nvPr>
        </p:nvSpPr>
        <p:spPr/>
        <p:txBody>
          <a:bodyPr/>
          <a:lstStyle/>
          <a:p>
            <a:pPr marL="0" indent="0">
              <a:lnSpc>
                <a:spcPct val="60000"/>
              </a:lnSpc>
              <a:buNone/>
            </a:pPr>
            <a:r>
              <a:rPr lang="en-GB" sz="1400" b="1" dirty="0"/>
              <a:t>Memory Manager</a:t>
            </a:r>
          </a:p>
          <a:p>
            <a:pPr marL="285750" indent="-285750">
              <a:lnSpc>
                <a:spcPct val="60000"/>
              </a:lnSpc>
            </a:pPr>
            <a:r>
              <a:rPr lang="en-GB" sz="1400" dirty="0"/>
              <a:t>Input: dialogue turns + memory bank + QA pairs</a:t>
            </a:r>
          </a:p>
          <a:p>
            <a:pPr marL="285750" indent="-285750">
              <a:lnSpc>
                <a:spcPct val="60000"/>
              </a:lnSpc>
            </a:pPr>
            <a:r>
              <a:rPr lang="en-GB" sz="1400" dirty="0"/>
              <a:t>Output: memory operation {ADD, UPDATE, DELETE, NOOP}</a:t>
            </a:r>
          </a:p>
          <a:p>
            <a:pPr marL="285750" indent="-285750">
              <a:lnSpc>
                <a:spcPct val="60000"/>
              </a:lnSpc>
            </a:pPr>
            <a:r>
              <a:rPr lang="en-GB" sz="1400" dirty="0"/>
              <a:t>Training Signal: answer correctness after update</a:t>
            </a:r>
          </a:p>
          <a:p>
            <a:pPr marL="285750" indent="-285750">
              <a:lnSpc>
                <a:spcPct val="60000"/>
              </a:lnSpc>
            </a:pPr>
            <a:r>
              <a:rPr lang="en-GB" sz="1400" dirty="0"/>
              <a:t>Reward: indirect (via Answer Agent’s success)</a:t>
            </a:r>
          </a:p>
          <a:p>
            <a:pPr marL="285750" indent="-285750">
              <a:lnSpc>
                <a:spcPct val="60000"/>
              </a:lnSpc>
            </a:pPr>
            <a:r>
              <a:rPr lang="en-GB" sz="1400" dirty="0"/>
              <a:t>Optimization: PPO / GRPO</a:t>
            </a:r>
          </a:p>
          <a:p>
            <a:pPr>
              <a:lnSpc>
                <a:spcPct val="60000"/>
              </a:lnSpc>
            </a:pPr>
            <a:endParaRPr lang="en-GB" sz="1400" dirty="0"/>
          </a:p>
          <a:p>
            <a:pPr>
              <a:lnSpc>
                <a:spcPct val="60000"/>
              </a:lnSpc>
            </a:pPr>
            <a:endParaRPr lang="en-GB" sz="1400" dirty="0"/>
          </a:p>
          <a:p>
            <a:pPr>
              <a:lnSpc>
                <a:spcPct val="60000"/>
              </a:lnSpc>
            </a:pPr>
            <a:endParaRPr lang="en-GB" sz="1400" dirty="0"/>
          </a:p>
          <a:p>
            <a:pPr>
              <a:lnSpc>
                <a:spcPct val="60000"/>
              </a:lnSpc>
            </a:pPr>
            <a:endParaRPr lang="en-GB" sz="1400" dirty="0"/>
          </a:p>
          <a:p>
            <a:pPr marL="0" indent="0">
              <a:lnSpc>
                <a:spcPct val="60000"/>
              </a:lnSpc>
              <a:buNone/>
            </a:pPr>
            <a:r>
              <a:rPr lang="en-GB" sz="1400" b="1" dirty="0"/>
              <a:t>Answer Agent</a:t>
            </a:r>
          </a:p>
          <a:p>
            <a:pPr marL="285750" indent="-285750">
              <a:lnSpc>
                <a:spcPct val="60000"/>
              </a:lnSpc>
            </a:pPr>
            <a:r>
              <a:rPr lang="en-GB" sz="1400" dirty="0"/>
              <a:t>Input: question + retrieved memories</a:t>
            </a:r>
          </a:p>
          <a:p>
            <a:pPr marL="285750" indent="-285750">
              <a:lnSpc>
                <a:spcPct val="60000"/>
              </a:lnSpc>
            </a:pPr>
            <a:r>
              <a:rPr lang="en-GB" sz="1400" dirty="0"/>
              <a:t>Output: distilled memories → final answer</a:t>
            </a:r>
          </a:p>
          <a:p>
            <a:pPr marL="285750" indent="-285750">
              <a:lnSpc>
                <a:spcPct val="60000"/>
              </a:lnSpc>
            </a:pPr>
            <a:r>
              <a:rPr lang="en-GB" sz="1400" dirty="0"/>
              <a:t>Training Signal: answer correctness vs ground truth</a:t>
            </a:r>
          </a:p>
          <a:p>
            <a:pPr marL="285750" indent="-285750">
              <a:lnSpc>
                <a:spcPct val="60000"/>
              </a:lnSpc>
            </a:pPr>
            <a:r>
              <a:rPr lang="en-GB" sz="1400" dirty="0"/>
              <a:t>Reward: direct (exact match)</a:t>
            </a:r>
          </a:p>
          <a:p>
            <a:pPr marL="285750" indent="-285750">
              <a:lnSpc>
                <a:spcPct val="60000"/>
              </a:lnSpc>
            </a:pPr>
            <a:r>
              <a:rPr lang="en-GB" sz="1400" dirty="0"/>
              <a:t>Optimization: PPO / GRPO</a:t>
            </a:r>
          </a:p>
          <a:p>
            <a:pPr>
              <a:lnSpc>
                <a:spcPct val="60000"/>
              </a:lnSpc>
            </a:pPr>
            <a:endParaRPr lang="en-US" sz="1200" dirty="0"/>
          </a:p>
        </p:txBody>
      </p:sp>
      <p:sp>
        <p:nvSpPr>
          <p:cNvPr id="5" name="Rectangle 4">
            <a:extLst>
              <a:ext uri="{FF2B5EF4-FFF2-40B4-BE49-F238E27FC236}">
                <a16:creationId xmlns:a16="http://schemas.microsoft.com/office/drawing/2014/main" id="{52ACF5A7-67E2-0490-9F76-FB5553A4BFBC}"/>
              </a:ext>
            </a:extLst>
          </p:cNvPr>
          <p:cNvSpPr/>
          <p:nvPr/>
        </p:nvSpPr>
        <p:spPr>
          <a:xfrm>
            <a:off x="6096000" y="379263"/>
            <a:ext cx="5165706" cy="2818661"/>
          </a:xfrm>
          <a:prstGeom prst="rect">
            <a:avLst/>
          </a:prstGeom>
          <a:solidFill>
            <a:srgbClr val="F1F5FB"/>
          </a:solidFill>
          <a:ln>
            <a:solidFill>
              <a:srgbClr val="4272C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63D5C7C-5A9A-6C5C-811A-BDFE1698F27B}"/>
              </a:ext>
            </a:extLst>
          </p:cNvPr>
          <p:cNvSpPr txBox="1"/>
          <p:nvPr/>
        </p:nvSpPr>
        <p:spPr>
          <a:xfrm>
            <a:off x="9862790" y="1704120"/>
            <a:ext cx="1365502" cy="276999"/>
          </a:xfrm>
          <a:prstGeom prst="rect">
            <a:avLst/>
          </a:prstGeom>
          <a:noFill/>
        </p:spPr>
        <p:txBody>
          <a:bodyPr wrap="none" rtlCol="0">
            <a:spAutoFit/>
          </a:bodyPr>
          <a:lstStyle/>
          <a:p>
            <a:r>
              <a:rPr lang="en-US" altLang="zh-CN" sz="1200" dirty="0"/>
              <a:t>Memory</a:t>
            </a:r>
            <a:r>
              <a:rPr lang="zh-CN" altLang="en-US" sz="1200" dirty="0"/>
              <a:t> </a:t>
            </a:r>
            <a:r>
              <a:rPr lang="en-US" altLang="zh-CN" sz="1200" dirty="0"/>
              <a:t>operation</a:t>
            </a:r>
            <a:endParaRPr lang="en-US" sz="1200" dirty="0"/>
          </a:p>
        </p:txBody>
      </p:sp>
      <p:pic>
        <p:nvPicPr>
          <p:cNvPr id="7" name="Picture 6" descr="A diagram of a diagram of a business&#10;&#10;AI-generated content may be incorrect.">
            <a:extLst>
              <a:ext uri="{FF2B5EF4-FFF2-40B4-BE49-F238E27FC236}">
                <a16:creationId xmlns:a16="http://schemas.microsoft.com/office/drawing/2014/main" id="{6889FCDF-F042-62C2-D78B-18C653919F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9137" y="540810"/>
            <a:ext cx="3947731" cy="2631821"/>
          </a:xfrm>
          <a:prstGeom prst="rect">
            <a:avLst/>
          </a:prstGeom>
        </p:spPr>
      </p:pic>
      <p:sp>
        <p:nvSpPr>
          <p:cNvPr id="8" name="TextBox 7">
            <a:extLst>
              <a:ext uri="{FF2B5EF4-FFF2-40B4-BE49-F238E27FC236}">
                <a16:creationId xmlns:a16="http://schemas.microsoft.com/office/drawing/2014/main" id="{02ED4A81-7169-06E3-1FBB-3889789FA46E}"/>
              </a:ext>
            </a:extLst>
          </p:cNvPr>
          <p:cNvSpPr txBox="1"/>
          <p:nvPr/>
        </p:nvSpPr>
        <p:spPr>
          <a:xfrm>
            <a:off x="6172921" y="517997"/>
            <a:ext cx="1104118" cy="461665"/>
          </a:xfrm>
          <a:prstGeom prst="rect">
            <a:avLst/>
          </a:prstGeom>
          <a:noFill/>
        </p:spPr>
        <p:txBody>
          <a:bodyPr wrap="square" rtlCol="0">
            <a:spAutoFit/>
          </a:bodyPr>
          <a:lstStyle/>
          <a:p>
            <a:pPr algn="ctr"/>
            <a:r>
              <a:rPr lang="en-DE" altLang="zh-CN" sz="1200" dirty="0"/>
              <a:t>Memory</a:t>
            </a:r>
            <a:r>
              <a:rPr lang="zh-CN" altLang="en-US" sz="1200" dirty="0"/>
              <a:t> </a:t>
            </a:r>
            <a:r>
              <a:rPr lang="en-US" altLang="zh-CN" sz="1200" dirty="0"/>
              <a:t>bank</a:t>
            </a:r>
            <a:r>
              <a:rPr lang="zh-CN" altLang="en-US" sz="1200" dirty="0"/>
              <a:t> </a:t>
            </a:r>
            <a:endParaRPr lang="en-US" altLang="zh-CN" sz="1200" dirty="0"/>
          </a:p>
          <a:p>
            <a:pPr algn="ctr"/>
            <a:r>
              <a:rPr lang="en-US" altLang="zh-CN" sz="1200" dirty="0"/>
              <a:t>+</a:t>
            </a:r>
            <a:r>
              <a:rPr lang="zh-CN" altLang="en-US" sz="1200" dirty="0"/>
              <a:t> </a:t>
            </a:r>
            <a:r>
              <a:rPr lang="en-US" altLang="zh-CN" sz="1200" dirty="0"/>
              <a:t>new</a:t>
            </a:r>
            <a:r>
              <a:rPr lang="zh-CN" altLang="en-US" sz="1200" dirty="0"/>
              <a:t> </a:t>
            </a:r>
            <a:r>
              <a:rPr lang="en-US" altLang="zh-CN" sz="1200" dirty="0"/>
              <a:t>fact</a:t>
            </a:r>
            <a:endParaRPr lang="en-US" sz="1200" dirty="0"/>
          </a:p>
        </p:txBody>
      </p:sp>
      <p:sp>
        <p:nvSpPr>
          <p:cNvPr id="9" name="TextBox 8">
            <a:extLst>
              <a:ext uri="{FF2B5EF4-FFF2-40B4-BE49-F238E27FC236}">
                <a16:creationId xmlns:a16="http://schemas.microsoft.com/office/drawing/2014/main" id="{CFD7D201-1F0E-7D16-4EDF-167FE2A116B0}"/>
              </a:ext>
            </a:extLst>
          </p:cNvPr>
          <p:cNvSpPr txBox="1"/>
          <p:nvPr/>
        </p:nvSpPr>
        <p:spPr>
          <a:xfrm>
            <a:off x="9104403" y="2895953"/>
            <a:ext cx="1190967" cy="276999"/>
          </a:xfrm>
          <a:prstGeom prst="rect">
            <a:avLst/>
          </a:prstGeom>
          <a:noFill/>
        </p:spPr>
        <p:txBody>
          <a:bodyPr wrap="none" rtlCol="0">
            <a:spAutoFit/>
          </a:bodyPr>
          <a:lstStyle/>
          <a:p>
            <a:r>
              <a:rPr lang="en-US" altLang="zh-CN" sz="1200" dirty="0"/>
              <a:t>Memory</a:t>
            </a:r>
            <a:r>
              <a:rPr lang="zh-CN" altLang="en-US" sz="1200" dirty="0"/>
              <a:t> </a:t>
            </a:r>
            <a:r>
              <a:rPr lang="en-US" altLang="zh-CN" sz="1200" dirty="0"/>
              <a:t>system</a:t>
            </a:r>
            <a:endParaRPr lang="en-US" sz="1200" dirty="0"/>
          </a:p>
        </p:txBody>
      </p:sp>
      <p:pic>
        <p:nvPicPr>
          <p:cNvPr id="10" name="Picture 9">
            <a:extLst>
              <a:ext uri="{FF2B5EF4-FFF2-40B4-BE49-F238E27FC236}">
                <a16:creationId xmlns:a16="http://schemas.microsoft.com/office/drawing/2014/main" id="{0D3FF78E-3D74-567A-C305-9FD0F1334794}"/>
              </a:ext>
            </a:extLst>
          </p:cNvPr>
          <p:cNvPicPr>
            <a:picLocks noChangeAspect="1"/>
          </p:cNvPicPr>
          <p:nvPr/>
        </p:nvPicPr>
        <p:blipFill>
          <a:blip r:embed="rId3"/>
          <a:stretch>
            <a:fillRect/>
          </a:stretch>
        </p:blipFill>
        <p:spPr>
          <a:xfrm>
            <a:off x="8220881" y="432653"/>
            <a:ext cx="378353" cy="378353"/>
          </a:xfrm>
          <a:prstGeom prst="rect">
            <a:avLst/>
          </a:prstGeom>
        </p:spPr>
      </p:pic>
      <p:sp>
        <p:nvSpPr>
          <p:cNvPr id="11" name="TextBox 10">
            <a:extLst>
              <a:ext uri="{FF2B5EF4-FFF2-40B4-BE49-F238E27FC236}">
                <a16:creationId xmlns:a16="http://schemas.microsoft.com/office/drawing/2014/main" id="{106198DE-F9E2-6E78-69AF-397038B2B3E3}"/>
              </a:ext>
            </a:extLst>
          </p:cNvPr>
          <p:cNvSpPr txBox="1"/>
          <p:nvPr/>
        </p:nvSpPr>
        <p:spPr>
          <a:xfrm>
            <a:off x="7264219" y="1448212"/>
            <a:ext cx="966081"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t>Answer</a:t>
            </a:r>
            <a:r>
              <a:rPr lang="zh-CN" altLang="en-US" sz="1200" dirty="0"/>
              <a:t> </a:t>
            </a:r>
            <a:r>
              <a:rPr lang="en-US" altLang="zh-CN" sz="1200" dirty="0"/>
              <a:t>correctness</a:t>
            </a:r>
            <a:endParaRPr lang="en-US" sz="1200" dirty="0"/>
          </a:p>
        </p:txBody>
      </p:sp>
      <mc:AlternateContent xmlns:mc="http://schemas.openxmlformats.org/markup-compatibility/2006">
        <mc:Choice xmlns:p14="http://schemas.microsoft.com/office/powerpoint/2010/main" Requires="p14">
          <p:contentPart p14:bwMode="auto" r:id="rId4">
            <p14:nvContentPartPr>
              <p14:cNvPr id="12" name="Ink 11">
                <a:extLst>
                  <a:ext uri="{FF2B5EF4-FFF2-40B4-BE49-F238E27FC236}">
                    <a16:creationId xmlns:a16="http://schemas.microsoft.com/office/drawing/2014/main" id="{EE28243E-0CEF-3B0A-22F6-4D62C8DB8736}"/>
                  </a:ext>
                </a:extLst>
              </p14:cNvPr>
              <p14:cNvContentPartPr/>
              <p14:nvPr/>
            </p14:nvContentPartPr>
            <p14:xfrm>
              <a:off x="7475457" y="2178553"/>
              <a:ext cx="243000" cy="108720"/>
            </p14:xfrm>
          </p:contentPart>
        </mc:Choice>
        <mc:Fallback>
          <p:pic>
            <p:nvPicPr>
              <p:cNvPr id="12" name="Ink 11">
                <a:extLst>
                  <a:ext uri="{FF2B5EF4-FFF2-40B4-BE49-F238E27FC236}">
                    <a16:creationId xmlns:a16="http://schemas.microsoft.com/office/drawing/2014/main" id="{EE28243E-0CEF-3B0A-22F6-4D62C8DB8736}"/>
                  </a:ext>
                </a:extLst>
              </p:cNvPr>
              <p:cNvPicPr/>
              <p:nvPr/>
            </p:nvPicPr>
            <p:blipFill>
              <a:blip r:embed="rId5"/>
              <a:stretch>
                <a:fillRect/>
              </a:stretch>
            </p:blipFill>
            <p:spPr>
              <a:xfrm>
                <a:off x="7469337" y="2172433"/>
                <a:ext cx="25524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3" name="Ink 12">
                <a:extLst>
                  <a:ext uri="{FF2B5EF4-FFF2-40B4-BE49-F238E27FC236}">
                    <a16:creationId xmlns:a16="http://schemas.microsoft.com/office/drawing/2014/main" id="{F1C6AF13-A351-B1B1-3142-BBE30B4C7FB6}"/>
                  </a:ext>
                </a:extLst>
              </p14:cNvPr>
              <p14:cNvContentPartPr/>
              <p14:nvPr/>
            </p14:nvContentPartPr>
            <p14:xfrm>
              <a:off x="7476177" y="2185753"/>
              <a:ext cx="119160" cy="53640"/>
            </p14:xfrm>
          </p:contentPart>
        </mc:Choice>
        <mc:Fallback>
          <p:pic>
            <p:nvPicPr>
              <p:cNvPr id="13" name="Ink 12">
                <a:extLst>
                  <a:ext uri="{FF2B5EF4-FFF2-40B4-BE49-F238E27FC236}">
                    <a16:creationId xmlns:a16="http://schemas.microsoft.com/office/drawing/2014/main" id="{F1C6AF13-A351-B1B1-3142-BBE30B4C7FB6}"/>
                  </a:ext>
                </a:extLst>
              </p:cNvPr>
              <p:cNvPicPr/>
              <p:nvPr/>
            </p:nvPicPr>
            <p:blipFill>
              <a:blip r:embed="rId7"/>
              <a:stretch>
                <a:fillRect/>
              </a:stretch>
            </p:blipFill>
            <p:spPr>
              <a:xfrm>
                <a:off x="7470057" y="2179674"/>
                <a:ext cx="131400" cy="65798"/>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4" name="Ink 13">
                <a:extLst>
                  <a:ext uri="{FF2B5EF4-FFF2-40B4-BE49-F238E27FC236}">
                    <a16:creationId xmlns:a16="http://schemas.microsoft.com/office/drawing/2014/main" id="{647AB33E-06F5-BC8F-619D-2F09824FA322}"/>
                  </a:ext>
                </a:extLst>
              </p14:cNvPr>
              <p14:cNvContentPartPr/>
              <p14:nvPr/>
            </p14:nvContentPartPr>
            <p14:xfrm>
              <a:off x="7121877" y="2413256"/>
              <a:ext cx="191880" cy="167040"/>
            </p14:xfrm>
          </p:contentPart>
        </mc:Choice>
        <mc:Fallback>
          <p:pic>
            <p:nvPicPr>
              <p:cNvPr id="14" name="Ink 13">
                <a:extLst>
                  <a:ext uri="{FF2B5EF4-FFF2-40B4-BE49-F238E27FC236}">
                    <a16:creationId xmlns:a16="http://schemas.microsoft.com/office/drawing/2014/main" id="{647AB33E-06F5-BC8F-619D-2F09824FA322}"/>
                  </a:ext>
                </a:extLst>
              </p:cNvPr>
              <p:cNvPicPr/>
              <p:nvPr/>
            </p:nvPicPr>
            <p:blipFill>
              <a:blip r:embed="rId9"/>
              <a:stretch>
                <a:fillRect/>
              </a:stretch>
            </p:blipFill>
            <p:spPr>
              <a:xfrm>
                <a:off x="7112894" y="2404256"/>
                <a:ext cx="209487"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5" name="Ink 14">
                <a:extLst>
                  <a:ext uri="{FF2B5EF4-FFF2-40B4-BE49-F238E27FC236}">
                    <a16:creationId xmlns:a16="http://schemas.microsoft.com/office/drawing/2014/main" id="{EEE195A3-6254-9AFC-BB9A-20618D47809E}"/>
                  </a:ext>
                </a:extLst>
              </p14:cNvPr>
              <p14:cNvContentPartPr/>
              <p14:nvPr/>
            </p14:nvContentPartPr>
            <p14:xfrm>
              <a:off x="7161117" y="2407136"/>
              <a:ext cx="68760" cy="96480"/>
            </p14:xfrm>
          </p:contentPart>
        </mc:Choice>
        <mc:Fallback>
          <p:pic>
            <p:nvPicPr>
              <p:cNvPr id="15" name="Ink 14">
                <a:extLst>
                  <a:ext uri="{FF2B5EF4-FFF2-40B4-BE49-F238E27FC236}">
                    <a16:creationId xmlns:a16="http://schemas.microsoft.com/office/drawing/2014/main" id="{EEE195A3-6254-9AFC-BB9A-20618D47809E}"/>
                  </a:ext>
                </a:extLst>
              </p:cNvPr>
              <p:cNvPicPr/>
              <p:nvPr/>
            </p:nvPicPr>
            <p:blipFill>
              <a:blip r:embed="rId11"/>
              <a:stretch>
                <a:fillRect/>
              </a:stretch>
            </p:blipFill>
            <p:spPr>
              <a:xfrm>
                <a:off x="7152117" y="2398136"/>
                <a:ext cx="864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6" name="Ink 15">
                <a:extLst>
                  <a:ext uri="{FF2B5EF4-FFF2-40B4-BE49-F238E27FC236}">
                    <a16:creationId xmlns:a16="http://schemas.microsoft.com/office/drawing/2014/main" id="{743D7334-E054-1EB9-113B-74CF0E06663A}"/>
                  </a:ext>
                </a:extLst>
              </p14:cNvPr>
              <p14:cNvContentPartPr/>
              <p14:nvPr/>
            </p14:nvContentPartPr>
            <p14:xfrm>
              <a:off x="7091277" y="2376896"/>
              <a:ext cx="51840" cy="46800"/>
            </p14:xfrm>
          </p:contentPart>
        </mc:Choice>
        <mc:Fallback>
          <p:pic>
            <p:nvPicPr>
              <p:cNvPr id="16" name="Ink 15">
                <a:extLst>
                  <a:ext uri="{FF2B5EF4-FFF2-40B4-BE49-F238E27FC236}">
                    <a16:creationId xmlns:a16="http://schemas.microsoft.com/office/drawing/2014/main" id="{743D7334-E054-1EB9-113B-74CF0E06663A}"/>
                  </a:ext>
                </a:extLst>
              </p:cNvPr>
              <p:cNvPicPr/>
              <p:nvPr/>
            </p:nvPicPr>
            <p:blipFill>
              <a:blip r:embed="rId13"/>
              <a:stretch>
                <a:fillRect/>
              </a:stretch>
            </p:blipFill>
            <p:spPr>
              <a:xfrm>
                <a:off x="7082277" y="2367965"/>
                <a:ext cx="69480" cy="64305"/>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7" name="Ink 16">
                <a:extLst>
                  <a:ext uri="{FF2B5EF4-FFF2-40B4-BE49-F238E27FC236}">
                    <a16:creationId xmlns:a16="http://schemas.microsoft.com/office/drawing/2014/main" id="{0AC4EAF1-B31F-DF6F-F211-D018BE4C30F9}"/>
                  </a:ext>
                </a:extLst>
              </p14:cNvPr>
              <p14:cNvContentPartPr/>
              <p14:nvPr/>
            </p14:nvContentPartPr>
            <p14:xfrm>
              <a:off x="7268757" y="2542496"/>
              <a:ext cx="128160" cy="54000"/>
            </p14:xfrm>
          </p:contentPart>
        </mc:Choice>
        <mc:Fallback>
          <p:pic>
            <p:nvPicPr>
              <p:cNvPr id="17" name="Ink 16">
                <a:extLst>
                  <a:ext uri="{FF2B5EF4-FFF2-40B4-BE49-F238E27FC236}">
                    <a16:creationId xmlns:a16="http://schemas.microsoft.com/office/drawing/2014/main" id="{0AC4EAF1-B31F-DF6F-F211-D018BE4C30F9}"/>
                  </a:ext>
                </a:extLst>
              </p:cNvPr>
              <p:cNvPicPr/>
              <p:nvPr/>
            </p:nvPicPr>
            <p:blipFill>
              <a:blip r:embed="rId15"/>
              <a:stretch>
                <a:fillRect/>
              </a:stretch>
            </p:blipFill>
            <p:spPr>
              <a:xfrm>
                <a:off x="7262637" y="2536376"/>
                <a:ext cx="140400" cy="66240"/>
              </a:xfrm>
              <a:prstGeom prst="rect">
                <a:avLst/>
              </a:prstGeom>
            </p:spPr>
          </p:pic>
        </mc:Fallback>
      </mc:AlternateContent>
      <p:grpSp>
        <p:nvGrpSpPr>
          <p:cNvPr id="18" name="Group 17">
            <a:extLst>
              <a:ext uri="{FF2B5EF4-FFF2-40B4-BE49-F238E27FC236}">
                <a16:creationId xmlns:a16="http://schemas.microsoft.com/office/drawing/2014/main" id="{B1A02B5E-115B-B137-1CC1-15A5A6E91D86}"/>
              </a:ext>
            </a:extLst>
          </p:cNvPr>
          <p:cNvGrpSpPr/>
          <p:nvPr/>
        </p:nvGrpSpPr>
        <p:grpSpPr>
          <a:xfrm>
            <a:off x="7192797" y="2484896"/>
            <a:ext cx="156240" cy="100440"/>
            <a:chOff x="7192797" y="2786648"/>
            <a:chExt cx="156240" cy="100440"/>
          </a:xfrm>
        </p:grpSpPr>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F101F594-4F3C-732D-669D-6CFAD3A30E63}"/>
                    </a:ext>
                  </a:extLst>
                </p14:cNvPr>
                <p14:cNvContentPartPr/>
                <p14:nvPr/>
              </p14:nvContentPartPr>
              <p14:xfrm>
                <a:off x="7208637" y="2790968"/>
                <a:ext cx="37080" cy="25200"/>
              </p14:xfrm>
            </p:contentPart>
          </mc:Choice>
          <mc:Fallback xmlns="">
            <p:pic>
              <p:nvPicPr>
                <p:cNvPr id="34" name="Ink 33">
                  <a:extLst>
                    <a:ext uri="{FF2B5EF4-FFF2-40B4-BE49-F238E27FC236}">
                      <a16:creationId xmlns:a16="http://schemas.microsoft.com/office/drawing/2014/main" id="{367925C9-0672-E60D-0AFE-14FD7BD267EE}"/>
                    </a:ext>
                  </a:extLst>
                </p:cNvPr>
                <p:cNvPicPr/>
                <p:nvPr/>
              </p:nvPicPr>
              <p:blipFill>
                <a:blip r:embed="rId18"/>
                <a:stretch>
                  <a:fillRect/>
                </a:stretch>
              </p:blipFill>
              <p:spPr>
                <a:xfrm>
                  <a:off x="7202517" y="2784848"/>
                  <a:ext cx="493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3936265F-FAFB-0568-4570-F6A565CFC364}"/>
                    </a:ext>
                  </a:extLst>
                </p14:cNvPr>
                <p14:cNvContentPartPr/>
                <p14:nvPr/>
              </p14:nvContentPartPr>
              <p14:xfrm>
                <a:off x="7192797" y="2786648"/>
                <a:ext cx="105840" cy="82080"/>
              </p14:xfrm>
            </p:contentPart>
          </mc:Choice>
          <mc:Fallback xmlns="">
            <p:pic>
              <p:nvPicPr>
                <p:cNvPr id="35" name="Ink 34">
                  <a:extLst>
                    <a:ext uri="{FF2B5EF4-FFF2-40B4-BE49-F238E27FC236}">
                      <a16:creationId xmlns:a16="http://schemas.microsoft.com/office/drawing/2014/main" id="{420A8AFA-35FA-58AC-E5CA-3BA81E6118ED}"/>
                    </a:ext>
                  </a:extLst>
                </p:cNvPr>
                <p:cNvPicPr/>
                <p:nvPr/>
              </p:nvPicPr>
              <p:blipFill>
                <a:blip r:embed="rId20"/>
                <a:stretch>
                  <a:fillRect/>
                </a:stretch>
              </p:blipFill>
              <p:spPr>
                <a:xfrm>
                  <a:off x="7186677" y="2780528"/>
                  <a:ext cx="118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73E2713C-9E0A-DC5D-21C2-AB84F2A9EDF0}"/>
                    </a:ext>
                  </a:extLst>
                </p14:cNvPr>
                <p14:cNvContentPartPr/>
                <p14:nvPr/>
              </p14:nvContentPartPr>
              <p14:xfrm>
                <a:off x="7314477" y="2884208"/>
                <a:ext cx="34560" cy="2880"/>
              </p14:xfrm>
            </p:contentPart>
          </mc:Choice>
          <mc:Fallback xmlns="">
            <p:pic>
              <p:nvPicPr>
                <p:cNvPr id="36" name="Ink 35">
                  <a:extLst>
                    <a:ext uri="{FF2B5EF4-FFF2-40B4-BE49-F238E27FC236}">
                      <a16:creationId xmlns:a16="http://schemas.microsoft.com/office/drawing/2014/main" id="{69982724-C616-EAF0-1BF3-BEBBA81F157E}"/>
                    </a:ext>
                  </a:extLst>
                </p:cNvPr>
                <p:cNvPicPr/>
                <p:nvPr/>
              </p:nvPicPr>
              <p:blipFill>
                <a:blip r:embed="rId22"/>
                <a:stretch>
                  <a:fillRect/>
                </a:stretch>
              </p:blipFill>
              <p:spPr>
                <a:xfrm>
                  <a:off x="7308357" y="2878088"/>
                  <a:ext cx="46800" cy="15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3">
            <p14:nvContentPartPr>
              <p14:cNvPr id="22" name="Ink 21">
                <a:extLst>
                  <a:ext uri="{FF2B5EF4-FFF2-40B4-BE49-F238E27FC236}">
                    <a16:creationId xmlns:a16="http://schemas.microsoft.com/office/drawing/2014/main" id="{C95A7A3D-ED2E-6B55-9D68-512966F91E0B}"/>
                  </a:ext>
                </a:extLst>
              </p14:cNvPr>
              <p14:cNvContentPartPr/>
              <p14:nvPr/>
            </p14:nvContentPartPr>
            <p14:xfrm>
              <a:off x="7155717" y="2348816"/>
              <a:ext cx="196200" cy="191880"/>
            </p14:xfrm>
          </p:contentPart>
        </mc:Choice>
        <mc:Fallback>
          <p:pic>
            <p:nvPicPr>
              <p:cNvPr id="22" name="Ink 21">
                <a:extLst>
                  <a:ext uri="{FF2B5EF4-FFF2-40B4-BE49-F238E27FC236}">
                    <a16:creationId xmlns:a16="http://schemas.microsoft.com/office/drawing/2014/main" id="{C95A7A3D-ED2E-6B55-9D68-512966F91E0B}"/>
                  </a:ext>
                </a:extLst>
              </p:cNvPr>
              <p:cNvPicPr/>
              <p:nvPr/>
            </p:nvPicPr>
            <p:blipFill>
              <a:blip r:embed="rId24"/>
              <a:stretch>
                <a:fillRect/>
              </a:stretch>
            </p:blipFill>
            <p:spPr>
              <a:xfrm>
                <a:off x="7137717" y="2330816"/>
                <a:ext cx="231840" cy="2275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3" name="Ink 22">
                <a:extLst>
                  <a:ext uri="{FF2B5EF4-FFF2-40B4-BE49-F238E27FC236}">
                    <a16:creationId xmlns:a16="http://schemas.microsoft.com/office/drawing/2014/main" id="{408BB9E0-F30A-FB48-D986-D81828FED855}"/>
                  </a:ext>
                </a:extLst>
              </p14:cNvPr>
              <p14:cNvContentPartPr/>
              <p14:nvPr/>
            </p14:nvContentPartPr>
            <p14:xfrm>
              <a:off x="7117557" y="2485976"/>
              <a:ext cx="215280" cy="133200"/>
            </p14:xfrm>
          </p:contentPart>
        </mc:Choice>
        <mc:Fallback>
          <p:pic>
            <p:nvPicPr>
              <p:cNvPr id="23" name="Ink 22">
                <a:extLst>
                  <a:ext uri="{FF2B5EF4-FFF2-40B4-BE49-F238E27FC236}">
                    <a16:creationId xmlns:a16="http://schemas.microsoft.com/office/drawing/2014/main" id="{408BB9E0-F30A-FB48-D986-D81828FED855}"/>
                  </a:ext>
                </a:extLst>
              </p:cNvPr>
              <p:cNvPicPr/>
              <p:nvPr/>
            </p:nvPicPr>
            <p:blipFill>
              <a:blip r:embed="rId26"/>
              <a:stretch>
                <a:fillRect/>
              </a:stretch>
            </p:blipFill>
            <p:spPr>
              <a:xfrm>
                <a:off x="7099557" y="2467976"/>
                <a:ext cx="2509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24" name="Ink 23">
                <a:extLst>
                  <a:ext uri="{FF2B5EF4-FFF2-40B4-BE49-F238E27FC236}">
                    <a16:creationId xmlns:a16="http://schemas.microsoft.com/office/drawing/2014/main" id="{21B2E02F-2889-3D08-CF61-9D67091DFFE8}"/>
                  </a:ext>
                </a:extLst>
              </p14:cNvPr>
              <p14:cNvContentPartPr/>
              <p14:nvPr/>
            </p14:nvContentPartPr>
            <p14:xfrm>
              <a:off x="7099917" y="2299496"/>
              <a:ext cx="200880" cy="204120"/>
            </p14:xfrm>
          </p:contentPart>
        </mc:Choice>
        <mc:Fallback>
          <p:pic>
            <p:nvPicPr>
              <p:cNvPr id="24" name="Ink 23">
                <a:extLst>
                  <a:ext uri="{FF2B5EF4-FFF2-40B4-BE49-F238E27FC236}">
                    <a16:creationId xmlns:a16="http://schemas.microsoft.com/office/drawing/2014/main" id="{21B2E02F-2889-3D08-CF61-9D67091DFFE8}"/>
                  </a:ext>
                </a:extLst>
              </p:cNvPr>
              <p:cNvPicPr/>
              <p:nvPr/>
            </p:nvPicPr>
            <p:blipFill>
              <a:blip r:embed="rId28"/>
              <a:stretch>
                <a:fillRect/>
              </a:stretch>
            </p:blipFill>
            <p:spPr>
              <a:xfrm>
                <a:off x="7081917" y="2281496"/>
                <a:ext cx="23652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5" name="Ink 24">
                <a:extLst>
                  <a:ext uri="{FF2B5EF4-FFF2-40B4-BE49-F238E27FC236}">
                    <a16:creationId xmlns:a16="http://schemas.microsoft.com/office/drawing/2014/main" id="{DDCABE56-1F72-84C9-AA02-DDFCC151D006}"/>
                  </a:ext>
                </a:extLst>
              </p14:cNvPr>
              <p14:cNvContentPartPr/>
              <p14:nvPr/>
            </p14:nvContentPartPr>
            <p14:xfrm>
              <a:off x="7331757" y="2610176"/>
              <a:ext cx="23760" cy="17280"/>
            </p14:xfrm>
          </p:contentPart>
        </mc:Choice>
        <mc:Fallback>
          <p:pic>
            <p:nvPicPr>
              <p:cNvPr id="25" name="Ink 24">
                <a:extLst>
                  <a:ext uri="{FF2B5EF4-FFF2-40B4-BE49-F238E27FC236}">
                    <a16:creationId xmlns:a16="http://schemas.microsoft.com/office/drawing/2014/main" id="{DDCABE56-1F72-84C9-AA02-DDFCC151D006}"/>
                  </a:ext>
                </a:extLst>
              </p:cNvPr>
              <p:cNvPicPr/>
              <p:nvPr/>
            </p:nvPicPr>
            <p:blipFill>
              <a:blip r:embed="rId30"/>
              <a:stretch>
                <a:fillRect/>
              </a:stretch>
            </p:blipFill>
            <p:spPr>
              <a:xfrm>
                <a:off x="7313757" y="2592176"/>
                <a:ext cx="59400" cy="52920"/>
              </a:xfrm>
              <a:prstGeom prst="rect">
                <a:avLst/>
              </a:prstGeom>
            </p:spPr>
          </p:pic>
        </mc:Fallback>
      </mc:AlternateContent>
      <p:sp>
        <p:nvSpPr>
          <p:cNvPr id="26" name="Rectangle 25">
            <a:extLst>
              <a:ext uri="{FF2B5EF4-FFF2-40B4-BE49-F238E27FC236}">
                <a16:creationId xmlns:a16="http://schemas.microsoft.com/office/drawing/2014/main" id="{23CAF5F3-7472-59F8-0637-A1A11473CBB5}"/>
              </a:ext>
            </a:extLst>
          </p:cNvPr>
          <p:cNvSpPr/>
          <p:nvPr/>
        </p:nvSpPr>
        <p:spPr>
          <a:xfrm>
            <a:off x="6086584" y="3630418"/>
            <a:ext cx="5175122" cy="2841223"/>
          </a:xfrm>
          <a:prstGeom prst="rect">
            <a:avLst/>
          </a:prstGeom>
          <a:solidFill>
            <a:srgbClr val="D8E4D5"/>
          </a:solidFill>
          <a:ln>
            <a:solidFill>
              <a:srgbClr val="34AC3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 diagram of a diagram of a business&#10;&#10;AI-generated content may be incorrect.">
            <a:extLst>
              <a:ext uri="{FF2B5EF4-FFF2-40B4-BE49-F238E27FC236}">
                <a16:creationId xmlns:a16="http://schemas.microsoft.com/office/drawing/2014/main" id="{AE380608-713E-EB83-787F-4B736CEB1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1553" y="3814848"/>
            <a:ext cx="3947731" cy="2631821"/>
          </a:xfrm>
          <a:prstGeom prst="rect">
            <a:avLst/>
          </a:prstGeom>
        </p:spPr>
      </p:pic>
      <p:sp>
        <p:nvSpPr>
          <p:cNvPr id="28" name="TextBox 27">
            <a:extLst>
              <a:ext uri="{FF2B5EF4-FFF2-40B4-BE49-F238E27FC236}">
                <a16:creationId xmlns:a16="http://schemas.microsoft.com/office/drawing/2014/main" id="{55D24FDA-169A-9653-908D-DF18EBC72F32}"/>
              </a:ext>
            </a:extLst>
          </p:cNvPr>
          <p:cNvSpPr txBox="1"/>
          <p:nvPr/>
        </p:nvSpPr>
        <p:spPr>
          <a:xfrm>
            <a:off x="6117463" y="3771738"/>
            <a:ext cx="1104118" cy="646331"/>
          </a:xfrm>
          <a:prstGeom prst="rect">
            <a:avLst/>
          </a:prstGeom>
          <a:noFill/>
        </p:spPr>
        <p:txBody>
          <a:bodyPr wrap="square" rtlCol="0">
            <a:spAutoFit/>
          </a:bodyPr>
          <a:lstStyle/>
          <a:p>
            <a:pPr algn="ctr"/>
            <a:r>
              <a:rPr lang="en-US" altLang="zh-CN" sz="1200" dirty="0"/>
              <a:t>Retrieved</a:t>
            </a:r>
            <a:r>
              <a:rPr lang="zh-CN" altLang="en-US" sz="1200" dirty="0"/>
              <a:t> </a:t>
            </a:r>
            <a:r>
              <a:rPr lang="en-US" altLang="zh-CN" sz="1200" dirty="0"/>
              <a:t>memories</a:t>
            </a:r>
            <a:r>
              <a:rPr lang="zh-CN" altLang="en-US" sz="1200" dirty="0"/>
              <a:t> </a:t>
            </a:r>
            <a:r>
              <a:rPr lang="en-US" altLang="zh-CN" sz="1200" dirty="0"/>
              <a:t>+</a:t>
            </a:r>
            <a:r>
              <a:rPr lang="zh-CN" altLang="en-US" sz="1200" dirty="0"/>
              <a:t> </a:t>
            </a:r>
            <a:r>
              <a:rPr lang="en-US" altLang="zh-CN" sz="1200" dirty="0"/>
              <a:t>Question</a:t>
            </a:r>
            <a:endParaRPr lang="en-US" sz="1200" dirty="0"/>
          </a:p>
        </p:txBody>
      </p:sp>
      <p:sp>
        <p:nvSpPr>
          <p:cNvPr id="29" name="TextBox 28">
            <a:extLst>
              <a:ext uri="{FF2B5EF4-FFF2-40B4-BE49-F238E27FC236}">
                <a16:creationId xmlns:a16="http://schemas.microsoft.com/office/drawing/2014/main" id="{55688901-89E3-60BB-C8DE-85423460CB9B}"/>
              </a:ext>
            </a:extLst>
          </p:cNvPr>
          <p:cNvSpPr txBox="1"/>
          <p:nvPr/>
        </p:nvSpPr>
        <p:spPr>
          <a:xfrm>
            <a:off x="9094987" y="6169670"/>
            <a:ext cx="1190967" cy="276999"/>
          </a:xfrm>
          <a:prstGeom prst="rect">
            <a:avLst/>
          </a:prstGeom>
          <a:noFill/>
        </p:spPr>
        <p:txBody>
          <a:bodyPr wrap="none" rtlCol="0">
            <a:spAutoFit/>
          </a:bodyPr>
          <a:lstStyle/>
          <a:p>
            <a:r>
              <a:rPr lang="en-US" altLang="zh-CN" sz="1200" dirty="0"/>
              <a:t>Memory</a:t>
            </a:r>
            <a:r>
              <a:rPr lang="zh-CN" altLang="en-US" sz="1200" dirty="0"/>
              <a:t> </a:t>
            </a:r>
            <a:r>
              <a:rPr lang="en-US" altLang="zh-CN" sz="1200" dirty="0"/>
              <a:t>system</a:t>
            </a:r>
            <a:endParaRPr lang="en-US" sz="1200" dirty="0"/>
          </a:p>
        </p:txBody>
      </p:sp>
      <p:sp>
        <p:nvSpPr>
          <p:cNvPr id="30" name="TextBox 10">
            <a:extLst>
              <a:ext uri="{FF2B5EF4-FFF2-40B4-BE49-F238E27FC236}">
                <a16:creationId xmlns:a16="http://schemas.microsoft.com/office/drawing/2014/main" id="{EAAC718C-0BCC-DABE-3F7B-BB78BE1975E3}"/>
              </a:ext>
            </a:extLst>
          </p:cNvPr>
          <p:cNvSpPr txBox="1"/>
          <p:nvPr/>
        </p:nvSpPr>
        <p:spPr>
          <a:xfrm>
            <a:off x="7254803" y="4721929"/>
            <a:ext cx="966081"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200" dirty="0"/>
              <a:t>Answer</a:t>
            </a:r>
            <a:r>
              <a:rPr lang="zh-CN" altLang="en-US" sz="1200" dirty="0"/>
              <a:t> </a:t>
            </a:r>
            <a:r>
              <a:rPr lang="en-US" altLang="zh-CN" sz="1200" dirty="0"/>
              <a:t>correctness</a:t>
            </a:r>
            <a:endParaRPr lang="en-US" sz="1200" dirty="0"/>
          </a:p>
        </p:txBody>
      </p:sp>
      <mc:AlternateContent xmlns:mc="http://schemas.openxmlformats.org/markup-compatibility/2006">
        <mc:Choice xmlns:p14="http://schemas.microsoft.com/office/powerpoint/2010/main" Requires="p14">
          <p:contentPart p14:bwMode="auto" r:id="rId31">
            <p14:nvContentPartPr>
              <p14:cNvPr id="31" name="Ink 30">
                <a:extLst>
                  <a:ext uri="{FF2B5EF4-FFF2-40B4-BE49-F238E27FC236}">
                    <a16:creationId xmlns:a16="http://schemas.microsoft.com/office/drawing/2014/main" id="{681063A4-9DE8-3AD3-5B40-A1E7C9127E70}"/>
                  </a:ext>
                </a:extLst>
              </p14:cNvPr>
              <p14:cNvContentPartPr/>
              <p14:nvPr/>
            </p14:nvContentPartPr>
            <p14:xfrm>
              <a:off x="7466041" y="5452270"/>
              <a:ext cx="243000" cy="108720"/>
            </p14:xfrm>
          </p:contentPart>
        </mc:Choice>
        <mc:Fallback>
          <p:pic>
            <p:nvPicPr>
              <p:cNvPr id="31" name="Ink 30">
                <a:extLst>
                  <a:ext uri="{FF2B5EF4-FFF2-40B4-BE49-F238E27FC236}">
                    <a16:creationId xmlns:a16="http://schemas.microsoft.com/office/drawing/2014/main" id="{681063A4-9DE8-3AD3-5B40-A1E7C9127E70}"/>
                  </a:ext>
                </a:extLst>
              </p:cNvPr>
              <p:cNvPicPr/>
              <p:nvPr/>
            </p:nvPicPr>
            <p:blipFill>
              <a:blip r:embed="rId5"/>
              <a:stretch>
                <a:fillRect/>
              </a:stretch>
            </p:blipFill>
            <p:spPr>
              <a:xfrm>
                <a:off x="7459921" y="5446150"/>
                <a:ext cx="255240" cy="1209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2" name="Ink 31">
                <a:extLst>
                  <a:ext uri="{FF2B5EF4-FFF2-40B4-BE49-F238E27FC236}">
                    <a16:creationId xmlns:a16="http://schemas.microsoft.com/office/drawing/2014/main" id="{D6063A11-7BA5-B657-B049-D928B434F792}"/>
                  </a:ext>
                </a:extLst>
              </p14:cNvPr>
              <p14:cNvContentPartPr/>
              <p14:nvPr/>
            </p14:nvContentPartPr>
            <p14:xfrm>
              <a:off x="7466761" y="5459470"/>
              <a:ext cx="119160" cy="53640"/>
            </p14:xfrm>
          </p:contentPart>
        </mc:Choice>
        <mc:Fallback>
          <p:pic>
            <p:nvPicPr>
              <p:cNvPr id="32" name="Ink 31">
                <a:extLst>
                  <a:ext uri="{FF2B5EF4-FFF2-40B4-BE49-F238E27FC236}">
                    <a16:creationId xmlns:a16="http://schemas.microsoft.com/office/drawing/2014/main" id="{D6063A11-7BA5-B657-B049-D928B434F792}"/>
                  </a:ext>
                </a:extLst>
              </p:cNvPr>
              <p:cNvPicPr/>
              <p:nvPr/>
            </p:nvPicPr>
            <p:blipFill>
              <a:blip r:embed="rId7"/>
              <a:stretch>
                <a:fillRect/>
              </a:stretch>
            </p:blipFill>
            <p:spPr>
              <a:xfrm>
                <a:off x="7460641" y="5453391"/>
                <a:ext cx="131400" cy="65798"/>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33" name="Ink 32">
                <a:extLst>
                  <a:ext uri="{FF2B5EF4-FFF2-40B4-BE49-F238E27FC236}">
                    <a16:creationId xmlns:a16="http://schemas.microsoft.com/office/drawing/2014/main" id="{3DFA2682-937C-93AC-6F43-BB873A55C31D}"/>
                  </a:ext>
                </a:extLst>
              </p14:cNvPr>
              <p14:cNvContentPartPr/>
              <p14:nvPr/>
            </p14:nvContentPartPr>
            <p14:xfrm>
              <a:off x="7112461" y="5686973"/>
              <a:ext cx="191880" cy="167040"/>
            </p14:xfrm>
          </p:contentPart>
        </mc:Choice>
        <mc:Fallback>
          <p:pic>
            <p:nvPicPr>
              <p:cNvPr id="33" name="Ink 32">
                <a:extLst>
                  <a:ext uri="{FF2B5EF4-FFF2-40B4-BE49-F238E27FC236}">
                    <a16:creationId xmlns:a16="http://schemas.microsoft.com/office/drawing/2014/main" id="{3DFA2682-937C-93AC-6F43-BB873A55C31D}"/>
                  </a:ext>
                </a:extLst>
              </p:cNvPr>
              <p:cNvPicPr/>
              <p:nvPr/>
            </p:nvPicPr>
            <p:blipFill>
              <a:blip r:embed="rId9"/>
              <a:stretch>
                <a:fillRect/>
              </a:stretch>
            </p:blipFill>
            <p:spPr>
              <a:xfrm>
                <a:off x="7103478" y="5677973"/>
                <a:ext cx="209487"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4" name="Ink 33">
                <a:extLst>
                  <a:ext uri="{FF2B5EF4-FFF2-40B4-BE49-F238E27FC236}">
                    <a16:creationId xmlns:a16="http://schemas.microsoft.com/office/drawing/2014/main" id="{A29B6721-3D38-B8EF-869E-4A8CCFCB3DC0}"/>
                  </a:ext>
                </a:extLst>
              </p14:cNvPr>
              <p14:cNvContentPartPr/>
              <p14:nvPr/>
            </p14:nvContentPartPr>
            <p14:xfrm>
              <a:off x="7151701" y="5680853"/>
              <a:ext cx="68760" cy="96480"/>
            </p14:xfrm>
          </p:contentPart>
        </mc:Choice>
        <mc:Fallback>
          <p:pic>
            <p:nvPicPr>
              <p:cNvPr id="34" name="Ink 33">
                <a:extLst>
                  <a:ext uri="{FF2B5EF4-FFF2-40B4-BE49-F238E27FC236}">
                    <a16:creationId xmlns:a16="http://schemas.microsoft.com/office/drawing/2014/main" id="{A29B6721-3D38-B8EF-869E-4A8CCFCB3DC0}"/>
                  </a:ext>
                </a:extLst>
              </p:cNvPr>
              <p:cNvPicPr/>
              <p:nvPr/>
            </p:nvPicPr>
            <p:blipFill>
              <a:blip r:embed="rId11"/>
              <a:stretch>
                <a:fillRect/>
              </a:stretch>
            </p:blipFill>
            <p:spPr>
              <a:xfrm>
                <a:off x="7142701" y="5671853"/>
                <a:ext cx="8640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35" name="Ink 34">
                <a:extLst>
                  <a:ext uri="{FF2B5EF4-FFF2-40B4-BE49-F238E27FC236}">
                    <a16:creationId xmlns:a16="http://schemas.microsoft.com/office/drawing/2014/main" id="{1DE33392-99CA-62EB-D488-588422187814}"/>
                  </a:ext>
                </a:extLst>
              </p14:cNvPr>
              <p14:cNvContentPartPr/>
              <p14:nvPr/>
            </p14:nvContentPartPr>
            <p14:xfrm>
              <a:off x="7081861" y="5650613"/>
              <a:ext cx="51840" cy="46800"/>
            </p14:xfrm>
          </p:contentPart>
        </mc:Choice>
        <mc:Fallback>
          <p:pic>
            <p:nvPicPr>
              <p:cNvPr id="35" name="Ink 34">
                <a:extLst>
                  <a:ext uri="{FF2B5EF4-FFF2-40B4-BE49-F238E27FC236}">
                    <a16:creationId xmlns:a16="http://schemas.microsoft.com/office/drawing/2014/main" id="{1DE33392-99CA-62EB-D488-588422187814}"/>
                  </a:ext>
                </a:extLst>
              </p:cNvPr>
              <p:cNvPicPr/>
              <p:nvPr/>
            </p:nvPicPr>
            <p:blipFill>
              <a:blip r:embed="rId13"/>
              <a:stretch>
                <a:fillRect/>
              </a:stretch>
            </p:blipFill>
            <p:spPr>
              <a:xfrm>
                <a:off x="7072861" y="5641682"/>
                <a:ext cx="69480" cy="64305"/>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6" name="Ink 35">
                <a:extLst>
                  <a:ext uri="{FF2B5EF4-FFF2-40B4-BE49-F238E27FC236}">
                    <a16:creationId xmlns:a16="http://schemas.microsoft.com/office/drawing/2014/main" id="{74D5ED27-78DC-9F64-F946-484203B9302A}"/>
                  </a:ext>
                </a:extLst>
              </p14:cNvPr>
              <p14:cNvContentPartPr/>
              <p14:nvPr/>
            </p14:nvContentPartPr>
            <p14:xfrm>
              <a:off x="7259341" y="5816213"/>
              <a:ext cx="128160" cy="54000"/>
            </p14:xfrm>
          </p:contentPart>
        </mc:Choice>
        <mc:Fallback>
          <p:pic>
            <p:nvPicPr>
              <p:cNvPr id="36" name="Ink 35">
                <a:extLst>
                  <a:ext uri="{FF2B5EF4-FFF2-40B4-BE49-F238E27FC236}">
                    <a16:creationId xmlns:a16="http://schemas.microsoft.com/office/drawing/2014/main" id="{74D5ED27-78DC-9F64-F946-484203B9302A}"/>
                  </a:ext>
                </a:extLst>
              </p:cNvPr>
              <p:cNvPicPr/>
              <p:nvPr/>
            </p:nvPicPr>
            <p:blipFill>
              <a:blip r:embed="rId15"/>
              <a:stretch>
                <a:fillRect/>
              </a:stretch>
            </p:blipFill>
            <p:spPr>
              <a:xfrm>
                <a:off x="7253221" y="5810093"/>
                <a:ext cx="140400" cy="66240"/>
              </a:xfrm>
              <a:prstGeom prst="rect">
                <a:avLst/>
              </a:prstGeom>
            </p:spPr>
          </p:pic>
        </mc:Fallback>
      </mc:AlternateContent>
      <p:grpSp>
        <p:nvGrpSpPr>
          <p:cNvPr id="37" name="Group 36">
            <a:extLst>
              <a:ext uri="{FF2B5EF4-FFF2-40B4-BE49-F238E27FC236}">
                <a16:creationId xmlns:a16="http://schemas.microsoft.com/office/drawing/2014/main" id="{A8C93BC4-F478-2841-FB72-659D3778033C}"/>
              </a:ext>
            </a:extLst>
          </p:cNvPr>
          <p:cNvGrpSpPr/>
          <p:nvPr/>
        </p:nvGrpSpPr>
        <p:grpSpPr>
          <a:xfrm>
            <a:off x="7183381" y="5758613"/>
            <a:ext cx="156240" cy="100440"/>
            <a:chOff x="7192797" y="2786648"/>
            <a:chExt cx="156240" cy="100440"/>
          </a:xfrm>
        </p:grpSpPr>
        <mc:AlternateContent xmlns:mc="http://schemas.openxmlformats.org/markup-compatibility/2006" xmlns:p14="http://schemas.microsoft.com/office/powerpoint/2010/main">
          <mc:Choice Requires="p14">
            <p:contentPart p14:bwMode="auto" r:id="rId37">
              <p14:nvContentPartPr>
                <p14:cNvPr id="38" name="Ink 37">
                  <a:extLst>
                    <a:ext uri="{FF2B5EF4-FFF2-40B4-BE49-F238E27FC236}">
                      <a16:creationId xmlns:a16="http://schemas.microsoft.com/office/drawing/2014/main" id="{B887ED93-E893-CC3D-659E-75E931A22723}"/>
                    </a:ext>
                  </a:extLst>
                </p14:cNvPr>
                <p14:cNvContentPartPr/>
                <p14:nvPr/>
              </p14:nvContentPartPr>
              <p14:xfrm>
                <a:off x="7208637" y="2790968"/>
                <a:ext cx="37080" cy="25200"/>
              </p14:xfrm>
            </p:contentPart>
          </mc:Choice>
          <mc:Fallback xmlns="">
            <p:pic>
              <p:nvPicPr>
                <p:cNvPr id="65" name="Ink 64">
                  <a:extLst>
                    <a:ext uri="{FF2B5EF4-FFF2-40B4-BE49-F238E27FC236}">
                      <a16:creationId xmlns:a16="http://schemas.microsoft.com/office/drawing/2014/main" id="{E8CC4948-302A-34DD-02DE-3D0051E90457}"/>
                    </a:ext>
                  </a:extLst>
                </p:cNvPr>
                <p:cNvPicPr/>
                <p:nvPr/>
              </p:nvPicPr>
              <p:blipFill>
                <a:blip r:embed="rId18"/>
                <a:stretch>
                  <a:fillRect/>
                </a:stretch>
              </p:blipFill>
              <p:spPr>
                <a:xfrm>
                  <a:off x="7202517" y="2784848"/>
                  <a:ext cx="493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9" name="Ink 38">
                  <a:extLst>
                    <a:ext uri="{FF2B5EF4-FFF2-40B4-BE49-F238E27FC236}">
                      <a16:creationId xmlns:a16="http://schemas.microsoft.com/office/drawing/2014/main" id="{8693401B-A720-EBF9-2C70-76C3337657E9}"/>
                    </a:ext>
                  </a:extLst>
                </p14:cNvPr>
                <p14:cNvContentPartPr/>
                <p14:nvPr/>
              </p14:nvContentPartPr>
              <p14:xfrm>
                <a:off x="7192797" y="2786648"/>
                <a:ext cx="105840" cy="82080"/>
              </p14:xfrm>
            </p:contentPart>
          </mc:Choice>
          <mc:Fallback xmlns="">
            <p:pic>
              <p:nvPicPr>
                <p:cNvPr id="66" name="Ink 65">
                  <a:extLst>
                    <a:ext uri="{FF2B5EF4-FFF2-40B4-BE49-F238E27FC236}">
                      <a16:creationId xmlns:a16="http://schemas.microsoft.com/office/drawing/2014/main" id="{564960FF-85B3-8983-BA2A-343000B79882}"/>
                    </a:ext>
                  </a:extLst>
                </p:cNvPr>
                <p:cNvPicPr/>
                <p:nvPr/>
              </p:nvPicPr>
              <p:blipFill>
                <a:blip r:embed="rId20"/>
                <a:stretch>
                  <a:fillRect/>
                </a:stretch>
              </p:blipFill>
              <p:spPr>
                <a:xfrm>
                  <a:off x="7186677" y="2780528"/>
                  <a:ext cx="11808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0" name="Ink 39">
                  <a:extLst>
                    <a:ext uri="{FF2B5EF4-FFF2-40B4-BE49-F238E27FC236}">
                      <a16:creationId xmlns:a16="http://schemas.microsoft.com/office/drawing/2014/main" id="{0A0DD90E-C3C5-5E00-EA5B-115BD2E218FF}"/>
                    </a:ext>
                  </a:extLst>
                </p14:cNvPr>
                <p14:cNvContentPartPr/>
                <p14:nvPr/>
              </p14:nvContentPartPr>
              <p14:xfrm>
                <a:off x="7314477" y="2884208"/>
                <a:ext cx="34560" cy="2880"/>
              </p14:xfrm>
            </p:contentPart>
          </mc:Choice>
          <mc:Fallback xmlns="">
            <p:pic>
              <p:nvPicPr>
                <p:cNvPr id="67" name="Ink 66">
                  <a:extLst>
                    <a:ext uri="{FF2B5EF4-FFF2-40B4-BE49-F238E27FC236}">
                      <a16:creationId xmlns:a16="http://schemas.microsoft.com/office/drawing/2014/main" id="{47904D6C-71E3-1BB6-F025-7B10C83ECC4F}"/>
                    </a:ext>
                  </a:extLst>
                </p:cNvPr>
                <p:cNvPicPr/>
                <p:nvPr/>
              </p:nvPicPr>
              <p:blipFill>
                <a:blip r:embed="rId22"/>
                <a:stretch>
                  <a:fillRect/>
                </a:stretch>
              </p:blipFill>
              <p:spPr>
                <a:xfrm>
                  <a:off x="7308357" y="2878088"/>
                  <a:ext cx="46800" cy="15120"/>
                </a:xfrm>
                <a:prstGeom prst="rect">
                  <a:avLst/>
                </a:prstGeom>
              </p:spPr>
            </p:pic>
          </mc:Fallback>
        </mc:AlternateContent>
      </p:grpSp>
      <p:sp>
        <p:nvSpPr>
          <p:cNvPr id="41" name="TextBox 40">
            <a:extLst>
              <a:ext uri="{FF2B5EF4-FFF2-40B4-BE49-F238E27FC236}">
                <a16:creationId xmlns:a16="http://schemas.microsoft.com/office/drawing/2014/main" id="{78C448DC-C26B-1582-353A-D79E2B8B2871}"/>
              </a:ext>
            </a:extLst>
          </p:cNvPr>
          <p:cNvSpPr txBox="1"/>
          <p:nvPr/>
        </p:nvSpPr>
        <p:spPr>
          <a:xfrm>
            <a:off x="8511158" y="3630418"/>
            <a:ext cx="1056700" cy="276999"/>
          </a:xfrm>
          <a:prstGeom prst="rect">
            <a:avLst/>
          </a:prstGeom>
          <a:noFill/>
        </p:spPr>
        <p:txBody>
          <a:bodyPr wrap="none" rtlCol="0">
            <a:spAutoFit/>
          </a:bodyPr>
          <a:lstStyle/>
          <a:p>
            <a:r>
              <a:rPr lang="en-DE" altLang="zh-CN" sz="1200" dirty="0"/>
              <a:t>Answer</a:t>
            </a:r>
            <a:r>
              <a:rPr lang="zh-CN" altLang="en-US" sz="1200" dirty="0"/>
              <a:t> </a:t>
            </a:r>
            <a:r>
              <a:rPr lang="en-US" altLang="zh-CN" sz="1200" dirty="0"/>
              <a:t>Agent</a:t>
            </a:r>
            <a:endParaRPr lang="en-US" sz="1200" dirty="0"/>
          </a:p>
        </p:txBody>
      </p:sp>
      <p:pic>
        <p:nvPicPr>
          <p:cNvPr id="42" name="Picture 41">
            <a:extLst>
              <a:ext uri="{FF2B5EF4-FFF2-40B4-BE49-F238E27FC236}">
                <a16:creationId xmlns:a16="http://schemas.microsoft.com/office/drawing/2014/main" id="{507C6292-39B7-500D-9098-1DD07D283ED0}"/>
              </a:ext>
            </a:extLst>
          </p:cNvPr>
          <p:cNvPicPr>
            <a:picLocks noChangeAspect="1"/>
          </p:cNvPicPr>
          <p:nvPr/>
        </p:nvPicPr>
        <p:blipFill>
          <a:blip r:embed="rId40"/>
          <a:stretch>
            <a:fillRect/>
          </a:stretch>
        </p:blipFill>
        <p:spPr>
          <a:xfrm>
            <a:off x="8188056" y="3668559"/>
            <a:ext cx="377362" cy="377362"/>
          </a:xfrm>
          <a:prstGeom prst="rect">
            <a:avLst/>
          </a:prstGeom>
          <a:noFill/>
        </p:spPr>
      </p:pic>
      <p:sp>
        <p:nvSpPr>
          <p:cNvPr id="43" name="TextBox 42">
            <a:extLst>
              <a:ext uri="{FF2B5EF4-FFF2-40B4-BE49-F238E27FC236}">
                <a16:creationId xmlns:a16="http://schemas.microsoft.com/office/drawing/2014/main" id="{FD8E4C95-27FA-BE46-D5CB-67D5BC627D8C}"/>
              </a:ext>
            </a:extLst>
          </p:cNvPr>
          <p:cNvSpPr txBox="1"/>
          <p:nvPr/>
        </p:nvSpPr>
        <p:spPr>
          <a:xfrm>
            <a:off x="9776444" y="4967664"/>
            <a:ext cx="1503550" cy="461665"/>
          </a:xfrm>
          <a:prstGeom prst="rect">
            <a:avLst/>
          </a:prstGeom>
          <a:noFill/>
        </p:spPr>
        <p:txBody>
          <a:bodyPr wrap="square" rtlCol="0">
            <a:spAutoFit/>
          </a:bodyPr>
          <a:lstStyle/>
          <a:p>
            <a:pPr algn="ctr"/>
            <a:r>
              <a:rPr lang="en-US" altLang="zh-CN" sz="1200" dirty="0"/>
              <a:t>Memory</a:t>
            </a:r>
            <a:r>
              <a:rPr lang="zh-CN" altLang="en-US" sz="1200" dirty="0"/>
              <a:t> </a:t>
            </a:r>
            <a:r>
              <a:rPr lang="en-US" altLang="zh-CN" sz="1200" dirty="0"/>
              <a:t>distillation</a:t>
            </a:r>
            <a:r>
              <a:rPr lang="zh-CN" altLang="en-US" sz="1200" dirty="0"/>
              <a:t> </a:t>
            </a:r>
            <a:r>
              <a:rPr lang="en-US" altLang="zh-CN" sz="1200" dirty="0"/>
              <a:t>+</a:t>
            </a:r>
            <a:r>
              <a:rPr lang="zh-CN" altLang="en-US" sz="1200" dirty="0"/>
              <a:t> </a:t>
            </a:r>
            <a:r>
              <a:rPr lang="en-US" altLang="zh-CN" sz="1200" dirty="0"/>
              <a:t>answer</a:t>
            </a:r>
            <a:endParaRPr lang="en-US" sz="1200" dirty="0"/>
          </a:p>
        </p:txBody>
      </p:sp>
      <p:sp>
        <p:nvSpPr>
          <p:cNvPr id="44" name="TextBox 43">
            <a:extLst>
              <a:ext uri="{FF2B5EF4-FFF2-40B4-BE49-F238E27FC236}">
                <a16:creationId xmlns:a16="http://schemas.microsoft.com/office/drawing/2014/main" id="{1FB495EE-0527-3962-A6A0-EEBB5C8C0120}"/>
              </a:ext>
            </a:extLst>
          </p:cNvPr>
          <p:cNvSpPr txBox="1"/>
          <p:nvPr/>
        </p:nvSpPr>
        <p:spPr>
          <a:xfrm>
            <a:off x="8458441" y="360848"/>
            <a:ext cx="1315873" cy="276999"/>
          </a:xfrm>
          <a:prstGeom prst="rect">
            <a:avLst/>
          </a:prstGeom>
          <a:noFill/>
        </p:spPr>
        <p:txBody>
          <a:bodyPr wrap="none" rtlCol="0">
            <a:spAutoFit/>
          </a:bodyPr>
          <a:lstStyle/>
          <a:p>
            <a:r>
              <a:rPr lang="en-DE" altLang="zh-CN" sz="1200" dirty="0"/>
              <a:t>Memory</a:t>
            </a:r>
            <a:r>
              <a:rPr lang="zh-CN" altLang="en-US" sz="1200" dirty="0"/>
              <a:t> </a:t>
            </a:r>
            <a:r>
              <a:rPr lang="en-US" altLang="zh-CN" sz="1200" dirty="0"/>
              <a:t>Manager</a:t>
            </a:r>
            <a:endParaRPr lang="en-US" sz="1200" dirty="0"/>
          </a:p>
        </p:txBody>
      </p:sp>
      <p:sp>
        <p:nvSpPr>
          <p:cNvPr id="45" name="TextBox 44">
            <a:extLst>
              <a:ext uri="{FF2B5EF4-FFF2-40B4-BE49-F238E27FC236}">
                <a16:creationId xmlns:a16="http://schemas.microsoft.com/office/drawing/2014/main" id="{4D0D902C-7EBE-5E97-C20A-2EA854AB6D76}"/>
              </a:ext>
            </a:extLst>
          </p:cNvPr>
          <p:cNvSpPr txBox="1"/>
          <p:nvPr/>
        </p:nvSpPr>
        <p:spPr>
          <a:xfrm>
            <a:off x="7183381" y="3223887"/>
            <a:ext cx="3012235"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Training</a:t>
            </a:r>
            <a:r>
              <a:rPr lang="zh-CN" altLang="en-US" sz="1200" i="1" dirty="0"/>
              <a:t> </a:t>
            </a:r>
            <a:r>
              <a:rPr lang="en-US" altLang="zh-CN" sz="1200" i="1" dirty="0"/>
              <a:t>pipeline</a:t>
            </a:r>
            <a:r>
              <a:rPr lang="zh-CN" altLang="en-US" sz="1200" i="1" dirty="0"/>
              <a:t> </a:t>
            </a:r>
            <a:r>
              <a:rPr lang="en-US" altLang="zh-CN" sz="1200" i="1" dirty="0"/>
              <a:t>of</a:t>
            </a:r>
            <a:r>
              <a:rPr lang="zh-CN" altLang="en-US" sz="1200" i="1" dirty="0"/>
              <a:t> </a:t>
            </a:r>
            <a:r>
              <a:rPr lang="en-US" altLang="zh-CN" sz="1200" i="1" dirty="0"/>
              <a:t>Memory</a:t>
            </a:r>
            <a:r>
              <a:rPr lang="zh-CN" altLang="en-US" sz="1200" i="1" dirty="0"/>
              <a:t> </a:t>
            </a:r>
            <a:r>
              <a:rPr lang="en-US" altLang="zh-CN" sz="1200" i="1" dirty="0"/>
              <a:t>Manager</a:t>
            </a:r>
            <a:endParaRPr lang="en-US" sz="1200" i="1" dirty="0"/>
          </a:p>
        </p:txBody>
      </p:sp>
      <p:sp>
        <p:nvSpPr>
          <p:cNvPr id="46" name="TextBox 45">
            <a:extLst>
              <a:ext uri="{FF2B5EF4-FFF2-40B4-BE49-F238E27FC236}">
                <a16:creationId xmlns:a16="http://schemas.microsoft.com/office/drawing/2014/main" id="{55EE3ECE-AA2A-B9CD-954B-409C11936BE8}"/>
              </a:ext>
            </a:extLst>
          </p:cNvPr>
          <p:cNvSpPr txBox="1"/>
          <p:nvPr/>
        </p:nvSpPr>
        <p:spPr>
          <a:xfrm>
            <a:off x="7353347" y="6474010"/>
            <a:ext cx="2746136"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Training</a:t>
            </a:r>
            <a:r>
              <a:rPr lang="zh-CN" altLang="en-US" sz="1200" i="1" dirty="0"/>
              <a:t> </a:t>
            </a:r>
            <a:r>
              <a:rPr lang="en-US" altLang="zh-CN" sz="1200" i="1" dirty="0"/>
              <a:t>pipeline</a:t>
            </a:r>
            <a:r>
              <a:rPr lang="zh-CN" altLang="en-US" sz="1200" i="1" dirty="0"/>
              <a:t> </a:t>
            </a:r>
            <a:r>
              <a:rPr lang="en-US" altLang="zh-CN" sz="1200" i="1" dirty="0"/>
              <a:t>of</a:t>
            </a:r>
            <a:r>
              <a:rPr lang="zh-CN" altLang="en-US" sz="1200" i="1" dirty="0"/>
              <a:t> </a:t>
            </a:r>
            <a:r>
              <a:rPr lang="en-US" altLang="zh-CN" sz="1200" i="1" dirty="0"/>
              <a:t>Answer</a:t>
            </a:r>
            <a:r>
              <a:rPr lang="zh-CN" altLang="en-US" sz="1200" i="1" dirty="0"/>
              <a:t> </a:t>
            </a:r>
            <a:r>
              <a:rPr lang="en-US" altLang="zh-CN" sz="1200" i="1" dirty="0"/>
              <a:t>Agent</a:t>
            </a:r>
            <a:endParaRPr lang="en-US" sz="1200" i="1" dirty="0"/>
          </a:p>
        </p:txBody>
      </p:sp>
    </p:spTree>
    <p:extLst>
      <p:ext uri="{BB962C8B-B14F-4D97-AF65-F5344CB8AC3E}">
        <p14:creationId xmlns:p14="http://schemas.microsoft.com/office/powerpoint/2010/main" val="1811710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BC93A5-A44D-E68D-93CE-F3B2061FEDCA}"/>
              </a:ext>
            </a:extLst>
          </p:cNvPr>
          <p:cNvSpPr>
            <a:spLocks noGrp="1"/>
          </p:cNvSpPr>
          <p:nvPr>
            <p:ph type="sldNum" sz="quarter" idx="4"/>
          </p:nvPr>
        </p:nvSpPr>
        <p:spPr/>
        <p:txBody>
          <a:bodyPr/>
          <a:lstStyle/>
          <a:p>
            <a:pPr algn="l"/>
            <a:fld id="{3889EAAA-2A39-E347-B0AA-909793490C00}" type="slidenum">
              <a:rPr lang="de-DE" smtClean="0"/>
              <a:pPr algn="l"/>
              <a:t>15</a:t>
            </a:fld>
            <a:endParaRPr lang="de-DE" dirty="0"/>
          </a:p>
        </p:txBody>
      </p:sp>
      <p:sp>
        <p:nvSpPr>
          <p:cNvPr id="3" name="Title 2">
            <a:extLst>
              <a:ext uri="{FF2B5EF4-FFF2-40B4-BE49-F238E27FC236}">
                <a16:creationId xmlns:a16="http://schemas.microsoft.com/office/drawing/2014/main" id="{3BAEFFA2-96D4-C638-5DC1-FBE6B3148ED9}"/>
              </a:ext>
            </a:extLst>
          </p:cNvPr>
          <p:cNvSpPr>
            <a:spLocks noGrp="1"/>
          </p:cNvSpPr>
          <p:nvPr>
            <p:ph type="title"/>
          </p:nvPr>
        </p:nvSpPr>
        <p:spPr/>
        <p:txBody>
          <a:bodyPr/>
          <a:lstStyle/>
          <a:p>
            <a:r>
              <a:rPr lang="en-US" altLang="zh-CN" sz="2000" dirty="0"/>
              <a:t>Experiments</a:t>
            </a:r>
            <a:endParaRPr lang="en-US" sz="2000" dirty="0"/>
          </a:p>
        </p:txBody>
      </p:sp>
      <p:sp>
        <p:nvSpPr>
          <p:cNvPr id="4" name="Content Placeholder 3">
            <a:extLst>
              <a:ext uri="{FF2B5EF4-FFF2-40B4-BE49-F238E27FC236}">
                <a16:creationId xmlns:a16="http://schemas.microsoft.com/office/drawing/2014/main" id="{87C9FDAC-5303-0C93-A258-528CFA96A7D4}"/>
              </a:ext>
            </a:extLst>
          </p:cNvPr>
          <p:cNvSpPr>
            <a:spLocks noGrp="1"/>
          </p:cNvSpPr>
          <p:nvPr>
            <p:ph sz="quarter" idx="10"/>
          </p:nvPr>
        </p:nvSpPr>
        <p:spPr/>
        <p:txBody>
          <a:bodyPr/>
          <a:lstStyle/>
          <a:p>
            <a:pPr marL="0" indent="0">
              <a:lnSpc>
                <a:spcPct val="50000"/>
              </a:lnSpc>
              <a:buNone/>
            </a:pPr>
            <a:r>
              <a:rPr lang="en-GB" sz="1200" b="1" dirty="0"/>
              <a:t>Benchmark</a:t>
            </a:r>
          </a:p>
          <a:p>
            <a:pPr>
              <a:lnSpc>
                <a:spcPct val="50000"/>
              </a:lnSpc>
            </a:pPr>
            <a:r>
              <a:rPr lang="en-US" altLang="zh-CN" sz="1200" b="1" dirty="0"/>
              <a:t>Dataset:</a:t>
            </a:r>
            <a:r>
              <a:rPr lang="zh-CN" altLang="en-US" sz="1200" b="1" dirty="0"/>
              <a:t> </a:t>
            </a:r>
            <a:r>
              <a:rPr lang="en-US" altLang="zh-CN" sz="1200" dirty="0" err="1"/>
              <a:t>LoCoMo</a:t>
            </a:r>
            <a:endParaRPr lang="en-GB" sz="1200" dirty="0"/>
          </a:p>
          <a:p>
            <a:pPr>
              <a:lnSpc>
                <a:spcPct val="50000"/>
              </a:lnSpc>
            </a:pPr>
            <a:r>
              <a:rPr lang="en-GB" sz="1200" b="1" dirty="0"/>
              <a:t>Split: </a:t>
            </a:r>
            <a:r>
              <a:rPr lang="en-GB" sz="1200" dirty="0"/>
              <a:t>1 train </a:t>
            </a:r>
            <a:r>
              <a:rPr lang="en-GB" sz="1200" dirty="0">
                <a:solidFill>
                  <a:srgbClr val="FF0000"/>
                </a:solidFill>
              </a:rPr>
              <a:t>(152 QA)</a:t>
            </a:r>
            <a:r>
              <a:rPr lang="en-GB" sz="1200" dirty="0"/>
              <a:t>, 1 </a:t>
            </a:r>
            <a:r>
              <a:rPr lang="en-GB" sz="1200" dirty="0" err="1"/>
              <a:t>val</a:t>
            </a:r>
            <a:r>
              <a:rPr lang="en-GB" sz="1200" dirty="0"/>
              <a:t> (81 QA), 8 test (1,307 QA) </a:t>
            </a:r>
          </a:p>
          <a:p>
            <a:pPr>
              <a:lnSpc>
                <a:spcPct val="50000"/>
              </a:lnSpc>
            </a:pPr>
            <a:r>
              <a:rPr lang="en-GB" sz="1200" b="1" dirty="0"/>
              <a:t>Backbones: </a:t>
            </a:r>
            <a:r>
              <a:rPr lang="en-GB" sz="1200" dirty="0"/>
              <a:t>LLaMA-3.1-8B-Instruct, </a:t>
            </a:r>
          </a:p>
          <a:p>
            <a:pPr marL="0" indent="0">
              <a:lnSpc>
                <a:spcPct val="50000"/>
              </a:lnSpc>
              <a:buNone/>
            </a:pPr>
            <a:r>
              <a:rPr lang="en-US" sz="1200" dirty="0"/>
              <a:t>	</a:t>
            </a:r>
            <a:r>
              <a:rPr lang="zh-CN" altLang="en-US" sz="1200" dirty="0"/>
              <a:t>     </a:t>
            </a:r>
            <a:r>
              <a:rPr lang="en-GB" sz="1200" dirty="0"/>
              <a:t>Qwen-2.5-</a:t>
            </a:r>
            <a:r>
              <a:rPr lang="en-US" altLang="zh-CN" sz="1200" dirty="0"/>
              <a:t>3,</a:t>
            </a:r>
            <a:r>
              <a:rPr lang="en-GB" sz="1200" dirty="0"/>
              <a:t>7</a:t>
            </a:r>
            <a:r>
              <a:rPr lang="en-US" altLang="zh-CN" sz="1200" dirty="0"/>
              <a:t>,14</a:t>
            </a:r>
            <a:r>
              <a:rPr lang="en-GB" sz="1200" dirty="0"/>
              <a:t>B-Instruct</a:t>
            </a:r>
          </a:p>
          <a:p>
            <a:pPr>
              <a:lnSpc>
                <a:spcPct val="50000"/>
              </a:lnSpc>
            </a:pPr>
            <a:endParaRPr lang="en-GB" sz="1200" dirty="0"/>
          </a:p>
          <a:p>
            <a:pPr marL="0" indent="0">
              <a:lnSpc>
                <a:spcPct val="50000"/>
              </a:lnSpc>
              <a:buNone/>
            </a:pPr>
            <a:r>
              <a:rPr lang="en-GB" sz="1200" b="1" dirty="0"/>
              <a:t>Main Results</a:t>
            </a:r>
            <a:r>
              <a:rPr lang="zh-CN" altLang="en-US" sz="1200" b="1" dirty="0"/>
              <a:t> </a:t>
            </a:r>
            <a:r>
              <a:rPr lang="en-US" altLang="zh-CN" sz="1200" b="1" dirty="0"/>
              <a:t>(Table</a:t>
            </a:r>
            <a:r>
              <a:rPr lang="zh-CN" altLang="en-US" sz="1200" b="1" dirty="0"/>
              <a:t> </a:t>
            </a:r>
            <a:r>
              <a:rPr lang="en-US" altLang="zh-CN" sz="1200" b="1" dirty="0"/>
              <a:t>a)</a:t>
            </a:r>
            <a:endParaRPr lang="en-GB" sz="1200" b="1" dirty="0"/>
          </a:p>
          <a:p>
            <a:pPr>
              <a:lnSpc>
                <a:spcPct val="50000"/>
              </a:lnSpc>
            </a:pPr>
            <a:r>
              <a:rPr lang="en-GB" sz="1200" dirty="0"/>
              <a:t>Memory-R1 sets </a:t>
            </a:r>
            <a:r>
              <a:rPr lang="en-GB" sz="1200" b="1" dirty="0"/>
              <a:t>new SOTA </a:t>
            </a:r>
            <a:r>
              <a:rPr lang="en-GB" sz="1200" dirty="0"/>
              <a:t>across both backbones</a:t>
            </a:r>
          </a:p>
          <a:p>
            <a:pPr>
              <a:lnSpc>
                <a:spcPct val="50000"/>
              </a:lnSpc>
            </a:pPr>
            <a:r>
              <a:rPr lang="en-US" altLang="zh-CN" sz="1200" dirty="0"/>
              <a:t>Relative</a:t>
            </a:r>
            <a:r>
              <a:rPr lang="zh-CN" altLang="en-US" sz="1200" dirty="0"/>
              <a:t> </a:t>
            </a:r>
            <a:r>
              <a:rPr lang="en-US" altLang="zh-CN" sz="1200" dirty="0"/>
              <a:t>improvements</a:t>
            </a:r>
            <a:r>
              <a:rPr lang="zh-CN" altLang="en-US" sz="1200" dirty="0"/>
              <a:t> </a:t>
            </a:r>
            <a:r>
              <a:rPr lang="en-US" altLang="zh-CN" sz="1200" dirty="0"/>
              <a:t>on</a:t>
            </a:r>
            <a:r>
              <a:rPr lang="zh-CN" altLang="en-US" sz="1200" dirty="0"/>
              <a:t> </a:t>
            </a:r>
            <a:r>
              <a:rPr lang="en-GB" sz="1200" dirty="0" err="1"/>
              <a:t>LLaMA</a:t>
            </a:r>
            <a:r>
              <a:rPr lang="en-GB" sz="1200" dirty="0"/>
              <a:t>:</a:t>
            </a:r>
          </a:p>
          <a:p>
            <a:pPr marL="742950" lvl="1" indent="-285750">
              <a:lnSpc>
                <a:spcPct val="50000"/>
              </a:lnSpc>
              <a:spcBef>
                <a:spcPts val="892"/>
              </a:spcBef>
            </a:pPr>
            <a:r>
              <a:rPr lang="en-GB" sz="1200" dirty="0"/>
              <a:t>+69% F1, +48% BLEU-1, +37% </a:t>
            </a:r>
            <a:r>
              <a:rPr lang="en-US" altLang="zh-CN" sz="1200" dirty="0"/>
              <a:t>LLM-as-</a:t>
            </a:r>
            <a:r>
              <a:rPr lang="en-GB" sz="1200" dirty="0"/>
              <a:t>Judge</a:t>
            </a:r>
          </a:p>
          <a:p>
            <a:pPr>
              <a:lnSpc>
                <a:spcPct val="50000"/>
              </a:lnSpc>
            </a:pPr>
            <a:r>
              <a:rPr lang="en-US" altLang="zh-CN" sz="1200" dirty="0"/>
              <a:t>Relative</a:t>
            </a:r>
            <a:r>
              <a:rPr lang="zh-CN" altLang="en-US" sz="1200" dirty="0"/>
              <a:t> </a:t>
            </a:r>
            <a:r>
              <a:rPr lang="en-US" altLang="zh-CN" sz="1200" dirty="0"/>
              <a:t>improvements</a:t>
            </a:r>
            <a:r>
              <a:rPr lang="zh-CN" altLang="en-US" sz="1200" dirty="0"/>
              <a:t> </a:t>
            </a:r>
            <a:r>
              <a:rPr lang="en-US" altLang="zh-CN" sz="1200" dirty="0"/>
              <a:t>on </a:t>
            </a:r>
            <a:r>
              <a:rPr lang="en-GB" sz="1200" dirty="0"/>
              <a:t>Qwen:</a:t>
            </a:r>
          </a:p>
          <a:p>
            <a:pPr marL="742950" lvl="1" indent="-285750">
              <a:lnSpc>
                <a:spcPct val="50000"/>
              </a:lnSpc>
              <a:spcBef>
                <a:spcPts val="892"/>
              </a:spcBef>
            </a:pPr>
            <a:r>
              <a:rPr lang="en-GB" sz="1200" dirty="0"/>
              <a:t>+57% F1</a:t>
            </a:r>
            <a:r>
              <a:rPr lang="en-US" altLang="zh-CN" sz="1200" dirty="0"/>
              <a:t>,</a:t>
            </a:r>
            <a:r>
              <a:rPr lang="zh-CN" altLang="en-US" sz="1200" dirty="0"/>
              <a:t> </a:t>
            </a:r>
            <a:r>
              <a:rPr lang="en-GB" sz="1200" dirty="0"/>
              <a:t>+41% BLEU-1</a:t>
            </a:r>
            <a:r>
              <a:rPr lang="en-US" altLang="zh-CN" sz="1200" dirty="0"/>
              <a:t>,</a:t>
            </a:r>
            <a:r>
              <a:rPr lang="zh-CN" altLang="en-US" sz="1200" dirty="0"/>
              <a:t> </a:t>
            </a:r>
            <a:r>
              <a:rPr lang="en-GB" sz="1200" dirty="0"/>
              <a:t>+34% </a:t>
            </a:r>
            <a:r>
              <a:rPr lang="en-US" altLang="zh-CN" sz="1200" dirty="0"/>
              <a:t>LLM-as-</a:t>
            </a:r>
            <a:r>
              <a:rPr lang="en-GB" sz="1200" dirty="0"/>
              <a:t>Judge</a:t>
            </a:r>
          </a:p>
          <a:p>
            <a:pPr lvl="1">
              <a:lnSpc>
                <a:spcPct val="50000"/>
              </a:lnSpc>
              <a:spcBef>
                <a:spcPts val="892"/>
              </a:spcBef>
            </a:pPr>
            <a:endParaRPr lang="en-GB" sz="1200" dirty="0"/>
          </a:p>
          <a:p>
            <a:pPr marL="0" indent="0">
              <a:lnSpc>
                <a:spcPct val="50000"/>
              </a:lnSpc>
              <a:buNone/>
            </a:pPr>
            <a:r>
              <a:rPr lang="en-US" altLang="zh-CN" sz="1200" b="1" dirty="0"/>
              <a:t>Scalability</a:t>
            </a:r>
            <a:r>
              <a:rPr lang="zh-CN" altLang="en-US" sz="1200" b="1" dirty="0"/>
              <a:t> </a:t>
            </a:r>
            <a:r>
              <a:rPr lang="en-US" altLang="zh-CN" sz="1200" b="1" dirty="0"/>
              <a:t>(Figure</a:t>
            </a:r>
            <a:r>
              <a:rPr lang="zh-CN" altLang="en-US" sz="1200" b="1" dirty="0"/>
              <a:t> </a:t>
            </a:r>
            <a:r>
              <a:rPr lang="en-US" altLang="zh-CN" sz="1200" b="1" dirty="0"/>
              <a:t>b)</a:t>
            </a:r>
            <a:endParaRPr lang="en-GB" sz="1200" b="1" dirty="0"/>
          </a:p>
          <a:p>
            <a:pPr>
              <a:lnSpc>
                <a:spcPct val="50000"/>
              </a:lnSpc>
            </a:pPr>
            <a:r>
              <a:rPr lang="en-GB" sz="1200" dirty="0"/>
              <a:t>Consistent Scaling: Memory-R1 shows consistent gains as model size. </a:t>
            </a:r>
            <a:endParaRPr lang="en-US" sz="1200" dirty="0"/>
          </a:p>
          <a:p>
            <a:pPr>
              <a:lnSpc>
                <a:spcPct val="50000"/>
              </a:lnSpc>
            </a:pPr>
            <a:r>
              <a:rPr lang="en-GB" sz="1200" dirty="0"/>
              <a:t>Stable RL Performance</a:t>
            </a:r>
            <a:r>
              <a:rPr lang="zh-CN" altLang="en-US" sz="1200" dirty="0"/>
              <a:t> </a:t>
            </a:r>
            <a:r>
              <a:rPr lang="en-US" altLang="zh-CN" sz="1200" dirty="0"/>
              <a:t>\</a:t>
            </a:r>
            <a:r>
              <a:rPr lang="en-GB" sz="1200" dirty="0"/>
              <a:t> Backbone-Independent: </a:t>
            </a:r>
          </a:p>
          <a:p>
            <a:pPr>
              <a:lnSpc>
                <a:spcPct val="50000"/>
              </a:lnSpc>
            </a:pPr>
            <a:r>
              <a:rPr lang="zh-CN" altLang="en-US" sz="1200" dirty="0"/>
              <a:t>       </a:t>
            </a:r>
            <a:r>
              <a:rPr lang="en-GB" sz="1200" dirty="0"/>
              <a:t>Improvement trend holds across different backbones (Qwen-2.5 family).</a:t>
            </a:r>
          </a:p>
          <a:p>
            <a:pPr>
              <a:lnSpc>
                <a:spcPct val="50000"/>
              </a:lnSpc>
            </a:pPr>
            <a:endParaRPr lang="en-GB" sz="1200" dirty="0"/>
          </a:p>
          <a:p>
            <a:pPr marL="0" indent="0">
              <a:lnSpc>
                <a:spcPct val="50000"/>
              </a:lnSpc>
              <a:buNone/>
            </a:pPr>
            <a:r>
              <a:rPr lang="en-GB" sz="1200" b="1" dirty="0"/>
              <a:t>Generalization</a:t>
            </a:r>
            <a:r>
              <a:rPr lang="zh-CN" altLang="en-US" sz="1200" b="1" dirty="0"/>
              <a:t> </a:t>
            </a:r>
            <a:r>
              <a:rPr lang="en-US" altLang="zh-CN" sz="1200" b="1" dirty="0"/>
              <a:t>(Figure</a:t>
            </a:r>
            <a:r>
              <a:rPr lang="zh-CN" altLang="en-US" sz="1200" b="1" dirty="0"/>
              <a:t> </a:t>
            </a:r>
            <a:r>
              <a:rPr lang="en-US" altLang="zh-CN" sz="1200" b="1" dirty="0"/>
              <a:t>c)</a:t>
            </a:r>
            <a:endParaRPr lang="en-GB" sz="1200" dirty="0"/>
          </a:p>
          <a:p>
            <a:pPr>
              <a:lnSpc>
                <a:spcPct val="50000"/>
              </a:lnSpc>
            </a:pPr>
            <a:r>
              <a:rPr lang="en-GB" sz="1200" dirty="0"/>
              <a:t>Zero-shot Generalization: </a:t>
            </a:r>
          </a:p>
          <a:p>
            <a:pPr marL="0" indent="0">
              <a:lnSpc>
                <a:spcPct val="50000"/>
              </a:lnSpc>
              <a:buNone/>
            </a:pPr>
            <a:r>
              <a:rPr lang="zh-CN" altLang="en-US" sz="1200" dirty="0"/>
              <a:t>       </a:t>
            </a:r>
            <a:r>
              <a:rPr lang="en-GB" sz="1200" dirty="0"/>
              <a:t>Trained only on </a:t>
            </a:r>
            <a:r>
              <a:rPr lang="en-GB" sz="1200" dirty="0" err="1"/>
              <a:t>LoCoMo</a:t>
            </a:r>
            <a:r>
              <a:rPr lang="en-GB" sz="1200" dirty="0"/>
              <a:t>, yet performs well on MSC &amp; </a:t>
            </a:r>
            <a:r>
              <a:rPr lang="en-GB" sz="1200" dirty="0" err="1"/>
              <a:t>LongMemEval</a:t>
            </a:r>
            <a:r>
              <a:rPr lang="en-GB" sz="1200" dirty="0"/>
              <a:t>.</a:t>
            </a:r>
          </a:p>
          <a:p>
            <a:pPr>
              <a:lnSpc>
                <a:spcPct val="50000"/>
              </a:lnSpc>
            </a:pPr>
            <a:r>
              <a:rPr lang="en-GB" sz="1200" dirty="0"/>
              <a:t>Cross-domain Robustness: </a:t>
            </a:r>
          </a:p>
          <a:p>
            <a:pPr marL="0" indent="0">
              <a:lnSpc>
                <a:spcPct val="50000"/>
              </a:lnSpc>
              <a:buNone/>
            </a:pPr>
            <a:r>
              <a:rPr lang="zh-CN" altLang="en-US" sz="1200" dirty="0"/>
              <a:t>       </a:t>
            </a:r>
            <a:r>
              <a:rPr lang="en-GB" sz="1200" dirty="0"/>
              <a:t>Maintains strong results across reasoning types (single-hop, temporal, etc.).</a:t>
            </a:r>
          </a:p>
          <a:p>
            <a:pPr>
              <a:lnSpc>
                <a:spcPct val="50000"/>
              </a:lnSpc>
            </a:pPr>
            <a:endParaRPr lang="en-US" sz="2000" dirty="0"/>
          </a:p>
        </p:txBody>
      </p:sp>
      <p:sp>
        <p:nvSpPr>
          <p:cNvPr id="5" name="TextBox 4">
            <a:extLst>
              <a:ext uri="{FF2B5EF4-FFF2-40B4-BE49-F238E27FC236}">
                <a16:creationId xmlns:a16="http://schemas.microsoft.com/office/drawing/2014/main" id="{78531DE4-C33B-F6AF-E98A-00533CB22197}"/>
              </a:ext>
            </a:extLst>
          </p:cNvPr>
          <p:cNvSpPr txBox="1"/>
          <p:nvPr/>
        </p:nvSpPr>
        <p:spPr>
          <a:xfrm>
            <a:off x="8068265" y="2385803"/>
            <a:ext cx="1520160" cy="276999"/>
          </a:xfrm>
          <a:prstGeom prst="rect">
            <a:avLst/>
          </a:prstGeom>
          <a:noFill/>
        </p:spPr>
        <p:txBody>
          <a:bodyPr wrap="none" rtlCol="0">
            <a:spAutoFit/>
          </a:bodyPr>
          <a:lstStyle/>
          <a:p>
            <a:r>
              <a:rPr lang="en-US" altLang="zh-CN" sz="1200" i="1" dirty="0"/>
              <a:t>a)</a:t>
            </a:r>
            <a:r>
              <a:rPr lang="zh-CN" altLang="en-US" sz="1200" i="1" dirty="0"/>
              <a:t> </a:t>
            </a:r>
            <a:r>
              <a:rPr lang="en-US" altLang="zh-CN" sz="1200" i="1" dirty="0"/>
              <a:t>Overall</a:t>
            </a:r>
            <a:r>
              <a:rPr lang="zh-CN" altLang="en-US" sz="1200" i="1" dirty="0"/>
              <a:t> </a:t>
            </a:r>
            <a:r>
              <a:rPr lang="en-US" altLang="zh-CN" sz="1200" i="1" dirty="0"/>
              <a:t>benchmark</a:t>
            </a:r>
            <a:endParaRPr lang="en-US" sz="1200" i="1" dirty="0"/>
          </a:p>
        </p:txBody>
      </p:sp>
      <p:pic>
        <p:nvPicPr>
          <p:cNvPr id="6" name="Picture 5">
            <a:extLst>
              <a:ext uri="{FF2B5EF4-FFF2-40B4-BE49-F238E27FC236}">
                <a16:creationId xmlns:a16="http://schemas.microsoft.com/office/drawing/2014/main" id="{9CB2FA71-4FA3-DC53-0606-A3E09BD97834}"/>
              </a:ext>
            </a:extLst>
          </p:cNvPr>
          <p:cNvPicPr>
            <a:picLocks noChangeAspect="1"/>
          </p:cNvPicPr>
          <p:nvPr/>
        </p:nvPicPr>
        <p:blipFill>
          <a:blip r:embed="rId3"/>
          <a:srcRect l="10521" t="7693" r="10987" b="72533"/>
          <a:stretch>
            <a:fillRect/>
          </a:stretch>
        </p:blipFill>
        <p:spPr>
          <a:xfrm>
            <a:off x="5342398" y="125759"/>
            <a:ext cx="6508226" cy="2320122"/>
          </a:xfrm>
          <a:prstGeom prst="rect">
            <a:avLst/>
          </a:prstGeom>
        </p:spPr>
      </p:pic>
      <p:pic>
        <p:nvPicPr>
          <p:cNvPr id="7" name="Picture 6" descr="A graph with different colored lines&#10;&#10;AI-generated content may be incorrect.">
            <a:extLst>
              <a:ext uri="{FF2B5EF4-FFF2-40B4-BE49-F238E27FC236}">
                <a16:creationId xmlns:a16="http://schemas.microsoft.com/office/drawing/2014/main" id="{37C9CC61-A10F-D6CE-C646-643745E02A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9554" y="2821267"/>
            <a:ext cx="6052046" cy="1321386"/>
          </a:xfrm>
          <a:prstGeom prst="rect">
            <a:avLst/>
          </a:prstGeom>
        </p:spPr>
      </p:pic>
      <p:sp>
        <p:nvSpPr>
          <p:cNvPr id="8" name="TextBox 7">
            <a:extLst>
              <a:ext uri="{FF2B5EF4-FFF2-40B4-BE49-F238E27FC236}">
                <a16:creationId xmlns:a16="http://schemas.microsoft.com/office/drawing/2014/main" id="{CEFF1BDC-6D76-B714-F0D8-E4C2B8B78750}"/>
              </a:ext>
            </a:extLst>
          </p:cNvPr>
          <p:cNvSpPr txBox="1"/>
          <p:nvPr/>
        </p:nvSpPr>
        <p:spPr>
          <a:xfrm>
            <a:off x="7397800" y="4162618"/>
            <a:ext cx="2715552" cy="276999"/>
          </a:xfrm>
          <a:prstGeom prst="rect">
            <a:avLst/>
          </a:prstGeom>
          <a:noFill/>
        </p:spPr>
        <p:txBody>
          <a:bodyPr wrap="none" rtlCol="0">
            <a:spAutoFit/>
          </a:bodyPr>
          <a:lstStyle/>
          <a:p>
            <a:r>
              <a:rPr lang="en-US" altLang="zh-CN" sz="1200" i="1" dirty="0"/>
              <a:t>b)</a:t>
            </a:r>
            <a:r>
              <a:rPr lang="zh-CN" altLang="en-US" sz="1200" i="1" dirty="0"/>
              <a:t> </a:t>
            </a:r>
            <a:r>
              <a:rPr lang="en-GB" altLang="zh-CN" sz="1200" i="1" dirty="0"/>
              <a:t>Scalability across</a:t>
            </a:r>
            <a:r>
              <a:rPr lang="zh-CN" altLang="en-US" sz="1200" i="1" dirty="0"/>
              <a:t> </a:t>
            </a:r>
            <a:r>
              <a:rPr lang="en-US" altLang="zh-CN" sz="1200" i="1" dirty="0"/>
              <a:t>different</a:t>
            </a:r>
            <a:r>
              <a:rPr lang="en-GB" altLang="zh-CN" sz="1200" i="1" dirty="0"/>
              <a:t> model sizes</a:t>
            </a:r>
            <a:endParaRPr lang="en-US" sz="1200" i="1" dirty="0"/>
          </a:p>
        </p:txBody>
      </p:sp>
      <p:pic>
        <p:nvPicPr>
          <p:cNvPr id="9" name="Picture 8" descr="A graph of different colored lines and numbers&#10;&#10;AI-generated content may be incorrect.">
            <a:extLst>
              <a:ext uri="{FF2B5EF4-FFF2-40B4-BE49-F238E27FC236}">
                <a16:creationId xmlns:a16="http://schemas.microsoft.com/office/drawing/2014/main" id="{22F0F43F-A8C8-2755-30E9-7C867B7DD95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82952" y="4636857"/>
            <a:ext cx="3545247" cy="1724313"/>
          </a:xfrm>
          <a:prstGeom prst="rect">
            <a:avLst/>
          </a:prstGeom>
        </p:spPr>
      </p:pic>
      <p:sp>
        <p:nvSpPr>
          <p:cNvPr id="10" name="TextBox 9">
            <a:extLst>
              <a:ext uri="{FF2B5EF4-FFF2-40B4-BE49-F238E27FC236}">
                <a16:creationId xmlns:a16="http://schemas.microsoft.com/office/drawing/2014/main" id="{CD61D4E6-67EC-E0B6-B666-7E184F9F99B7}"/>
              </a:ext>
            </a:extLst>
          </p:cNvPr>
          <p:cNvSpPr txBox="1"/>
          <p:nvPr/>
        </p:nvSpPr>
        <p:spPr>
          <a:xfrm>
            <a:off x="6680224" y="6386898"/>
            <a:ext cx="4985595" cy="276999"/>
          </a:xfrm>
          <a:prstGeom prst="rect">
            <a:avLst/>
          </a:prstGeom>
          <a:noFill/>
        </p:spPr>
        <p:txBody>
          <a:bodyPr wrap="square" rtlCol="0">
            <a:spAutoFit/>
          </a:bodyPr>
          <a:lstStyle/>
          <a:p>
            <a:r>
              <a:rPr lang="en-US" altLang="zh-CN" sz="1200" i="1" dirty="0"/>
              <a:t>c)</a:t>
            </a:r>
            <a:r>
              <a:rPr lang="zh-CN" altLang="en-US" sz="1200" i="1" dirty="0"/>
              <a:t> </a:t>
            </a:r>
            <a:r>
              <a:rPr lang="en-GB" altLang="zh-CN" sz="1200" i="1" dirty="0"/>
              <a:t>Generalization analysis across</a:t>
            </a:r>
            <a:r>
              <a:rPr lang="zh-CN" altLang="en-US" sz="1200" i="1" dirty="0"/>
              <a:t> </a:t>
            </a:r>
            <a:r>
              <a:rPr lang="en-GB" altLang="zh-CN" sz="1200" i="1" dirty="0" err="1"/>
              <a:t>LoCoMo</a:t>
            </a:r>
            <a:r>
              <a:rPr lang="en-GB" altLang="zh-CN" sz="1200" i="1" dirty="0"/>
              <a:t>, MSC, and </a:t>
            </a:r>
            <a:r>
              <a:rPr lang="en-GB" altLang="zh-CN" sz="1200" i="1" dirty="0" err="1"/>
              <a:t>LongMemEval</a:t>
            </a:r>
            <a:endParaRPr lang="en-US" sz="1200" i="1" dirty="0"/>
          </a:p>
        </p:txBody>
      </p:sp>
      <p:sp>
        <p:nvSpPr>
          <p:cNvPr id="11" name="TextBox 10">
            <a:extLst>
              <a:ext uri="{FF2B5EF4-FFF2-40B4-BE49-F238E27FC236}">
                <a16:creationId xmlns:a16="http://schemas.microsoft.com/office/drawing/2014/main" id="{2E598A73-1404-D59C-6AF0-2AE2FB61A7B0}"/>
              </a:ext>
            </a:extLst>
          </p:cNvPr>
          <p:cNvSpPr txBox="1"/>
          <p:nvPr/>
        </p:nvSpPr>
        <p:spPr>
          <a:xfrm>
            <a:off x="2896088" y="1201909"/>
            <a:ext cx="2321148" cy="369332"/>
          </a:xfrm>
          <a:prstGeom prst="rect">
            <a:avLst/>
          </a:prstGeom>
          <a:solidFill>
            <a:schemeClr val="accent1">
              <a:lumMod val="40000"/>
              <a:lumOff val="60000"/>
            </a:schemeClr>
          </a:solidFill>
        </p:spPr>
        <p:txBody>
          <a:bodyPr wrap="none" rtlCol="0">
            <a:spAutoFit/>
          </a:bodyPr>
          <a:lstStyle/>
          <a:p>
            <a:pPr algn="ctr"/>
            <a:r>
              <a:rPr lang="en-US" altLang="zh-CN" dirty="0"/>
              <a:t>Data-Efficient</a:t>
            </a:r>
            <a:r>
              <a:rPr lang="zh-CN" altLang="en-US" dirty="0"/>
              <a:t> </a:t>
            </a:r>
            <a:r>
              <a:rPr lang="en-US" altLang="zh-CN" dirty="0"/>
              <a:t>Training!</a:t>
            </a:r>
            <a:endParaRPr lang="en-US" dirty="0"/>
          </a:p>
        </p:txBody>
      </p:sp>
    </p:spTree>
    <p:extLst>
      <p:ext uri="{BB962C8B-B14F-4D97-AF65-F5344CB8AC3E}">
        <p14:creationId xmlns:p14="http://schemas.microsoft.com/office/powerpoint/2010/main" val="3541924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91FDA-AF85-01D8-19B6-2934265073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433F15-62AC-369F-4277-B32822AF702D}"/>
              </a:ext>
            </a:extLst>
          </p:cNvPr>
          <p:cNvSpPr>
            <a:spLocks noGrp="1"/>
          </p:cNvSpPr>
          <p:nvPr>
            <p:ph type="sldNum" sz="quarter" idx="4"/>
          </p:nvPr>
        </p:nvSpPr>
        <p:spPr/>
        <p:txBody>
          <a:bodyPr/>
          <a:lstStyle/>
          <a:p>
            <a:pPr algn="l"/>
            <a:fld id="{3889EAAA-2A39-E347-B0AA-909793490C00}" type="slidenum">
              <a:rPr lang="de-DE" smtClean="0"/>
              <a:pPr algn="l"/>
              <a:t>16</a:t>
            </a:fld>
            <a:endParaRPr lang="de-DE" dirty="0"/>
          </a:p>
        </p:txBody>
      </p:sp>
      <p:sp>
        <p:nvSpPr>
          <p:cNvPr id="3" name="Title 2">
            <a:extLst>
              <a:ext uri="{FF2B5EF4-FFF2-40B4-BE49-F238E27FC236}">
                <a16:creationId xmlns:a16="http://schemas.microsoft.com/office/drawing/2014/main" id="{CBE4463C-4B14-5B67-D797-6933DC5D70E9}"/>
              </a:ext>
            </a:extLst>
          </p:cNvPr>
          <p:cNvSpPr>
            <a:spLocks noGrp="1"/>
          </p:cNvSpPr>
          <p:nvPr>
            <p:ph type="title"/>
          </p:nvPr>
        </p:nvSpPr>
        <p:spPr/>
        <p:txBody>
          <a:bodyPr/>
          <a:lstStyle/>
          <a:p>
            <a:r>
              <a:rPr lang="en-US" altLang="zh-CN" sz="2000" dirty="0"/>
              <a:t>Experiments</a:t>
            </a:r>
            <a:endParaRPr lang="en-US" sz="2000" dirty="0"/>
          </a:p>
        </p:txBody>
      </p:sp>
      <p:sp>
        <p:nvSpPr>
          <p:cNvPr id="4" name="Content Placeholder 3">
            <a:extLst>
              <a:ext uri="{FF2B5EF4-FFF2-40B4-BE49-F238E27FC236}">
                <a16:creationId xmlns:a16="http://schemas.microsoft.com/office/drawing/2014/main" id="{CBF29282-2C59-E31E-0CA6-97A77BC60DC1}"/>
              </a:ext>
            </a:extLst>
          </p:cNvPr>
          <p:cNvSpPr>
            <a:spLocks noGrp="1"/>
          </p:cNvSpPr>
          <p:nvPr>
            <p:ph sz="quarter" idx="10"/>
          </p:nvPr>
        </p:nvSpPr>
        <p:spPr/>
        <p:txBody>
          <a:bodyPr/>
          <a:lstStyle/>
          <a:p>
            <a:pPr marL="0" indent="0">
              <a:lnSpc>
                <a:spcPct val="50000"/>
              </a:lnSpc>
              <a:buNone/>
            </a:pPr>
            <a:r>
              <a:rPr lang="en-GB" sz="1400" b="1" dirty="0"/>
              <a:t>Benchmark</a:t>
            </a:r>
          </a:p>
          <a:p>
            <a:pPr>
              <a:lnSpc>
                <a:spcPct val="50000"/>
              </a:lnSpc>
            </a:pPr>
            <a:r>
              <a:rPr lang="en-US" altLang="zh-CN" sz="1400" b="1" dirty="0"/>
              <a:t>Dataset:</a:t>
            </a:r>
            <a:r>
              <a:rPr lang="zh-CN" altLang="en-US" sz="1400" b="1" dirty="0"/>
              <a:t> </a:t>
            </a:r>
            <a:r>
              <a:rPr lang="en-US" altLang="zh-CN" sz="1400" dirty="0" err="1"/>
              <a:t>LoCoMo</a:t>
            </a:r>
            <a:endParaRPr lang="en-GB" sz="1400" dirty="0"/>
          </a:p>
          <a:p>
            <a:pPr>
              <a:lnSpc>
                <a:spcPct val="50000"/>
              </a:lnSpc>
            </a:pPr>
            <a:r>
              <a:rPr lang="en-GB" sz="1400" b="1" dirty="0"/>
              <a:t>Split: </a:t>
            </a:r>
            <a:r>
              <a:rPr lang="en-GB" sz="1400" dirty="0"/>
              <a:t>1 train </a:t>
            </a:r>
            <a:r>
              <a:rPr lang="en-GB" sz="1400" dirty="0">
                <a:solidFill>
                  <a:srgbClr val="FF0000"/>
                </a:solidFill>
              </a:rPr>
              <a:t>(152 QA)</a:t>
            </a:r>
            <a:r>
              <a:rPr lang="en-GB" sz="1400" dirty="0"/>
              <a:t>, 1 </a:t>
            </a:r>
            <a:r>
              <a:rPr lang="en-GB" sz="1400" dirty="0" err="1"/>
              <a:t>val</a:t>
            </a:r>
            <a:r>
              <a:rPr lang="en-GB" sz="1400" dirty="0"/>
              <a:t> (81 QA), 8 test (1,307 QA) </a:t>
            </a:r>
          </a:p>
          <a:p>
            <a:pPr>
              <a:lnSpc>
                <a:spcPct val="50000"/>
              </a:lnSpc>
            </a:pPr>
            <a:r>
              <a:rPr lang="en-GB" sz="1400" b="1" dirty="0"/>
              <a:t>Backbones: </a:t>
            </a:r>
            <a:r>
              <a:rPr lang="en-GB" sz="1400" dirty="0"/>
              <a:t>LLaMA-3.1-8B-Instruct, </a:t>
            </a:r>
          </a:p>
          <a:p>
            <a:pPr marL="0" indent="0">
              <a:lnSpc>
                <a:spcPct val="50000"/>
              </a:lnSpc>
              <a:buNone/>
            </a:pPr>
            <a:r>
              <a:rPr lang="en-US" sz="1400" dirty="0"/>
              <a:t>	</a:t>
            </a:r>
            <a:r>
              <a:rPr lang="zh-CN" altLang="en-US" sz="1400" dirty="0"/>
              <a:t>     </a:t>
            </a:r>
            <a:r>
              <a:rPr lang="en-GB" sz="1400" dirty="0"/>
              <a:t>Qwen-2.5-</a:t>
            </a:r>
            <a:r>
              <a:rPr lang="en-US" altLang="zh-CN" sz="1400" dirty="0"/>
              <a:t>3,</a:t>
            </a:r>
            <a:r>
              <a:rPr lang="en-GB" sz="1400" dirty="0"/>
              <a:t>7</a:t>
            </a:r>
            <a:r>
              <a:rPr lang="en-US" altLang="zh-CN" sz="1400" dirty="0"/>
              <a:t>,14</a:t>
            </a:r>
            <a:r>
              <a:rPr lang="en-GB" sz="1400" dirty="0"/>
              <a:t>B-Instruct</a:t>
            </a:r>
          </a:p>
          <a:p>
            <a:pPr>
              <a:lnSpc>
                <a:spcPct val="50000"/>
              </a:lnSpc>
            </a:pPr>
            <a:endParaRPr lang="en-GB" sz="1400" dirty="0"/>
          </a:p>
          <a:p>
            <a:pPr>
              <a:lnSpc>
                <a:spcPct val="50000"/>
              </a:lnSpc>
            </a:pPr>
            <a:endParaRPr lang="en-GB" sz="1400" dirty="0"/>
          </a:p>
          <a:p>
            <a:pPr marL="0" indent="0">
              <a:lnSpc>
                <a:spcPct val="50000"/>
              </a:lnSpc>
              <a:buNone/>
            </a:pPr>
            <a:r>
              <a:rPr lang="en-GB" sz="1400" b="1" dirty="0"/>
              <a:t>Main Results</a:t>
            </a:r>
            <a:r>
              <a:rPr lang="zh-CN" altLang="en-US" sz="1400" b="1" dirty="0"/>
              <a:t> </a:t>
            </a:r>
            <a:r>
              <a:rPr lang="en-US" altLang="zh-CN" sz="1400" b="1" dirty="0"/>
              <a:t>(Table</a:t>
            </a:r>
            <a:r>
              <a:rPr lang="zh-CN" altLang="en-US" sz="1400" b="1" dirty="0"/>
              <a:t> </a:t>
            </a:r>
            <a:r>
              <a:rPr lang="en-US" altLang="zh-CN" sz="1400" b="1" dirty="0"/>
              <a:t>a)</a:t>
            </a:r>
            <a:endParaRPr lang="en-GB" sz="1400" b="1" dirty="0"/>
          </a:p>
          <a:p>
            <a:pPr>
              <a:lnSpc>
                <a:spcPct val="50000"/>
              </a:lnSpc>
            </a:pPr>
            <a:r>
              <a:rPr lang="en-GB" sz="1400" dirty="0"/>
              <a:t>Memory-R1 sets </a:t>
            </a:r>
            <a:r>
              <a:rPr lang="en-GB" sz="1400" b="1" dirty="0"/>
              <a:t>new SOTA </a:t>
            </a:r>
            <a:r>
              <a:rPr lang="en-GB" sz="1400" dirty="0"/>
              <a:t>across both backbones</a:t>
            </a:r>
          </a:p>
          <a:p>
            <a:pPr>
              <a:lnSpc>
                <a:spcPct val="50000"/>
              </a:lnSpc>
            </a:pPr>
            <a:r>
              <a:rPr lang="en-US" altLang="zh-CN" sz="1400" dirty="0"/>
              <a:t>Relative</a:t>
            </a:r>
            <a:r>
              <a:rPr lang="zh-CN" altLang="en-US" sz="1400" dirty="0"/>
              <a:t> </a:t>
            </a:r>
            <a:r>
              <a:rPr lang="en-US" altLang="zh-CN" sz="1400" dirty="0"/>
              <a:t>improvements</a:t>
            </a:r>
            <a:r>
              <a:rPr lang="zh-CN" altLang="en-US" sz="1400" dirty="0"/>
              <a:t> </a:t>
            </a:r>
            <a:r>
              <a:rPr lang="en-US" altLang="zh-CN" sz="1400" dirty="0"/>
              <a:t>on</a:t>
            </a:r>
            <a:r>
              <a:rPr lang="zh-CN" altLang="en-US" sz="1400" dirty="0"/>
              <a:t> </a:t>
            </a:r>
            <a:r>
              <a:rPr lang="en-GB" sz="1400" dirty="0" err="1"/>
              <a:t>LLaMA</a:t>
            </a:r>
            <a:r>
              <a:rPr lang="en-GB" sz="1400" dirty="0"/>
              <a:t>:</a:t>
            </a:r>
          </a:p>
          <a:p>
            <a:pPr marL="742950" lvl="1" indent="-285750">
              <a:lnSpc>
                <a:spcPct val="50000"/>
              </a:lnSpc>
              <a:spcBef>
                <a:spcPts val="892"/>
              </a:spcBef>
            </a:pPr>
            <a:r>
              <a:rPr lang="en-GB" sz="1400" dirty="0"/>
              <a:t>+69% F1, +48% BLEU-1, +37% </a:t>
            </a:r>
            <a:r>
              <a:rPr lang="en-US" altLang="zh-CN" sz="1400" dirty="0"/>
              <a:t>LLM-as-</a:t>
            </a:r>
            <a:r>
              <a:rPr lang="en-GB" sz="1400" dirty="0"/>
              <a:t>Judge</a:t>
            </a:r>
          </a:p>
          <a:p>
            <a:pPr>
              <a:lnSpc>
                <a:spcPct val="50000"/>
              </a:lnSpc>
            </a:pPr>
            <a:r>
              <a:rPr lang="en-US" altLang="zh-CN" sz="1400" dirty="0"/>
              <a:t>Relative</a:t>
            </a:r>
            <a:r>
              <a:rPr lang="zh-CN" altLang="en-US" sz="1400" dirty="0"/>
              <a:t> </a:t>
            </a:r>
            <a:r>
              <a:rPr lang="en-US" altLang="zh-CN" sz="1400" dirty="0"/>
              <a:t>improvements</a:t>
            </a:r>
            <a:r>
              <a:rPr lang="zh-CN" altLang="en-US" sz="1400" dirty="0"/>
              <a:t> </a:t>
            </a:r>
            <a:r>
              <a:rPr lang="en-US" altLang="zh-CN" sz="1400" dirty="0"/>
              <a:t>on </a:t>
            </a:r>
            <a:r>
              <a:rPr lang="en-GB" sz="1400" dirty="0"/>
              <a:t>Qwen:</a:t>
            </a:r>
          </a:p>
          <a:p>
            <a:pPr marL="742950" lvl="1" indent="-285750">
              <a:lnSpc>
                <a:spcPct val="50000"/>
              </a:lnSpc>
              <a:spcBef>
                <a:spcPts val="892"/>
              </a:spcBef>
            </a:pPr>
            <a:r>
              <a:rPr lang="en-GB" sz="1400" dirty="0"/>
              <a:t>+57% F1</a:t>
            </a:r>
            <a:r>
              <a:rPr lang="en-US" altLang="zh-CN" sz="1400" dirty="0"/>
              <a:t>,</a:t>
            </a:r>
            <a:r>
              <a:rPr lang="zh-CN" altLang="en-US" sz="1400" dirty="0"/>
              <a:t> </a:t>
            </a:r>
            <a:r>
              <a:rPr lang="en-GB" sz="1400" dirty="0"/>
              <a:t>+41% BLEU-1</a:t>
            </a:r>
            <a:r>
              <a:rPr lang="en-US" altLang="zh-CN" sz="1400" dirty="0"/>
              <a:t>,</a:t>
            </a:r>
            <a:r>
              <a:rPr lang="zh-CN" altLang="en-US" sz="1400" dirty="0"/>
              <a:t> </a:t>
            </a:r>
            <a:r>
              <a:rPr lang="en-GB" sz="1400" dirty="0"/>
              <a:t>+34% </a:t>
            </a:r>
            <a:r>
              <a:rPr lang="en-US" altLang="zh-CN" sz="1400" dirty="0"/>
              <a:t>LLM-as-</a:t>
            </a:r>
            <a:r>
              <a:rPr lang="en-GB" sz="1400" dirty="0"/>
              <a:t>Judge</a:t>
            </a:r>
            <a:endParaRPr lang="en-US" altLang="zh-CN" sz="1400" dirty="0"/>
          </a:p>
          <a:p>
            <a:pPr>
              <a:lnSpc>
                <a:spcPct val="50000"/>
              </a:lnSpc>
            </a:pPr>
            <a:r>
              <a:rPr lang="en-GB" sz="1400" dirty="0"/>
              <a:t>Outperforms BC-based SFT even when trained with </a:t>
            </a:r>
          </a:p>
          <a:p>
            <a:pPr marL="0" indent="0">
              <a:lnSpc>
                <a:spcPct val="50000"/>
              </a:lnSpc>
              <a:buNone/>
            </a:pPr>
            <a:r>
              <a:rPr lang="zh-CN" altLang="en-US" sz="1400" dirty="0"/>
              <a:t>    </a:t>
            </a:r>
            <a:r>
              <a:rPr lang="en-GB" sz="1400" dirty="0"/>
              <a:t>GPT-5 supervision</a:t>
            </a:r>
          </a:p>
          <a:p>
            <a:pPr>
              <a:lnSpc>
                <a:spcPct val="50000"/>
              </a:lnSpc>
            </a:pPr>
            <a:endParaRPr lang="en-US" sz="2400" dirty="0"/>
          </a:p>
        </p:txBody>
      </p:sp>
      <p:sp>
        <p:nvSpPr>
          <p:cNvPr id="5" name="TextBox 4">
            <a:extLst>
              <a:ext uri="{FF2B5EF4-FFF2-40B4-BE49-F238E27FC236}">
                <a16:creationId xmlns:a16="http://schemas.microsoft.com/office/drawing/2014/main" id="{DA2BD057-6537-DA7C-54DC-367F0813850A}"/>
              </a:ext>
            </a:extLst>
          </p:cNvPr>
          <p:cNvSpPr txBox="1"/>
          <p:nvPr/>
        </p:nvSpPr>
        <p:spPr>
          <a:xfrm>
            <a:off x="7722825" y="3989614"/>
            <a:ext cx="1992853"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Overall</a:t>
            </a:r>
            <a:r>
              <a:rPr lang="zh-CN" altLang="en-US" sz="1200" i="1" dirty="0"/>
              <a:t> </a:t>
            </a:r>
            <a:r>
              <a:rPr lang="en-US" altLang="zh-CN" sz="1200" i="1" dirty="0"/>
              <a:t>benchmark</a:t>
            </a:r>
            <a:endParaRPr lang="en-US" sz="1200" i="1" dirty="0"/>
          </a:p>
        </p:txBody>
      </p:sp>
      <p:pic>
        <p:nvPicPr>
          <p:cNvPr id="6" name="Picture 5">
            <a:extLst>
              <a:ext uri="{FF2B5EF4-FFF2-40B4-BE49-F238E27FC236}">
                <a16:creationId xmlns:a16="http://schemas.microsoft.com/office/drawing/2014/main" id="{03E58DC9-DB54-4D80-24CE-51A7E7A17BE4}"/>
              </a:ext>
            </a:extLst>
          </p:cNvPr>
          <p:cNvPicPr>
            <a:picLocks noChangeAspect="1"/>
          </p:cNvPicPr>
          <p:nvPr/>
        </p:nvPicPr>
        <p:blipFill>
          <a:blip r:embed="rId3"/>
          <a:srcRect l="10521" t="7693" r="10987" b="72533"/>
          <a:stretch>
            <a:fillRect/>
          </a:stretch>
        </p:blipFill>
        <p:spPr>
          <a:xfrm>
            <a:off x="5342398" y="1741086"/>
            <a:ext cx="6508226" cy="2320122"/>
          </a:xfrm>
          <a:prstGeom prst="rect">
            <a:avLst/>
          </a:prstGeom>
        </p:spPr>
      </p:pic>
      <p:sp>
        <p:nvSpPr>
          <p:cNvPr id="11" name="TextBox 10">
            <a:extLst>
              <a:ext uri="{FF2B5EF4-FFF2-40B4-BE49-F238E27FC236}">
                <a16:creationId xmlns:a16="http://schemas.microsoft.com/office/drawing/2014/main" id="{0C0B35C1-26A6-88E0-5D85-ECEA2A6C8A3E}"/>
              </a:ext>
            </a:extLst>
          </p:cNvPr>
          <p:cNvSpPr txBox="1"/>
          <p:nvPr/>
        </p:nvSpPr>
        <p:spPr>
          <a:xfrm>
            <a:off x="2896088" y="1201909"/>
            <a:ext cx="2321148" cy="369332"/>
          </a:xfrm>
          <a:prstGeom prst="rect">
            <a:avLst/>
          </a:prstGeom>
          <a:solidFill>
            <a:schemeClr val="accent1">
              <a:lumMod val="40000"/>
              <a:lumOff val="60000"/>
            </a:schemeClr>
          </a:solidFill>
        </p:spPr>
        <p:txBody>
          <a:bodyPr wrap="none" rtlCol="0">
            <a:spAutoFit/>
          </a:bodyPr>
          <a:lstStyle/>
          <a:p>
            <a:pPr algn="ctr"/>
            <a:r>
              <a:rPr lang="en-US" altLang="zh-CN" dirty="0"/>
              <a:t>Data-Efficient</a:t>
            </a:r>
            <a:r>
              <a:rPr lang="zh-CN" altLang="en-US" dirty="0"/>
              <a:t> </a:t>
            </a:r>
            <a:r>
              <a:rPr lang="en-US" altLang="zh-CN" dirty="0"/>
              <a:t>Training!</a:t>
            </a:r>
            <a:endParaRPr lang="en-US" dirty="0"/>
          </a:p>
        </p:txBody>
      </p:sp>
    </p:spTree>
    <p:extLst>
      <p:ext uri="{BB962C8B-B14F-4D97-AF65-F5344CB8AC3E}">
        <p14:creationId xmlns:p14="http://schemas.microsoft.com/office/powerpoint/2010/main" val="1451277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86C78-028C-7FFA-273A-1956FC40F78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BD59B1C-2401-CCAF-7819-8320F3B161B4}"/>
              </a:ext>
            </a:extLst>
          </p:cNvPr>
          <p:cNvSpPr>
            <a:spLocks noGrp="1"/>
          </p:cNvSpPr>
          <p:nvPr>
            <p:ph type="sldNum" sz="quarter" idx="4"/>
          </p:nvPr>
        </p:nvSpPr>
        <p:spPr/>
        <p:txBody>
          <a:bodyPr/>
          <a:lstStyle/>
          <a:p>
            <a:pPr algn="l"/>
            <a:fld id="{3889EAAA-2A39-E347-B0AA-909793490C00}" type="slidenum">
              <a:rPr lang="de-DE" smtClean="0"/>
              <a:pPr algn="l"/>
              <a:t>17</a:t>
            </a:fld>
            <a:endParaRPr lang="de-DE" dirty="0"/>
          </a:p>
        </p:txBody>
      </p:sp>
      <p:sp>
        <p:nvSpPr>
          <p:cNvPr id="3" name="Title 2">
            <a:extLst>
              <a:ext uri="{FF2B5EF4-FFF2-40B4-BE49-F238E27FC236}">
                <a16:creationId xmlns:a16="http://schemas.microsoft.com/office/drawing/2014/main" id="{C6B95E43-E56D-4B90-419B-9189BA863168}"/>
              </a:ext>
            </a:extLst>
          </p:cNvPr>
          <p:cNvSpPr>
            <a:spLocks noGrp="1"/>
          </p:cNvSpPr>
          <p:nvPr>
            <p:ph type="title"/>
          </p:nvPr>
        </p:nvSpPr>
        <p:spPr/>
        <p:txBody>
          <a:bodyPr/>
          <a:lstStyle/>
          <a:p>
            <a:r>
              <a:rPr lang="en-US" altLang="zh-CN" sz="2000" dirty="0"/>
              <a:t>Experiments</a:t>
            </a:r>
            <a:endParaRPr lang="en-US" sz="2000" dirty="0"/>
          </a:p>
        </p:txBody>
      </p:sp>
      <p:sp>
        <p:nvSpPr>
          <p:cNvPr id="4" name="Content Placeholder 3">
            <a:extLst>
              <a:ext uri="{FF2B5EF4-FFF2-40B4-BE49-F238E27FC236}">
                <a16:creationId xmlns:a16="http://schemas.microsoft.com/office/drawing/2014/main" id="{342800B1-97FB-5458-56A2-2A4FB7072E95}"/>
              </a:ext>
            </a:extLst>
          </p:cNvPr>
          <p:cNvSpPr>
            <a:spLocks noGrp="1"/>
          </p:cNvSpPr>
          <p:nvPr>
            <p:ph sz="quarter" idx="10"/>
          </p:nvPr>
        </p:nvSpPr>
        <p:spPr>
          <a:xfrm>
            <a:off x="446088" y="1484313"/>
            <a:ext cx="5731192" cy="4929187"/>
          </a:xfrm>
        </p:spPr>
        <p:txBody>
          <a:bodyPr/>
          <a:lstStyle/>
          <a:p>
            <a:pPr marL="0" indent="0">
              <a:lnSpc>
                <a:spcPct val="50000"/>
              </a:lnSpc>
              <a:buNone/>
            </a:pPr>
            <a:r>
              <a:rPr lang="en-US" altLang="zh-CN" sz="1200" b="1" dirty="0"/>
              <a:t>Scalability</a:t>
            </a:r>
            <a:r>
              <a:rPr lang="zh-CN" altLang="en-US" sz="1200" b="1" dirty="0"/>
              <a:t> </a:t>
            </a:r>
            <a:r>
              <a:rPr lang="en-US" altLang="zh-CN" sz="1200" b="1" dirty="0"/>
              <a:t>(Figure</a:t>
            </a:r>
            <a:r>
              <a:rPr lang="zh-CN" altLang="en-US" sz="1200" b="1" dirty="0"/>
              <a:t> </a:t>
            </a:r>
            <a:r>
              <a:rPr lang="en-US" altLang="zh-CN" sz="1200" b="1" dirty="0"/>
              <a:t>b)</a:t>
            </a:r>
            <a:endParaRPr lang="en-GB" sz="1200" b="1" dirty="0"/>
          </a:p>
          <a:p>
            <a:pPr>
              <a:lnSpc>
                <a:spcPct val="50000"/>
              </a:lnSpc>
            </a:pPr>
            <a:r>
              <a:rPr lang="en-GB" sz="1200" dirty="0"/>
              <a:t>Consistent Scaling: Memory-R1 shows consistent gains as model size. </a:t>
            </a:r>
            <a:endParaRPr lang="en-US" sz="1200" dirty="0"/>
          </a:p>
          <a:p>
            <a:pPr>
              <a:lnSpc>
                <a:spcPct val="50000"/>
              </a:lnSpc>
            </a:pPr>
            <a:r>
              <a:rPr lang="en-GB" sz="1200" dirty="0"/>
              <a:t>Stable RL Performance</a:t>
            </a:r>
            <a:r>
              <a:rPr lang="zh-CN" altLang="en-US" sz="1200" dirty="0"/>
              <a:t> </a:t>
            </a:r>
            <a:r>
              <a:rPr lang="en-US" altLang="zh-CN" sz="1200" dirty="0"/>
              <a:t>\</a:t>
            </a:r>
            <a:r>
              <a:rPr lang="en-GB" sz="1200" dirty="0"/>
              <a:t> Backbone-Independent: </a:t>
            </a:r>
          </a:p>
          <a:p>
            <a:pPr marL="0" indent="0">
              <a:lnSpc>
                <a:spcPct val="50000"/>
              </a:lnSpc>
              <a:buNone/>
            </a:pPr>
            <a:r>
              <a:rPr lang="zh-CN" altLang="en-US" sz="1200" dirty="0"/>
              <a:t>     </a:t>
            </a:r>
            <a:r>
              <a:rPr lang="en-GB" sz="1200" dirty="0"/>
              <a:t>Improvement trend holds across different backbones (Qwen-2.5 family).</a:t>
            </a:r>
          </a:p>
          <a:p>
            <a:pPr>
              <a:lnSpc>
                <a:spcPct val="50000"/>
              </a:lnSpc>
            </a:pPr>
            <a:endParaRPr lang="en-US" sz="2000" dirty="0"/>
          </a:p>
        </p:txBody>
      </p:sp>
      <p:pic>
        <p:nvPicPr>
          <p:cNvPr id="7" name="Picture 6" descr="A graph with different colored lines&#10;&#10;AI-generated content may be incorrect.">
            <a:extLst>
              <a:ext uri="{FF2B5EF4-FFF2-40B4-BE49-F238E27FC236}">
                <a16:creationId xmlns:a16="http://schemas.microsoft.com/office/drawing/2014/main" id="{F905DC86-D4AB-EABC-A45A-4180C5C7C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409" y="3523285"/>
            <a:ext cx="6052046" cy="1321386"/>
          </a:xfrm>
          <a:prstGeom prst="rect">
            <a:avLst/>
          </a:prstGeom>
        </p:spPr>
      </p:pic>
      <p:sp>
        <p:nvSpPr>
          <p:cNvPr id="8" name="TextBox 7">
            <a:extLst>
              <a:ext uri="{FF2B5EF4-FFF2-40B4-BE49-F238E27FC236}">
                <a16:creationId xmlns:a16="http://schemas.microsoft.com/office/drawing/2014/main" id="{B753ED24-700D-C6A0-58BA-DA61A05D8C4F}"/>
              </a:ext>
            </a:extLst>
          </p:cNvPr>
          <p:cNvSpPr txBox="1"/>
          <p:nvPr/>
        </p:nvSpPr>
        <p:spPr>
          <a:xfrm>
            <a:off x="1478895" y="5061029"/>
            <a:ext cx="3477234" cy="276999"/>
          </a:xfrm>
          <a:prstGeom prst="rect">
            <a:avLst/>
          </a:prstGeom>
          <a:noFill/>
        </p:spPr>
        <p:txBody>
          <a:bodyPr wrap="none" rtlCol="0">
            <a:spAutoFit/>
          </a:bodyPr>
          <a:lstStyle/>
          <a:p>
            <a:r>
              <a:rPr lang="en-US" altLang="zh-CN" sz="1200" i="1" dirty="0"/>
              <a:t>Figure</a:t>
            </a:r>
            <a:r>
              <a:rPr lang="zh-CN" altLang="en-US" sz="1200" i="1" dirty="0"/>
              <a:t> </a:t>
            </a:r>
            <a:r>
              <a:rPr lang="en-US" altLang="zh-CN" sz="1200" i="1" dirty="0"/>
              <a:t>a)</a:t>
            </a:r>
            <a:r>
              <a:rPr lang="zh-CN" altLang="en-US" sz="1200" i="1" dirty="0"/>
              <a:t> </a:t>
            </a:r>
            <a:r>
              <a:rPr lang="en-GB" altLang="zh-CN" sz="1200" i="1" dirty="0"/>
              <a:t>Scalability across</a:t>
            </a:r>
            <a:r>
              <a:rPr lang="zh-CN" altLang="en-US" sz="1200" i="1" dirty="0"/>
              <a:t> </a:t>
            </a:r>
            <a:r>
              <a:rPr lang="en-US" altLang="zh-CN" sz="1200" i="1" dirty="0"/>
              <a:t>different</a:t>
            </a:r>
            <a:r>
              <a:rPr lang="en-GB" altLang="zh-CN" sz="1200" i="1" dirty="0"/>
              <a:t> model sizes</a:t>
            </a:r>
            <a:endParaRPr lang="en-US" sz="1200" i="1" dirty="0"/>
          </a:p>
        </p:txBody>
      </p:sp>
      <p:pic>
        <p:nvPicPr>
          <p:cNvPr id="9" name="Picture 8" descr="A graph of different colored lines and numbers&#10;&#10;AI-generated content may be incorrect.">
            <a:extLst>
              <a:ext uri="{FF2B5EF4-FFF2-40B4-BE49-F238E27FC236}">
                <a16:creationId xmlns:a16="http://schemas.microsoft.com/office/drawing/2014/main" id="{8202AF20-073E-29E8-E9CF-83B55B21C0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6865" y="3218696"/>
            <a:ext cx="3545247" cy="1724313"/>
          </a:xfrm>
          <a:prstGeom prst="rect">
            <a:avLst/>
          </a:prstGeom>
        </p:spPr>
      </p:pic>
      <p:sp>
        <p:nvSpPr>
          <p:cNvPr id="10" name="TextBox 9">
            <a:extLst>
              <a:ext uri="{FF2B5EF4-FFF2-40B4-BE49-F238E27FC236}">
                <a16:creationId xmlns:a16="http://schemas.microsoft.com/office/drawing/2014/main" id="{F040513C-741C-82FC-7009-3FB274562B2A}"/>
              </a:ext>
            </a:extLst>
          </p:cNvPr>
          <p:cNvSpPr txBox="1"/>
          <p:nvPr/>
        </p:nvSpPr>
        <p:spPr>
          <a:xfrm>
            <a:off x="6363407" y="5061030"/>
            <a:ext cx="5520408" cy="276999"/>
          </a:xfrm>
          <a:prstGeom prst="rect">
            <a:avLst/>
          </a:prstGeom>
          <a:noFill/>
        </p:spPr>
        <p:txBody>
          <a:bodyPr wrap="square" rtlCol="0">
            <a:spAutoFit/>
          </a:bodyPr>
          <a:lstStyle/>
          <a:p>
            <a:r>
              <a:rPr lang="en-US" altLang="zh-CN" sz="1200" i="1" dirty="0"/>
              <a:t>Figure</a:t>
            </a:r>
            <a:r>
              <a:rPr lang="zh-CN" altLang="en-US" sz="1200" i="1" dirty="0"/>
              <a:t> </a:t>
            </a:r>
            <a:r>
              <a:rPr lang="en-US" altLang="zh-CN" sz="1200" i="1" dirty="0"/>
              <a:t>b)</a:t>
            </a:r>
            <a:r>
              <a:rPr lang="zh-CN" altLang="en-US" sz="1200" i="1" dirty="0"/>
              <a:t> </a:t>
            </a:r>
            <a:r>
              <a:rPr lang="en-GB" altLang="zh-CN" sz="1200" i="1" dirty="0"/>
              <a:t>Generalization analysis across</a:t>
            </a:r>
            <a:r>
              <a:rPr lang="zh-CN" altLang="en-US" sz="1200" i="1" dirty="0"/>
              <a:t> </a:t>
            </a:r>
            <a:r>
              <a:rPr lang="en-GB" altLang="zh-CN" sz="1200" i="1" dirty="0" err="1"/>
              <a:t>LoCoMo</a:t>
            </a:r>
            <a:r>
              <a:rPr lang="en-GB" altLang="zh-CN" sz="1200" i="1" dirty="0"/>
              <a:t>, MSC, and </a:t>
            </a:r>
            <a:r>
              <a:rPr lang="en-GB" altLang="zh-CN" sz="1200" i="1" dirty="0" err="1"/>
              <a:t>LongMemEval</a:t>
            </a:r>
            <a:endParaRPr lang="en-US" sz="1200" i="1" dirty="0"/>
          </a:p>
        </p:txBody>
      </p:sp>
      <p:sp>
        <p:nvSpPr>
          <p:cNvPr id="13" name="Content Placeholder 3">
            <a:extLst>
              <a:ext uri="{FF2B5EF4-FFF2-40B4-BE49-F238E27FC236}">
                <a16:creationId xmlns:a16="http://schemas.microsoft.com/office/drawing/2014/main" id="{5DA7428C-4D87-0FE2-F7CC-A33F9BE10D17}"/>
              </a:ext>
            </a:extLst>
          </p:cNvPr>
          <p:cNvSpPr txBox="1">
            <a:spLocks/>
          </p:cNvSpPr>
          <p:nvPr/>
        </p:nvSpPr>
        <p:spPr>
          <a:xfrm>
            <a:off x="6322834" y="1490444"/>
            <a:ext cx="5645646" cy="4929187"/>
          </a:xfrm>
          <a:prstGeom prst="rect">
            <a:avLst/>
          </a:prstGeom>
        </p:spPr>
        <p:txBody>
          <a:bodyPr/>
          <a:lstStyle>
            <a:lvl1pPr marL="203890" indent="-203890" algn="l" defTabSz="815557" rtl="0" eaLnBrk="1" latinLnBrk="0" hangingPunct="1">
              <a:lnSpc>
                <a:spcPct val="90000"/>
              </a:lnSpc>
              <a:spcBef>
                <a:spcPts val="892"/>
              </a:spcBef>
              <a:buClr>
                <a:schemeClr val="tx1"/>
              </a:buClr>
              <a:buFont typeface="Arial" panose="020B0604020202020204" pitchFamily="34" charset="0"/>
              <a:buChar char="•"/>
              <a:defRPr sz="2200" kern="1200">
                <a:solidFill>
                  <a:srgbClr val="616468"/>
                </a:solidFill>
                <a:latin typeface="+mn-lt"/>
                <a:ea typeface="+mn-ea"/>
                <a:cs typeface="+mn-cs"/>
              </a:defRPr>
            </a:lvl1pPr>
            <a:lvl2pPr marL="611668" indent="-203890" algn="l" defTabSz="815557" rtl="0" eaLnBrk="1" latinLnBrk="0" hangingPunct="1">
              <a:lnSpc>
                <a:spcPct val="90000"/>
              </a:lnSpc>
              <a:spcBef>
                <a:spcPts val="446"/>
              </a:spcBef>
              <a:buClr>
                <a:schemeClr val="tx1"/>
              </a:buClr>
              <a:buFont typeface="Arial" panose="020B0604020202020204" pitchFamily="34" charset="0"/>
              <a:buChar char="•"/>
              <a:defRPr sz="2100" kern="1200">
                <a:solidFill>
                  <a:srgbClr val="616468"/>
                </a:solidFill>
                <a:latin typeface="+mn-lt"/>
                <a:ea typeface="+mn-ea"/>
                <a:cs typeface="+mn-cs"/>
              </a:defRPr>
            </a:lvl2pPr>
            <a:lvl3pPr marL="1019447" indent="-203890" algn="l" defTabSz="815557" rtl="0" eaLnBrk="1" latinLnBrk="0" hangingPunct="1">
              <a:lnSpc>
                <a:spcPct val="90000"/>
              </a:lnSpc>
              <a:spcBef>
                <a:spcPts val="446"/>
              </a:spcBef>
              <a:buClr>
                <a:schemeClr val="tx1"/>
              </a:buClr>
              <a:buFont typeface="Arial" panose="020B0604020202020204" pitchFamily="34" charset="0"/>
              <a:buChar char="•"/>
              <a:defRPr sz="2000" kern="1200">
                <a:solidFill>
                  <a:srgbClr val="616468"/>
                </a:solidFill>
                <a:latin typeface="+mn-lt"/>
                <a:ea typeface="+mn-ea"/>
                <a:cs typeface="+mn-cs"/>
              </a:defRPr>
            </a:lvl3pPr>
            <a:lvl4pPr marL="1427225" indent="-203890" algn="l" defTabSz="815557" rtl="0" eaLnBrk="1" latinLnBrk="0" hangingPunct="1">
              <a:lnSpc>
                <a:spcPct val="90000"/>
              </a:lnSpc>
              <a:spcBef>
                <a:spcPts val="446"/>
              </a:spcBef>
              <a:buClr>
                <a:schemeClr val="tx1"/>
              </a:buClr>
              <a:buFont typeface="Arial" panose="020B0604020202020204" pitchFamily="34" charset="0"/>
              <a:buChar char="•"/>
              <a:defRPr sz="1900" kern="1200">
                <a:solidFill>
                  <a:srgbClr val="616468"/>
                </a:solidFill>
                <a:latin typeface="+mn-lt"/>
                <a:ea typeface="+mn-ea"/>
                <a:cs typeface="+mn-cs"/>
              </a:defRPr>
            </a:lvl4pPr>
            <a:lvl5pPr marL="1835003" indent="-203890" algn="l" defTabSz="815557" rtl="0" eaLnBrk="1" latinLnBrk="0" hangingPunct="1">
              <a:lnSpc>
                <a:spcPct val="90000"/>
              </a:lnSpc>
              <a:spcBef>
                <a:spcPts val="446"/>
              </a:spcBef>
              <a:buClr>
                <a:schemeClr val="tx1"/>
              </a:buClr>
              <a:buFont typeface="Arial" panose="020B0604020202020204" pitchFamily="34" charset="0"/>
              <a:buChar char="•"/>
              <a:defRPr sz="1800" kern="1200">
                <a:solidFill>
                  <a:srgbClr val="616468"/>
                </a:solidFill>
                <a:latin typeface="+mn-lt"/>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pPr marL="0" indent="0">
              <a:lnSpc>
                <a:spcPct val="50000"/>
              </a:lnSpc>
              <a:buFont typeface="Arial" panose="020B0604020202020204" pitchFamily="34" charset="0"/>
              <a:buNone/>
            </a:pPr>
            <a:r>
              <a:rPr lang="en-GB" sz="1200" b="1" dirty="0"/>
              <a:t>Generalization</a:t>
            </a:r>
            <a:r>
              <a:rPr lang="zh-CN" altLang="en-US" sz="1200" b="1" dirty="0"/>
              <a:t> </a:t>
            </a:r>
            <a:r>
              <a:rPr lang="en-US" altLang="zh-CN" sz="1200" b="1" dirty="0"/>
              <a:t>(Figure</a:t>
            </a:r>
            <a:r>
              <a:rPr lang="zh-CN" altLang="en-US" sz="1200" b="1" dirty="0"/>
              <a:t> </a:t>
            </a:r>
            <a:r>
              <a:rPr lang="en-US" altLang="zh-CN" sz="1200" b="1" dirty="0"/>
              <a:t>c)</a:t>
            </a:r>
            <a:endParaRPr lang="en-GB" sz="1200" dirty="0"/>
          </a:p>
          <a:p>
            <a:pPr>
              <a:lnSpc>
                <a:spcPct val="50000"/>
              </a:lnSpc>
            </a:pPr>
            <a:r>
              <a:rPr lang="en-GB" sz="1200" dirty="0"/>
              <a:t>Zero-shot Generalization: </a:t>
            </a:r>
          </a:p>
          <a:p>
            <a:pPr marL="0" indent="0">
              <a:lnSpc>
                <a:spcPct val="50000"/>
              </a:lnSpc>
              <a:buFont typeface="Arial" panose="020B0604020202020204" pitchFamily="34" charset="0"/>
              <a:buNone/>
            </a:pPr>
            <a:r>
              <a:rPr lang="zh-CN" altLang="en-US" sz="1200" dirty="0"/>
              <a:t>    </a:t>
            </a:r>
            <a:r>
              <a:rPr lang="en-GB" sz="1200" dirty="0"/>
              <a:t>Trained only on </a:t>
            </a:r>
            <a:r>
              <a:rPr lang="en-GB" sz="1200" dirty="0" err="1"/>
              <a:t>LoCoMo</a:t>
            </a:r>
            <a:r>
              <a:rPr lang="en-GB" sz="1200" dirty="0"/>
              <a:t>, yet performs well on MSC &amp; </a:t>
            </a:r>
            <a:r>
              <a:rPr lang="en-GB" sz="1200" dirty="0" err="1"/>
              <a:t>LongMemEval</a:t>
            </a:r>
            <a:r>
              <a:rPr lang="en-GB" sz="1200" dirty="0"/>
              <a:t>.</a:t>
            </a:r>
          </a:p>
          <a:p>
            <a:pPr>
              <a:lnSpc>
                <a:spcPct val="50000"/>
              </a:lnSpc>
            </a:pPr>
            <a:r>
              <a:rPr lang="en-GB" sz="1200" dirty="0"/>
              <a:t>Cross-domain Robustness: </a:t>
            </a:r>
          </a:p>
          <a:p>
            <a:pPr marL="0" indent="0">
              <a:lnSpc>
                <a:spcPct val="50000"/>
              </a:lnSpc>
              <a:buFont typeface="Arial" panose="020B0604020202020204" pitchFamily="34" charset="0"/>
              <a:buNone/>
            </a:pPr>
            <a:r>
              <a:rPr lang="zh-CN" altLang="en-US" sz="1200" dirty="0"/>
              <a:t>     </a:t>
            </a:r>
            <a:r>
              <a:rPr lang="en-GB" sz="1200" dirty="0"/>
              <a:t>Maintains strong results across reasoning types.</a:t>
            </a:r>
          </a:p>
          <a:p>
            <a:pPr>
              <a:lnSpc>
                <a:spcPct val="50000"/>
              </a:lnSpc>
            </a:pPr>
            <a:endParaRPr lang="en-US" sz="2000" dirty="0"/>
          </a:p>
        </p:txBody>
      </p:sp>
    </p:spTree>
    <p:extLst>
      <p:ext uri="{BB962C8B-B14F-4D97-AF65-F5344CB8AC3E}">
        <p14:creationId xmlns:p14="http://schemas.microsoft.com/office/powerpoint/2010/main" val="1392457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C3EE47-F5A0-04B9-3AE2-4DCCFA00EBDC}"/>
              </a:ext>
            </a:extLst>
          </p:cNvPr>
          <p:cNvSpPr>
            <a:spLocks noGrp="1"/>
          </p:cNvSpPr>
          <p:nvPr>
            <p:ph type="sldNum" sz="quarter" idx="4"/>
          </p:nvPr>
        </p:nvSpPr>
        <p:spPr/>
        <p:txBody>
          <a:bodyPr/>
          <a:lstStyle/>
          <a:p>
            <a:pPr algn="l"/>
            <a:fld id="{3889EAAA-2A39-E347-B0AA-909793490C00}" type="slidenum">
              <a:rPr lang="de-DE" smtClean="0"/>
              <a:pPr algn="l"/>
              <a:t>18</a:t>
            </a:fld>
            <a:endParaRPr lang="de-DE" dirty="0"/>
          </a:p>
        </p:txBody>
      </p:sp>
      <p:sp>
        <p:nvSpPr>
          <p:cNvPr id="3" name="Title 2">
            <a:extLst>
              <a:ext uri="{FF2B5EF4-FFF2-40B4-BE49-F238E27FC236}">
                <a16:creationId xmlns:a16="http://schemas.microsoft.com/office/drawing/2014/main" id="{37F445BE-9F87-FE26-7C82-45693897665E}"/>
              </a:ext>
            </a:extLst>
          </p:cNvPr>
          <p:cNvSpPr>
            <a:spLocks noGrp="1"/>
          </p:cNvSpPr>
          <p:nvPr>
            <p:ph type="title"/>
          </p:nvPr>
        </p:nvSpPr>
        <p:spPr/>
        <p:txBody>
          <a:bodyPr/>
          <a:lstStyle/>
          <a:p>
            <a:r>
              <a:rPr lang="en-US" dirty="0"/>
              <a:t>Ablation</a:t>
            </a:r>
            <a:r>
              <a:rPr lang="zh-CN" altLang="en-US" dirty="0"/>
              <a:t> </a:t>
            </a:r>
            <a:r>
              <a:rPr lang="en-US" altLang="zh-CN" dirty="0"/>
              <a:t>study</a:t>
            </a:r>
            <a:endParaRPr lang="en-US" dirty="0"/>
          </a:p>
        </p:txBody>
      </p:sp>
      <p:sp>
        <p:nvSpPr>
          <p:cNvPr id="4" name="Content Placeholder 3">
            <a:extLst>
              <a:ext uri="{FF2B5EF4-FFF2-40B4-BE49-F238E27FC236}">
                <a16:creationId xmlns:a16="http://schemas.microsoft.com/office/drawing/2014/main" id="{A475231C-7B66-463C-2B1D-06ADD747628E}"/>
              </a:ext>
            </a:extLst>
          </p:cNvPr>
          <p:cNvSpPr>
            <a:spLocks noGrp="1"/>
          </p:cNvSpPr>
          <p:nvPr>
            <p:ph sz="quarter" idx="10"/>
          </p:nvPr>
        </p:nvSpPr>
        <p:spPr/>
        <p:txBody>
          <a:bodyPr/>
          <a:lstStyle/>
          <a:p>
            <a:pPr marL="0" indent="0">
              <a:buNone/>
            </a:pPr>
            <a:r>
              <a:rPr lang="en-GB" sz="1600" b="1" dirty="0"/>
              <a:t>Each Component Helps</a:t>
            </a:r>
            <a:r>
              <a:rPr lang="en-US" altLang="zh-CN" sz="1600" b="1" dirty="0"/>
              <a:t>!</a:t>
            </a:r>
          </a:p>
          <a:p>
            <a:pPr marL="285750" indent="-285750"/>
            <a:r>
              <a:rPr lang="en-US" altLang="zh-CN" sz="1600" dirty="0"/>
              <a:t>Figure</a:t>
            </a:r>
            <a:r>
              <a:rPr lang="zh-CN" altLang="en-US" sz="1600" dirty="0"/>
              <a:t> </a:t>
            </a:r>
            <a:r>
              <a:rPr lang="en-US" altLang="zh-CN" sz="1600" dirty="0"/>
              <a:t>a:</a:t>
            </a:r>
            <a:r>
              <a:rPr lang="zh-CN" altLang="en-US" sz="1600" dirty="0"/>
              <a:t> </a:t>
            </a:r>
            <a:r>
              <a:rPr lang="en-GB" sz="1600" dirty="0"/>
              <a:t>Memory Manager (</a:t>
            </a:r>
            <a:r>
              <a:rPr lang="en-US" altLang="zh-CN" sz="1600" dirty="0"/>
              <a:t>RL</a:t>
            </a:r>
            <a:r>
              <a:rPr lang="en-GB" sz="1600" dirty="0"/>
              <a:t> &gt; heuristic)</a:t>
            </a:r>
            <a:r>
              <a:rPr lang="en-US" altLang="zh-CN" sz="1600" dirty="0"/>
              <a:t> </a:t>
            </a:r>
          </a:p>
          <a:p>
            <a:pPr marL="285750" indent="-285750"/>
            <a:r>
              <a:rPr lang="en-US" altLang="zh-CN" sz="1600" dirty="0"/>
              <a:t>Figure</a:t>
            </a:r>
            <a:r>
              <a:rPr lang="zh-CN" altLang="en-US" sz="1600" dirty="0"/>
              <a:t> </a:t>
            </a:r>
            <a:r>
              <a:rPr lang="en-US" altLang="zh-CN" sz="1600" dirty="0"/>
              <a:t>b:</a:t>
            </a:r>
            <a:r>
              <a:rPr lang="zh-CN" altLang="en-US" sz="1600" dirty="0"/>
              <a:t> </a:t>
            </a:r>
            <a:r>
              <a:rPr lang="en-GB" sz="1600" dirty="0"/>
              <a:t>Answer Agent (</a:t>
            </a:r>
            <a:r>
              <a:rPr lang="en-US" altLang="zh-CN" sz="1600" dirty="0"/>
              <a:t>RL</a:t>
            </a:r>
            <a:r>
              <a:rPr lang="zh-CN" altLang="en-US" sz="1600" dirty="0"/>
              <a:t> </a:t>
            </a:r>
            <a:r>
              <a:rPr lang="en-GB" sz="1600" dirty="0"/>
              <a:t>&gt; baseline)</a:t>
            </a:r>
          </a:p>
          <a:p>
            <a:pPr marL="285750" indent="-285750"/>
            <a:r>
              <a:rPr lang="en-US" altLang="zh-CN" sz="1600" dirty="0"/>
              <a:t>Figure</a:t>
            </a:r>
            <a:r>
              <a:rPr lang="zh-CN" altLang="en-US" sz="1600" dirty="0"/>
              <a:t> </a:t>
            </a:r>
            <a:r>
              <a:rPr lang="en-US" altLang="zh-CN" sz="1600" dirty="0"/>
              <a:t>c:</a:t>
            </a:r>
            <a:r>
              <a:rPr lang="zh-CN" altLang="en-US" sz="1600" dirty="0"/>
              <a:t> </a:t>
            </a:r>
            <a:r>
              <a:rPr lang="en-GB" sz="1600" dirty="0"/>
              <a:t>Memory Distillation (fewer noisy memories → better QA)</a:t>
            </a:r>
          </a:p>
          <a:p>
            <a:pPr marL="285750" indent="-285750"/>
            <a:r>
              <a:rPr lang="en-US" altLang="zh-CN" sz="1600" dirty="0"/>
              <a:t>Figure</a:t>
            </a:r>
            <a:r>
              <a:rPr lang="zh-CN" altLang="en-US" sz="1600" dirty="0"/>
              <a:t> </a:t>
            </a:r>
            <a:r>
              <a:rPr lang="en-US" altLang="zh-CN" sz="1600" dirty="0"/>
              <a:t>d:</a:t>
            </a:r>
            <a:r>
              <a:rPr lang="zh-CN" altLang="en-US" sz="1600" dirty="0"/>
              <a:t> </a:t>
            </a:r>
            <a:r>
              <a:rPr lang="en-US" altLang="zh-CN" sz="1600" dirty="0"/>
              <a:t>Full</a:t>
            </a:r>
            <a:r>
              <a:rPr lang="zh-CN" altLang="en-US" sz="1600" dirty="0"/>
              <a:t> </a:t>
            </a:r>
            <a:r>
              <a:rPr lang="en-US" altLang="zh-CN" sz="1600" dirty="0"/>
              <a:t>Pipeline</a:t>
            </a:r>
          </a:p>
          <a:p>
            <a:pPr marL="285750" indent="-285750"/>
            <a:endParaRPr lang="en-US" altLang="zh-CN" sz="1600" dirty="0"/>
          </a:p>
          <a:p>
            <a:endParaRPr lang="en-US" sz="1600" dirty="0"/>
          </a:p>
        </p:txBody>
      </p:sp>
      <p:pic>
        <p:nvPicPr>
          <p:cNvPr id="5" name="Picture 4" descr="A comparison of a graph&#10;&#10;AI-generated content may be incorrect.">
            <a:extLst>
              <a:ext uri="{FF2B5EF4-FFF2-40B4-BE49-F238E27FC236}">
                <a16:creationId xmlns:a16="http://schemas.microsoft.com/office/drawing/2014/main" id="{EFFC4258-DAEE-C32D-C205-CE7C023AC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9400" y="3653411"/>
            <a:ext cx="9769892" cy="1856336"/>
          </a:xfrm>
          <a:prstGeom prst="rect">
            <a:avLst/>
          </a:prstGeom>
        </p:spPr>
      </p:pic>
    </p:spTree>
    <p:extLst>
      <p:ext uri="{BB962C8B-B14F-4D97-AF65-F5344CB8AC3E}">
        <p14:creationId xmlns:p14="http://schemas.microsoft.com/office/powerpoint/2010/main" val="3644288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442CEE-F8FE-73C8-C1BF-E1FA10104F6F}"/>
              </a:ext>
            </a:extLst>
          </p:cNvPr>
          <p:cNvSpPr>
            <a:spLocks noGrp="1"/>
          </p:cNvSpPr>
          <p:nvPr>
            <p:ph type="sldNum" sz="quarter" idx="4"/>
          </p:nvPr>
        </p:nvSpPr>
        <p:spPr/>
        <p:txBody>
          <a:bodyPr/>
          <a:lstStyle/>
          <a:p>
            <a:pPr algn="l"/>
            <a:fld id="{3889EAAA-2A39-E347-B0AA-909793490C00}" type="slidenum">
              <a:rPr lang="de-DE" smtClean="0"/>
              <a:pPr algn="l"/>
              <a:t>19</a:t>
            </a:fld>
            <a:endParaRPr lang="de-DE" dirty="0"/>
          </a:p>
        </p:txBody>
      </p:sp>
      <p:sp>
        <p:nvSpPr>
          <p:cNvPr id="3" name="Title 2">
            <a:extLst>
              <a:ext uri="{FF2B5EF4-FFF2-40B4-BE49-F238E27FC236}">
                <a16:creationId xmlns:a16="http://schemas.microsoft.com/office/drawing/2014/main" id="{21660CC4-3197-79C5-09EB-CB804D16F38F}"/>
              </a:ext>
            </a:extLst>
          </p:cNvPr>
          <p:cNvSpPr>
            <a:spLocks noGrp="1"/>
          </p:cNvSpPr>
          <p:nvPr>
            <p:ph type="title"/>
          </p:nvPr>
        </p:nvSpPr>
        <p:spPr/>
        <p:txBody>
          <a:bodyPr/>
          <a:lstStyle/>
          <a:p>
            <a:r>
              <a:rPr lang="en-US" altLang="zh-CN" dirty="0"/>
              <a:t>Discussion</a:t>
            </a:r>
            <a:r>
              <a:rPr lang="zh-CN" altLang="en-US" dirty="0"/>
              <a:t> </a:t>
            </a:r>
            <a:r>
              <a:rPr lang="en-US" altLang="zh-CN" dirty="0"/>
              <a:t>/</a:t>
            </a:r>
            <a:r>
              <a:rPr lang="zh-CN" altLang="en-US" dirty="0"/>
              <a:t> </a:t>
            </a:r>
            <a:r>
              <a:rPr lang="en-US" altLang="zh-CN" dirty="0"/>
              <a:t>Insights</a:t>
            </a:r>
            <a:br>
              <a:rPr lang="en-US" altLang="zh-CN" sz="2000" dirty="0">
                <a:solidFill>
                  <a:srgbClr val="4F8F8F"/>
                </a:solidFill>
                <a:latin typeface="Aptos" panose="020B0004020202020204" pitchFamily="34" charset="0"/>
                <a:cs typeface="Arial" panose="020B0604020202020204" pitchFamily="34" charset="0"/>
              </a:rPr>
            </a:br>
            <a:endParaRPr lang="en-US" dirty="0"/>
          </a:p>
        </p:txBody>
      </p:sp>
      <p:sp>
        <p:nvSpPr>
          <p:cNvPr id="4" name="Content Placeholder 3">
            <a:extLst>
              <a:ext uri="{FF2B5EF4-FFF2-40B4-BE49-F238E27FC236}">
                <a16:creationId xmlns:a16="http://schemas.microsoft.com/office/drawing/2014/main" id="{1A878034-12B7-23EA-CCA6-B55E7CC5A8DA}"/>
              </a:ext>
            </a:extLst>
          </p:cNvPr>
          <p:cNvSpPr>
            <a:spLocks noGrp="1"/>
          </p:cNvSpPr>
          <p:nvPr>
            <p:ph sz="quarter" idx="10"/>
          </p:nvPr>
        </p:nvSpPr>
        <p:spPr/>
        <p:txBody>
          <a:bodyPr/>
          <a:lstStyle/>
          <a:p>
            <a:pPr marL="0" indent="0">
              <a:lnSpc>
                <a:spcPct val="50000"/>
              </a:lnSpc>
              <a:buNone/>
            </a:pPr>
            <a:r>
              <a:rPr lang="en-GB" sz="1600" b="1" dirty="0"/>
              <a:t>Answer Agent Synergy:</a:t>
            </a:r>
            <a:endParaRPr lang="en-GB" sz="1600" dirty="0"/>
          </a:p>
          <a:p>
            <a:pPr marL="285750" indent="-285750">
              <a:lnSpc>
                <a:spcPct val="50000"/>
              </a:lnSpc>
            </a:pPr>
            <a:r>
              <a:rPr lang="en-GB" sz="1600" dirty="0"/>
              <a:t>Gains are larger when paired with a stronger Memory Manager</a:t>
            </a:r>
          </a:p>
          <a:p>
            <a:pPr marL="0" indent="0">
              <a:lnSpc>
                <a:spcPct val="50000"/>
              </a:lnSpc>
              <a:buNone/>
            </a:pPr>
            <a:endParaRPr lang="en-US" altLang="zh-CN" sz="1600" b="1" dirty="0"/>
          </a:p>
          <a:p>
            <a:pPr marL="0" indent="0">
              <a:lnSpc>
                <a:spcPct val="50000"/>
              </a:lnSpc>
              <a:buNone/>
            </a:pPr>
            <a:r>
              <a:rPr lang="en-GB" sz="1600" b="1" dirty="0"/>
              <a:t>Reward Design Choice Comparison </a:t>
            </a:r>
            <a:endParaRPr lang="en-GB" sz="1600" dirty="0"/>
          </a:p>
          <a:p>
            <a:pPr marL="285750" indent="-285750">
              <a:lnSpc>
                <a:spcPct val="50000"/>
              </a:lnSpc>
            </a:pPr>
            <a:r>
              <a:rPr lang="en-GB" sz="1600" dirty="0"/>
              <a:t>LLM-as-Judge reward → higher J score but generates longer, verbose answers</a:t>
            </a:r>
          </a:p>
          <a:p>
            <a:pPr marL="285750" indent="-285750">
              <a:lnSpc>
                <a:spcPct val="50000"/>
              </a:lnSpc>
            </a:pPr>
            <a:r>
              <a:rPr lang="en-GB" sz="1600" dirty="0"/>
              <a:t>Exact Match (EM) reward → more balanced across F1, BLEU-1, and J</a:t>
            </a:r>
          </a:p>
          <a:p>
            <a:pPr marL="285750" indent="-285750">
              <a:lnSpc>
                <a:spcPct val="50000"/>
              </a:lnSpc>
            </a:pPr>
            <a:r>
              <a:rPr lang="en-GB" sz="1600" dirty="0"/>
              <a:t>Trade-off insight: choosing reward function impacts model behaviour </a:t>
            </a:r>
          </a:p>
          <a:p>
            <a:pPr marL="0" indent="0">
              <a:lnSpc>
                <a:spcPct val="50000"/>
              </a:lnSpc>
              <a:buNone/>
            </a:pPr>
            <a:r>
              <a:rPr lang="zh-CN" altLang="en-US" sz="1600" dirty="0"/>
              <a:t>     </a:t>
            </a:r>
            <a:r>
              <a:rPr lang="en-US" altLang="zh-CN" sz="1600" dirty="0"/>
              <a:t>-</a:t>
            </a:r>
            <a:r>
              <a:rPr lang="en-GB" sz="1600" dirty="0"/>
              <a:t> optimizing for semantic richness vs precision and conciseness</a:t>
            </a:r>
          </a:p>
          <a:p>
            <a:pPr marL="0" indent="0">
              <a:lnSpc>
                <a:spcPct val="50000"/>
              </a:lnSpc>
              <a:buNone/>
            </a:pPr>
            <a:endParaRPr lang="en-US" altLang="zh-CN" sz="1600" b="1" dirty="0"/>
          </a:p>
          <a:p>
            <a:pPr marL="0" indent="0">
              <a:lnSpc>
                <a:spcPct val="50000"/>
              </a:lnSpc>
              <a:buNone/>
            </a:pPr>
            <a:r>
              <a:rPr lang="en-GB" sz="1600" b="1" dirty="0"/>
              <a:t>RL Algorithm Comparison:</a:t>
            </a:r>
            <a:endParaRPr lang="en-GB" sz="1600" dirty="0"/>
          </a:p>
          <a:p>
            <a:pPr marL="285750" indent="-285750">
              <a:lnSpc>
                <a:spcPct val="50000"/>
              </a:lnSpc>
            </a:pPr>
            <a:r>
              <a:rPr lang="en-GB" sz="1600" b="1" dirty="0"/>
              <a:t>GRPO</a:t>
            </a:r>
            <a:r>
              <a:rPr lang="en-GB" sz="1600" dirty="0"/>
              <a:t> converges faster than PPO</a:t>
            </a:r>
          </a:p>
          <a:p>
            <a:pPr marL="285750" indent="-285750">
              <a:lnSpc>
                <a:spcPct val="50000"/>
              </a:lnSpc>
            </a:pPr>
            <a:r>
              <a:rPr lang="en-GB" sz="1600" dirty="0"/>
              <a:t>Both </a:t>
            </a:r>
            <a:r>
              <a:rPr lang="en-GB" sz="1600" b="1" dirty="0"/>
              <a:t>PPO &amp; GRPO</a:t>
            </a:r>
            <a:r>
              <a:rPr lang="en-GB" sz="1600" dirty="0"/>
              <a:t> outperform baseline</a:t>
            </a:r>
          </a:p>
          <a:p>
            <a:pPr marL="0" indent="0">
              <a:lnSpc>
                <a:spcPct val="50000"/>
              </a:lnSpc>
              <a:buNone/>
            </a:pPr>
            <a:endParaRPr lang="en-US" altLang="zh-CN" sz="1600" b="1" dirty="0"/>
          </a:p>
          <a:p>
            <a:pPr marL="0" indent="0">
              <a:lnSpc>
                <a:spcPct val="50000"/>
              </a:lnSpc>
              <a:buNone/>
            </a:pPr>
            <a:r>
              <a:rPr lang="en-GB" sz="1600" b="1" dirty="0"/>
              <a:t>Adaptive Learning &amp; Generalization:</a:t>
            </a:r>
          </a:p>
          <a:p>
            <a:pPr marL="285750" indent="-285750">
              <a:lnSpc>
                <a:spcPct val="50000"/>
              </a:lnSpc>
            </a:pPr>
            <a:r>
              <a:rPr lang="en-GB" sz="1600" dirty="0"/>
              <a:t>Learns memory operations from experience, scales efficiently across model </a:t>
            </a:r>
          </a:p>
          <a:p>
            <a:pPr marL="0" indent="0">
              <a:lnSpc>
                <a:spcPct val="50000"/>
              </a:lnSpc>
              <a:buNone/>
            </a:pPr>
            <a:r>
              <a:rPr lang="zh-CN" altLang="en-US" sz="1600" dirty="0"/>
              <a:t>     </a:t>
            </a:r>
            <a:r>
              <a:rPr lang="en-GB" sz="1600" dirty="0"/>
              <a:t>sizes,</a:t>
            </a:r>
            <a:r>
              <a:rPr lang="zh-CN" altLang="en-US" sz="1600" dirty="0"/>
              <a:t> </a:t>
            </a:r>
            <a:r>
              <a:rPr lang="en-GB" sz="1600" dirty="0"/>
              <a:t>and generalizes zero-shot to unseen datasets</a:t>
            </a:r>
          </a:p>
          <a:p>
            <a:pPr>
              <a:lnSpc>
                <a:spcPct val="50000"/>
              </a:lnSpc>
            </a:pPr>
            <a:endParaRPr lang="en-GB" sz="1600" b="1" dirty="0"/>
          </a:p>
          <a:p>
            <a:pPr marL="0" indent="0">
              <a:lnSpc>
                <a:spcPct val="50000"/>
              </a:lnSpc>
              <a:buNone/>
            </a:pPr>
            <a:r>
              <a:rPr lang="en-GB" sz="1600" b="1" dirty="0"/>
              <a:t>RL Efficiency:</a:t>
            </a:r>
            <a:endParaRPr lang="en-GB" sz="1600" dirty="0"/>
          </a:p>
          <a:p>
            <a:pPr marL="285750" indent="-285750">
              <a:lnSpc>
                <a:spcPct val="50000"/>
              </a:lnSpc>
            </a:pPr>
            <a:r>
              <a:rPr lang="en-GB" sz="1600" dirty="0"/>
              <a:t>With only </a:t>
            </a:r>
            <a:r>
              <a:rPr lang="en-GB" sz="1600" b="1" dirty="0"/>
              <a:t>152 QA pairs</a:t>
            </a:r>
            <a:r>
              <a:rPr lang="en-GB" sz="1600" dirty="0"/>
              <a:t>, Memory-R1 achieves large improvements</a:t>
            </a:r>
          </a:p>
          <a:p>
            <a:pPr marL="0" indent="0">
              <a:lnSpc>
                <a:spcPct val="50000"/>
              </a:lnSpc>
              <a:buNone/>
            </a:pPr>
            <a:r>
              <a:rPr lang="zh-CN" altLang="en-US" sz="1600" dirty="0"/>
              <a:t>     </a:t>
            </a:r>
            <a:r>
              <a:rPr lang="en-US" altLang="zh-CN" sz="1600" dirty="0"/>
              <a:t>showing</a:t>
            </a:r>
            <a:r>
              <a:rPr lang="en-GB" sz="1600" dirty="0"/>
              <a:t> strong data-efficiency</a:t>
            </a:r>
          </a:p>
          <a:p>
            <a:pPr>
              <a:lnSpc>
                <a:spcPct val="50000"/>
              </a:lnSpc>
            </a:pPr>
            <a:endParaRPr lang="en-US" sz="1600" dirty="0"/>
          </a:p>
        </p:txBody>
      </p:sp>
      <p:sp>
        <p:nvSpPr>
          <p:cNvPr id="5" name="TextBox 4">
            <a:extLst>
              <a:ext uri="{FF2B5EF4-FFF2-40B4-BE49-F238E27FC236}">
                <a16:creationId xmlns:a16="http://schemas.microsoft.com/office/drawing/2014/main" id="{87EC82D0-6BD0-4F8E-55C8-64A9B20A51E7}"/>
              </a:ext>
            </a:extLst>
          </p:cNvPr>
          <p:cNvSpPr txBox="1"/>
          <p:nvPr/>
        </p:nvSpPr>
        <p:spPr>
          <a:xfrm>
            <a:off x="8155137" y="5755330"/>
            <a:ext cx="3180421" cy="276999"/>
          </a:xfrm>
          <a:prstGeom prst="rect">
            <a:avLst/>
          </a:prstGeom>
          <a:noFill/>
        </p:spPr>
        <p:txBody>
          <a:bodyPr wrap="square" rtlCol="0">
            <a:spAutoFit/>
          </a:bodyPr>
          <a:lstStyle/>
          <a:p>
            <a:r>
              <a:rPr lang="en-US" altLang="zh-CN" sz="1200" i="1" dirty="0"/>
              <a:t>Figure</a:t>
            </a:r>
            <a:r>
              <a:rPr lang="zh-CN" altLang="en-US" sz="1200" i="1" dirty="0"/>
              <a:t> </a:t>
            </a:r>
            <a:r>
              <a:rPr lang="en-US" altLang="zh-CN" sz="1200" i="1" dirty="0"/>
              <a:t>c:</a:t>
            </a:r>
            <a:r>
              <a:rPr lang="zh-CN" altLang="en-US" sz="1200" i="1" dirty="0"/>
              <a:t> </a:t>
            </a:r>
            <a:r>
              <a:rPr lang="en-US" altLang="zh-CN" sz="1200" i="1" dirty="0"/>
              <a:t>Training</a:t>
            </a:r>
            <a:r>
              <a:rPr lang="zh-CN" altLang="en-US" sz="1200" i="1" dirty="0"/>
              <a:t> </a:t>
            </a:r>
            <a:r>
              <a:rPr lang="en-US" altLang="zh-CN" sz="1200" i="1" dirty="0"/>
              <a:t>convergence</a:t>
            </a:r>
            <a:r>
              <a:rPr lang="zh-CN" altLang="en-US" sz="1200" i="1" dirty="0"/>
              <a:t> </a:t>
            </a:r>
            <a:r>
              <a:rPr lang="en-US" altLang="zh-CN" sz="1200" i="1" dirty="0"/>
              <a:t>comparison</a:t>
            </a:r>
            <a:endParaRPr lang="en-US" sz="1200" i="1" dirty="0"/>
          </a:p>
        </p:txBody>
      </p:sp>
      <p:sp>
        <p:nvSpPr>
          <p:cNvPr id="6" name="TextBox 5">
            <a:extLst>
              <a:ext uri="{FF2B5EF4-FFF2-40B4-BE49-F238E27FC236}">
                <a16:creationId xmlns:a16="http://schemas.microsoft.com/office/drawing/2014/main" id="{55D8D3B1-CF7B-0F58-71CD-4D9552E9DE9B}"/>
              </a:ext>
            </a:extLst>
          </p:cNvPr>
          <p:cNvSpPr txBox="1"/>
          <p:nvPr/>
        </p:nvSpPr>
        <p:spPr>
          <a:xfrm>
            <a:off x="7201354" y="2133917"/>
            <a:ext cx="4990646" cy="276999"/>
          </a:xfrm>
          <a:prstGeom prst="rect">
            <a:avLst/>
          </a:prstGeom>
          <a:noFill/>
        </p:spPr>
        <p:txBody>
          <a:bodyPr wrap="square" rtlCol="0">
            <a:spAutoFit/>
          </a:bodyPr>
          <a:lstStyle/>
          <a:p>
            <a:r>
              <a:rPr lang="en-US" altLang="zh-CN" sz="1200" i="1" dirty="0"/>
              <a:t>Figure</a:t>
            </a:r>
            <a:r>
              <a:rPr lang="zh-CN" altLang="en-US" sz="1200" i="1" dirty="0"/>
              <a:t> </a:t>
            </a:r>
            <a:r>
              <a:rPr lang="en-US" altLang="zh-CN" sz="1200" i="1" dirty="0"/>
              <a:t>a:</a:t>
            </a:r>
            <a:r>
              <a:rPr lang="zh-CN" altLang="en-US" sz="1200" i="1" dirty="0"/>
              <a:t> </a:t>
            </a:r>
            <a:r>
              <a:rPr lang="en-US" altLang="zh-CN" sz="1200" i="1" dirty="0"/>
              <a:t>Answer</a:t>
            </a:r>
            <a:r>
              <a:rPr lang="zh-CN" altLang="en-US" sz="1200" i="1" dirty="0"/>
              <a:t> </a:t>
            </a:r>
            <a:r>
              <a:rPr lang="en-US" altLang="zh-CN" sz="1200" i="1" dirty="0"/>
              <a:t>Agent</a:t>
            </a:r>
            <a:r>
              <a:rPr lang="zh-CN" altLang="en-US" sz="1200" i="1" dirty="0"/>
              <a:t> </a:t>
            </a:r>
            <a:r>
              <a:rPr lang="en-US" altLang="zh-CN" sz="1200" i="1" dirty="0"/>
              <a:t>potential</a:t>
            </a:r>
            <a:r>
              <a:rPr lang="zh-CN" altLang="en-US" sz="1200" i="1" dirty="0"/>
              <a:t> </a:t>
            </a:r>
            <a:r>
              <a:rPr lang="en-US" altLang="zh-CN" sz="1200" i="1" dirty="0"/>
              <a:t>with</a:t>
            </a:r>
            <a:r>
              <a:rPr lang="zh-CN" altLang="en-US" sz="1200" i="1" dirty="0"/>
              <a:t> </a:t>
            </a:r>
            <a:r>
              <a:rPr lang="en-US" altLang="zh-CN" sz="1200" i="1" dirty="0"/>
              <a:t>more</a:t>
            </a:r>
            <a:r>
              <a:rPr lang="zh-CN" altLang="en-US" sz="1200" i="1" dirty="0"/>
              <a:t> </a:t>
            </a:r>
            <a:r>
              <a:rPr lang="en-US" altLang="zh-CN" sz="1200" i="1" dirty="0"/>
              <a:t>powerful</a:t>
            </a:r>
            <a:r>
              <a:rPr lang="zh-CN" altLang="en-US" sz="1200" i="1" dirty="0"/>
              <a:t> </a:t>
            </a:r>
            <a:r>
              <a:rPr lang="en-US" altLang="zh-CN" sz="1200" i="1" dirty="0"/>
              <a:t>Memory</a:t>
            </a:r>
            <a:r>
              <a:rPr lang="zh-CN" altLang="en-US" sz="1200" i="1" dirty="0"/>
              <a:t> </a:t>
            </a:r>
            <a:r>
              <a:rPr lang="en-US" altLang="zh-CN" sz="1200" i="1" dirty="0"/>
              <a:t>Manager</a:t>
            </a:r>
            <a:endParaRPr lang="en-US" sz="1200" i="1" dirty="0"/>
          </a:p>
        </p:txBody>
      </p:sp>
      <p:pic>
        <p:nvPicPr>
          <p:cNvPr id="7" name="Picture 6"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3B2AE9EA-8C24-8E7B-0691-8CEF35E70A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3050" y="4248143"/>
            <a:ext cx="3617249" cy="1507187"/>
          </a:xfrm>
          <a:prstGeom prst="rect">
            <a:avLst/>
          </a:prstGeom>
        </p:spPr>
      </p:pic>
      <p:pic>
        <p:nvPicPr>
          <p:cNvPr id="8" name="Picture 7" descr="A comparison of a graph&#10;&#10;AI-generated content may be incorrect.">
            <a:extLst>
              <a:ext uri="{FF2B5EF4-FFF2-40B4-BE49-F238E27FC236}">
                <a16:creationId xmlns:a16="http://schemas.microsoft.com/office/drawing/2014/main" id="{9E4AE0A4-1D3A-AAD2-F876-FF0AA0D369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5137" y="279400"/>
            <a:ext cx="3083079" cy="1821819"/>
          </a:xfrm>
          <a:prstGeom prst="rect">
            <a:avLst/>
          </a:prstGeom>
        </p:spPr>
      </p:pic>
      <p:pic>
        <p:nvPicPr>
          <p:cNvPr id="9" name="Picture 8">
            <a:extLst>
              <a:ext uri="{FF2B5EF4-FFF2-40B4-BE49-F238E27FC236}">
                <a16:creationId xmlns:a16="http://schemas.microsoft.com/office/drawing/2014/main" id="{897B3FFD-AEEE-F9AA-CA95-34B1CBDD25B9}"/>
              </a:ext>
            </a:extLst>
          </p:cNvPr>
          <p:cNvPicPr>
            <a:picLocks noChangeAspect="1"/>
          </p:cNvPicPr>
          <p:nvPr/>
        </p:nvPicPr>
        <p:blipFill>
          <a:blip r:embed="rId4"/>
          <a:srcRect l="11996" t="25729" r="50000" b="66021"/>
          <a:stretch>
            <a:fillRect/>
          </a:stretch>
        </p:blipFill>
        <p:spPr>
          <a:xfrm>
            <a:off x="8057795" y="2652816"/>
            <a:ext cx="3482504" cy="1069731"/>
          </a:xfrm>
          <a:prstGeom prst="rect">
            <a:avLst/>
          </a:prstGeom>
        </p:spPr>
      </p:pic>
      <p:sp>
        <p:nvSpPr>
          <p:cNvPr id="10" name="TextBox 9">
            <a:extLst>
              <a:ext uri="{FF2B5EF4-FFF2-40B4-BE49-F238E27FC236}">
                <a16:creationId xmlns:a16="http://schemas.microsoft.com/office/drawing/2014/main" id="{2300C424-4F38-BE6E-EFE9-633729D71F73}"/>
              </a:ext>
            </a:extLst>
          </p:cNvPr>
          <p:cNvSpPr txBox="1"/>
          <p:nvPr/>
        </p:nvSpPr>
        <p:spPr>
          <a:xfrm>
            <a:off x="7201354" y="3708345"/>
            <a:ext cx="4990646" cy="276999"/>
          </a:xfrm>
          <a:prstGeom prst="rect">
            <a:avLst/>
          </a:prstGeom>
          <a:noFill/>
        </p:spPr>
        <p:txBody>
          <a:bodyPr wrap="square" rtlCol="0">
            <a:spAutoFit/>
          </a:bodyPr>
          <a:lstStyle/>
          <a:p>
            <a:r>
              <a:rPr lang="en-US" altLang="zh-CN" sz="1200" i="1" dirty="0"/>
              <a:t>Figure</a:t>
            </a:r>
            <a:r>
              <a:rPr lang="zh-CN" altLang="en-US" sz="1200" i="1" dirty="0"/>
              <a:t> </a:t>
            </a:r>
            <a:r>
              <a:rPr lang="en-US" altLang="zh-CN" sz="1200" i="1" dirty="0"/>
              <a:t>b:</a:t>
            </a:r>
            <a:r>
              <a:rPr lang="zh-CN" altLang="en-US" sz="1200" i="1" dirty="0"/>
              <a:t> </a:t>
            </a:r>
            <a:r>
              <a:rPr lang="en-US" altLang="zh-CN" sz="1200" i="1" dirty="0"/>
              <a:t>Answer</a:t>
            </a:r>
            <a:r>
              <a:rPr lang="zh-CN" altLang="en-US" sz="1200" i="1" dirty="0"/>
              <a:t> </a:t>
            </a:r>
            <a:r>
              <a:rPr lang="en-US" altLang="zh-CN" sz="1200" i="1" dirty="0"/>
              <a:t>Agent</a:t>
            </a:r>
            <a:r>
              <a:rPr lang="zh-CN" altLang="en-US" sz="1200" i="1" dirty="0"/>
              <a:t> </a:t>
            </a:r>
            <a:r>
              <a:rPr lang="en-US" altLang="zh-CN" sz="1200" i="1" dirty="0"/>
              <a:t>potential</a:t>
            </a:r>
            <a:r>
              <a:rPr lang="zh-CN" altLang="en-US" sz="1200" i="1" dirty="0"/>
              <a:t> </a:t>
            </a:r>
            <a:r>
              <a:rPr lang="en-US" altLang="zh-CN" sz="1200" i="1" dirty="0"/>
              <a:t>with</a:t>
            </a:r>
            <a:r>
              <a:rPr lang="zh-CN" altLang="en-US" sz="1200" i="1" dirty="0"/>
              <a:t> </a:t>
            </a:r>
            <a:r>
              <a:rPr lang="en-US" altLang="zh-CN" sz="1200" i="1" dirty="0"/>
              <a:t>more</a:t>
            </a:r>
            <a:r>
              <a:rPr lang="zh-CN" altLang="en-US" sz="1200" i="1" dirty="0"/>
              <a:t> </a:t>
            </a:r>
            <a:r>
              <a:rPr lang="en-US" altLang="zh-CN" sz="1200" i="1" dirty="0"/>
              <a:t>powerful</a:t>
            </a:r>
            <a:r>
              <a:rPr lang="zh-CN" altLang="en-US" sz="1200" i="1" dirty="0"/>
              <a:t> </a:t>
            </a:r>
            <a:r>
              <a:rPr lang="en-US" altLang="zh-CN" sz="1200" i="1" dirty="0"/>
              <a:t>Memory</a:t>
            </a:r>
            <a:r>
              <a:rPr lang="zh-CN" altLang="en-US" sz="1200" i="1" dirty="0"/>
              <a:t> </a:t>
            </a:r>
            <a:r>
              <a:rPr lang="en-US" altLang="zh-CN" sz="1200" i="1" dirty="0"/>
              <a:t>Manager</a:t>
            </a:r>
            <a:endParaRPr lang="en-US" sz="1200" i="1" dirty="0"/>
          </a:p>
        </p:txBody>
      </p:sp>
    </p:spTree>
    <p:extLst>
      <p:ext uri="{BB962C8B-B14F-4D97-AF65-F5344CB8AC3E}">
        <p14:creationId xmlns:p14="http://schemas.microsoft.com/office/powerpoint/2010/main" val="42269126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690F38-4479-FF3D-DB83-B038E036364B}"/>
              </a:ext>
            </a:extLst>
          </p:cNvPr>
          <p:cNvSpPr>
            <a:spLocks noGrp="1"/>
          </p:cNvSpPr>
          <p:nvPr>
            <p:ph type="sldNum" sz="quarter" idx="4"/>
          </p:nvPr>
        </p:nvSpPr>
        <p:spPr/>
        <p:txBody>
          <a:bodyPr/>
          <a:lstStyle/>
          <a:p>
            <a:pPr algn="l"/>
            <a:fld id="{3889EAAA-2A39-E347-B0AA-909793490C00}" type="slidenum">
              <a:rPr lang="de-DE" smtClean="0"/>
              <a:pPr algn="l"/>
              <a:t>20</a:t>
            </a:fld>
            <a:endParaRPr lang="de-DE" dirty="0"/>
          </a:p>
        </p:txBody>
      </p:sp>
      <p:sp>
        <p:nvSpPr>
          <p:cNvPr id="3" name="Title 2">
            <a:extLst>
              <a:ext uri="{FF2B5EF4-FFF2-40B4-BE49-F238E27FC236}">
                <a16:creationId xmlns:a16="http://schemas.microsoft.com/office/drawing/2014/main" id="{C505F968-8E11-E4D1-0C98-9294BE890FFA}"/>
              </a:ext>
            </a:extLst>
          </p:cNvPr>
          <p:cNvSpPr>
            <a:spLocks noGrp="1"/>
          </p:cNvSpPr>
          <p:nvPr>
            <p:ph type="title"/>
          </p:nvPr>
        </p:nvSpPr>
        <p:spPr/>
        <p:txBody>
          <a:bodyPr/>
          <a:lstStyle/>
          <a:p>
            <a:r>
              <a:rPr lang="en-US" altLang="zh-CN" dirty="0"/>
              <a:t>Limitations</a:t>
            </a:r>
            <a:r>
              <a:rPr lang="zh-CN" altLang="en-US" dirty="0"/>
              <a:t> </a:t>
            </a:r>
            <a:r>
              <a:rPr lang="en-US" altLang="zh-CN" dirty="0"/>
              <a:t>&amp;</a:t>
            </a:r>
            <a:r>
              <a:rPr lang="zh-CN" altLang="en-US" dirty="0"/>
              <a:t> </a:t>
            </a:r>
            <a:r>
              <a:rPr lang="en-DE" altLang="zh-CN" dirty="0"/>
              <a:t>Future</a:t>
            </a:r>
            <a:r>
              <a:rPr lang="zh-CN" altLang="en-US" dirty="0"/>
              <a:t> </a:t>
            </a:r>
            <a:r>
              <a:rPr lang="en-US" altLang="zh-CN" dirty="0"/>
              <a:t>work</a:t>
            </a:r>
            <a:br>
              <a:rPr lang="en-US" altLang="zh-CN" sz="2000" dirty="0">
                <a:solidFill>
                  <a:srgbClr val="4F8F8F"/>
                </a:solidFill>
                <a:latin typeface="Aptos" panose="020B0004020202020204" pitchFamily="34" charset="0"/>
                <a:cs typeface="Arial" panose="020B0604020202020204" pitchFamily="34" charset="0"/>
              </a:rPr>
            </a:br>
            <a:endParaRPr lang="en-US" dirty="0"/>
          </a:p>
        </p:txBody>
      </p:sp>
      <p:sp>
        <p:nvSpPr>
          <p:cNvPr id="4" name="Content Placeholder 3">
            <a:extLst>
              <a:ext uri="{FF2B5EF4-FFF2-40B4-BE49-F238E27FC236}">
                <a16:creationId xmlns:a16="http://schemas.microsoft.com/office/drawing/2014/main" id="{427CD01C-CEB2-304B-38A4-9575125058F9}"/>
              </a:ext>
            </a:extLst>
          </p:cNvPr>
          <p:cNvSpPr>
            <a:spLocks noGrp="1"/>
          </p:cNvSpPr>
          <p:nvPr>
            <p:ph sz="quarter" idx="10"/>
          </p:nvPr>
        </p:nvSpPr>
        <p:spPr/>
        <p:txBody>
          <a:bodyPr/>
          <a:lstStyle/>
          <a:p>
            <a:pPr marL="0" indent="0">
              <a:lnSpc>
                <a:spcPct val="60000"/>
              </a:lnSpc>
              <a:buNone/>
            </a:pPr>
            <a:r>
              <a:rPr lang="en-GB" sz="1800" b="1" dirty="0"/>
              <a:t>Limitations</a:t>
            </a:r>
            <a:endParaRPr lang="en-GB" sz="1800" dirty="0"/>
          </a:p>
          <a:p>
            <a:pPr marL="285750" indent="-285750">
              <a:lnSpc>
                <a:spcPct val="60000"/>
              </a:lnSpc>
            </a:pPr>
            <a:r>
              <a:rPr lang="en-GB" sz="1800" dirty="0"/>
              <a:t>Benchmarks (e.g., LOCOMO) limited in scale &amp; diversity</a:t>
            </a:r>
          </a:p>
          <a:p>
            <a:pPr marL="285750" indent="-285750">
              <a:lnSpc>
                <a:spcPct val="60000"/>
              </a:lnSpc>
            </a:pPr>
            <a:r>
              <a:rPr lang="en-GB" sz="1800" dirty="0"/>
              <a:t>No dataset for evaluating memory ops {ADD, UPDATE, DELETE, NOOP}</a:t>
            </a:r>
          </a:p>
          <a:p>
            <a:pPr marL="285750" indent="-285750">
              <a:lnSpc>
                <a:spcPct val="60000"/>
              </a:lnSpc>
            </a:pPr>
            <a:r>
              <a:rPr lang="en-GB" sz="1800" dirty="0"/>
              <a:t>System depends on QA supervision</a:t>
            </a:r>
          </a:p>
          <a:p>
            <a:pPr marL="285750" indent="-285750">
              <a:lnSpc>
                <a:spcPct val="60000"/>
              </a:lnSpc>
            </a:pPr>
            <a:r>
              <a:rPr lang="en-GB" sz="1800" dirty="0"/>
              <a:t>Supports only one memory type (no separation of episodic, semantic, procedural, etc.)</a:t>
            </a:r>
          </a:p>
          <a:p>
            <a:pPr marL="285750" indent="-285750">
              <a:lnSpc>
                <a:spcPct val="60000"/>
              </a:lnSpc>
            </a:pPr>
            <a:r>
              <a:rPr lang="en-GB" sz="1800" dirty="0"/>
              <a:t>Text only (no multimodal support yet)</a:t>
            </a:r>
          </a:p>
          <a:p>
            <a:pPr>
              <a:lnSpc>
                <a:spcPct val="60000"/>
              </a:lnSpc>
            </a:pPr>
            <a:endParaRPr lang="en-GB" sz="1800" dirty="0"/>
          </a:p>
          <a:p>
            <a:pPr marL="0" indent="0">
              <a:lnSpc>
                <a:spcPct val="60000"/>
              </a:lnSpc>
              <a:buNone/>
            </a:pPr>
            <a:r>
              <a:rPr lang="en-GB" sz="1800" b="1" dirty="0"/>
              <a:t>Future Work</a:t>
            </a:r>
            <a:endParaRPr lang="en-GB" sz="1800" dirty="0"/>
          </a:p>
          <a:p>
            <a:pPr marL="285750" indent="-285750">
              <a:lnSpc>
                <a:spcPct val="60000"/>
              </a:lnSpc>
            </a:pPr>
            <a:r>
              <a:rPr lang="en-GB" sz="1800" dirty="0"/>
              <a:t>Build memory-centric datasets</a:t>
            </a:r>
          </a:p>
          <a:p>
            <a:pPr marL="285750" indent="-285750">
              <a:lnSpc>
                <a:spcPct val="60000"/>
              </a:lnSpc>
            </a:pPr>
            <a:r>
              <a:rPr lang="en-GB" sz="1800" dirty="0"/>
              <a:t>Incorporate different memory types (episodic, semantic, procedural, </a:t>
            </a:r>
            <a:r>
              <a:rPr lang="en-US" altLang="zh-CN" sz="1800" dirty="0"/>
              <a:t>and</a:t>
            </a:r>
            <a:r>
              <a:rPr lang="zh-CN" altLang="en-US" sz="1800" dirty="0"/>
              <a:t> </a:t>
            </a:r>
            <a:r>
              <a:rPr lang="en-US" altLang="zh-CN" sz="1800" dirty="0"/>
              <a:t>etc.</a:t>
            </a:r>
            <a:r>
              <a:rPr lang="en-GB" sz="1800" dirty="0"/>
              <a:t>)</a:t>
            </a:r>
          </a:p>
          <a:p>
            <a:pPr marL="285750" indent="-285750">
              <a:lnSpc>
                <a:spcPct val="60000"/>
              </a:lnSpc>
            </a:pPr>
            <a:r>
              <a:rPr lang="en-GB" sz="1800" dirty="0"/>
              <a:t>Extend to multimodal memory (text + images + audio)</a:t>
            </a:r>
          </a:p>
          <a:p>
            <a:pPr marL="285750" indent="-285750">
              <a:lnSpc>
                <a:spcPct val="60000"/>
              </a:lnSpc>
            </a:pPr>
            <a:r>
              <a:rPr lang="en-GB" sz="1800" dirty="0"/>
              <a:t>Apply to real-world domains</a:t>
            </a:r>
          </a:p>
          <a:p>
            <a:pPr>
              <a:lnSpc>
                <a:spcPct val="60000"/>
              </a:lnSpc>
            </a:pPr>
            <a:endParaRPr lang="en-US" sz="1800" dirty="0"/>
          </a:p>
        </p:txBody>
      </p:sp>
      <p:pic>
        <p:nvPicPr>
          <p:cNvPr id="5" name="Picture 2" descr="The Brain and Memory | Highbrow">
            <a:hlinkClick r:id="rId2"/>
            <a:extLst>
              <a:ext uri="{FF2B5EF4-FFF2-40B4-BE49-F238E27FC236}">
                <a16:creationId xmlns:a16="http://schemas.microsoft.com/office/drawing/2014/main" id="{C782F0B2-9DFE-5CAF-4EF4-D8C3A3A3E4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9534" y="4184417"/>
            <a:ext cx="5347166" cy="267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968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955031-F104-3244-BF3C-A6ED9E0478D7}"/>
              </a:ext>
            </a:extLst>
          </p:cNvPr>
          <p:cNvSpPr>
            <a:spLocks noGrp="1"/>
          </p:cNvSpPr>
          <p:nvPr>
            <p:ph type="sldNum" sz="quarter" idx="4"/>
          </p:nvPr>
        </p:nvSpPr>
        <p:spPr/>
        <p:txBody>
          <a:bodyPr/>
          <a:lstStyle/>
          <a:p>
            <a:pPr algn="l"/>
            <a:fld id="{3889EAAA-2A39-E347-B0AA-909793490C00}" type="slidenum">
              <a:rPr lang="de-DE" smtClean="0"/>
              <a:pPr algn="l"/>
              <a:t>21</a:t>
            </a:fld>
            <a:endParaRPr lang="de-DE" dirty="0"/>
          </a:p>
        </p:txBody>
      </p:sp>
      <p:sp>
        <p:nvSpPr>
          <p:cNvPr id="3" name="Title 2">
            <a:extLst>
              <a:ext uri="{FF2B5EF4-FFF2-40B4-BE49-F238E27FC236}">
                <a16:creationId xmlns:a16="http://schemas.microsoft.com/office/drawing/2014/main" id="{BE206D86-3676-1F92-6418-9CF91D825A2F}"/>
              </a:ext>
            </a:extLst>
          </p:cNvPr>
          <p:cNvSpPr>
            <a:spLocks noGrp="1"/>
          </p:cNvSpPr>
          <p:nvPr>
            <p:ph type="title"/>
          </p:nvPr>
        </p:nvSpPr>
        <p:spPr/>
        <p:txBody>
          <a:bodyPr/>
          <a:lstStyle/>
          <a:p>
            <a:r>
              <a:rPr lang="en-US" altLang="zh-CN" dirty="0"/>
              <a:t>Impact</a:t>
            </a:r>
            <a:br>
              <a:rPr lang="en-US" altLang="zh-CN" dirty="0"/>
            </a:br>
            <a:endParaRPr lang="en-US" dirty="0"/>
          </a:p>
        </p:txBody>
      </p:sp>
      <p:sp>
        <p:nvSpPr>
          <p:cNvPr id="5" name="文本框 7">
            <a:extLst>
              <a:ext uri="{FF2B5EF4-FFF2-40B4-BE49-F238E27FC236}">
                <a16:creationId xmlns:a16="http://schemas.microsoft.com/office/drawing/2014/main" id="{DFA42951-E6D6-2628-F6C2-9AFE9EA46403}"/>
              </a:ext>
            </a:extLst>
          </p:cNvPr>
          <p:cNvSpPr txBox="1"/>
          <p:nvPr/>
        </p:nvSpPr>
        <p:spPr>
          <a:xfrm>
            <a:off x="410399" y="1313634"/>
            <a:ext cx="3008209" cy="338554"/>
          </a:xfrm>
          <a:prstGeom prst="rect">
            <a:avLst/>
          </a:prstGeom>
          <a:noFill/>
        </p:spPr>
        <p:txBody>
          <a:bodyPr wrap="square" rtlCol="0">
            <a:spAutoFit/>
          </a:bodyPr>
          <a:lstStyle/>
          <a:p>
            <a:r>
              <a:rPr lang="en-DE" sz="1600" b="1" dirty="0"/>
              <a:t>Over</a:t>
            </a:r>
            <a:r>
              <a:rPr lang="zh-CN" altLang="en-US" sz="1600" b="1" dirty="0"/>
              <a:t> </a:t>
            </a:r>
            <a:r>
              <a:rPr lang="en-US" altLang="zh-CN" sz="1600" b="1" dirty="0"/>
              <a:t>500k</a:t>
            </a:r>
            <a:r>
              <a:rPr lang="zh-CN" altLang="en-US" sz="1600" b="1" dirty="0"/>
              <a:t> </a:t>
            </a:r>
            <a:r>
              <a:rPr lang="en-US" altLang="zh-CN" sz="1600" b="1" dirty="0"/>
              <a:t>views</a:t>
            </a:r>
            <a:r>
              <a:rPr lang="zh-CN" altLang="en-US" sz="1600" b="1" dirty="0"/>
              <a:t> </a:t>
            </a:r>
            <a:r>
              <a:rPr lang="en-US" altLang="zh-CN" sz="1600" b="1" dirty="0"/>
              <a:t>on</a:t>
            </a:r>
            <a:r>
              <a:rPr lang="zh-CN" altLang="en-US" sz="1600" b="1" dirty="0"/>
              <a:t> </a:t>
            </a:r>
            <a:r>
              <a:rPr lang="en-US" altLang="zh-CN" sz="1600" b="1" dirty="0"/>
              <a:t>X</a:t>
            </a:r>
            <a:r>
              <a:rPr lang="zh-CN" altLang="en-US" sz="1600" b="1" dirty="0"/>
              <a:t> </a:t>
            </a:r>
            <a:r>
              <a:rPr lang="en-US" altLang="zh-CN" sz="1600" b="1" dirty="0"/>
              <a:t>&amp;</a:t>
            </a:r>
            <a:r>
              <a:rPr lang="zh-CN" altLang="en-US" sz="1600" b="1" dirty="0"/>
              <a:t> </a:t>
            </a:r>
            <a:r>
              <a:rPr lang="en-US" altLang="zh-CN" sz="1600" b="1" dirty="0"/>
              <a:t>LinkedIn</a:t>
            </a:r>
            <a:endParaRPr lang="en-GB" sz="1600" dirty="0"/>
          </a:p>
        </p:txBody>
      </p:sp>
      <p:pic>
        <p:nvPicPr>
          <p:cNvPr id="6" name="Picture 5" descr="A screenshot of a computer&#10;&#10;AI-generated content may be incorrect.">
            <a:extLst>
              <a:ext uri="{FF2B5EF4-FFF2-40B4-BE49-F238E27FC236}">
                <a16:creationId xmlns:a16="http://schemas.microsoft.com/office/drawing/2014/main" id="{A1A7F07F-26D7-654D-CCFD-BD60755F95E8}"/>
              </a:ext>
            </a:extLst>
          </p:cNvPr>
          <p:cNvPicPr>
            <a:picLocks noChangeAspect="1"/>
          </p:cNvPicPr>
          <p:nvPr/>
        </p:nvPicPr>
        <p:blipFill>
          <a:blip r:embed="rId2"/>
          <a:srcRect r="18099"/>
          <a:stretch>
            <a:fillRect/>
          </a:stretch>
        </p:blipFill>
        <p:spPr>
          <a:xfrm>
            <a:off x="3906356" y="1945662"/>
            <a:ext cx="3432464" cy="3598704"/>
          </a:xfrm>
          <a:prstGeom prst="rect">
            <a:avLst/>
          </a:prstGeom>
        </p:spPr>
      </p:pic>
      <p:sp>
        <p:nvSpPr>
          <p:cNvPr id="7" name="文本框 7">
            <a:extLst>
              <a:ext uri="{FF2B5EF4-FFF2-40B4-BE49-F238E27FC236}">
                <a16:creationId xmlns:a16="http://schemas.microsoft.com/office/drawing/2014/main" id="{BC3CA741-9543-25C5-6E04-932F6F65E951}"/>
              </a:ext>
            </a:extLst>
          </p:cNvPr>
          <p:cNvSpPr txBox="1"/>
          <p:nvPr/>
        </p:nvSpPr>
        <p:spPr>
          <a:xfrm>
            <a:off x="3906355" y="1304889"/>
            <a:ext cx="3668617" cy="338554"/>
          </a:xfrm>
          <a:prstGeom prst="rect">
            <a:avLst/>
          </a:prstGeom>
          <a:noFill/>
        </p:spPr>
        <p:txBody>
          <a:bodyPr wrap="square" rtlCol="0">
            <a:spAutoFit/>
          </a:bodyPr>
          <a:lstStyle/>
          <a:p>
            <a:r>
              <a:rPr lang="en-US" altLang="zh-CN" sz="1600" b="1" dirty="0"/>
              <a:t>#</a:t>
            </a:r>
            <a:r>
              <a:rPr lang="en-GB" sz="1600" b="1" dirty="0"/>
              <a:t>1 </a:t>
            </a:r>
            <a:r>
              <a:rPr lang="en-US" altLang="zh-CN" sz="1600" b="1" dirty="0"/>
              <a:t>Hottest</a:t>
            </a:r>
            <a:r>
              <a:rPr lang="zh-CN" altLang="en-US" sz="1600" b="1" dirty="0"/>
              <a:t> </a:t>
            </a:r>
            <a:r>
              <a:rPr lang="en-US" altLang="zh-CN" sz="1600" b="1" dirty="0"/>
              <a:t>paper</a:t>
            </a:r>
            <a:r>
              <a:rPr lang="zh-CN" altLang="en-US" sz="1600" b="1" dirty="0"/>
              <a:t> </a:t>
            </a:r>
            <a:r>
              <a:rPr lang="en-US" altLang="zh-CN" sz="1600" b="1" dirty="0"/>
              <a:t>of</a:t>
            </a:r>
            <a:r>
              <a:rPr lang="zh-CN" altLang="en-US" sz="1600" b="1" dirty="0"/>
              <a:t> </a:t>
            </a:r>
            <a:r>
              <a:rPr lang="en-US" altLang="zh-CN" sz="1600" b="1" dirty="0"/>
              <a:t>the</a:t>
            </a:r>
            <a:r>
              <a:rPr lang="zh-CN" altLang="en-US" sz="1600" b="1" dirty="0"/>
              <a:t> </a:t>
            </a:r>
            <a:r>
              <a:rPr lang="en-US" altLang="zh-CN" sz="1600" b="1" dirty="0"/>
              <a:t>day</a:t>
            </a:r>
            <a:r>
              <a:rPr lang="zh-CN" altLang="en-US" sz="1600" b="1" dirty="0"/>
              <a:t> </a:t>
            </a:r>
            <a:r>
              <a:rPr lang="en-US" altLang="zh-CN" sz="1600" b="1" dirty="0"/>
              <a:t>on</a:t>
            </a:r>
            <a:r>
              <a:rPr lang="zh-CN" altLang="en-US" sz="1600" b="1" dirty="0"/>
              <a:t> </a:t>
            </a:r>
            <a:r>
              <a:rPr lang="en-US" altLang="zh-CN" sz="1600" b="1" dirty="0" err="1"/>
              <a:t>AlphaXiv</a:t>
            </a:r>
            <a:r>
              <a:rPr lang="zh-CN" altLang="en-US" sz="1600" b="1" dirty="0"/>
              <a:t> </a:t>
            </a:r>
            <a:endParaRPr lang="en-GB" sz="1600" b="1" dirty="0"/>
          </a:p>
        </p:txBody>
      </p:sp>
      <p:pic>
        <p:nvPicPr>
          <p:cNvPr id="8" name="Content Placeholder 5" descr="A screenshot of a computer&#10;&#10;AI-generated content may be incorrect.">
            <a:extLst>
              <a:ext uri="{FF2B5EF4-FFF2-40B4-BE49-F238E27FC236}">
                <a16:creationId xmlns:a16="http://schemas.microsoft.com/office/drawing/2014/main" id="{6DD750BC-9ADE-3EFF-42CC-157E8B34C0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395" y="1909136"/>
            <a:ext cx="2831252" cy="385204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9" name="文本框 7">
            <a:extLst>
              <a:ext uri="{FF2B5EF4-FFF2-40B4-BE49-F238E27FC236}">
                <a16:creationId xmlns:a16="http://schemas.microsoft.com/office/drawing/2014/main" id="{817BAA7B-EBDD-15CB-5183-3E2CFE6489B9}"/>
              </a:ext>
            </a:extLst>
          </p:cNvPr>
          <p:cNvSpPr txBox="1"/>
          <p:nvPr/>
        </p:nvSpPr>
        <p:spPr>
          <a:xfrm>
            <a:off x="7762009" y="1304889"/>
            <a:ext cx="3917373" cy="584775"/>
          </a:xfrm>
          <a:prstGeom prst="rect">
            <a:avLst/>
          </a:prstGeom>
          <a:noFill/>
        </p:spPr>
        <p:txBody>
          <a:bodyPr wrap="square" rtlCol="0">
            <a:spAutoFit/>
          </a:bodyPr>
          <a:lstStyle/>
          <a:p>
            <a:pPr algn="ctr"/>
            <a:r>
              <a:rPr lang="en-US" altLang="zh-CN" sz="1600" b="1" dirty="0"/>
              <a:t>Youtubers</a:t>
            </a:r>
            <a:r>
              <a:rPr lang="en-GB" sz="1600" b="1" dirty="0"/>
              <a:t> spontaneously </a:t>
            </a:r>
            <a:r>
              <a:rPr lang="en-US" altLang="zh-CN" sz="1600" b="1" dirty="0"/>
              <a:t>made</a:t>
            </a:r>
            <a:r>
              <a:rPr lang="zh-CN" altLang="en-US" sz="1600" b="1" dirty="0"/>
              <a:t> </a:t>
            </a:r>
            <a:r>
              <a:rPr lang="en-GB" sz="1600" b="1" dirty="0"/>
              <a:t>videos explaining the paper</a:t>
            </a:r>
            <a:endParaRPr lang="en-GB" sz="1600" dirty="0"/>
          </a:p>
        </p:txBody>
      </p:sp>
      <p:pic>
        <p:nvPicPr>
          <p:cNvPr id="10" name="Picture 9" descr="A screenshot of a computer&#10;&#10;AI-generated content may be incorrect.">
            <a:extLst>
              <a:ext uri="{FF2B5EF4-FFF2-40B4-BE49-F238E27FC236}">
                <a16:creationId xmlns:a16="http://schemas.microsoft.com/office/drawing/2014/main" id="{5F8BBED6-CD64-7FAC-D45F-3389FAB294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0508" y="2241779"/>
            <a:ext cx="4200069" cy="300647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637A1071-2D8B-C735-0377-8D3D67021DF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399" y="2556959"/>
            <a:ext cx="2831252" cy="2398569"/>
          </a:xfrm>
          <a:prstGeom prst="rect">
            <a:avLst/>
          </a:prstGeom>
        </p:spPr>
      </p:pic>
      <p:pic>
        <p:nvPicPr>
          <p:cNvPr id="12" name="Picture 11" descr="A screenshot of a page&#10;&#10;AI-generated content may be incorrect.">
            <a:extLst>
              <a:ext uri="{FF2B5EF4-FFF2-40B4-BE49-F238E27FC236}">
                <a16:creationId xmlns:a16="http://schemas.microsoft.com/office/drawing/2014/main" id="{DD8CCC40-2DD5-86A0-6194-D6267A7409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0398" y="3136278"/>
            <a:ext cx="2903905" cy="3018533"/>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4F7D82D-2B50-2067-B36A-91D73CE835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0398" y="3756243"/>
            <a:ext cx="2878786" cy="2831593"/>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6D6AE6D7-E1A5-F664-809C-437A9899CC61}"/>
              </a:ext>
            </a:extLst>
          </p:cNvPr>
          <p:cNvPicPr>
            <a:picLocks noChangeAspect="1"/>
          </p:cNvPicPr>
          <p:nvPr/>
        </p:nvPicPr>
        <p:blipFill>
          <a:blip r:embed="rId8">
            <a:extLst>
              <a:ext uri="{28A0092B-C50C-407E-A947-70E740481C1C}">
                <a14:useLocalDpi xmlns:a14="http://schemas.microsoft.com/office/drawing/2010/main" val="0"/>
              </a:ext>
            </a:extLst>
          </a:blip>
          <a:srcRect r="-968" b="69991"/>
          <a:stretch>
            <a:fillRect/>
          </a:stretch>
        </p:blipFill>
        <p:spPr>
          <a:xfrm>
            <a:off x="390450" y="4354713"/>
            <a:ext cx="2951972" cy="766988"/>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3864892B-6069-D7E1-E9A9-3FAAD61AAB4A}"/>
              </a:ext>
            </a:extLst>
          </p:cNvPr>
          <p:cNvPicPr>
            <a:picLocks noChangeAspect="1"/>
          </p:cNvPicPr>
          <p:nvPr/>
        </p:nvPicPr>
        <p:blipFill>
          <a:blip r:embed="rId9">
            <a:extLst>
              <a:ext uri="{28A0092B-C50C-407E-A947-70E740481C1C}">
                <a14:useLocalDpi xmlns:a14="http://schemas.microsoft.com/office/drawing/2010/main" val="0"/>
              </a:ext>
            </a:extLst>
          </a:blip>
          <a:srcRect l="1" r="-2343" b="77489"/>
          <a:stretch>
            <a:fillRect/>
          </a:stretch>
        </p:blipFill>
        <p:spPr>
          <a:xfrm>
            <a:off x="410395" y="4901034"/>
            <a:ext cx="3001505" cy="799985"/>
          </a:xfrm>
          <a:prstGeom prst="rect">
            <a:avLst/>
          </a:prstGeom>
        </p:spPr>
      </p:pic>
      <p:pic>
        <p:nvPicPr>
          <p:cNvPr id="16" name="Picture 15" descr="A screenshot of a social media post&#10;&#10;AI-generated content may be incorrect.">
            <a:extLst>
              <a:ext uri="{FF2B5EF4-FFF2-40B4-BE49-F238E27FC236}">
                <a16:creationId xmlns:a16="http://schemas.microsoft.com/office/drawing/2014/main" id="{D44D78ED-7338-3E7F-FE35-19FDE497B3B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10399" y="5480802"/>
            <a:ext cx="2923752" cy="799984"/>
          </a:xfrm>
          <a:prstGeom prst="rect">
            <a:avLst/>
          </a:prstGeom>
        </p:spPr>
      </p:pic>
      <p:pic>
        <p:nvPicPr>
          <p:cNvPr id="17" name="Picture 16" descr="A screenshot of a computer&#10;&#10;AI-generated content may be incorrect.">
            <a:extLst>
              <a:ext uri="{FF2B5EF4-FFF2-40B4-BE49-F238E27FC236}">
                <a16:creationId xmlns:a16="http://schemas.microsoft.com/office/drawing/2014/main" id="{E7E97B5E-3272-675F-3851-840FF0B577E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80288" y="5901959"/>
            <a:ext cx="2923752" cy="694753"/>
          </a:xfrm>
          <a:prstGeom prst="rect">
            <a:avLst/>
          </a:prstGeom>
        </p:spPr>
      </p:pic>
    </p:spTree>
    <p:extLst>
      <p:ext uri="{BB962C8B-B14F-4D97-AF65-F5344CB8AC3E}">
        <p14:creationId xmlns:p14="http://schemas.microsoft.com/office/powerpoint/2010/main" val="658142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1453F6-DB6C-01E0-4A19-F3DB6C44B805}"/>
              </a:ext>
            </a:extLst>
          </p:cNvPr>
          <p:cNvSpPr>
            <a:spLocks noGrp="1"/>
          </p:cNvSpPr>
          <p:nvPr>
            <p:ph type="sldNum" sz="quarter" idx="4"/>
          </p:nvPr>
        </p:nvSpPr>
        <p:spPr/>
        <p:txBody>
          <a:bodyPr/>
          <a:lstStyle/>
          <a:p>
            <a:pPr algn="l"/>
            <a:fld id="{3889EAAA-2A39-E347-B0AA-909793490C00}" type="slidenum">
              <a:rPr lang="de-DE" smtClean="0"/>
              <a:pPr algn="l"/>
              <a:t>22</a:t>
            </a:fld>
            <a:endParaRPr lang="de-DE" dirty="0"/>
          </a:p>
        </p:txBody>
      </p:sp>
      <p:sp>
        <p:nvSpPr>
          <p:cNvPr id="3" name="Title 2">
            <a:extLst>
              <a:ext uri="{FF2B5EF4-FFF2-40B4-BE49-F238E27FC236}">
                <a16:creationId xmlns:a16="http://schemas.microsoft.com/office/drawing/2014/main" id="{0F925819-5A05-764D-BD1D-2DAF4972F5B5}"/>
              </a:ext>
            </a:extLst>
          </p:cNvPr>
          <p:cNvSpPr>
            <a:spLocks noGrp="1"/>
          </p:cNvSpPr>
          <p:nvPr>
            <p:ph type="title"/>
          </p:nvPr>
        </p:nvSpPr>
        <p:spPr/>
        <p:txBody>
          <a:bodyPr/>
          <a:lstStyle/>
          <a:p>
            <a:r>
              <a:rPr lang="en-US" dirty="0"/>
              <a:t>Scaling Reinforcement Learning (by Dan Roberts)</a:t>
            </a:r>
            <a:br>
              <a:rPr lang="en-US" dirty="0"/>
            </a:br>
            <a:endParaRPr lang="en-US" dirty="0"/>
          </a:p>
        </p:txBody>
      </p:sp>
      <p:pic>
        <p:nvPicPr>
          <p:cNvPr id="5" name="Picture 6" descr="图像">
            <a:extLst>
              <a:ext uri="{FF2B5EF4-FFF2-40B4-BE49-F238E27FC236}">
                <a16:creationId xmlns:a16="http://schemas.microsoft.com/office/drawing/2014/main" id="{D0772035-68E2-371E-B202-EFFC76D9693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980"/>
          <a:stretch/>
        </p:blipFill>
        <p:spPr bwMode="auto">
          <a:xfrm>
            <a:off x="2570159" y="1197987"/>
            <a:ext cx="7051675" cy="3853374"/>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D0B6DB93-984F-BE24-6432-DB0ED78B87A5}"/>
              </a:ext>
            </a:extLst>
          </p:cNvPr>
          <p:cNvGrpSpPr/>
          <p:nvPr/>
        </p:nvGrpSpPr>
        <p:grpSpPr>
          <a:xfrm>
            <a:off x="644322" y="5204579"/>
            <a:ext cx="10903351" cy="1241485"/>
            <a:chOff x="617438" y="4978400"/>
            <a:chExt cx="10903351" cy="1241485"/>
          </a:xfrm>
        </p:grpSpPr>
        <p:sp>
          <p:nvSpPr>
            <p:cNvPr id="7" name="Rectangle: Rounded Corners 9">
              <a:extLst>
                <a:ext uri="{FF2B5EF4-FFF2-40B4-BE49-F238E27FC236}">
                  <a16:creationId xmlns:a16="http://schemas.microsoft.com/office/drawing/2014/main" id="{2620E5CD-19A4-35E5-5CD4-8C815EB2D5D6}"/>
                </a:ext>
              </a:extLst>
            </p:cNvPr>
            <p:cNvSpPr/>
            <p:nvPr/>
          </p:nvSpPr>
          <p:spPr>
            <a:xfrm>
              <a:off x="617438" y="4978400"/>
              <a:ext cx="10903351" cy="1241485"/>
            </a:xfrm>
            <a:prstGeom prst="roundRect">
              <a:avLst/>
            </a:prstGeom>
            <a:solidFill>
              <a:srgbClr val="DFF5FD"/>
            </a:solidFill>
            <a:ln w="254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spcBef>
                  <a:spcPts val="1125"/>
                </a:spcBef>
                <a:spcAft>
                  <a:spcPts val="1125"/>
                </a:spcAft>
              </a:pPr>
              <a:r>
                <a:rPr lang="en-GB" dirty="0">
                  <a:solidFill>
                    <a:schemeClr val="tx1"/>
                  </a:solidFill>
                </a:rPr>
                <a:t>“</a:t>
              </a:r>
              <a:r>
                <a:rPr lang="en-GB" i="0" dirty="0">
                  <a:solidFill>
                    <a:schemeClr val="tx1"/>
                  </a:solidFill>
                  <a:effectLst/>
                </a:rPr>
                <a:t>OpenAI are attempting to flip the old cherry-on-top meme about Scaling RL”</a:t>
              </a:r>
              <a:endParaRPr lang="en-GB" dirty="0">
                <a:solidFill>
                  <a:schemeClr val="tx1"/>
                </a:solidFill>
              </a:endParaRPr>
            </a:p>
            <a:p>
              <a:pPr algn="r"/>
              <a:r>
                <a:rPr lang="en-GB" dirty="0">
                  <a:solidFill>
                    <a:schemeClr val="tx1"/>
                  </a:solidFill>
                </a:rPr>
                <a:t>Dan Roberts, AI Ascent, OpenAI, 2025</a:t>
              </a:r>
            </a:p>
            <a:p>
              <a:endParaRPr lang="en-GB" dirty="0">
                <a:solidFill>
                  <a:schemeClr val="tx1"/>
                </a:solidFill>
              </a:endParaRPr>
            </a:p>
          </p:txBody>
        </p:sp>
        <p:sp>
          <p:nvSpPr>
            <p:cNvPr id="8" name="TextBox 7">
              <a:extLst>
                <a:ext uri="{FF2B5EF4-FFF2-40B4-BE49-F238E27FC236}">
                  <a16:creationId xmlns:a16="http://schemas.microsoft.com/office/drawing/2014/main" id="{13745F09-1F85-CBFE-9048-7F1FB8E07B2D}"/>
                </a:ext>
              </a:extLst>
            </p:cNvPr>
            <p:cNvSpPr txBox="1"/>
            <p:nvPr/>
          </p:nvSpPr>
          <p:spPr>
            <a:xfrm>
              <a:off x="830347" y="5697335"/>
              <a:ext cx="2517565" cy="369332"/>
            </a:xfrm>
            <a:prstGeom prst="rect">
              <a:avLst/>
            </a:prstGeom>
            <a:noFill/>
            <a:ln>
              <a:solidFill>
                <a:srgbClr val="FF0000"/>
              </a:solidFill>
            </a:ln>
          </p:spPr>
          <p:txBody>
            <a:bodyPr wrap="square" rtlCol="0">
              <a:spAutoFit/>
            </a:bodyPr>
            <a:lstStyle/>
            <a:p>
              <a:r>
                <a:rPr lang="en-GB" b="1" noProof="0" dirty="0">
                  <a:solidFill>
                    <a:srgbClr val="FF0000"/>
                  </a:solidFill>
                </a:rPr>
                <a:t>LLM-Based RL Agent</a:t>
              </a:r>
            </a:p>
          </p:txBody>
        </p:sp>
      </p:grpSp>
    </p:spTree>
    <p:extLst>
      <p:ext uri="{BB962C8B-B14F-4D97-AF65-F5344CB8AC3E}">
        <p14:creationId xmlns:p14="http://schemas.microsoft.com/office/powerpoint/2010/main" val="2350061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CD3D66A-61D6-B604-FAD6-35DF23F7AA51}"/>
              </a:ext>
            </a:extLst>
          </p:cNvPr>
          <p:cNvSpPr>
            <a:spLocks noGrp="1"/>
          </p:cNvSpPr>
          <p:nvPr>
            <p:ph type="sldNum" sz="quarter" idx="4"/>
          </p:nvPr>
        </p:nvSpPr>
        <p:spPr/>
        <p:txBody>
          <a:bodyPr/>
          <a:lstStyle/>
          <a:p>
            <a:pPr algn="l"/>
            <a:fld id="{3889EAAA-2A39-E347-B0AA-909793490C00}" type="slidenum">
              <a:rPr lang="de-DE" smtClean="0"/>
              <a:pPr algn="l"/>
              <a:t>23</a:t>
            </a:fld>
            <a:endParaRPr lang="de-DE" dirty="0"/>
          </a:p>
        </p:txBody>
      </p:sp>
      <p:sp>
        <p:nvSpPr>
          <p:cNvPr id="3" name="Title 2">
            <a:extLst>
              <a:ext uri="{FF2B5EF4-FFF2-40B4-BE49-F238E27FC236}">
                <a16:creationId xmlns:a16="http://schemas.microsoft.com/office/drawing/2014/main" id="{7700FBB6-F0D0-01A7-80DF-EFD72ED65BAA}"/>
              </a:ext>
            </a:extLst>
          </p:cNvPr>
          <p:cNvSpPr>
            <a:spLocks noGrp="1"/>
          </p:cNvSpPr>
          <p:nvPr>
            <p:ph type="title"/>
          </p:nvPr>
        </p:nvSpPr>
        <p:spPr/>
        <p:txBody>
          <a:bodyPr/>
          <a:lstStyle/>
          <a:p>
            <a:r>
              <a:rPr lang="en-US" dirty="0"/>
              <a:t>Scaling Reinforcement Learning (by Dan Roberts)</a:t>
            </a:r>
            <a:br>
              <a:rPr lang="en-US" dirty="0"/>
            </a:br>
            <a:endParaRPr lang="en-US" dirty="0"/>
          </a:p>
        </p:txBody>
      </p:sp>
      <p:grpSp>
        <p:nvGrpSpPr>
          <p:cNvPr id="5" name="Group 4">
            <a:extLst>
              <a:ext uri="{FF2B5EF4-FFF2-40B4-BE49-F238E27FC236}">
                <a16:creationId xmlns:a16="http://schemas.microsoft.com/office/drawing/2014/main" id="{B3FE0F31-AD7E-CAF8-ACE6-2B2B335AE449}"/>
              </a:ext>
            </a:extLst>
          </p:cNvPr>
          <p:cNvGrpSpPr/>
          <p:nvPr/>
        </p:nvGrpSpPr>
        <p:grpSpPr>
          <a:xfrm>
            <a:off x="644322" y="5204579"/>
            <a:ext cx="10903351" cy="1241485"/>
            <a:chOff x="617438" y="4978400"/>
            <a:chExt cx="10903351" cy="1241485"/>
          </a:xfrm>
        </p:grpSpPr>
        <p:sp>
          <p:nvSpPr>
            <p:cNvPr id="6" name="Rectangle: Rounded Corners 9">
              <a:extLst>
                <a:ext uri="{FF2B5EF4-FFF2-40B4-BE49-F238E27FC236}">
                  <a16:creationId xmlns:a16="http://schemas.microsoft.com/office/drawing/2014/main" id="{DE3D0E69-1A41-4015-2971-E11006619B48}"/>
                </a:ext>
              </a:extLst>
            </p:cNvPr>
            <p:cNvSpPr/>
            <p:nvPr/>
          </p:nvSpPr>
          <p:spPr>
            <a:xfrm>
              <a:off x="617438" y="4978400"/>
              <a:ext cx="10903351" cy="1241485"/>
            </a:xfrm>
            <a:prstGeom prst="roundRect">
              <a:avLst/>
            </a:prstGeom>
            <a:solidFill>
              <a:srgbClr val="DFF5FD"/>
            </a:solidFill>
            <a:ln w="254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spcBef>
                  <a:spcPts val="1125"/>
                </a:spcBef>
                <a:spcAft>
                  <a:spcPts val="1125"/>
                </a:spcAft>
              </a:pPr>
              <a:r>
                <a:rPr lang="en-GB" dirty="0">
                  <a:solidFill>
                    <a:schemeClr val="tx1"/>
                  </a:solidFill>
                </a:rPr>
                <a:t>“</a:t>
              </a:r>
              <a:r>
                <a:rPr lang="en-GB" i="0" dirty="0">
                  <a:solidFill>
                    <a:schemeClr val="tx1"/>
                  </a:solidFill>
                  <a:effectLst/>
                </a:rPr>
                <a:t>OpenAI are attempting to flip the old cherry-on-top meme about Scaling RL”</a:t>
              </a:r>
              <a:endParaRPr lang="en-GB" dirty="0">
                <a:solidFill>
                  <a:schemeClr val="tx1"/>
                </a:solidFill>
              </a:endParaRPr>
            </a:p>
            <a:p>
              <a:pPr algn="r"/>
              <a:r>
                <a:rPr lang="en-GB" dirty="0">
                  <a:solidFill>
                    <a:schemeClr val="tx1"/>
                  </a:solidFill>
                </a:rPr>
                <a:t>Dan Roberts, AI Ascent, OpenAI, 2025</a:t>
              </a:r>
            </a:p>
            <a:p>
              <a:endParaRPr lang="en-GB" dirty="0">
                <a:solidFill>
                  <a:schemeClr val="tx1"/>
                </a:solidFill>
              </a:endParaRPr>
            </a:p>
          </p:txBody>
        </p:sp>
        <p:sp>
          <p:nvSpPr>
            <p:cNvPr id="7" name="TextBox 6">
              <a:extLst>
                <a:ext uri="{FF2B5EF4-FFF2-40B4-BE49-F238E27FC236}">
                  <a16:creationId xmlns:a16="http://schemas.microsoft.com/office/drawing/2014/main" id="{FD72DC98-E0CF-6554-C660-E53969900CF3}"/>
                </a:ext>
              </a:extLst>
            </p:cNvPr>
            <p:cNvSpPr txBox="1"/>
            <p:nvPr/>
          </p:nvSpPr>
          <p:spPr>
            <a:xfrm>
              <a:off x="830348" y="5697335"/>
              <a:ext cx="2526991" cy="369332"/>
            </a:xfrm>
            <a:prstGeom prst="rect">
              <a:avLst/>
            </a:prstGeom>
            <a:noFill/>
            <a:ln>
              <a:solidFill>
                <a:srgbClr val="FF0000"/>
              </a:solidFill>
            </a:ln>
          </p:spPr>
          <p:txBody>
            <a:bodyPr wrap="square" rtlCol="0">
              <a:spAutoFit/>
            </a:bodyPr>
            <a:lstStyle/>
            <a:p>
              <a:r>
                <a:rPr lang="en-GB" b="1" noProof="0" dirty="0">
                  <a:solidFill>
                    <a:srgbClr val="FF0000"/>
                  </a:solidFill>
                </a:rPr>
                <a:t>LLM-Based RL Agent</a:t>
              </a:r>
            </a:p>
          </p:txBody>
        </p:sp>
      </p:grpSp>
      <p:pic>
        <p:nvPicPr>
          <p:cNvPr id="8" name="Picture 7" descr="图像">
            <a:extLst>
              <a:ext uri="{FF2B5EF4-FFF2-40B4-BE49-F238E27FC236}">
                <a16:creationId xmlns:a16="http://schemas.microsoft.com/office/drawing/2014/main" id="{5E652E14-BB34-C8E7-1404-B03263AF33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980" b="1"/>
          <a:stretch/>
        </p:blipFill>
        <p:spPr bwMode="auto">
          <a:xfrm>
            <a:off x="2570159" y="1197385"/>
            <a:ext cx="7051674" cy="3853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626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1">
            <a:extLst>
              <a:ext uri="{FF2B5EF4-FFF2-40B4-BE49-F238E27FC236}">
                <a16:creationId xmlns:a16="http://schemas.microsoft.com/office/drawing/2014/main" id="{7940D19D-1F7C-59C6-0121-7E17FF817670}"/>
              </a:ext>
            </a:extLst>
          </p:cNvPr>
          <p:cNvSpPr txBox="1">
            <a:spLocks/>
          </p:cNvSpPr>
          <p:nvPr/>
        </p:nvSpPr>
        <p:spPr>
          <a:xfrm>
            <a:off x="634894" y="1979590"/>
            <a:ext cx="8966306" cy="1276350"/>
          </a:xfrm>
          <a:prstGeom prst="rect">
            <a:avLst/>
          </a:prstGeom>
        </p:spPr>
        <p:txBody>
          <a:bodyPr lIns="0" tIns="0" rIns="0" bIns="0" anchor="b" anchorCtr="0"/>
          <a:lstStyle>
            <a:lvl1pPr marL="0" indent="0" algn="l" defTabSz="815557" rtl="0" eaLnBrk="1" fontAlgn="b" latinLnBrk="0" hangingPunct="1">
              <a:lnSpc>
                <a:spcPts val="1800"/>
              </a:lnSpc>
              <a:spcBef>
                <a:spcPts val="0"/>
              </a:spcBef>
              <a:buFontTx/>
              <a:buNone/>
              <a:defRPr sz="1600" b="1" i="0" kern="1200" baseline="0">
                <a:solidFill>
                  <a:schemeClr val="bg1"/>
                </a:solidFill>
                <a:latin typeface="Arial" panose="020B0604020202020204" pitchFamily="34" charset="0"/>
                <a:ea typeface="+mn-ea"/>
                <a:cs typeface="+mn-cs"/>
              </a:defRPr>
            </a:lvl1pPr>
            <a:lvl2pPr marL="611668"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2pPr>
            <a:lvl3pPr marL="1019447"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3pPr>
            <a:lvl4pPr marL="1427225"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4pPr>
            <a:lvl5pPr marL="1835003" indent="-203890" algn="l" defTabSz="815557" rtl="0" eaLnBrk="1" latinLnBrk="0" hangingPunct="1">
              <a:lnSpc>
                <a:spcPct val="90000"/>
              </a:lnSpc>
              <a:spcBef>
                <a:spcPts val="446"/>
              </a:spcBef>
              <a:buFont typeface="Arial" panose="020B0604020202020204" pitchFamily="34" charset="0"/>
              <a:buChar char="•"/>
              <a:defRPr sz="1600" b="1" i="0" kern="1200" baseline="0">
                <a:solidFill>
                  <a:schemeClr val="bg1"/>
                </a:solidFill>
                <a:latin typeface="Arial" panose="020B0604020202020204" pitchFamily="34" charset="0"/>
                <a:ea typeface="+mn-ea"/>
                <a:cs typeface="+mn-cs"/>
              </a:defRPr>
            </a:lvl5pPr>
            <a:lvl6pPr marL="2242782"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6pPr>
            <a:lvl7pPr marL="2650560"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7pPr>
            <a:lvl8pPr marL="3058339"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8pPr>
            <a:lvl9pPr marL="3466117" indent="-203890" algn="l" defTabSz="815557" rtl="0" eaLnBrk="1" latinLnBrk="0" hangingPunct="1">
              <a:lnSpc>
                <a:spcPct val="90000"/>
              </a:lnSpc>
              <a:spcBef>
                <a:spcPts val="446"/>
              </a:spcBef>
              <a:buFont typeface="Arial" panose="020B0604020202020204" pitchFamily="34" charset="0"/>
              <a:buChar char="•"/>
              <a:defRPr sz="1605" kern="1200">
                <a:solidFill>
                  <a:schemeClr val="tx1"/>
                </a:solidFill>
                <a:latin typeface="+mn-lt"/>
                <a:ea typeface="+mn-ea"/>
                <a:cs typeface="+mn-cs"/>
              </a:defRPr>
            </a:lvl9pPr>
          </a:lstStyle>
          <a:p>
            <a:r>
              <a:rPr lang="en-US" altLang="zh-CN" sz="3600" dirty="0"/>
              <a:t>Thank</a:t>
            </a:r>
            <a:r>
              <a:rPr lang="zh-CN" altLang="en-US" sz="3600" dirty="0"/>
              <a:t> </a:t>
            </a:r>
            <a:r>
              <a:rPr lang="en-US" altLang="zh-CN" sz="3600" dirty="0"/>
              <a:t>you</a:t>
            </a:r>
            <a:r>
              <a:rPr lang="zh-CN" altLang="en-US" sz="3600" dirty="0"/>
              <a:t> </a:t>
            </a:r>
            <a:r>
              <a:rPr lang="en-US" altLang="zh-CN" sz="3600" dirty="0"/>
              <a:t>for</a:t>
            </a:r>
            <a:r>
              <a:rPr lang="zh-CN" altLang="en-US" sz="3600" dirty="0"/>
              <a:t> </a:t>
            </a:r>
            <a:r>
              <a:rPr lang="en-US" altLang="zh-CN" sz="3600" dirty="0"/>
              <a:t>your</a:t>
            </a:r>
            <a:r>
              <a:rPr lang="zh-CN" altLang="en-US" sz="3600" dirty="0"/>
              <a:t> </a:t>
            </a:r>
            <a:r>
              <a:rPr lang="en-US" altLang="zh-CN" sz="3600" dirty="0"/>
              <a:t>attention!</a:t>
            </a:r>
            <a:r>
              <a:rPr lang="zh-CN" altLang="en-US" sz="3600" dirty="0"/>
              <a:t> </a:t>
            </a:r>
            <a:r>
              <a:rPr lang="en-US" altLang="zh-CN" sz="3600" dirty="0"/>
              <a:t>Questions?</a:t>
            </a:r>
            <a:endParaRPr lang="de-DE" sz="3600" dirty="0"/>
          </a:p>
        </p:txBody>
      </p:sp>
    </p:spTree>
    <p:extLst>
      <p:ext uri="{BB962C8B-B14F-4D97-AF65-F5344CB8AC3E}">
        <p14:creationId xmlns:p14="http://schemas.microsoft.com/office/powerpoint/2010/main" val="3598885345"/>
      </p:ext>
    </p:extLst>
  </p:cSld>
  <p:clrMapOvr>
    <a:masterClrMapping/>
  </p:clrMapOvr>
</p:sld>
</file>

<file path=ppt/theme/theme1.xml><?xml version="1.0" encoding="utf-8"?>
<a:theme xmlns:a="http://schemas.openxmlformats.org/drawingml/2006/main" name="Präsentationstitel">
  <a:themeElements>
    <a:clrScheme name="LMU_PPT">
      <a:dk1>
        <a:srgbClr val="00883A"/>
      </a:dk1>
      <a:lt1>
        <a:sysClr val="window" lastClr="FFFFFF"/>
      </a:lt1>
      <a:dk2>
        <a:srgbClr val="232323"/>
      </a:dk2>
      <a:lt2>
        <a:srgbClr val="626468"/>
      </a:lt2>
      <a:accent1>
        <a:srgbClr val="C0C1C3"/>
      </a:accent1>
      <a:accent2>
        <a:srgbClr val="E6E6E7"/>
      </a:accent2>
      <a:accent3>
        <a:srgbClr val="F5F5F5"/>
      </a:accent3>
      <a:accent4>
        <a:srgbClr val="0F1987"/>
      </a:accent4>
      <a:accent5>
        <a:srgbClr val="009FE3"/>
      </a:accent5>
      <a:accent6>
        <a:srgbClr val="8C4091"/>
      </a:accent6>
      <a:hlink>
        <a:srgbClr val="D71919"/>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MU_PPTVorlage_Breitbild_20220425_RS.potx" id="{2042371F-3005-4A21-A9A4-ABFC59415B3B}" vid="{F5E6AB39-800A-4A35-BFB0-8B08FE59E1F1}"/>
    </a:ext>
  </a:extLst>
</a:theme>
</file>

<file path=ppt/theme/theme2.xml><?xml version="1.0" encoding="utf-8"?>
<a:theme xmlns:a="http://schemas.openxmlformats.org/drawingml/2006/main" name="Präsentationstitel Variante">
  <a:themeElements>
    <a:clrScheme name="LMU_PPT">
      <a:dk1>
        <a:srgbClr val="00883A"/>
      </a:dk1>
      <a:lt1>
        <a:sysClr val="window" lastClr="FFFFFF"/>
      </a:lt1>
      <a:dk2>
        <a:srgbClr val="232323"/>
      </a:dk2>
      <a:lt2>
        <a:srgbClr val="626468"/>
      </a:lt2>
      <a:accent1>
        <a:srgbClr val="C0C1C3"/>
      </a:accent1>
      <a:accent2>
        <a:srgbClr val="E6E6E7"/>
      </a:accent2>
      <a:accent3>
        <a:srgbClr val="F5F5F5"/>
      </a:accent3>
      <a:accent4>
        <a:srgbClr val="0F1987"/>
      </a:accent4>
      <a:accent5>
        <a:srgbClr val="009FE3"/>
      </a:accent5>
      <a:accent6>
        <a:srgbClr val="8C4091"/>
      </a:accent6>
      <a:hlink>
        <a:srgbClr val="D71919"/>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MU_PPTVorlage_Breitbild_20220425_RS.potx" id="{2042371F-3005-4A21-A9A4-ABFC59415B3B}" vid="{3677B95F-7E06-41FF-A3C7-1582F699B15A}"/>
    </a:ext>
  </a:extLst>
</a:theme>
</file>

<file path=ppt/theme/theme3.xml><?xml version="1.0" encoding="utf-8"?>
<a:theme xmlns:a="http://schemas.openxmlformats.org/drawingml/2006/main" name="Kapiteltrenner">
  <a:themeElements>
    <a:clrScheme name="LMU">
      <a:dk1>
        <a:srgbClr val="008740"/>
      </a:dk1>
      <a:lt1>
        <a:sysClr val="window" lastClr="FFFFFF"/>
      </a:lt1>
      <a:dk2>
        <a:srgbClr val="000000"/>
      </a:dk2>
      <a:lt2>
        <a:srgbClr val="4A4A4A"/>
      </a:lt2>
      <a:accent1>
        <a:srgbClr val="9D9D9D"/>
      </a:accent1>
      <a:accent2>
        <a:srgbClr val="D0D0D0"/>
      </a:accent2>
      <a:accent3>
        <a:srgbClr val="F4F4F4"/>
      </a:accent3>
      <a:accent4>
        <a:srgbClr val="023E84"/>
      </a:accent4>
      <a:accent5>
        <a:srgbClr val="009FE3"/>
      </a:accent5>
      <a:accent6>
        <a:srgbClr val="8C40A5"/>
      </a:accent6>
      <a:hlink>
        <a:srgbClr val="DC0D15"/>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MU_PPTVorlage_Breitbild_20220425_RS.potx" id="{2042371F-3005-4A21-A9A4-ABFC59415B3B}" vid="{CB202495-3BD5-415A-A4A5-B746A9BA6616}"/>
    </a:ext>
  </a:extLst>
</a:theme>
</file>

<file path=ppt/theme/theme4.xml><?xml version="1.0" encoding="utf-8"?>
<a:theme xmlns:a="http://schemas.openxmlformats.org/drawingml/2006/main" name="Inhalt">
  <a:themeElements>
    <a:clrScheme name="LMU_PPT">
      <a:dk1>
        <a:srgbClr val="00883A"/>
      </a:dk1>
      <a:lt1>
        <a:sysClr val="window" lastClr="FFFFFF"/>
      </a:lt1>
      <a:dk2>
        <a:srgbClr val="232323"/>
      </a:dk2>
      <a:lt2>
        <a:srgbClr val="626468"/>
      </a:lt2>
      <a:accent1>
        <a:srgbClr val="C0C1C3"/>
      </a:accent1>
      <a:accent2>
        <a:srgbClr val="E6E6E7"/>
      </a:accent2>
      <a:accent3>
        <a:srgbClr val="F5F5F5"/>
      </a:accent3>
      <a:accent4>
        <a:srgbClr val="0F1987"/>
      </a:accent4>
      <a:accent5>
        <a:srgbClr val="009FE3"/>
      </a:accent5>
      <a:accent6>
        <a:srgbClr val="8C4091"/>
      </a:accent6>
      <a:hlink>
        <a:srgbClr val="D71919"/>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MU_PPTVorlage_Breitbild_20220425_RS.potx" id="{2042371F-3005-4A21-A9A4-ABFC59415B3B}" vid="{FCA03F62-E27F-4ACE-B8D5-B0C2DB4DDEEC}"/>
    </a:ext>
  </a:extLst>
</a:theme>
</file>

<file path=ppt/theme/theme5.xml><?xml version="1.0" encoding="utf-8"?>
<a:theme xmlns:a="http://schemas.openxmlformats.org/drawingml/2006/main" name="Rücktitel">
  <a:themeElements>
    <a:clrScheme name="Benutzerdefiniert 1">
      <a:dk1>
        <a:srgbClr val="008740"/>
      </a:dk1>
      <a:lt1>
        <a:srgbClr val="FFFFFF"/>
      </a:lt1>
      <a:dk2>
        <a:srgbClr val="000000"/>
      </a:dk2>
      <a:lt2>
        <a:srgbClr val="4A4A4A"/>
      </a:lt2>
      <a:accent1>
        <a:srgbClr val="9D9D9D"/>
      </a:accent1>
      <a:accent2>
        <a:srgbClr val="D0D0D0"/>
      </a:accent2>
      <a:accent3>
        <a:srgbClr val="F4F4F4"/>
      </a:accent3>
      <a:accent4>
        <a:srgbClr val="023E84"/>
      </a:accent4>
      <a:accent5>
        <a:srgbClr val="009FE3"/>
      </a:accent5>
      <a:accent6>
        <a:srgbClr val="8C40A5"/>
      </a:accent6>
      <a:hlink>
        <a:srgbClr val="DC0D15"/>
      </a:hlink>
      <a:folHlink>
        <a:srgbClr val="F187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MU_PPTVorlage_Breitbild_20220425_RS.potx" id="{2042371F-3005-4A21-A9A4-ABFC59415B3B}" vid="{866B4B03-9E40-4D34-8181-92E280DAE3A6}"/>
    </a:ext>
  </a:extLst>
</a:theme>
</file>

<file path=ppt/theme/theme6.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Präsentationstitel</Template>
  <TotalTime>46118</TotalTime>
  <Words>2245</Words>
  <Application>Microsoft Macintosh PowerPoint</Application>
  <PresentationFormat>Widescreen</PresentationFormat>
  <Paragraphs>345</Paragraphs>
  <Slides>24</Slides>
  <Notes>9</Notes>
  <HiddenSlides>1</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24</vt:i4>
      </vt:variant>
    </vt:vector>
  </HeadingPairs>
  <TitlesOfParts>
    <vt:vector size="36" baseType="lpstr">
      <vt:lpstr>LMU CompatilFact</vt:lpstr>
      <vt:lpstr>Aptos</vt:lpstr>
      <vt:lpstr>Aptos Display</vt:lpstr>
      <vt:lpstr>Arial</vt:lpstr>
      <vt:lpstr>Calibri</vt:lpstr>
      <vt:lpstr>Wingdings</vt:lpstr>
      <vt:lpstr>Präsentationstitel</vt:lpstr>
      <vt:lpstr>Präsentationstitel Variante</vt:lpstr>
      <vt:lpstr>Kapiteltrenner</vt:lpstr>
      <vt:lpstr>Inhalt</vt:lpstr>
      <vt:lpstr>Rücktitel</vt:lpstr>
      <vt:lpstr>Custom Design</vt:lpstr>
      <vt:lpstr>PowerPoint Presentation</vt:lpstr>
      <vt:lpstr>Why Do We Need Retrieval-Augmented Generation? </vt:lpstr>
      <vt:lpstr>What is Retrieval-Augmented Generation (RAG)?  </vt:lpstr>
      <vt:lpstr>Beyond RAG: Toward Intelligent Memory Systems</vt:lpstr>
      <vt:lpstr>Why Memory Matters? </vt:lpstr>
      <vt:lpstr>Beyond RAG: Toward Intelligent Memory Systems</vt:lpstr>
      <vt:lpstr>Mainstream Architectures (1): Vector Database-Based Information Retrieval &amp; Generation </vt:lpstr>
      <vt:lpstr>Mainstream Memory Architectures (2): Memory-Augmented Interactive Agents</vt:lpstr>
      <vt:lpstr>Reinforcement Learning as Cherry on Cake (by Yann LeCun)</vt:lpstr>
      <vt:lpstr>Motivation of Memory-R1</vt:lpstr>
      <vt:lpstr>Problem Formulation </vt:lpstr>
      <vt:lpstr>Dataset </vt:lpstr>
      <vt:lpstr>Pipeline </vt:lpstr>
      <vt:lpstr>Memory-R1 Training Pipeline</vt:lpstr>
      <vt:lpstr>Experiments</vt:lpstr>
      <vt:lpstr>Experiments</vt:lpstr>
      <vt:lpstr>Experiments</vt:lpstr>
      <vt:lpstr>Ablation study</vt:lpstr>
      <vt:lpstr>Discussion / Insights </vt:lpstr>
      <vt:lpstr>Limitations &amp; Future work </vt:lpstr>
      <vt:lpstr>Impact </vt:lpstr>
      <vt:lpstr>Scaling Reinforcement Learning (by Dan Roberts) </vt:lpstr>
      <vt:lpstr>Scaling Reinforcement Learning (by Dan Roberts)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 Sikuan</dc:creator>
  <cp:lastModifiedBy>sikuan yan</cp:lastModifiedBy>
  <cp:revision>68</cp:revision>
  <cp:lastPrinted>2020-11-01T16:28:52Z</cp:lastPrinted>
  <dcterms:created xsi:type="dcterms:W3CDTF">2024-10-21T16:12:21Z</dcterms:created>
  <dcterms:modified xsi:type="dcterms:W3CDTF">2025-10-11T10:05:13Z</dcterms:modified>
</cp:coreProperties>
</file>