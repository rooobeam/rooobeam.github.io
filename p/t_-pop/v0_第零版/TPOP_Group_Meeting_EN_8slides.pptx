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5"/>
  </p:notesMasterIdLst>
  <p:sldIdLst>
    <p:sldId id="256" r:id="rId7"/>
    <p:sldId id="257" r:id="rId8"/>
    <p:sldId id="258" r:id="rId9"/>
    <p:sldId id="259" r:id="rId10"/>
    <p:sldId id="260" r:id="rId11"/>
    <p:sldId id="261" r:id="rId12"/>
    <p:sldId id="262" r:id="rId13"/>
    <p:sldId id="263" r:id="rId14"/>
  </p:sldIdLst>
  <p:sldSz cx="12192000" cy="6858000" type="screen16x9"/>
  <p:notesSz cx="6858000" cy="9144000"/>
  <p:defaultTextStyle>
    <a:defPPr>
      <a:defRPr lang="en-US"/>
    </a:defPPr>
    <a:lvl1pPr marL="0" algn="l" defTabSz="457200" rtl="0" eaLnBrk="1" latinLnBrk="0" hangingPunct="1">
      <a:defRPr sz="1800" kern="1200" lang="en-US">
        <a:solidFill>
          <a:schemeClr val="tx1"/>
        </a:solidFill>
        <a:latin typeface="+mn-lt"/>
        <a:ea typeface="+mn-ea"/>
        <a:cs typeface="+mn-cs"/>
      </a:defRPr>
    </a:lvl1pPr>
    <a:lvl2pPr marL="457200" algn="l" defTabSz="457200" rtl="0" eaLnBrk="1" latinLnBrk="0" hangingPunct="1">
      <a:defRPr sz="1800" kern="1200" lang="en-US">
        <a:solidFill>
          <a:schemeClr val="tx1"/>
        </a:solidFill>
        <a:latin typeface="+mn-lt"/>
        <a:ea typeface="+mn-ea"/>
        <a:cs typeface="+mn-cs"/>
      </a:defRPr>
    </a:lvl2pPr>
    <a:lvl3pPr marL="914400" algn="l" defTabSz="457200" rtl="0" eaLnBrk="1" latinLnBrk="0" hangingPunct="1">
      <a:defRPr sz="1800" kern="1200" lang="en-US">
        <a:solidFill>
          <a:schemeClr val="tx1"/>
        </a:solidFill>
        <a:latin typeface="+mn-lt"/>
        <a:ea typeface="+mn-ea"/>
        <a:cs typeface="+mn-cs"/>
      </a:defRPr>
    </a:lvl3pPr>
    <a:lvl4pPr marL="1371600" algn="l" defTabSz="457200" rtl="0" eaLnBrk="1" latinLnBrk="0" hangingPunct="1">
      <a:defRPr sz="1800" kern="1200" lang="en-US">
        <a:solidFill>
          <a:schemeClr val="tx1"/>
        </a:solidFill>
        <a:latin typeface="+mn-lt"/>
        <a:ea typeface="+mn-ea"/>
        <a:cs typeface="+mn-cs"/>
      </a:defRPr>
    </a:lvl4pPr>
    <a:lvl5pPr marL="1828800" algn="l" defTabSz="457200" rtl="0" eaLnBrk="1" latinLnBrk="0" hangingPunct="1">
      <a:defRPr sz="1800" kern="1200" lang="en-US">
        <a:solidFill>
          <a:schemeClr val="tx1"/>
        </a:solidFill>
        <a:latin typeface="+mn-lt"/>
        <a:ea typeface="+mn-ea"/>
        <a:cs typeface="+mn-cs"/>
      </a:defRPr>
    </a:lvl5pPr>
    <a:lvl6pPr marL="2286000" algn="l" defTabSz="457200" rtl="0" eaLnBrk="1" latinLnBrk="0" hangingPunct="1">
      <a:defRPr sz="1800" kern="1200" lang="en-US">
        <a:solidFill>
          <a:schemeClr val="tx1"/>
        </a:solidFill>
        <a:latin typeface="+mn-lt"/>
        <a:ea typeface="+mn-ea"/>
        <a:cs typeface="+mn-cs"/>
      </a:defRPr>
    </a:lvl6pPr>
    <a:lvl7pPr marL="2743200" algn="l" defTabSz="457200" rtl="0" eaLnBrk="1" latinLnBrk="0" hangingPunct="1">
      <a:defRPr sz="1800" kern="1200" lang="en-US">
        <a:solidFill>
          <a:schemeClr val="tx1"/>
        </a:solidFill>
        <a:latin typeface="+mn-lt"/>
        <a:ea typeface="+mn-ea"/>
        <a:cs typeface="+mn-cs"/>
      </a:defRPr>
    </a:lvl7pPr>
    <a:lvl8pPr marL="3200400" algn="l" defTabSz="457200" rtl="0" eaLnBrk="1" latinLnBrk="0" hangingPunct="1">
      <a:defRPr sz="1800" kern="1200" lang="en-US">
        <a:solidFill>
          <a:schemeClr val="tx1"/>
        </a:solidFill>
        <a:latin typeface="+mn-lt"/>
        <a:ea typeface="+mn-ea"/>
        <a:cs typeface="+mn-cs"/>
      </a:defRPr>
    </a:lvl8pPr>
    <a:lvl9pPr marL="3657600" algn="l" defTabSz="457200" rtl="0" eaLnBrk="1" latinLnBrk="0" hangingPunct="1">
      <a:defRPr sz="1800" kern="1200" lang="en-US">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  <Relationship Id="rId15"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今天汇报 T-POP，它在测试时通过偏好反馈，让冻结的 LLM 逐渐符合某个用户的偏好。一次交互从问题 q 开始，两条策略分别生成完整回答：利用分支倾向当前高分答案，探索分支还考虑不确定性。用户选一个，系统把问题、两个回答和偏好标签加入历史，再训练同一个 RM。数据集主要提供问题，回答和偏好对是在交互中产生的。这里的“两条臂”是两种选词策略，共享 LLM 和 RM，不是两个分别训练的奖励模型。</a:t>
            </a:r>
          </a:p>
          <a:p>
            <a:pPr/>
            <a:endParaRPr lang="en-US" dirty="0"/>
          </a:p>
          <a:p>
            <a:pPr/>
            <a:r>
              <a:rPr lang="en-US" dirty="0"/>
              <a:t>Today I will present T-POP, which personalizes a frozen LLM using preference feedback at test time. Each interaction starts with a question. Two policies generate complete answers: exploitation favors the current score, while exploration also considers uncertainty. The user selects one answer. The question, both answers, and the preference label enter the history, which trains a single reward model. The datasets supply questions; the response pairs and their labels are generated online. The two arms therefore mean two token-selection policies sharing the same LLM and reward model.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先看 RM 怎样把文本变成分数。按实验配置，文本先经过冻结的 Qwen3 嵌入模型；官方实现对非填充位置做平均池化。B 条文本得到 B 乘一千零二十四的嵌入矩阵。后面的可训练部分是两层 MLP：第一层保持一千零二十四维，再经过 ReLU；第二层压到一维。因此，每条文本输出一个标量奖励。图中的两个权重矩阵分别是一千零二十四乘一千零二十四，以及一千零二十四乘一。训练只修改这个头，不修改编码器和 LLM。训练时输入完整回答，解码时输入前缀加候选 token。</a:t>
            </a:r>
          </a:p>
          <a:p>
            <a:pPr/>
            <a:endParaRPr lang="en-US" dirty="0"/>
          </a:p>
          <a:p>
            <a:pPr/>
            <a:r>
              <a:rPr lang="en-US" dirty="0"/>
              <a:t>The reward model maps text to a scalar. In the experimental setup, a frozen Qwen3 embedding model encodes the input; the official code mean-pools nonpadding token states. For B texts, the embedding matrix has shape B by 1,024. A trainable MLP applies a 1,024-dimensional linear layer and ReLU, followed by a projection to one dimension. The weight matrices are therefore 1,024 by 1,024 and 1,024 by one. Only this head is trained. The encoder and LLM remain frozen. Training uses complete answers, while decoding uses a prefix extended by one candidate token.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训练样本是一个完整回答对。两个输入都包含相同问题，分别接回答一和回答二，经过同一个 RM 得到两个标量。将分数差输入 sigmoid，得到回答一更受偏好的预测概率。标签一表示用户选择回答一；损失是历史样本上的二元交叉熵，加参数正则项。例如用户选择简短答案，优化就推动这个答案相对另一个答案得分更高。批量上，八对样本对应十六条文本，得到十六个奖励，重排为八乘二，再形成八个分数差和八个标签。必须等回答完成并收到反馈，才更新参数。生成当前回答对时，参数保持固定。</a:t>
            </a:r>
          </a:p>
          <a:p>
            <a:pPr/>
            <a:endParaRPr lang="en-US" dirty="0"/>
          </a:p>
          <a:p>
            <a:pPr/>
            <a:r>
              <a:rPr lang="en-US" dirty="0"/>
              <a:t>Each training example contains two complete answers. Both inputs include the same question, and the shared reward model produces two scalar scores. Applying sigmoid to their difference predicts the probability that answer one is preferred. Label one means the user selected answer one. Training minimizes binary cross-entropy over accumulated preference pairs, with parameter regularization. For example, choosing a concise answer pushes its score above the alternative. With eight pairs, we encode sixteen texts, obtain sixteen rewards, reshape them into an eight-by-two matrix, and compute eight score differences against eight labels. Parameters are updated only after feedback arrives; they remain fixed while the current answer pair is generated.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RM 在推理时怎样影响一个 token？固定当前分支的前缀，把每个候选分别接上去，再批量评分。C 个候选得到长度为 C 的奖励向量，同时 LLM 给出对应的概率向量。论文把概率加上加权奖励，选择合并分数最大的 token。这里是教学数值，奖励权重设为一。memorizing 的概率最高，是零点四二，加奖励后为零点五二；fitting 的概率只有零点一八，但奖励是零点四五，合计零点六三，因此最终选 fitting。选中的 token 接回前缀，再重复。这里只展示三个候选，概率没有在这三个词之间重新归一化。</a:t>
            </a:r>
          </a:p>
          <a:p>
            <a:pPr/>
            <a:endParaRPr lang="en-US" dirty="0"/>
          </a:p>
          <a:p>
            <a:pPr/>
            <a:r>
              <a:rPr lang="en-US" dirty="0"/>
              <a:t>How does the reward model change one decoding step? Fix the current prefix, append each candidate token separately, and score these continuations in a batch. C candidates produce a reward vector of length C, alongside the corresponding LLM probability vector. The paper adds weighted reward to probability and selects the largest combined score. These are teaching values with reward weight one. “Memorizing” has the highest probability, 0.42, but reaches only 0.52 after adding reward. “Fitting” starts at 0.18 but receives reward 0.45, giving 0.63, so it wins. Append the winner and repeat. The three displayed probabilities are not renormalized.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现在把单分支扩展成两条臂。LLM 分别根据自己的前缀，取概率最高的四十个下一 token，再取并集。因此共享候选集合最多八十个。对其中每个候选 v，利用分支评分的是 s 一接 v，探索分支评分的是 s 二接 v；前缀不会交换。它们调用同一个 RM，但文本不同，所以各自得到长度为 C 的奖励和概率向量。利用分支按刚才的合并分数选词，探索分支额外加不确定性奖励。两条回答各自延长，但并非完全独立：它们共享候选集合，探索分支还会参考利用分支已经选中的延续。</a:t>
            </a:r>
          </a:p>
          <a:p>
            <a:pPr/>
            <a:endParaRPr lang="en-US" dirty="0"/>
          </a:p>
          <a:p>
            <a:pPr/>
            <a:r>
              <a:rPr lang="en-US" dirty="0"/>
              <a:t>Now extend this to two arms. Each prefix conditions the LLM independently to obtain its forty highest-probability next tokens. Their union forms a shared candidate set with at most eighty tokens. For every candidate v, exploitation scores its own prefix followed by v, and exploration scores its own prefix followed by v. Prefixes are never swapped. Both branches call the same reward model, but different input texts produce separate reward and probability vectors of length C. Exploitation uses the combined score; exploration adds an uncertainty bonus. The answers grow separately, but remain coupled through the shared candidates and the selected exploitation continuation.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探索奖励具体来自哪里？先确定利用分支选中的延续，计算它的奖励对 RM 参数的梯度，作为固定参考。再对探索分支的每个候选延续计算梯度，两者相减，得到 z。这里 P 是 RM 参数个数，不是一千零二十四维文本嵌入。V 记录已经覆盖的梯度差方向；用 V 的逆矩阵计算 z 的加权长度，就得到不确定性 u。覆盖较少的方向会获得更大的探索权重。探索分支在 LLM 概率和 RM 奖励之外，再加上这个 bonus。注意，参考的是利用分支已经选中的那个候选，而不是让两条分支始终比较同一个 v。</a:t>
            </a:r>
          </a:p>
          <a:p>
            <a:pPr/>
            <a:endParaRPr lang="en-US" dirty="0"/>
          </a:p>
          <a:p>
            <a:pPr/>
            <a:r>
              <a:rPr lang="en-US" dirty="0"/>
              <a:t>The exploration bonus compares a candidate with the selected exploitation continuation. First, compute the reward gradient of the exploitation winner with respect to the reward-model parameters. This is the fixed reference for the current step. Then compute the gradient of each exploration candidate and subtract the reference to obtain z. Its dimension P is the number of reward-model parameters, not the embedding width. Matrix V tracks covered gradient-difference directions. The inverse-weighted length of z gives uncertainty u, assigning more weight to less-covered directions. Exploration adds this bonus to probability and reward. The reference is the exploitation winner, not the same candidate token evaluated in both branches.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这就解释了伪代码里最容易误解的那一行。每生成一对 token，计算两个已选延续的梯度差 delta，再把它的外积加到 V。delta 是 P 维向量，因此外积是 P 乘 P 的矩阵。这一步只是更新不确定性统计，不需要用户标签，也不修改 RM 参数。方向积累得越多，在固定梯度下，下一次沿这个方向的不确定性权重就越小。等两个完整回答生成完，用户选择一个，才把这对样本加入历史，通过损失函数更新 theta。所以有两种更新频率：V 每个 token 更新，RM 在完整回答的偏好反馈之后训练。计算梯度本身不等于执行梯度下降。</a:t>
            </a:r>
          </a:p>
          <a:p>
            <a:pPr/>
            <a:endParaRPr lang="en-US" dirty="0"/>
          </a:p>
          <a:p>
            <a:pPr/>
            <a:r>
              <a:rPr lang="en-US" dirty="0"/>
              <a:t>This explains the easily misunderstood pseudocode line. After selecting a token for each arm, compute the difference between their reward gradients and add its outer product to V. A P-dimensional vector produces a P-by-P outer product. This updates uncertainty statistics; it requires no preference label and does not change the reward-model parameters. With fixed gradients, accumulating a direction reduces its inverse-weighted uncertainty. Only after both answers finish and the user chooses one does the pair enter the history and train theta. There are two clocks: V updates after each token pair, while reward-model training follows complete-answer feedback. Computing a gradient is not itself a gradient-descent update.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最后区分在线学习和最终部署。在线阶段需要两条回答，让用户给出偏好，从而继续训练 RM。完成个性化后，论文允许冻结学到的 RM，只使用利用策略，每个问题返回一条回答；基础 LLM 在两个阶段都保持冻结。实验这里只保留一句：相对 AMULET，Mistral 和 Qwen 上提升更明显，Llama 上总体接近；主要偏好反馈由模型模拟。因此，这篇工作的核心可以概括为：一个 RM 学偏好，两种策略生成比较，两个更新频率分别维护不确定性和训练参数。</a:t>
            </a:r>
          </a:p>
          <a:p>
            <a:pPr/>
            <a:endParaRPr lang="en-US" dirty="0"/>
          </a:p>
          <a:p>
            <a:pPr/>
            <a:r>
              <a:rPr lang="en-US" dirty="0"/>
              <a:t>Finally, separate online learning from final deployment. Online personalization generates two answers so that a preference can keep training the reward model. Once personalization is complete, the paper allows the learned reward model to be frozen and exploitation alone to return one answer per query. The base LLM stays frozen throughout. I will summarize the experiments in one sentence: gains over AMULET are larger on Mistral and Qwen, while Llama is close overall; the main study uses simulated preference feedback. The central idea is one reward model, two generation policies, and two update clocks for uncertainty and preference learning.</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tpop_group_meeting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tpop_group_meeting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US">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US">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US">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300" kern="1200" lang="en-US">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en-US">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en-US">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en-US">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en-US">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en-US">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en-US">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en-US">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en-US">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en-US">
          <a:solidFill>
            <a:schemeClr val="tx1"/>
          </a:solidFill>
          <a:latin typeface="+mn-lt"/>
          <a:ea typeface="+mn-ea"/>
          <a:cs typeface="+mn-cs"/>
        </a:defRPr>
      </a:lvl9pPr>
    </p:bodyStyle>
    <p:otherStyle>
      <a:defPPr>
        <a:defRPr lang="en-US"/>
      </a:defPPr>
      <a:lvl1pPr marL="0" algn="l" defTabSz="457200" rtl="0" eaLnBrk="1" latinLnBrk="0" hangingPunct="1">
        <a:defRPr sz="2100" kern="1200" lang="en-US">
          <a:solidFill>
            <a:schemeClr val="tx1"/>
          </a:solidFill>
          <a:latin typeface="+mn-lt"/>
          <a:ea typeface="+mn-ea"/>
          <a:cs typeface="+mn-cs"/>
        </a:defRPr>
      </a:lvl1pPr>
      <a:lvl2pPr marL="457200" algn="l" defTabSz="457200" rtl="0" eaLnBrk="1" latinLnBrk="0" hangingPunct="1">
        <a:defRPr sz="1950" kern="1200" lang="en-US">
          <a:solidFill>
            <a:schemeClr val="tx1"/>
          </a:solidFill>
          <a:latin typeface="+mn-lt"/>
          <a:ea typeface="+mn-ea"/>
          <a:cs typeface="+mn-cs"/>
        </a:defRPr>
      </a:lvl2pPr>
      <a:lvl3pPr marL="914400" algn="l" defTabSz="457200" rtl="0" eaLnBrk="1" latinLnBrk="0" hangingPunct="1">
        <a:defRPr sz="1850" kern="1200" lang="en-US">
          <a:solidFill>
            <a:schemeClr val="tx1"/>
          </a:solidFill>
          <a:latin typeface="+mn-lt"/>
          <a:ea typeface="+mn-ea"/>
          <a:cs typeface="+mn-cs"/>
        </a:defRPr>
      </a:lvl3pPr>
      <a:lvl4pPr marL="1371600" algn="l" defTabSz="457200" rtl="0" eaLnBrk="1" latinLnBrk="0" hangingPunct="1">
        <a:defRPr sz="1700" kern="1200" lang="en-US">
          <a:solidFill>
            <a:schemeClr val="tx1"/>
          </a:solidFill>
          <a:latin typeface="+mn-lt"/>
          <a:ea typeface="+mn-ea"/>
          <a:cs typeface="+mn-cs"/>
        </a:defRPr>
      </a:lvl4pPr>
      <a:lvl5pPr marL="1828800" algn="l" defTabSz="457200" rtl="0" eaLnBrk="1" latinLnBrk="0" hangingPunct="1">
        <a:defRPr sz="1600" kern="1200" lang="en-US">
          <a:solidFill>
            <a:schemeClr val="tx1"/>
          </a:solidFill>
          <a:latin typeface="+mn-lt"/>
          <a:ea typeface="+mn-ea"/>
          <a:cs typeface="+mn-cs"/>
        </a:defRPr>
      </a:lvl5pPr>
      <a:lvl6pPr marL="2286000" algn="l" defTabSz="457200" rtl="0" eaLnBrk="1" latinLnBrk="0" hangingPunct="1">
        <a:defRPr sz="1450" kern="1200" lang="en-US">
          <a:solidFill>
            <a:schemeClr val="tx1"/>
          </a:solidFill>
          <a:latin typeface="+mn-lt"/>
          <a:ea typeface="+mn-ea"/>
          <a:cs typeface="+mn-cs"/>
        </a:defRPr>
      </a:lvl6pPr>
      <a:lvl7pPr marL="2743200" algn="l" defTabSz="457200" rtl="0" eaLnBrk="1" latinLnBrk="0" hangingPunct="1">
        <a:defRPr sz="1300" kern="1200" lang="en-US">
          <a:solidFill>
            <a:schemeClr val="tx1"/>
          </a:solidFill>
          <a:latin typeface="+mn-lt"/>
          <a:ea typeface="+mn-ea"/>
          <a:cs typeface="+mn-cs"/>
        </a:defRPr>
      </a:lvl7pPr>
      <a:lvl8pPr marL="3200400" algn="l" defTabSz="457200" rtl="0" eaLnBrk="1" latinLnBrk="0" hangingPunct="1">
        <a:defRPr sz="1200" kern="1200" lang="en-US">
          <a:solidFill>
            <a:schemeClr val="tx1"/>
          </a:solidFill>
          <a:latin typeface="+mn-lt"/>
          <a:ea typeface="+mn-ea"/>
          <a:cs typeface="+mn-cs"/>
        </a:defRPr>
      </a:lvl8pPr>
      <a:lvl9pPr marL="3657600" algn="l" defTabSz="457200" rtl="0" eaLnBrk="1" latinLnBrk="0" hangingPunct="1">
        <a:defRPr sz="1050" kern="1200" lang="en-US">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70535"/>
            <a:ext cx="6157900" cy="952119"/>
            <a:chOff x="592836" y="470535"/>
            <a:chExt cx="6157900" cy="952119"/>
          </a:xfrm>
        </p:grpSpPr>
        <p:sp>
          <p:nvSpPr>
            <p:cNvPr id="2" name="TextBox 2"/>
            <p:cNvSpPr txBox="1"/>
            <p:nvPr/>
          </p:nvSpPr>
          <p:spPr>
            <a:xfrm>
              <a:off x="603504" y="470535"/>
              <a:ext cx="4350822"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Test-Time Personalization with Online Preference Feedback</a:t>
              </a:r>
            </a:p>
          </p:txBody>
        </p:sp>
        <p:sp>
          <p:nvSpPr>
            <p:cNvPr id="3" name="TextBox 3"/>
            <p:cNvSpPr txBox="1"/>
            <p:nvPr/>
          </p:nvSpPr>
          <p:spPr>
            <a:xfrm>
              <a:off x="592836" y="777240"/>
              <a:ext cx="6157900"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T-POP: one RM, two policies</a:t>
              </a:r>
            </a:p>
          </p:txBody>
        </p:sp>
      </p:grpSp>
      <p:grpSp>
        <p:nvGrpSpPr>
          <p:cNvPr id="34" name="interaction-loop"/>
          <p:cNvGrpSpPr/>
          <p:nvPr/>
        </p:nvGrpSpPr>
        <p:grpSpPr>
          <a:xfrm>
            <a:off x="609600" y="1784032"/>
            <a:ext cx="10972800" cy="3504057"/>
            <a:chOff x="609600" y="1784032"/>
            <a:chExt cx="10972800" cy="3504057"/>
          </a:xfrm>
        </p:grpSpPr>
        <p:sp>
          <p:nvSpPr>
            <p:cNvPr id="5" name="Rectangle 5"/>
            <p:cNvSpPr/>
            <p:nvPr/>
          </p:nvSpPr>
          <p:spPr>
            <a:xfrm>
              <a:off x="609600" y="2571750"/>
              <a:ext cx="1657350" cy="1028700"/>
            </a:xfrm>
            <a:prstGeom prst="rect">
              <a:avLst/>
            </a:prstGeom>
            <a:solidFill>
              <a:schemeClr val="lt2"/>
            </a:solidFill>
            <a:ln>
              <a:noFill/>
            </a:ln>
          </p:spPr>
        </p:sp>
        <p:sp>
          <p:nvSpPr>
            <p:cNvPr id="6" name="TextBox 6"/>
            <p:cNvSpPr txBox="1"/>
            <p:nvPr/>
          </p:nvSpPr>
          <p:spPr>
            <a:xfrm>
              <a:off x="888431" y="2773680"/>
              <a:ext cx="1099688" cy="410718"/>
            </a:xfrm>
            <a:prstGeom prst="rect">
              <a:avLst/>
            </a:prstGeom>
            <a:noFill/>
            <a:ln>
              <a:noFill/>
            </a:ln>
          </p:spPr>
          <p:txBody>
            <a:bodyPr wrap="none" lIns="0" tIns="0" rIns="0" bIns="0" anchor="t" anchorCtr="0">
              <a:spAutoFit/>
            </a:bodyPr>
            <a:lstStyle/>
            <a:p>
              <a:pPr algn="ctr"/>
              <a:r>
                <a:rPr lang="en-US" sz="2100" b="1" dirty="0">
                  <a:solidFill>
                    <a:schemeClr val="accent1"/>
                  </a:solidFill>
                  <a:latin typeface="+mn-lt"/>
                  <a:ea typeface="+mn-ea"/>
                  <a:cs typeface="+mn-cs"/>
                </a:rPr>
                <a:t>Query q</a:t>
              </a:r>
            </a:p>
          </p:txBody>
        </p:sp>
        <p:sp>
          <p:nvSpPr>
            <p:cNvPr id="7" name="TextBox 7"/>
            <p:cNvSpPr txBox="1"/>
            <p:nvPr/>
          </p:nvSpPr>
          <p:spPr>
            <a:xfrm>
              <a:off x="1084114" y="3155632"/>
              <a:ext cx="708322" cy="322707"/>
            </a:xfrm>
            <a:prstGeom prst="rect">
              <a:avLst/>
            </a:prstGeom>
            <a:noFill/>
            <a:ln>
              <a:noFill/>
            </a:ln>
          </p:spPr>
          <p:txBody>
            <a:bodyPr wrap="none" lIns="0" tIns="0" rIns="0" bIns="0" anchor="t" anchorCtr="0">
              <a:spAutoFit/>
            </a:bodyPr>
            <a:lstStyle/>
            <a:p>
              <a:pPr algn="ctr"/>
              <a:r>
                <a:rPr lang="en-US" sz="1650" dirty="0">
                  <a:solidFill>
                    <a:schemeClr val="accent5"/>
                  </a:solidFill>
                  <a:latin typeface="+mn-lt"/>
                  <a:ea typeface="+mn-ea"/>
                  <a:cs typeface="+mn-cs"/>
                </a:rPr>
                <a:t>round t</a:t>
              </a:r>
            </a:p>
          </p:txBody>
        </p:sp>
        <p:sp>
          <p:nvSpPr>
            <p:cNvPr id="8" name="Line 8"/>
            <p:cNvSpPr/>
            <p:nvPr/>
          </p:nvSpPr>
          <p:spPr>
            <a:xfrm flipV="1">
              <a:off x="2400300" y="2343150"/>
              <a:ext cx="552450" cy="704850"/>
            </a:xfrm>
            <a:prstGeom prst="line">
              <a:avLst/>
            </a:prstGeom>
            <a:noFill/>
            <a:ln w="19050">
              <a:solidFill>
                <a:schemeClr val="accent1"/>
              </a:solidFill>
              <a:tailEnd type="arrow" w="med" len="med"/>
            </a:ln>
          </p:spPr>
        </p:sp>
        <p:sp>
          <p:nvSpPr>
            <p:cNvPr id="9" name="Line 9"/>
            <p:cNvSpPr/>
            <p:nvPr/>
          </p:nvSpPr>
          <p:spPr>
            <a:xfrm>
              <a:off x="2400300" y="3124200"/>
              <a:ext cx="552450" cy="676275"/>
            </a:xfrm>
            <a:prstGeom prst="line">
              <a:avLst/>
            </a:prstGeom>
            <a:noFill/>
            <a:ln w="19050">
              <a:solidFill>
                <a:schemeClr val="accent1"/>
              </a:solidFill>
              <a:tailEnd type="arrow" w="med" len="med"/>
            </a:ln>
          </p:spPr>
        </p:sp>
        <p:sp>
          <p:nvSpPr>
            <p:cNvPr id="10" name="Rectangle 10"/>
            <p:cNvSpPr/>
            <p:nvPr/>
          </p:nvSpPr>
          <p:spPr>
            <a:xfrm>
              <a:off x="3114675" y="1809750"/>
              <a:ext cx="2876550" cy="1076325"/>
            </a:xfrm>
            <a:prstGeom prst="rect">
              <a:avLst/>
            </a:prstGeom>
            <a:solidFill>
              <a:srgbClr val="E6F2F3"/>
            </a:solidFill>
            <a:ln>
              <a:noFill/>
            </a:ln>
          </p:spPr>
        </p:sp>
        <p:sp>
          <p:nvSpPr>
            <p:cNvPr id="11" name="TextBox 11"/>
            <p:cNvSpPr txBox="1"/>
            <p:nvPr/>
          </p:nvSpPr>
          <p:spPr>
            <a:xfrm>
              <a:off x="3332607" y="1992630"/>
              <a:ext cx="1646587"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Exploitation</a:t>
              </a:r>
            </a:p>
          </p:txBody>
        </p:sp>
        <p:sp>
          <p:nvSpPr>
            <p:cNvPr id="12" name="TextBox 12"/>
            <p:cNvSpPr txBox="1"/>
            <p:nvPr/>
          </p:nvSpPr>
          <p:spPr>
            <a:xfrm>
              <a:off x="3332607" y="2373630"/>
              <a:ext cx="1366080"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Answer a₁</a:t>
              </a:r>
            </a:p>
          </p:txBody>
        </p:sp>
        <p:sp>
          <p:nvSpPr>
            <p:cNvPr id="13" name="Rectangle 13"/>
            <p:cNvSpPr/>
            <p:nvPr/>
          </p:nvSpPr>
          <p:spPr>
            <a:xfrm>
              <a:off x="3114675" y="3276600"/>
              <a:ext cx="2876550" cy="1076325"/>
            </a:xfrm>
            <a:prstGeom prst="rect">
              <a:avLst/>
            </a:prstGeom>
            <a:solidFill>
              <a:srgbClr val="FBEEE4"/>
            </a:solidFill>
            <a:ln>
              <a:noFill/>
            </a:ln>
          </p:spPr>
        </p:sp>
        <p:sp>
          <p:nvSpPr>
            <p:cNvPr id="14" name="TextBox 14"/>
            <p:cNvSpPr txBox="1"/>
            <p:nvPr/>
          </p:nvSpPr>
          <p:spPr>
            <a:xfrm>
              <a:off x="3332607" y="3459480"/>
              <a:ext cx="1584312" cy="410718"/>
            </a:xfrm>
            <a:prstGeom prst="rect">
              <a:avLst/>
            </a:prstGeom>
            <a:noFill/>
            <a:ln>
              <a:noFill/>
            </a:ln>
          </p:spPr>
          <p:txBody>
            <a:bodyPr wrap="none" lIns="0" tIns="0" rIns="0" bIns="0" anchor="t" anchorCtr="0">
              <a:spAutoFit/>
            </a:bodyPr>
            <a:lstStyle/>
            <a:p>
              <a:pPr algn="l"/>
              <a:r>
                <a:rPr lang="en-US" sz="2100" b="1" dirty="0">
                  <a:solidFill>
                    <a:schemeClr val="accent3"/>
                  </a:solidFill>
                  <a:latin typeface="+mn-lt"/>
                  <a:ea typeface="+mn-ea"/>
                  <a:cs typeface="+mn-cs"/>
                </a:rPr>
                <a:t>Exploration</a:t>
              </a:r>
            </a:p>
          </p:txBody>
        </p:sp>
        <p:sp>
          <p:nvSpPr>
            <p:cNvPr id="15" name="TextBox 15"/>
            <p:cNvSpPr txBox="1"/>
            <p:nvPr/>
          </p:nvSpPr>
          <p:spPr>
            <a:xfrm>
              <a:off x="3332607" y="3840480"/>
              <a:ext cx="1366080"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Answer a₂</a:t>
              </a:r>
            </a:p>
          </p:txBody>
        </p:sp>
        <p:sp>
          <p:nvSpPr>
            <p:cNvPr id="16" name="Line 16"/>
            <p:cNvSpPr/>
            <p:nvPr/>
          </p:nvSpPr>
          <p:spPr>
            <a:xfrm>
              <a:off x="6115050" y="2343150"/>
              <a:ext cx="657225" cy="571500"/>
            </a:xfrm>
            <a:prstGeom prst="line">
              <a:avLst/>
            </a:prstGeom>
            <a:noFill/>
            <a:ln w="19050">
              <a:solidFill>
                <a:schemeClr val="accent1"/>
              </a:solidFill>
              <a:tailEnd type="arrow" w="med" len="med"/>
            </a:ln>
          </p:spPr>
        </p:sp>
        <p:sp>
          <p:nvSpPr>
            <p:cNvPr id="17" name="Line 17"/>
            <p:cNvSpPr/>
            <p:nvPr/>
          </p:nvSpPr>
          <p:spPr>
            <a:xfrm flipV="1">
              <a:off x="6115050" y="3238500"/>
              <a:ext cx="657225" cy="571500"/>
            </a:xfrm>
            <a:prstGeom prst="line">
              <a:avLst/>
            </a:prstGeom>
            <a:noFill/>
            <a:ln w="19050">
              <a:solidFill>
                <a:schemeClr val="accent1"/>
              </a:solidFill>
              <a:tailEnd type="arrow" w="med" len="med"/>
            </a:ln>
          </p:spPr>
        </p:sp>
        <p:sp>
          <p:nvSpPr>
            <p:cNvPr id="18" name="Rectangle 18"/>
            <p:cNvSpPr/>
            <p:nvPr/>
          </p:nvSpPr>
          <p:spPr>
            <a:xfrm>
              <a:off x="6924675" y="2571750"/>
              <a:ext cx="1752600" cy="1028700"/>
            </a:xfrm>
            <a:prstGeom prst="rect">
              <a:avLst/>
            </a:prstGeom>
            <a:solidFill>
              <a:schemeClr val="accent1"/>
            </a:solidFill>
            <a:ln>
              <a:noFill/>
            </a:ln>
          </p:spPr>
        </p:sp>
        <p:sp>
          <p:nvSpPr>
            <p:cNvPr id="19" name="TextBox 19"/>
            <p:cNvSpPr txBox="1"/>
            <p:nvPr/>
          </p:nvSpPr>
          <p:spPr>
            <a:xfrm>
              <a:off x="7471522" y="2773680"/>
              <a:ext cx="658905" cy="410718"/>
            </a:xfrm>
            <a:prstGeom prst="rect">
              <a:avLst/>
            </a:prstGeom>
            <a:noFill/>
            <a:ln>
              <a:noFill/>
            </a:ln>
          </p:spPr>
          <p:txBody>
            <a:bodyPr wrap="none" lIns="0" tIns="0" rIns="0" bIns="0" anchor="t" anchorCtr="0">
              <a:spAutoFit/>
            </a:bodyPr>
            <a:lstStyle/>
            <a:p>
              <a:pPr algn="ctr"/>
              <a:r>
                <a:rPr lang="en-US" sz="2100" b="1" dirty="0">
                  <a:solidFill>
                    <a:srgbClr val="FFFFFF"/>
                  </a:solidFill>
                  <a:latin typeface="+mn-lt"/>
                  <a:ea typeface="+mn-ea"/>
                  <a:cs typeface="+mn-cs"/>
                </a:rPr>
                <a:t>User</a:t>
              </a:r>
            </a:p>
          </p:txBody>
        </p:sp>
        <p:sp>
          <p:nvSpPr>
            <p:cNvPr id="20" name="TextBox 20"/>
            <p:cNvSpPr txBox="1"/>
            <p:nvPr/>
          </p:nvSpPr>
          <p:spPr>
            <a:xfrm>
              <a:off x="7162741" y="3155632"/>
              <a:ext cx="1276468" cy="322707"/>
            </a:xfrm>
            <a:prstGeom prst="rect">
              <a:avLst/>
            </a:prstGeom>
            <a:noFill/>
            <a:ln>
              <a:noFill/>
            </a:ln>
          </p:spPr>
          <p:txBody>
            <a:bodyPr wrap="none" lIns="0" tIns="0" rIns="0" bIns="0" anchor="t" anchorCtr="0">
              <a:spAutoFit/>
            </a:bodyPr>
            <a:lstStyle/>
            <a:p>
              <a:pPr algn="ctr"/>
              <a:r>
                <a:rPr lang="en-US" sz="1650" dirty="0">
                  <a:solidFill>
                    <a:srgbClr val="FFFFFF"/>
                  </a:solidFill>
                  <a:latin typeface="+mn-lt"/>
                  <a:ea typeface="+mn-ea"/>
                  <a:cs typeface="+mn-cs"/>
                </a:rPr>
                <a:t>chooses one</a:t>
              </a:r>
            </a:p>
          </p:txBody>
        </p:sp>
        <p:sp>
          <p:nvSpPr>
            <p:cNvPr id="21" name="Line 21"/>
            <p:cNvSpPr/>
            <p:nvPr/>
          </p:nvSpPr>
          <p:spPr>
            <a:xfrm>
              <a:off x="8791575" y="3086100"/>
              <a:ext cx="419100" cy="1"/>
            </a:xfrm>
            <a:prstGeom prst="line">
              <a:avLst/>
            </a:prstGeom>
            <a:noFill/>
            <a:ln w="19050">
              <a:solidFill>
                <a:schemeClr val="accent1"/>
              </a:solidFill>
              <a:tailEnd type="arrow" w="med" len="med"/>
            </a:ln>
          </p:spPr>
        </p:sp>
        <p:sp>
          <p:nvSpPr>
            <p:cNvPr id="22" name="Rectangle 22"/>
            <p:cNvSpPr/>
            <p:nvPr/>
          </p:nvSpPr>
          <p:spPr>
            <a:xfrm>
              <a:off x="9344025" y="2571750"/>
              <a:ext cx="2238375" cy="1028700"/>
            </a:xfrm>
            <a:prstGeom prst="rect">
              <a:avLst/>
            </a:prstGeom>
            <a:solidFill>
              <a:schemeClr val="lt2"/>
            </a:solidFill>
            <a:ln>
              <a:noFill/>
            </a:ln>
          </p:spPr>
        </p:sp>
        <p:sp>
          <p:nvSpPr>
            <p:cNvPr id="23" name="TextBox 23"/>
            <p:cNvSpPr txBox="1"/>
            <p:nvPr/>
          </p:nvSpPr>
          <p:spPr>
            <a:xfrm>
              <a:off x="9727743" y="2773680"/>
              <a:ext cx="1461414" cy="410718"/>
            </a:xfrm>
            <a:prstGeom prst="rect">
              <a:avLst/>
            </a:prstGeom>
            <a:noFill/>
            <a:ln>
              <a:noFill/>
            </a:ln>
          </p:spPr>
          <p:txBody>
            <a:bodyPr wrap="none" lIns="0" tIns="0" rIns="0" bIns="0" anchor="t" anchorCtr="0">
              <a:spAutoFit/>
            </a:bodyPr>
            <a:lstStyle/>
            <a:p>
              <a:pPr algn="ctr"/>
              <a:r>
                <a:rPr lang="en-US" sz="2100" b="1" dirty="0">
                  <a:solidFill>
                    <a:schemeClr val="accent1"/>
                  </a:solidFill>
                  <a:latin typeface="+mn-lt"/>
                  <a:ea typeface="+mn-ea"/>
                  <a:cs typeface="+mn-cs"/>
                </a:rPr>
                <a:t>History Dₜ</a:t>
              </a:r>
            </a:p>
          </p:txBody>
        </p:sp>
        <p:sp>
          <p:nvSpPr>
            <p:cNvPr id="24" name="TextBox 24"/>
            <p:cNvSpPr txBox="1"/>
            <p:nvPr/>
          </p:nvSpPr>
          <p:spPr>
            <a:xfrm>
              <a:off x="9822415" y="3155632"/>
              <a:ext cx="1272070" cy="322707"/>
            </a:xfrm>
            <a:prstGeom prst="rect">
              <a:avLst/>
            </a:prstGeom>
            <a:noFill/>
            <a:ln>
              <a:noFill/>
            </a:ln>
          </p:spPr>
          <p:txBody>
            <a:bodyPr wrap="none" lIns="0" tIns="0" rIns="0" bIns="0" anchor="t" anchorCtr="0">
              <a:spAutoFit/>
            </a:bodyPr>
            <a:lstStyle/>
            <a:p>
              <a:pPr algn="ctr"/>
              <a:r>
                <a:rPr lang="en-US" sz="1650" dirty="0">
                  <a:solidFill>
                    <a:schemeClr val="accent5"/>
                  </a:solidFill>
                  <a:latin typeface="+mn-lt"/>
                  <a:ea typeface="+mn-ea"/>
                  <a:cs typeface="+mn-cs"/>
                </a:rPr>
                <a:t>(q, a₁, a₂, ℓ)</a:t>
              </a:r>
            </a:p>
          </p:txBody>
        </p:sp>
        <p:sp>
          <p:nvSpPr>
            <p:cNvPr id="25" name="Line 25"/>
            <p:cNvSpPr/>
            <p:nvPr/>
          </p:nvSpPr>
          <p:spPr>
            <a:xfrm>
              <a:off x="10458450" y="3724275"/>
              <a:ext cx="9525" cy="895350"/>
            </a:xfrm>
            <a:custGeom>
              <a:avLst/>
              <a:gdLst/>
              <a:ahLst/>
              <a:cxnLst/>
              <a:rect l="l" t="t" r="r" b="b"/>
              <a:pathLst>
                <a:path w="9525" h="895350">
                  <a:moveTo>
                    <a:pt x="0" y="0"/>
                  </a:moveTo>
                  <a:lnTo>
                    <a:pt x="0" y="895350"/>
                  </a:lnTo>
                </a:path>
              </a:pathLst>
            </a:custGeom>
            <a:noFill/>
            <a:ln w="19050">
              <a:solidFill>
                <a:schemeClr val="accent1"/>
              </a:solidFill>
            </a:ln>
          </p:spPr>
        </p:sp>
        <p:sp>
          <p:nvSpPr>
            <p:cNvPr id="26" name="Line 26"/>
            <p:cNvSpPr/>
            <p:nvPr/>
          </p:nvSpPr>
          <p:spPr>
            <a:xfrm flipH="1">
              <a:off x="7734300" y="4619625"/>
              <a:ext cx="2724150" cy="1"/>
            </a:xfrm>
            <a:prstGeom prst="line">
              <a:avLst/>
            </a:prstGeom>
            <a:noFill/>
            <a:ln w="19050">
              <a:solidFill>
                <a:schemeClr val="accent1"/>
              </a:solidFill>
              <a:tailEnd type="arrow" w="med" len="med"/>
            </a:ln>
          </p:spPr>
        </p:sp>
        <p:sp>
          <p:nvSpPr>
            <p:cNvPr id="27" name="Rectangle 27"/>
            <p:cNvSpPr/>
            <p:nvPr/>
          </p:nvSpPr>
          <p:spPr>
            <a:xfrm>
              <a:off x="5476875" y="4467225"/>
              <a:ext cx="2124075" cy="685800"/>
            </a:xfrm>
            <a:prstGeom prst="rect">
              <a:avLst/>
            </a:prstGeom>
            <a:solidFill>
              <a:schemeClr val="accent1"/>
            </a:solidFill>
            <a:ln>
              <a:noFill/>
            </a:ln>
          </p:spPr>
        </p:sp>
        <p:sp>
          <p:nvSpPr>
            <p:cNvPr id="28" name="TextBox 28"/>
            <p:cNvSpPr txBox="1"/>
            <p:nvPr/>
          </p:nvSpPr>
          <p:spPr>
            <a:xfrm>
              <a:off x="5802907" y="4669155"/>
              <a:ext cx="1481537" cy="410718"/>
            </a:xfrm>
            <a:prstGeom prst="rect">
              <a:avLst/>
            </a:prstGeom>
            <a:noFill/>
            <a:ln>
              <a:noFill/>
            </a:ln>
          </p:spPr>
          <p:txBody>
            <a:bodyPr wrap="none" lIns="0" tIns="0" rIns="0" bIns="0" anchor="t" anchorCtr="0">
              <a:spAutoFit/>
            </a:bodyPr>
            <a:lstStyle/>
            <a:p>
              <a:pPr algn="ctr"/>
              <a:r>
                <a:rPr lang="en-US" sz="2100" dirty="0">
                  <a:solidFill>
                    <a:srgbClr val="FFFFFF"/>
                  </a:solidFill>
                  <a:latin typeface="+mn-lt"/>
                  <a:ea typeface="+mn-ea"/>
                  <a:cs typeface="+mn-cs"/>
                </a:rPr>
                <a:t>Update RM</a:t>
              </a:r>
            </a:p>
          </p:txBody>
        </p:sp>
        <p:sp>
          <p:nvSpPr>
            <p:cNvPr id="29" name="Line 29"/>
            <p:cNvSpPr/>
            <p:nvPr/>
          </p:nvSpPr>
          <p:spPr>
            <a:xfrm>
              <a:off x="1438275" y="4810125"/>
              <a:ext cx="3914775" cy="9525"/>
            </a:xfrm>
            <a:custGeom>
              <a:avLst/>
              <a:gdLst/>
              <a:ahLst/>
              <a:cxnLst/>
              <a:rect l="l" t="t" r="r" b="b"/>
              <a:pathLst>
                <a:path w="3914775" h="9525">
                  <a:moveTo>
                    <a:pt x="3914775" y="0"/>
                  </a:moveTo>
                  <a:lnTo>
                    <a:pt x="0" y="0"/>
                  </a:lnTo>
                </a:path>
              </a:pathLst>
            </a:custGeom>
            <a:noFill/>
            <a:ln w="19050">
              <a:solidFill>
                <a:schemeClr val="accent1"/>
              </a:solidFill>
            </a:ln>
          </p:spPr>
        </p:sp>
        <p:sp>
          <p:nvSpPr>
            <p:cNvPr id="30" name="Line 30"/>
            <p:cNvSpPr/>
            <p:nvPr/>
          </p:nvSpPr>
          <p:spPr>
            <a:xfrm flipV="1">
              <a:off x="1438275" y="3743325"/>
              <a:ext cx="1" cy="1066800"/>
            </a:xfrm>
            <a:prstGeom prst="line">
              <a:avLst/>
            </a:prstGeom>
            <a:noFill/>
            <a:ln w="19050">
              <a:solidFill>
                <a:schemeClr val="accent1"/>
              </a:solidFill>
              <a:tailEnd type="arrow" w="med" len="med"/>
            </a:ln>
          </p:spPr>
        </p:sp>
        <p:sp>
          <p:nvSpPr>
            <p:cNvPr id="31" name="TextBox 31"/>
            <p:cNvSpPr txBox="1"/>
            <p:nvPr/>
          </p:nvSpPr>
          <p:spPr>
            <a:xfrm>
              <a:off x="3030093" y="4965382"/>
              <a:ext cx="1523202"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next interaction</a:t>
              </a:r>
            </a:p>
          </p:txBody>
        </p:sp>
        <p:sp>
          <p:nvSpPr>
            <p:cNvPr id="32" name="TextBox 32"/>
            <p:cNvSpPr txBox="1"/>
            <p:nvPr/>
          </p:nvSpPr>
          <p:spPr>
            <a:xfrm>
              <a:off x="6516243" y="1784032"/>
              <a:ext cx="1653487"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Both arms share</a:t>
              </a:r>
            </a:p>
          </p:txBody>
        </p:sp>
        <p:sp>
          <p:nvSpPr>
            <p:cNvPr id="33" name="TextBox 33"/>
            <p:cNvSpPr txBox="1"/>
            <p:nvPr/>
          </p:nvSpPr>
          <p:spPr>
            <a:xfrm>
              <a:off x="6516243" y="2088832"/>
              <a:ext cx="3062186"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the frozen LLM + current RM</a:t>
              </a:r>
            </a:p>
          </p:txBody>
        </p:sp>
      </p:grpSp>
      <p:grpSp>
        <p:nvGrpSpPr>
          <p:cNvPr id="36" name="takeaway"/>
          <p:cNvGrpSpPr/>
          <p:nvPr/>
        </p:nvGrpSpPr>
        <p:grpSpPr>
          <a:xfrm>
            <a:off x="597408" y="5665470"/>
            <a:ext cx="7941892" cy="469392"/>
            <a:chOff x="597408" y="5665470"/>
            <a:chExt cx="7941892" cy="469392"/>
          </a:xfrm>
        </p:grpSpPr>
        <p:sp>
          <p:nvSpPr>
            <p:cNvPr id="35" name="TextBox 35"/>
            <p:cNvSpPr txBox="1"/>
            <p:nvPr/>
          </p:nvSpPr>
          <p:spPr>
            <a:xfrm>
              <a:off x="597408" y="5665470"/>
              <a:ext cx="7941892" cy="469392"/>
            </a:xfrm>
            <a:prstGeom prst="rect">
              <a:avLst/>
            </a:prstGeom>
            <a:noFill/>
            <a:ln>
              <a:noFill/>
            </a:ln>
          </p:spPr>
          <p:txBody>
            <a:bodyPr wrap="none" lIns="0" tIns="0" rIns="0" bIns="0" anchor="t" anchorCtr="0">
              <a:spAutoFit/>
            </a:bodyPr>
            <a:lstStyle/>
            <a:p>
              <a:pPr algn="l"/>
              <a:r>
                <a:rPr lang="en-US" sz="2400" dirty="0">
                  <a:solidFill>
                    <a:schemeClr val="accent1"/>
                  </a:solidFill>
                  <a:latin typeface="+mn-lt"/>
                  <a:ea typeface="+mn-ea"/>
                  <a:cs typeface="+mn-cs"/>
                </a:rPr>
                <a:t xml:space="preserve">Two </a:t>
              </a:r>
              <a:r>
                <a:rPr lang="en-US" sz="2400" b="1" dirty="0">
                  <a:solidFill>
                    <a:schemeClr val="accent1"/>
                  </a:solidFill>
                  <a:latin typeface="+mn-lt"/>
                  <a:ea typeface="+mn-ea"/>
                  <a:cs typeface="+mn-cs"/>
                </a:rPr>
                <a:t>policies</a:t>
              </a:r>
              <a:r>
                <a:rPr lang="en-US" sz="2400" dirty="0">
                  <a:solidFill>
                    <a:schemeClr val="accent1"/>
                  </a:solidFill>
                  <a:latin typeface="+mn-lt"/>
                  <a:ea typeface="+mn-ea"/>
                  <a:cs typeface="+mn-cs"/>
                </a:rPr>
                <a:t xml:space="preserve"> generate the pair. One </a:t>
              </a:r>
              <a:r>
                <a:rPr lang="en-US" sz="2400" b="1" dirty="0">
                  <a:solidFill>
                    <a:schemeClr val="accent1"/>
                  </a:solidFill>
                  <a:latin typeface="+mn-lt"/>
                  <a:ea typeface="+mn-ea"/>
                  <a:cs typeface="+mn-cs"/>
                </a:rPr>
                <a:t>RM</a:t>
              </a:r>
              <a:r>
                <a:rPr lang="en-US" sz="2400" dirty="0">
                  <a:solidFill>
                    <a:schemeClr val="accent1"/>
                  </a:solidFill>
                  <a:latin typeface="+mn-lt"/>
                  <a:ea typeface="+mn-ea"/>
                  <a:cs typeface="+mn-cs"/>
                </a:rPr>
                <a:t xml:space="preserve"> learns from it.</a:t>
              </a:r>
            </a:p>
          </p:txBody>
        </p:sp>
      </p:grpSp>
      <p:grpSp>
        <p:nvGrpSpPr>
          <p:cNvPr id="39" name="footer"/>
          <p:cNvGrpSpPr/>
          <p:nvPr/>
        </p:nvGrpSpPr>
        <p:grpSpPr>
          <a:xfrm>
            <a:off x="603504" y="6395085"/>
            <a:ext cx="10984992" cy="234696"/>
            <a:chOff x="603504" y="6395085"/>
            <a:chExt cx="10984992" cy="234696"/>
          </a:xfrm>
        </p:grpSpPr>
        <p:sp>
          <p:nvSpPr>
            <p:cNvPr id="37" name="TextBox 37"/>
            <p:cNvSpPr txBox="1"/>
            <p:nvPr/>
          </p:nvSpPr>
          <p:spPr>
            <a:xfrm>
              <a:off x="603504" y="6395085"/>
              <a:ext cx="5064373"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Qu et al. · ICML 2026 · arXiv:2509.24696v2 | Fig. 1; Algorithm 1; §3.2</a:t>
              </a:r>
            </a:p>
          </p:txBody>
        </p:sp>
        <p:sp>
          <p:nvSpPr>
            <p:cNvPr id="38" name="TextBox 38"/>
            <p:cNvSpPr txBox="1"/>
            <p:nvPr/>
          </p:nvSpPr>
          <p:spPr>
            <a:xfrm>
              <a:off x="11082270" y="6395085"/>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01 / 08</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70535"/>
            <a:ext cx="7111116" cy="952119"/>
            <a:chOff x="592836" y="470535"/>
            <a:chExt cx="7111116" cy="952119"/>
          </a:xfrm>
        </p:grpSpPr>
        <p:sp>
          <p:nvSpPr>
            <p:cNvPr id="2" name="TextBox 2"/>
            <p:cNvSpPr txBox="1"/>
            <p:nvPr/>
          </p:nvSpPr>
          <p:spPr>
            <a:xfrm>
              <a:off x="603504" y="470535"/>
              <a:ext cx="1994289"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02 / RM ARCHITECTURE</a:t>
              </a:r>
            </a:p>
          </p:txBody>
        </p:sp>
        <p:sp>
          <p:nvSpPr>
            <p:cNvPr id="3" name="TextBox 3"/>
            <p:cNvSpPr txBox="1"/>
            <p:nvPr/>
          </p:nvSpPr>
          <p:spPr>
            <a:xfrm>
              <a:off x="592836" y="777240"/>
              <a:ext cx="7111116"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Text → vector → personal reward</a:t>
              </a:r>
            </a:p>
          </p:txBody>
        </p:sp>
      </p:grpSp>
      <p:grpSp>
        <p:nvGrpSpPr>
          <p:cNvPr id="23" name="reward-pipeline"/>
          <p:cNvGrpSpPr/>
          <p:nvPr/>
        </p:nvGrpSpPr>
        <p:grpSpPr>
          <a:xfrm>
            <a:off x="598932" y="1857375"/>
            <a:ext cx="10945368" cy="2609850"/>
            <a:chOff x="598932" y="1857375"/>
            <a:chExt cx="10945368" cy="2609850"/>
          </a:xfrm>
        </p:grpSpPr>
        <p:sp>
          <p:nvSpPr>
            <p:cNvPr id="5" name="TextBox 5"/>
            <p:cNvSpPr txBox="1"/>
            <p:nvPr/>
          </p:nvSpPr>
          <p:spPr>
            <a:xfrm>
              <a:off x="598932" y="2764155"/>
              <a:ext cx="972927"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B texts</a:t>
              </a:r>
            </a:p>
          </p:txBody>
        </p:sp>
        <p:sp>
          <p:nvSpPr>
            <p:cNvPr id="6" name="Line 6"/>
            <p:cNvSpPr/>
            <p:nvPr/>
          </p:nvSpPr>
          <p:spPr>
            <a:xfrm>
              <a:off x="1628775" y="2895600"/>
              <a:ext cx="447675" cy="1"/>
            </a:xfrm>
            <a:prstGeom prst="line">
              <a:avLst/>
            </a:prstGeom>
            <a:noFill/>
            <a:ln w="19050">
              <a:solidFill>
                <a:schemeClr val="accent1"/>
              </a:solidFill>
              <a:tailEnd type="arrow" w="med" len="med"/>
            </a:ln>
          </p:spPr>
        </p:sp>
        <p:sp>
          <p:nvSpPr>
            <p:cNvPr id="7" name="Rectangle 7"/>
            <p:cNvSpPr/>
            <p:nvPr/>
          </p:nvSpPr>
          <p:spPr>
            <a:xfrm>
              <a:off x="2209800" y="2371725"/>
              <a:ext cx="2876550" cy="1162050"/>
            </a:xfrm>
            <a:prstGeom prst="rect">
              <a:avLst/>
            </a:prstGeom>
            <a:solidFill>
              <a:schemeClr val="lt2"/>
            </a:solidFill>
            <a:ln>
              <a:noFill/>
            </a:ln>
          </p:spPr>
        </p:sp>
        <p:sp>
          <p:nvSpPr>
            <p:cNvPr id="8" name="TextBox 8"/>
            <p:cNvSpPr txBox="1"/>
            <p:nvPr/>
          </p:nvSpPr>
          <p:spPr>
            <a:xfrm>
              <a:off x="2580353" y="2592705"/>
              <a:ext cx="2135444" cy="410718"/>
            </a:xfrm>
            <a:prstGeom prst="rect">
              <a:avLst/>
            </a:prstGeom>
            <a:noFill/>
            <a:ln>
              <a:noFill/>
            </a:ln>
          </p:spPr>
          <p:txBody>
            <a:bodyPr wrap="none" lIns="0" tIns="0" rIns="0" bIns="0" anchor="t" anchorCtr="0">
              <a:spAutoFit/>
            </a:bodyPr>
            <a:lstStyle/>
            <a:p>
              <a:pPr algn="ctr"/>
              <a:r>
                <a:rPr lang="en-US" sz="2100" b="1" dirty="0">
                  <a:solidFill>
                    <a:schemeClr val="accent1"/>
                  </a:solidFill>
                  <a:latin typeface="+mn-lt"/>
                  <a:ea typeface="+mn-ea"/>
                  <a:cs typeface="+mn-cs"/>
                </a:rPr>
                <a:t>Frozen encoder</a:t>
              </a:r>
            </a:p>
          </p:txBody>
        </p:sp>
        <p:sp>
          <p:nvSpPr>
            <p:cNvPr id="9" name="TextBox 9"/>
            <p:cNvSpPr txBox="1"/>
            <p:nvPr/>
          </p:nvSpPr>
          <p:spPr>
            <a:xfrm>
              <a:off x="2408684" y="3050858"/>
              <a:ext cx="2478782" cy="322707"/>
            </a:xfrm>
            <a:prstGeom prst="rect">
              <a:avLst/>
            </a:prstGeom>
            <a:noFill/>
            <a:ln>
              <a:noFill/>
            </a:ln>
          </p:spPr>
          <p:txBody>
            <a:bodyPr wrap="none" lIns="0" tIns="0" rIns="0" bIns="0" anchor="t" anchorCtr="0">
              <a:spAutoFit/>
            </a:bodyPr>
            <a:lstStyle/>
            <a:p>
              <a:pPr algn="ctr"/>
              <a:r>
                <a:rPr lang="en-US" sz="1650" dirty="0">
                  <a:solidFill>
                    <a:schemeClr val="accent5"/>
                  </a:solidFill>
                  <a:latin typeface="+mn-lt"/>
                  <a:ea typeface="+mn-ea"/>
                  <a:cs typeface="+mn-cs"/>
                </a:rPr>
                <a:t>Qwen3-Embedding-0.6B</a:t>
              </a:r>
            </a:p>
          </p:txBody>
        </p:sp>
        <p:sp>
          <p:nvSpPr>
            <p:cNvPr id="10" name="Line 10"/>
            <p:cNvSpPr/>
            <p:nvPr/>
          </p:nvSpPr>
          <p:spPr>
            <a:xfrm>
              <a:off x="5219700" y="2895600"/>
              <a:ext cx="971550" cy="1"/>
            </a:xfrm>
            <a:prstGeom prst="line">
              <a:avLst/>
            </a:prstGeom>
            <a:noFill/>
            <a:ln w="19050">
              <a:solidFill>
                <a:schemeClr val="accent1"/>
              </a:solidFill>
              <a:tailEnd type="arrow" w="med" len="med"/>
            </a:ln>
          </p:spPr>
        </p:sp>
        <p:sp>
          <p:nvSpPr>
            <p:cNvPr id="11" name="TextBox 11"/>
            <p:cNvSpPr txBox="1"/>
            <p:nvPr/>
          </p:nvSpPr>
          <p:spPr>
            <a:xfrm>
              <a:off x="4937574" y="3679508"/>
              <a:ext cx="1269102" cy="322707"/>
            </a:xfrm>
            <a:prstGeom prst="rect">
              <a:avLst/>
            </a:prstGeom>
            <a:noFill/>
            <a:ln>
              <a:noFill/>
            </a:ln>
          </p:spPr>
          <p:txBody>
            <a:bodyPr wrap="none" lIns="0" tIns="0" rIns="0" bIns="0" anchor="t" anchorCtr="0">
              <a:spAutoFit/>
            </a:bodyPr>
            <a:lstStyle/>
            <a:p>
              <a:pPr algn="ctr"/>
              <a:r>
                <a:rPr lang="en-US" sz="1650" dirty="0">
                  <a:solidFill>
                    <a:schemeClr val="accent1"/>
                  </a:solidFill>
                  <a:latin typeface="+mn-lt"/>
                  <a:ea typeface="+mn-ea"/>
                  <a:cs typeface="+mn-cs"/>
                </a:rPr>
                <a:t>E: (B, 1024)</a:t>
              </a:r>
            </a:p>
          </p:txBody>
        </p:sp>
        <p:sp>
          <p:nvSpPr>
            <p:cNvPr id="12" name="TextBox 12"/>
            <p:cNvSpPr txBox="1"/>
            <p:nvPr/>
          </p:nvSpPr>
          <p:spPr>
            <a:xfrm>
              <a:off x="2201418" y="4031932"/>
              <a:ext cx="2826259"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Mean pooling in official code</a:t>
              </a:r>
            </a:p>
          </p:txBody>
        </p:sp>
        <p:sp>
          <p:nvSpPr>
            <p:cNvPr id="13" name="Freeform 13"/>
            <p:cNvSpPr/>
            <p:nvPr/>
          </p:nvSpPr>
          <p:spPr>
            <a:xfrm>
              <a:off x="6381750" y="1857375"/>
              <a:ext cx="5162550" cy="2609850"/>
            </a:xfrm>
            <a:prstGeom prst="bracketPair">
              <a:avLst/>
            </a:prstGeom>
            <a:noFill/>
            <a:ln w="19050">
              <a:solidFill>
                <a:schemeClr val="accent1"/>
              </a:solidFill>
            </a:ln>
          </p:spPr>
        </p:sp>
        <p:sp>
          <p:nvSpPr>
            <p:cNvPr id="14" name="TextBox 14"/>
            <p:cNvSpPr txBox="1"/>
            <p:nvPr/>
          </p:nvSpPr>
          <p:spPr>
            <a:xfrm>
              <a:off x="6716268" y="2060258"/>
              <a:ext cx="1933292"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TRAINABLE MLP</a:t>
              </a:r>
            </a:p>
          </p:txBody>
        </p:sp>
        <p:sp>
          <p:nvSpPr>
            <p:cNvPr id="15" name="Rectangle 15"/>
            <p:cNvSpPr/>
            <p:nvPr/>
          </p:nvSpPr>
          <p:spPr>
            <a:xfrm>
              <a:off x="6715125" y="2581275"/>
              <a:ext cx="2324100" cy="1181100"/>
            </a:xfrm>
            <a:prstGeom prst="rect">
              <a:avLst/>
            </a:prstGeom>
            <a:solidFill>
              <a:srgbClr val="E9EEF4"/>
            </a:solidFill>
            <a:ln>
              <a:noFill/>
            </a:ln>
          </p:spPr>
        </p:sp>
        <p:sp>
          <p:nvSpPr>
            <p:cNvPr id="16" name="TextBox 16"/>
            <p:cNvSpPr txBox="1"/>
            <p:nvPr/>
          </p:nvSpPr>
          <p:spPr>
            <a:xfrm>
              <a:off x="6890496" y="2773680"/>
              <a:ext cx="1973358" cy="410718"/>
            </a:xfrm>
            <a:prstGeom prst="rect">
              <a:avLst/>
            </a:prstGeom>
            <a:noFill/>
            <a:ln>
              <a:noFill/>
            </a:ln>
          </p:spPr>
          <p:txBody>
            <a:bodyPr wrap="none" lIns="0" tIns="0" rIns="0" bIns="0" anchor="t" anchorCtr="0">
              <a:spAutoFit/>
            </a:bodyPr>
            <a:lstStyle/>
            <a:p>
              <a:pPr algn="ctr"/>
              <a:r>
                <a:rPr lang="en-US" sz="2100" b="1" dirty="0">
                  <a:solidFill>
                    <a:schemeClr val="accent1"/>
                  </a:solidFill>
                  <a:latin typeface="+mn-lt"/>
                  <a:ea typeface="+mn-ea"/>
                  <a:cs typeface="+mn-cs"/>
                </a:rPr>
                <a:t>Linear + ReLU</a:t>
              </a:r>
            </a:p>
          </p:txBody>
        </p:sp>
        <p:sp>
          <p:nvSpPr>
            <p:cNvPr id="17" name="TextBox 17"/>
            <p:cNvSpPr txBox="1"/>
            <p:nvPr/>
          </p:nvSpPr>
          <p:spPr>
            <a:xfrm>
              <a:off x="7236146" y="3250882"/>
              <a:ext cx="1282057" cy="322707"/>
            </a:xfrm>
            <a:prstGeom prst="rect">
              <a:avLst/>
            </a:prstGeom>
            <a:noFill/>
            <a:ln>
              <a:noFill/>
            </a:ln>
          </p:spPr>
          <p:txBody>
            <a:bodyPr wrap="none" lIns="0" tIns="0" rIns="0" bIns="0" anchor="t" anchorCtr="0">
              <a:spAutoFit/>
            </a:bodyPr>
            <a:lstStyle/>
            <a:p>
              <a:pPr algn="ctr"/>
              <a:r>
                <a:rPr lang="en-US" sz="1650" dirty="0">
                  <a:solidFill>
                    <a:schemeClr val="accent5"/>
                  </a:solidFill>
                  <a:latin typeface="+mn-lt"/>
                  <a:ea typeface="+mn-ea"/>
                  <a:cs typeface="+mn-cs"/>
                </a:rPr>
                <a:t>H: (B, 1024)</a:t>
              </a:r>
            </a:p>
          </p:txBody>
        </p:sp>
        <p:sp>
          <p:nvSpPr>
            <p:cNvPr id="18" name="Line 18"/>
            <p:cNvSpPr/>
            <p:nvPr/>
          </p:nvSpPr>
          <p:spPr>
            <a:xfrm>
              <a:off x="9172575" y="3181350"/>
              <a:ext cx="295275" cy="1"/>
            </a:xfrm>
            <a:prstGeom prst="line">
              <a:avLst/>
            </a:prstGeom>
            <a:noFill/>
            <a:ln w="19050">
              <a:solidFill>
                <a:schemeClr val="accent1"/>
              </a:solidFill>
              <a:tailEnd type="arrow" w="med" len="med"/>
            </a:ln>
          </p:spPr>
        </p:sp>
        <p:sp>
          <p:nvSpPr>
            <p:cNvPr id="19" name="Rectangle 19"/>
            <p:cNvSpPr/>
            <p:nvPr/>
          </p:nvSpPr>
          <p:spPr>
            <a:xfrm>
              <a:off x="9620250" y="2581275"/>
              <a:ext cx="1562100" cy="1181100"/>
            </a:xfrm>
            <a:prstGeom prst="rect">
              <a:avLst/>
            </a:prstGeom>
            <a:solidFill>
              <a:schemeClr val="accent1"/>
            </a:solidFill>
            <a:ln>
              <a:noFill/>
            </a:ln>
          </p:spPr>
        </p:sp>
        <p:sp>
          <p:nvSpPr>
            <p:cNvPr id="20" name="TextBox 20"/>
            <p:cNvSpPr txBox="1"/>
            <p:nvPr/>
          </p:nvSpPr>
          <p:spPr>
            <a:xfrm>
              <a:off x="9962436" y="2773680"/>
              <a:ext cx="877728" cy="410718"/>
            </a:xfrm>
            <a:prstGeom prst="rect">
              <a:avLst/>
            </a:prstGeom>
            <a:noFill/>
            <a:ln>
              <a:noFill/>
            </a:ln>
          </p:spPr>
          <p:txBody>
            <a:bodyPr wrap="none" lIns="0" tIns="0" rIns="0" bIns="0" anchor="t" anchorCtr="0">
              <a:spAutoFit/>
            </a:bodyPr>
            <a:lstStyle/>
            <a:p>
              <a:pPr algn="ctr"/>
              <a:r>
                <a:rPr lang="en-US" sz="2100" b="1" dirty="0">
                  <a:solidFill>
                    <a:srgbClr val="FFFFFF"/>
                  </a:solidFill>
                  <a:latin typeface="+mn-lt"/>
                  <a:ea typeface="+mn-ea"/>
                  <a:cs typeface="+mn-cs"/>
                </a:rPr>
                <a:t>Linear</a:t>
              </a:r>
            </a:p>
          </p:txBody>
        </p:sp>
        <p:sp>
          <p:nvSpPr>
            <p:cNvPr id="21" name="TextBox 21"/>
            <p:cNvSpPr txBox="1"/>
            <p:nvPr/>
          </p:nvSpPr>
          <p:spPr>
            <a:xfrm>
              <a:off x="10012228" y="3250882"/>
              <a:ext cx="778144" cy="322707"/>
            </a:xfrm>
            <a:prstGeom prst="rect">
              <a:avLst/>
            </a:prstGeom>
            <a:noFill/>
            <a:ln>
              <a:noFill/>
            </a:ln>
          </p:spPr>
          <p:txBody>
            <a:bodyPr wrap="none" lIns="0" tIns="0" rIns="0" bIns="0" anchor="t" anchorCtr="0">
              <a:spAutoFit/>
            </a:bodyPr>
            <a:lstStyle/>
            <a:p>
              <a:pPr algn="ctr"/>
              <a:r>
                <a:rPr lang="en-US" sz="1650" dirty="0">
                  <a:solidFill>
                    <a:srgbClr val="FFFFFF"/>
                  </a:solidFill>
                  <a:latin typeface="+mn-lt"/>
                  <a:ea typeface="+mn-ea"/>
                  <a:cs typeface="+mn-cs"/>
                </a:rPr>
                <a:t>r: (B, 1)</a:t>
              </a:r>
            </a:p>
          </p:txBody>
        </p:sp>
        <p:sp>
          <p:nvSpPr>
            <p:cNvPr id="22" name="TextBox 22"/>
            <p:cNvSpPr txBox="1"/>
            <p:nvPr/>
          </p:nvSpPr>
          <p:spPr>
            <a:xfrm>
              <a:off x="6716268" y="4012882"/>
              <a:ext cx="2640773"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One scalar reward per text</a:t>
              </a:r>
            </a:p>
          </p:txBody>
        </p:sp>
      </p:grpSp>
      <mc:AlternateContent xmlns:mc="http://schemas.openxmlformats.org/markup-compatibility/2006">
        <mc:Choice xmlns:a14="http://schemas.microsoft.com/office/drawing/2010/main" Requires="a14">
          <p:sp>
            <p:nvSpPr>
              <p:cNvPr id="24" name="mlp-equation"/>
              <p:cNvSpPr txBox="1">
                <a:spLocks noGrp="1"/>
              </p:cNvSpPr>
              <p:nvPr/>
            </p:nvSpPr>
            <p:spPr>
              <a:xfrm>
                <a:off x="609600" y="4781550"/>
                <a:ext cx="10972800" cy="59055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r>
                        <a:rPr lang="en-US" sz="2250" dirty="0">
                          <a:solidFill>
                            <a:srgbClr val="10243A"/>
                          </a:solidFill>
                          <a:latin typeface="Cambria Math"/>
                          <a:ea typeface="Cambria Math"/>
                          <a:cs typeface="Cambria Math"/>
                        </a:rPr>
                        <m:t>H</m:t>
                      </m:r>
                      <m:r>
                        <m:rPr>
                          <m:sty m:val="p"/>
                        </m:rPr>
                        <a:rPr lang="en-US" sz="2250" dirty="0">
                          <a:solidFill>
                            <a:srgbClr val="10243A"/>
                          </a:solidFill>
                          <a:latin typeface="Cambria Math"/>
                          <a:ea typeface="Cambria Math"/>
                          <a:cs typeface="Cambria Math"/>
                        </a:rPr>
                        <m:t>=</m:t>
                      </m:r>
                      <m:func>
                        <m:funcPr/>
                        <m:fName>
                          <m:r>
                            <m:rPr>
                              <m:sty m:val="p"/>
                            </m:rPr>
                            <a:rPr lang="en-US" sz="2250" dirty="0">
                              <a:solidFill>
                                <a:srgbClr val="10243A"/>
                              </a:solidFill>
                              <a:latin typeface="Cambria Math"/>
                              <a:ea typeface="Cambria Math"/>
                              <a:cs typeface="Cambria Math"/>
                            </a:rPr>
                            <m:t>ReLU</m:t>
                          </m:r>
                        </m:fName>
                        <m:e>
                          <m:d>
                            <m:dPr>
                              <m:begChr m:val="("/>
                              <m:sepChr m:val=""/>
                              <m:endChr m:val=")"/>
                              <m:grow m:val="on"/>
                              <m:ctrlPr>
                                <a:rPr lang="en-US" sz="2250" dirty="0">
                                  <a:solidFill>
                                    <a:srgbClr val="10243A"/>
                                  </a:solidFill>
                                  <a:latin typeface="Cambria Math"/>
                                  <a:ea typeface="Cambria Math"/>
                                  <a:cs typeface="Cambria Math"/>
                                </a:rPr>
                              </m:ctrlPr>
                            </m:dPr>
                            <m:e>
                              <m:r>
                                <a:rPr lang="en-US" sz="2250" dirty="0">
                                  <a:solidFill>
                                    <a:srgbClr val="10243A"/>
                                  </a:solidFill>
                                  <a:latin typeface="Cambria Math"/>
                                  <a:ea typeface="Cambria Math"/>
                                  <a:cs typeface="Cambria Math"/>
                                </a:rPr>
                                <m:t>E</m:t>
                              </m:r>
                              <m:sSub>
                                <m:e>
                                  <m:r>
                                    <a:rPr lang="en-US" sz="2250" dirty="0">
                                      <a:solidFill>
                                        <a:srgbClr val="10243A"/>
                                      </a:solidFill>
                                      <a:latin typeface="Cambria Math"/>
                                      <a:ea typeface="Cambria Math"/>
                                      <a:cs typeface="Cambria Math"/>
                                    </a:rPr>
                                    <m:t>W</m:t>
                                  </m:r>
                                </m:e>
                                <m:sub>
                                  <m:r>
                                    <a:rPr lang="en-US" sz="2250" dirty="0">
                                      <a:solidFill>
                                        <a:srgbClr val="10243A"/>
                                      </a:solidFill>
                                      <a:latin typeface="Cambria Math"/>
                                      <a:ea typeface="Cambria Math"/>
                                      <a:cs typeface="Cambria Math"/>
                                    </a:rPr>
                                    <m:t>1</m:t>
                                  </m:r>
                                </m:sub>
                              </m:sSub>
                              <m:r>
                                <m:rPr>
                                  <m:sty m:val="p"/>
                                </m:rPr>
                                <a:rPr lang="en-US" sz="2250" dirty="0">
                                  <a:solidFill>
                                    <a:srgbClr val="10243A"/>
                                  </a:solidFill>
                                  <a:latin typeface="Cambria Math"/>
                                  <a:ea typeface="Cambria Math"/>
                                  <a:cs typeface="Cambria Math"/>
                                </a:rPr>
                                <m:t>+</m:t>
                              </m:r>
                              <m:sSub>
                                <m:e>
                                  <m:r>
                                    <a:rPr lang="en-US" sz="2250" dirty="0">
                                      <a:solidFill>
                                        <a:srgbClr val="10243A"/>
                                      </a:solidFill>
                                      <a:latin typeface="Cambria Math"/>
                                      <a:ea typeface="Cambria Math"/>
                                      <a:cs typeface="Cambria Math"/>
                                    </a:rPr>
                                    <m:t>b</m:t>
                                  </m:r>
                                </m:e>
                                <m:sub>
                                  <m:r>
                                    <a:rPr lang="en-US" sz="2250" dirty="0">
                                      <a:solidFill>
                                        <a:srgbClr val="10243A"/>
                                      </a:solidFill>
                                      <a:latin typeface="Cambria Math"/>
                                      <a:ea typeface="Cambria Math"/>
                                      <a:cs typeface="Cambria Math"/>
                                    </a:rPr>
                                    <m:t>1</m:t>
                                  </m:r>
                                </m:sub>
                              </m:sSub>
                            </m:e>
                          </m:d>
                        </m:e>
                      </m:func>
                      <m:r>
                        <m:rPr>
                          <m:sty m:val="p"/>
                        </m:rPr>
                        <a:rPr lang="en-US" sz="2250" dirty="0">
                          <a:solidFill>
                            <a:srgbClr val="10243A"/>
                          </a:solidFill>
                          <a:latin typeface="Cambria Math"/>
                          <a:ea typeface="Cambria Math"/>
                          <a:cs typeface="Cambria Math"/>
                        </a:rPr>
                        <m:t>,</m:t>
                      </m:r>
                      <m:r>
                        <a:rPr lang="en-US" sz="2250" dirty="0">
                          <a:solidFill>
                            <a:srgbClr val="10243A"/>
                          </a:solidFill>
                          <a:latin typeface="Cambria Math"/>
                          <a:ea typeface="Cambria Math"/>
                          <a:cs typeface="Cambria Math"/>
                        </a:rPr>
                        <m:t xml:space="preserve"> </m:t>
                      </m:r>
                      <m:r>
                        <m:rPr>
                          <m:sty m:val="b"/>
                        </m:rPr>
                        <a:rPr lang="en-US" sz="2250" dirty="0">
                          <a:solidFill>
                            <a:srgbClr val="10243A"/>
                          </a:solidFill>
                          <a:latin typeface="Cambria Math"/>
                          <a:ea typeface="Cambria Math"/>
                          <a:cs typeface="Cambria Math"/>
                        </a:rPr>
                        <m:t>r</m:t>
                      </m:r>
                      <m:r>
                        <m:rPr>
                          <m:sty m:val="p"/>
                        </m:rPr>
                        <a:rPr lang="en-US" sz="2250" dirty="0">
                          <a:solidFill>
                            <a:srgbClr val="10243A"/>
                          </a:solidFill>
                          <a:latin typeface="Cambria Math"/>
                          <a:ea typeface="Cambria Math"/>
                          <a:cs typeface="Cambria Math"/>
                        </a:rPr>
                        <m:t>=</m:t>
                      </m:r>
                      <m:r>
                        <a:rPr lang="en-US" sz="2250" dirty="0">
                          <a:solidFill>
                            <a:srgbClr val="10243A"/>
                          </a:solidFill>
                          <a:latin typeface="Cambria Math"/>
                          <a:ea typeface="Cambria Math"/>
                          <a:cs typeface="Cambria Math"/>
                        </a:rPr>
                        <m:t>H</m:t>
                      </m:r>
                      <m:sSub>
                        <m:e>
                          <m:r>
                            <a:rPr lang="en-US" sz="2250" dirty="0">
                              <a:solidFill>
                                <a:srgbClr val="10243A"/>
                              </a:solidFill>
                              <a:latin typeface="Cambria Math"/>
                              <a:ea typeface="Cambria Math"/>
                              <a:cs typeface="Cambria Math"/>
                            </a:rPr>
                            <m:t>W</m:t>
                          </m:r>
                        </m:e>
                        <m:sub>
                          <m:r>
                            <a:rPr lang="en-US" sz="2250" dirty="0">
                              <a:solidFill>
                                <a:srgbClr val="10243A"/>
                              </a:solidFill>
                              <a:latin typeface="Cambria Math"/>
                              <a:ea typeface="Cambria Math"/>
                              <a:cs typeface="Cambria Math"/>
                            </a:rPr>
                            <m:t>2</m:t>
                          </m:r>
                        </m:sub>
                      </m:sSub>
                      <m:r>
                        <m:rPr>
                          <m:sty m:val="p"/>
                        </m:rPr>
                        <a:rPr lang="en-US" sz="2250" dirty="0">
                          <a:solidFill>
                            <a:srgbClr val="10243A"/>
                          </a:solidFill>
                          <a:latin typeface="Cambria Math"/>
                          <a:ea typeface="Cambria Math"/>
                          <a:cs typeface="Cambria Math"/>
                        </a:rPr>
                        <m:t>+</m:t>
                      </m:r>
                      <m:sSub>
                        <m:e>
                          <m:r>
                            <a:rPr lang="en-US" sz="2250" dirty="0">
                              <a:solidFill>
                                <a:srgbClr val="10243A"/>
                              </a:solidFill>
                              <a:latin typeface="Cambria Math"/>
                              <a:ea typeface="Cambria Math"/>
                              <a:cs typeface="Cambria Math"/>
                            </a:rPr>
                            <m:t>b</m:t>
                          </m:r>
                        </m:e>
                        <m:sub>
                          <m:r>
                            <a:rPr lang="en-US" sz="2250" dirty="0">
                              <a:solidFill>
                                <a:srgbClr val="10243A"/>
                              </a:solidFill>
                              <a:latin typeface="Cambria Math"/>
                              <a:ea typeface="Cambria Math"/>
                              <a:cs typeface="Cambria Math"/>
                            </a:rPr>
                            <m:t>2</m:t>
                          </m:r>
                        </m:sub>
                      </m:sSub>
                    </m:oMath>
                  </m:oMathPara>
                </a14:m>
              </a:p>
            </p:txBody>
          </p:sp>
        </mc:Choice>
      </mc:AlternateContent>
      <mc:AlternateContent xmlns:mc="http://schemas.openxmlformats.org/markup-compatibility/2006">
        <mc:Choice xmlns:a14="http://schemas.microsoft.com/office/drawing/2010/main" Requires="a14">
          <p:sp>
            <p:nvSpPr>
              <p:cNvPr id="25" name="weight-shapes"/>
              <p:cNvSpPr txBox="1">
                <a:spLocks noGrp="1"/>
              </p:cNvSpPr>
              <p:nvPr/>
            </p:nvSpPr>
            <p:spPr>
              <a:xfrm>
                <a:off x="609600" y="5476875"/>
                <a:ext cx="10972800" cy="638175"/>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sSub>
                        <m:e>
                          <m:r>
                            <a:rPr lang="en-US" sz="2250" dirty="0">
                              <a:solidFill>
                                <a:srgbClr val="5B6B7A"/>
                              </a:solidFill>
                              <a:latin typeface="Cambria Math"/>
                              <a:ea typeface="Cambria Math"/>
                              <a:cs typeface="Cambria Math"/>
                            </a:rPr>
                            <m:t>W</m:t>
                          </m:r>
                        </m:e>
                        <m:sub>
                          <m:r>
                            <a:rPr lang="en-US" sz="2250" dirty="0">
                              <a:solidFill>
                                <a:srgbClr val="5B6B7A"/>
                              </a:solidFill>
                              <a:latin typeface="Cambria Math"/>
                              <a:ea typeface="Cambria Math"/>
                              <a:cs typeface="Cambria Math"/>
                            </a:rPr>
                            <m:t>1</m:t>
                          </m:r>
                        </m:sub>
                      </m:sSub>
                      <m:r>
                        <m:rPr>
                          <m:sty m:val="p"/>
                        </m:rPr>
                        <a:rPr lang="en-US" sz="2250" dirty="0">
                          <a:solidFill>
                            <a:srgbClr val="5B6B7A"/>
                          </a:solidFill>
                          <a:latin typeface="Cambria Math"/>
                          <a:ea typeface="Cambria Math"/>
                          <a:cs typeface="Cambria Math"/>
                        </a:rPr>
                        <m:t>∈</m:t>
                      </m:r>
                      <m:sSup>
                        <m:e>
                          <m:r>
                            <m:rPr>
                              <m:scr m:val="double-struck"/>
                              <m:sty m:val="p"/>
                            </m:rPr>
                            <a:rPr lang="en-US" sz="2250" dirty="0">
                              <a:solidFill>
                                <a:srgbClr val="5B6B7A"/>
                              </a:solidFill>
                              <a:latin typeface="Cambria Math"/>
                              <a:ea typeface="Cambria Math"/>
                              <a:cs typeface="Cambria Math"/>
                            </a:rPr>
                            <m:t>R</m:t>
                          </m:r>
                        </m:e>
                        <m:sup>
                          <m:r>
                            <a:rPr lang="en-US" sz="2250" dirty="0">
                              <a:solidFill>
                                <a:srgbClr val="5B6B7A"/>
                              </a:solidFill>
                              <a:latin typeface="Cambria Math"/>
                              <a:ea typeface="Cambria Math"/>
                              <a:cs typeface="Cambria Math"/>
                            </a:rPr>
                            <m:t>1024</m:t>
                          </m:r>
                          <m:r>
                            <m:rPr>
                              <m:sty m:val="p"/>
                            </m:rPr>
                            <a:rPr lang="en-US" sz="2250" dirty="0">
                              <a:solidFill>
                                <a:srgbClr val="5B6B7A"/>
                              </a:solidFill>
                              <a:latin typeface="Cambria Math"/>
                              <a:ea typeface="Cambria Math"/>
                              <a:cs typeface="Cambria Math"/>
                            </a:rPr>
                            <m:t>×</m:t>
                          </m:r>
                          <m:r>
                            <a:rPr lang="en-US" sz="2250" dirty="0">
                              <a:solidFill>
                                <a:srgbClr val="5B6B7A"/>
                              </a:solidFill>
                              <a:latin typeface="Cambria Math"/>
                              <a:ea typeface="Cambria Math"/>
                              <a:cs typeface="Cambria Math"/>
                            </a:rPr>
                            <m:t>1024</m:t>
                          </m:r>
                        </m:sup>
                      </m:sSup>
                      <m:r>
                        <m:rPr>
                          <m:sty m:val="p"/>
                        </m:rPr>
                        <a:rPr lang="en-US" sz="2250" dirty="0">
                          <a:solidFill>
                            <a:srgbClr val="5B6B7A"/>
                          </a:solidFill>
                          <a:latin typeface="Cambria Math"/>
                          <a:ea typeface="Cambria Math"/>
                          <a:cs typeface="Cambria Math"/>
                        </a:rPr>
                        <m:t>,</m:t>
                      </m:r>
                      <m:r>
                        <a:rPr lang="en-US" sz="2250" dirty="0">
                          <a:solidFill>
                            <a:srgbClr val="5B6B7A"/>
                          </a:solidFill>
                          <a:latin typeface="Cambria Math"/>
                          <a:ea typeface="Cambria Math"/>
                          <a:cs typeface="Cambria Math"/>
                        </a:rPr>
                        <m:t xml:space="preserve"> </m:t>
                      </m:r>
                      <m:sSub>
                        <m:e>
                          <m:r>
                            <a:rPr lang="en-US" sz="2250" dirty="0">
                              <a:solidFill>
                                <a:srgbClr val="5B6B7A"/>
                              </a:solidFill>
                              <a:latin typeface="Cambria Math"/>
                              <a:ea typeface="Cambria Math"/>
                              <a:cs typeface="Cambria Math"/>
                            </a:rPr>
                            <m:t>W</m:t>
                          </m:r>
                        </m:e>
                        <m:sub>
                          <m:r>
                            <a:rPr lang="en-US" sz="2250" dirty="0">
                              <a:solidFill>
                                <a:srgbClr val="5B6B7A"/>
                              </a:solidFill>
                              <a:latin typeface="Cambria Math"/>
                              <a:ea typeface="Cambria Math"/>
                              <a:cs typeface="Cambria Math"/>
                            </a:rPr>
                            <m:t>2</m:t>
                          </m:r>
                        </m:sub>
                      </m:sSub>
                      <m:r>
                        <m:rPr>
                          <m:sty m:val="p"/>
                        </m:rPr>
                        <a:rPr lang="en-US" sz="2250" dirty="0">
                          <a:solidFill>
                            <a:srgbClr val="5B6B7A"/>
                          </a:solidFill>
                          <a:latin typeface="Cambria Math"/>
                          <a:ea typeface="Cambria Math"/>
                          <a:cs typeface="Cambria Math"/>
                        </a:rPr>
                        <m:t>∈</m:t>
                      </m:r>
                      <m:sSup>
                        <m:e>
                          <m:r>
                            <m:rPr>
                              <m:scr m:val="double-struck"/>
                              <m:sty m:val="p"/>
                            </m:rPr>
                            <a:rPr lang="en-US" sz="2250" dirty="0">
                              <a:solidFill>
                                <a:srgbClr val="5B6B7A"/>
                              </a:solidFill>
                              <a:latin typeface="Cambria Math"/>
                              <a:ea typeface="Cambria Math"/>
                              <a:cs typeface="Cambria Math"/>
                            </a:rPr>
                            <m:t>R</m:t>
                          </m:r>
                        </m:e>
                        <m:sup>
                          <m:r>
                            <a:rPr lang="en-US" sz="2250" dirty="0">
                              <a:solidFill>
                                <a:srgbClr val="5B6B7A"/>
                              </a:solidFill>
                              <a:latin typeface="Cambria Math"/>
                              <a:ea typeface="Cambria Math"/>
                              <a:cs typeface="Cambria Math"/>
                            </a:rPr>
                            <m:t>1024</m:t>
                          </m:r>
                          <m:r>
                            <m:rPr>
                              <m:sty m:val="p"/>
                            </m:rPr>
                            <a:rPr lang="en-US" sz="2250" dirty="0">
                              <a:solidFill>
                                <a:srgbClr val="5B6B7A"/>
                              </a:solidFill>
                              <a:latin typeface="Cambria Math"/>
                              <a:ea typeface="Cambria Math"/>
                              <a:cs typeface="Cambria Math"/>
                            </a:rPr>
                            <m:t>×</m:t>
                          </m:r>
                          <m:r>
                            <a:rPr lang="en-US" sz="2250" dirty="0">
                              <a:solidFill>
                                <a:srgbClr val="5B6B7A"/>
                              </a:solidFill>
                              <a:latin typeface="Cambria Math"/>
                              <a:ea typeface="Cambria Math"/>
                              <a:cs typeface="Cambria Math"/>
                            </a:rPr>
                            <m:t>1</m:t>
                          </m:r>
                        </m:sup>
                      </m:sSup>
                    </m:oMath>
                  </m:oMathPara>
                </a14:m>
              </a:p>
            </p:txBody>
          </p:sp>
        </mc:Choice>
      </mc:AlternateContent>
      <p:grpSp>
        <p:nvGrpSpPr>
          <p:cNvPr id="28" name="footer"/>
          <p:cNvGrpSpPr/>
          <p:nvPr/>
        </p:nvGrpSpPr>
        <p:grpSpPr>
          <a:xfrm>
            <a:off x="603504" y="6395085"/>
            <a:ext cx="10984992" cy="234696"/>
            <a:chOff x="603504" y="6395085"/>
            <a:chExt cx="10984992" cy="234696"/>
          </a:xfrm>
        </p:grpSpPr>
        <p:sp>
          <p:nvSpPr>
            <p:cNvPr id="26" name="TextBox 26"/>
            <p:cNvSpPr txBox="1"/>
            <p:nvPr/>
          </p:nvSpPr>
          <p:spPr>
            <a:xfrm>
              <a:off x="603504" y="6395085"/>
              <a:ext cx="5594909"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Source: Appendix B; official model.py; Qwen3-Embedding-0.6B configuration.</a:t>
              </a:r>
            </a:p>
          </p:txBody>
        </p:sp>
        <p:sp>
          <p:nvSpPr>
            <p:cNvPr id="27" name="TextBox 27"/>
            <p:cNvSpPr txBox="1"/>
            <p:nvPr/>
          </p:nvSpPr>
          <p:spPr>
            <a:xfrm>
              <a:off x="11082270" y="6395085"/>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02 / 08</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70535"/>
            <a:ext cx="7157792" cy="952119"/>
            <a:chOff x="592836" y="470535"/>
            <a:chExt cx="7157792" cy="952119"/>
          </a:xfrm>
        </p:grpSpPr>
        <p:sp>
          <p:nvSpPr>
            <p:cNvPr id="2" name="TextBox 2"/>
            <p:cNvSpPr txBox="1"/>
            <p:nvPr/>
          </p:nvSpPr>
          <p:spPr>
            <a:xfrm>
              <a:off x="603504" y="470535"/>
              <a:ext cx="1472701"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03 / RM TRAINING</a:t>
              </a:r>
            </a:p>
          </p:txBody>
        </p:sp>
        <p:sp>
          <p:nvSpPr>
            <p:cNvPr id="3" name="TextBox 3"/>
            <p:cNvSpPr txBox="1"/>
            <p:nvPr/>
          </p:nvSpPr>
          <p:spPr>
            <a:xfrm>
              <a:off x="592836" y="777240"/>
              <a:ext cx="7157792"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Train on complete response pairs</a:t>
              </a:r>
            </a:p>
          </p:txBody>
        </p:sp>
      </p:grpSp>
      <p:grpSp>
        <p:nvGrpSpPr>
          <p:cNvPr id="20" name="shared-training-path"/>
          <p:cNvGrpSpPr/>
          <p:nvPr/>
        </p:nvGrpSpPr>
        <p:grpSpPr>
          <a:xfrm>
            <a:off x="609600" y="1762125"/>
            <a:ext cx="10098353" cy="1628775"/>
            <a:chOff x="609600" y="1762125"/>
            <a:chExt cx="10098353" cy="1628775"/>
          </a:xfrm>
        </p:grpSpPr>
        <p:sp>
          <p:nvSpPr>
            <p:cNvPr id="5" name="Rectangle 5"/>
            <p:cNvSpPr/>
            <p:nvPr/>
          </p:nvSpPr>
          <p:spPr>
            <a:xfrm>
              <a:off x="609600" y="1762125"/>
              <a:ext cx="2867025" cy="647700"/>
            </a:xfrm>
            <a:prstGeom prst="rect">
              <a:avLst/>
            </a:prstGeom>
            <a:solidFill>
              <a:srgbClr val="E6F2F3"/>
            </a:solidFill>
            <a:ln>
              <a:noFill/>
            </a:ln>
          </p:spPr>
        </p:sp>
        <p:sp>
          <p:nvSpPr>
            <p:cNvPr id="6" name="TextBox 6"/>
            <p:cNvSpPr txBox="1"/>
            <p:nvPr/>
          </p:nvSpPr>
          <p:spPr>
            <a:xfrm>
              <a:off x="808482" y="1954530"/>
              <a:ext cx="2854293" cy="410718"/>
            </a:xfrm>
            <a:prstGeom prst="rect">
              <a:avLst/>
            </a:prstGeom>
            <a:noFill/>
            <a:ln>
              <a:noFill/>
            </a:ln>
          </p:spPr>
          <p:txBody>
            <a:bodyPr wrap="none" lIns="0" tIns="0" rIns="0" bIns="0" anchor="t" anchorCtr="0">
              <a:spAutoFit/>
            </a:bodyPr>
            <a:lstStyle/>
            <a:p>
              <a:pPr algn="l"/>
              <a:r>
                <a:rPr lang="en-US" sz="2100" dirty="0">
                  <a:solidFill>
                    <a:schemeClr val="accent2"/>
                  </a:solidFill>
                  <a:latin typeface="+mn-lt"/>
                  <a:ea typeface="+mn-ea"/>
                  <a:cs typeface="+mn-cs"/>
                </a:rPr>
                <a:t>x₁ = [q, full answer a₁]</a:t>
              </a:r>
            </a:p>
          </p:txBody>
        </p:sp>
        <p:sp>
          <p:nvSpPr>
            <p:cNvPr id="7" name="Rectangle 7"/>
            <p:cNvSpPr/>
            <p:nvPr/>
          </p:nvSpPr>
          <p:spPr>
            <a:xfrm>
              <a:off x="609600" y="2743200"/>
              <a:ext cx="2867025" cy="647700"/>
            </a:xfrm>
            <a:prstGeom prst="rect">
              <a:avLst/>
            </a:prstGeom>
            <a:solidFill>
              <a:srgbClr val="FBEEE4"/>
            </a:solidFill>
            <a:ln>
              <a:noFill/>
            </a:ln>
          </p:spPr>
        </p:sp>
        <p:sp>
          <p:nvSpPr>
            <p:cNvPr id="8" name="TextBox 8"/>
            <p:cNvSpPr txBox="1"/>
            <p:nvPr/>
          </p:nvSpPr>
          <p:spPr>
            <a:xfrm>
              <a:off x="808482" y="2935605"/>
              <a:ext cx="2854293"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x₂ = [q, full answer a₂]</a:t>
              </a:r>
            </a:p>
          </p:txBody>
        </p:sp>
        <p:sp>
          <p:nvSpPr>
            <p:cNvPr id="9" name="Line 9"/>
            <p:cNvSpPr/>
            <p:nvPr/>
          </p:nvSpPr>
          <p:spPr>
            <a:xfrm>
              <a:off x="3609975" y="2085975"/>
              <a:ext cx="714375" cy="257175"/>
            </a:xfrm>
            <a:prstGeom prst="line">
              <a:avLst/>
            </a:prstGeom>
            <a:noFill/>
            <a:ln w="19050">
              <a:solidFill>
                <a:schemeClr val="accent1"/>
              </a:solidFill>
              <a:tailEnd type="arrow" w="med" len="med"/>
            </a:ln>
          </p:spPr>
        </p:sp>
        <p:sp>
          <p:nvSpPr>
            <p:cNvPr id="10" name="Line 10"/>
            <p:cNvSpPr/>
            <p:nvPr/>
          </p:nvSpPr>
          <p:spPr>
            <a:xfrm flipV="1">
              <a:off x="3609975" y="2809875"/>
              <a:ext cx="714375" cy="257175"/>
            </a:xfrm>
            <a:prstGeom prst="line">
              <a:avLst/>
            </a:prstGeom>
            <a:noFill/>
            <a:ln w="19050">
              <a:solidFill>
                <a:schemeClr val="accent1"/>
              </a:solidFill>
              <a:tailEnd type="arrow" w="med" len="med"/>
            </a:ln>
          </p:spPr>
        </p:sp>
        <p:sp>
          <p:nvSpPr>
            <p:cNvPr id="11" name="Rectangle 11"/>
            <p:cNvSpPr/>
            <p:nvPr/>
          </p:nvSpPr>
          <p:spPr>
            <a:xfrm>
              <a:off x="4505325" y="2009775"/>
              <a:ext cx="2362200" cy="1133475"/>
            </a:xfrm>
            <a:prstGeom prst="rect">
              <a:avLst/>
            </a:prstGeom>
            <a:solidFill>
              <a:schemeClr val="accent1"/>
            </a:solidFill>
            <a:ln>
              <a:noFill/>
            </a:ln>
          </p:spPr>
        </p:sp>
        <p:sp>
          <p:nvSpPr>
            <p:cNvPr id="12" name="TextBox 12"/>
            <p:cNvSpPr txBox="1"/>
            <p:nvPr/>
          </p:nvSpPr>
          <p:spPr>
            <a:xfrm>
              <a:off x="4921781" y="2240280"/>
              <a:ext cx="1529288" cy="410718"/>
            </a:xfrm>
            <a:prstGeom prst="rect">
              <a:avLst/>
            </a:prstGeom>
            <a:noFill/>
            <a:ln>
              <a:noFill/>
            </a:ln>
          </p:spPr>
          <p:txBody>
            <a:bodyPr wrap="none" lIns="0" tIns="0" rIns="0" bIns="0" anchor="t" anchorCtr="0">
              <a:spAutoFit/>
            </a:bodyPr>
            <a:lstStyle/>
            <a:p>
              <a:pPr algn="ctr"/>
              <a:r>
                <a:rPr lang="en-US" sz="2100" b="1" dirty="0">
                  <a:solidFill>
                    <a:srgbClr val="FFFFFF"/>
                  </a:solidFill>
                  <a:latin typeface="+mn-lt"/>
                  <a:ea typeface="+mn-ea"/>
                  <a:cs typeface="+mn-cs"/>
                </a:rPr>
                <a:t>Shared RM</a:t>
              </a:r>
            </a:p>
          </p:txBody>
        </p:sp>
        <p:sp>
          <p:nvSpPr>
            <p:cNvPr id="13" name="TextBox 13"/>
            <p:cNvSpPr txBox="1"/>
            <p:nvPr/>
          </p:nvSpPr>
          <p:spPr>
            <a:xfrm>
              <a:off x="5213087" y="2649855"/>
              <a:ext cx="946676" cy="410718"/>
            </a:xfrm>
            <a:prstGeom prst="rect">
              <a:avLst/>
            </a:prstGeom>
            <a:noFill/>
            <a:ln>
              <a:noFill/>
            </a:ln>
          </p:spPr>
          <p:txBody>
            <a:bodyPr wrap="none" lIns="0" tIns="0" rIns="0" bIns="0" anchor="t" anchorCtr="0">
              <a:spAutoFit/>
            </a:bodyPr>
            <a:lstStyle/>
            <a:p>
              <a:pPr algn="ctr"/>
              <a:r>
                <a:rPr lang="el-GR" sz="2100" dirty="0">
                  <a:solidFill>
                    <a:srgbClr val="FFFFFF"/>
                  </a:solidFill>
                  <a:latin typeface="+mn-lt"/>
                  <a:ea typeface="+mn-ea"/>
                  <a:cs typeface="+mn-cs"/>
                </a:rPr>
                <a:t>same θ</a:t>
              </a:r>
            </a:p>
          </p:txBody>
        </p:sp>
        <p:sp>
          <p:nvSpPr>
            <p:cNvPr id="14" name="Line 14"/>
            <p:cNvSpPr/>
            <p:nvPr/>
          </p:nvSpPr>
          <p:spPr>
            <a:xfrm flipV="1">
              <a:off x="7000875" y="2095500"/>
              <a:ext cx="781050" cy="247650"/>
            </a:xfrm>
            <a:prstGeom prst="line">
              <a:avLst/>
            </a:prstGeom>
            <a:noFill/>
            <a:ln w="19050">
              <a:solidFill>
                <a:schemeClr val="accent1"/>
              </a:solidFill>
              <a:tailEnd type="arrow" w="med" len="med"/>
            </a:ln>
          </p:spPr>
        </p:sp>
        <p:sp>
          <p:nvSpPr>
            <p:cNvPr id="15" name="Line 15"/>
            <p:cNvSpPr/>
            <p:nvPr/>
          </p:nvSpPr>
          <p:spPr>
            <a:xfrm>
              <a:off x="7000875" y="2800350"/>
              <a:ext cx="781050" cy="257175"/>
            </a:xfrm>
            <a:prstGeom prst="line">
              <a:avLst/>
            </a:prstGeom>
            <a:noFill/>
            <a:ln w="19050">
              <a:solidFill>
                <a:schemeClr val="accent1"/>
              </a:solidFill>
              <a:tailEnd type="arrow" w="med" len="med"/>
            </a:ln>
          </p:spPr>
        </p:sp>
        <p:sp>
          <p:nvSpPr>
            <p:cNvPr id="16" name="TextBox 16"/>
            <p:cNvSpPr txBox="1"/>
            <p:nvPr/>
          </p:nvSpPr>
          <p:spPr>
            <a:xfrm>
              <a:off x="7990332" y="1954530"/>
              <a:ext cx="756078" cy="410718"/>
            </a:xfrm>
            <a:prstGeom prst="rect">
              <a:avLst/>
            </a:prstGeom>
            <a:noFill/>
            <a:ln>
              <a:noFill/>
            </a:ln>
          </p:spPr>
          <p:txBody>
            <a:bodyPr wrap="none" lIns="0" tIns="0" rIns="0" bIns="0" anchor="t" anchorCtr="0">
              <a:spAutoFit/>
            </a:bodyPr>
            <a:lstStyle/>
            <a:p>
              <a:pPr algn="l"/>
              <a:r>
                <a:rPr lang="el-GR" sz="2100" dirty="0">
                  <a:solidFill>
                    <a:schemeClr val="accent2"/>
                  </a:solidFill>
                  <a:latin typeface="+mn-lt"/>
                  <a:ea typeface="+mn-ea"/>
                  <a:cs typeface="+mn-cs"/>
                </a:rPr>
                <a:t>rθ(x₁)</a:t>
              </a:r>
            </a:p>
          </p:txBody>
        </p:sp>
        <p:sp>
          <p:nvSpPr>
            <p:cNvPr id="17" name="TextBox 17"/>
            <p:cNvSpPr txBox="1"/>
            <p:nvPr/>
          </p:nvSpPr>
          <p:spPr>
            <a:xfrm>
              <a:off x="7990332" y="2935605"/>
              <a:ext cx="756078" cy="410718"/>
            </a:xfrm>
            <a:prstGeom prst="rect">
              <a:avLst/>
            </a:prstGeom>
            <a:noFill/>
            <a:ln>
              <a:noFill/>
            </a:ln>
          </p:spPr>
          <p:txBody>
            <a:bodyPr wrap="none" lIns="0" tIns="0" rIns="0" bIns="0" anchor="t" anchorCtr="0">
              <a:spAutoFit/>
            </a:bodyPr>
            <a:lstStyle/>
            <a:p>
              <a:pPr algn="l"/>
              <a:r>
                <a:rPr lang="el-GR" sz="2100" dirty="0">
                  <a:solidFill>
                    <a:schemeClr val="accent3"/>
                  </a:solidFill>
                  <a:latin typeface="+mn-lt"/>
                  <a:ea typeface="+mn-ea"/>
                  <a:cs typeface="+mn-cs"/>
                </a:rPr>
                <a:t>rθ(x₂)</a:t>
              </a:r>
            </a:p>
          </p:txBody>
        </p:sp>
        <p:sp>
          <p:nvSpPr>
            <p:cNvPr id="18" name="TextBox 18"/>
            <p:cNvSpPr txBox="1"/>
            <p:nvPr/>
          </p:nvSpPr>
          <p:spPr>
            <a:xfrm>
              <a:off x="9342882" y="2211705"/>
              <a:ext cx="1256645"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Compare</a:t>
              </a:r>
            </a:p>
          </p:txBody>
        </p:sp>
        <p:sp>
          <p:nvSpPr>
            <p:cNvPr id="19" name="TextBox 19"/>
            <p:cNvSpPr txBox="1"/>
            <p:nvPr/>
          </p:nvSpPr>
          <p:spPr>
            <a:xfrm>
              <a:off x="9345168" y="2622232"/>
              <a:ext cx="1362785"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the score gap</a:t>
              </a:r>
            </a:p>
          </p:txBody>
        </p:sp>
      </p:grpSp>
      <mc:AlternateContent xmlns:mc="http://schemas.openxmlformats.org/markup-compatibility/2006">
        <mc:Choice xmlns:a14="http://schemas.microsoft.com/office/drawing/2010/main" Requires="a14">
          <p:sp>
            <p:nvSpPr>
              <p:cNvPr id="21" name="preference-probability"/>
              <p:cNvSpPr txBox="1">
                <a:spLocks noGrp="1"/>
              </p:cNvSpPr>
              <p:nvPr/>
            </p:nvSpPr>
            <p:spPr>
              <a:xfrm>
                <a:off x="609600" y="3714750"/>
                <a:ext cx="7524750" cy="676275"/>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r>
                        <a:rPr lang="en-US" sz="2250" dirty="0">
                          <a:solidFill>
                            <a:srgbClr val="10243A"/>
                          </a:solidFill>
                          <a:latin typeface="Cambria Math"/>
                          <a:ea typeface="Cambria Math"/>
                          <a:cs typeface="Cambria Math"/>
                        </a:rPr>
                        <m:t>p</m:t>
                      </m:r>
                      <m:r>
                        <m:rPr>
                          <m:sty m:val="p"/>
                        </m:rPr>
                        <a:rPr lang="en-US" sz="2250" dirty="0">
                          <a:solidFill>
                            <a:srgbClr val="10243A"/>
                          </a:solidFill>
                          <a:latin typeface="Cambria Math"/>
                          <a:ea typeface="Cambria Math"/>
                          <a:cs typeface="Cambria Math"/>
                        </a:rPr>
                        <m:t>=</m:t>
                      </m:r>
                      <m:r>
                        <a:rPr lang="en-US" sz="2250" dirty="0">
                          <a:solidFill>
                            <a:srgbClr val="10243A"/>
                          </a:solidFill>
                          <a:latin typeface="Cambria Math"/>
                          <a:ea typeface="Cambria Math"/>
                          <a:cs typeface="Cambria Math"/>
                        </a:rPr>
                        <m:t>σ</m:t>
                      </m:r>
                      <m:d>
                        <m:dPr>
                          <m:begChr m:val="("/>
                          <m:sepChr m:val=""/>
                          <m:endChr m:val=")"/>
                          <m:grow m:val="on"/>
                          <m:ctrlPr>
                            <a:rPr lang="en-US" sz="2250" dirty="0">
                              <a:solidFill>
                                <a:srgbClr val="10243A"/>
                              </a:solidFill>
                              <a:latin typeface="Cambria Math"/>
                              <a:ea typeface="Cambria Math"/>
                              <a:cs typeface="Cambria Math"/>
                            </a:rPr>
                          </m:ctrlPr>
                        </m:dPr>
                        <m:e>
                          <m:sSub>
                            <m:e>
                              <m:r>
                                <a:rPr lang="en-US" sz="2250" dirty="0">
                                  <a:solidFill>
                                    <a:srgbClr val="10243A"/>
                                  </a:solidFill>
                                  <a:latin typeface="Cambria Math"/>
                                  <a:ea typeface="Cambria Math"/>
                                  <a:cs typeface="Cambria Math"/>
                                </a:rPr>
                                <m:t>r</m:t>
                              </m:r>
                            </m:e>
                            <m:sub>
                              <m:r>
                                <a:rPr lang="en-US" sz="2250" dirty="0">
                                  <a:solidFill>
                                    <a:srgbClr val="10243A"/>
                                  </a:solidFill>
                                  <a:latin typeface="Cambria Math"/>
                                  <a:ea typeface="Cambria Math"/>
                                  <a:cs typeface="Cambria Math"/>
                                </a:rPr>
                                <m:t>θ</m:t>
                              </m:r>
                            </m:sub>
                          </m:sSub>
                          <m:d>
                            <m:dPr>
                              <m:begChr m:val="("/>
                              <m:sepChr m:val=""/>
                              <m:endChr m:val=")"/>
                              <m:grow m:val="on"/>
                              <m:ctrlPr>
                                <a:rPr lang="en-US" sz="2250" dirty="0">
                                  <a:solidFill>
                                    <a:srgbClr val="10243A"/>
                                  </a:solidFill>
                                  <a:latin typeface="Cambria Math"/>
                                  <a:ea typeface="Cambria Math"/>
                                  <a:cs typeface="Cambria Math"/>
                                </a:rPr>
                              </m:ctrlPr>
                            </m:dPr>
                            <m:e>
                              <m:sSub>
                                <m:e>
                                  <m:r>
                                    <a:rPr lang="en-US" sz="2250" dirty="0">
                                      <a:solidFill>
                                        <a:srgbClr val="10243A"/>
                                      </a:solidFill>
                                      <a:latin typeface="Cambria Math"/>
                                      <a:ea typeface="Cambria Math"/>
                                      <a:cs typeface="Cambria Math"/>
                                    </a:rPr>
                                    <m:t>x</m:t>
                                  </m:r>
                                </m:e>
                                <m:sub>
                                  <m:r>
                                    <a:rPr lang="en-US" sz="2250" dirty="0">
                                      <a:solidFill>
                                        <a:srgbClr val="10243A"/>
                                      </a:solidFill>
                                      <a:latin typeface="Cambria Math"/>
                                      <a:ea typeface="Cambria Math"/>
                                      <a:cs typeface="Cambria Math"/>
                                    </a:rPr>
                                    <m:t>1</m:t>
                                  </m:r>
                                </m:sub>
                              </m:sSub>
                            </m:e>
                          </m:d>
                          <m:r>
                            <m:rPr>
                              <m:sty m:val="p"/>
                            </m:rPr>
                            <a:rPr lang="en-US" sz="2250" dirty="0">
                              <a:solidFill>
                                <a:srgbClr val="10243A"/>
                              </a:solidFill>
                              <a:latin typeface="Cambria Math"/>
                              <a:ea typeface="Cambria Math"/>
                              <a:cs typeface="Cambria Math"/>
                            </a:rPr>
                            <m:t>−</m:t>
                          </m:r>
                          <m:sSub>
                            <m:e>
                              <m:r>
                                <a:rPr lang="en-US" sz="2250" dirty="0">
                                  <a:solidFill>
                                    <a:srgbClr val="10243A"/>
                                  </a:solidFill>
                                  <a:latin typeface="Cambria Math"/>
                                  <a:ea typeface="Cambria Math"/>
                                  <a:cs typeface="Cambria Math"/>
                                </a:rPr>
                                <m:t>r</m:t>
                              </m:r>
                            </m:e>
                            <m:sub>
                              <m:r>
                                <a:rPr lang="en-US" sz="2250" dirty="0">
                                  <a:solidFill>
                                    <a:srgbClr val="10243A"/>
                                  </a:solidFill>
                                  <a:latin typeface="Cambria Math"/>
                                  <a:ea typeface="Cambria Math"/>
                                  <a:cs typeface="Cambria Math"/>
                                </a:rPr>
                                <m:t>θ</m:t>
                              </m:r>
                            </m:sub>
                          </m:sSub>
                          <m:d>
                            <m:dPr>
                              <m:begChr m:val="("/>
                              <m:sepChr m:val=""/>
                              <m:endChr m:val=")"/>
                              <m:grow m:val="on"/>
                              <m:ctrlPr>
                                <a:rPr lang="en-US" sz="2250" dirty="0">
                                  <a:solidFill>
                                    <a:srgbClr val="10243A"/>
                                  </a:solidFill>
                                  <a:latin typeface="Cambria Math"/>
                                  <a:ea typeface="Cambria Math"/>
                                  <a:cs typeface="Cambria Math"/>
                                </a:rPr>
                              </m:ctrlPr>
                            </m:dPr>
                            <m:e>
                              <m:sSub>
                                <m:e>
                                  <m:r>
                                    <a:rPr lang="en-US" sz="2250" dirty="0">
                                      <a:solidFill>
                                        <a:srgbClr val="10243A"/>
                                      </a:solidFill>
                                      <a:latin typeface="Cambria Math"/>
                                      <a:ea typeface="Cambria Math"/>
                                      <a:cs typeface="Cambria Math"/>
                                    </a:rPr>
                                    <m:t>x</m:t>
                                  </m:r>
                                </m:e>
                                <m:sub>
                                  <m:r>
                                    <a:rPr lang="en-US" sz="2250" dirty="0">
                                      <a:solidFill>
                                        <a:srgbClr val="10243A"/>
                                      </a:solidFill>
                                      <a:latin typeface="Cambria Math"/>
                                      <a:ea typeface="Cambria Math"/>
                                      <a:cs typeface="Cambria Math"/>
                                    </a:rPr>
                                    <m:t>2</m:t>
                                  </m:r>
                                </m:sub>
                              </m:sSub>
                            </m:e>
                          </m:d>
                        </m:e>
                      </m:d>
                    </m:oMath>
                  </m:oMathPara>
                </a14:m>
              </a:p>
            </p:txBody>
          </p:sp>
        </mc:Choice>
      </mc:AlternateContent>
      <p:grpSp>
        <p:nvGrpSpPr>
          <p:cNvPr id="23" name="label-meaning"/>
          <p:cNvGrpSpPr/>
          <p:nvPr/>
        </p:nvGrpSpPr>
        <p:grpSpPr>
          <a:xfrm>
            <a:off x="8345043" y="3765232"/>
            <a:ext cx="2502530" cy="665607"/>
            <a:chOff x="8345043" y="3765232"/>
            <a:chExt cx="2502530" cy="665607"/>
          </a:xfrm>
        </p:grpSpPr>
        <p:sp>
          <p:nvSpPr>
            <p:cNvPr id="22" name="TextBox 22"/>
            <p:cNvSpPr txBox="1"/>
            <p:nvPr/>
          </p:nvSpPr>
          <p:spPr>
            <a:xfrm>
              <a:off x="8345043" y="3765232"/>
              <a:ext cx="2502530" cy="665607"/>
            </a:xfrm>
            <a:prstGeom prst="rect">
              <a:avLst/>
            </a:prstGeom>
            <a:noFill/>
            <a:ln>
              <a:noFill/>
            </a:ln>
          </p:spPr>
          <p:txBody>
            <a:bodyPr wrap="none" lIns="0" tIns="0" rIns="0" bIns="0" anchor="t" anchorCtr="0">
              <a:spAutoFit/>
            </a:bodyPr>
            <a:lstStyle/>
            <a:p>
              <a:pPr algn="l">
                <a:lnSpc>
                  <a:spcPts val="2700"/>
                </a:lnSpc>
              </a:pPr>
              <a:r>
                <a:rPr lang="en-US" sz="1650" dirty="0">
                  <a:solidFill>
                    <a:schemeClr val="accent5"/>
                  </a:solidFill>
                  <a:latin typeface="+mn-lt"/>
                  <a:ea typeface="+mn-ea"/>
                  <a:cs typeface="+mn-cs"/>
                </a:rPr>
                <a:t>p = probability that a₁ wins</a:t>
              </a:r>
              <a:br/>
              <a:r>
                <a:rPr lang="en-US" sz="1650" dirty="0">
                  <a:solidFill>
                    <a:schemeClr val="accent5"/>
                  </a:solidFill>
                  <a:latin typeface="+mn-lt"/>
                  <a:ea typeface="+mn-ea"/>
                  <a:cs typeface="+mn-cs"/>
                </a:rPr>
                <a:t>ℓ = 1 if the user prefers a₁</a:t>
              </a:r>
            </a:p>
          </p:txBody>
        </p:sp>
      </p:grpSp>
      <mc:AlternateContent xmlns:mc="http://schemas.openxmlformats.org/markup-compatibility/2006">
        <mc:Choice xmlns:a14="http://schemas.microsoft.com/office/drawing/2010/main" Requires="a14">
          <p:sp>
            <p:nvSpPr>
              <p:cNvPr id="24" name="preference-loss"/>
              <p:cNvSpPr txBox="1">
                <a:spLocks noGrp="1"/>
              </p:cNvSpPr>
              <p:nvPr/>
            </p:nvSpPr>
            <p:spPr>
              <a:xfrm>
                <a:off x="609600" y="4524375"/>
                <a:ext cx="10972800" cy="942975"/>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sSub>
                        <m:e>
                          <m:r>
                            <m:rPr>
                              <m:scr m:val="script"/>
                              <m:sty m:val="p"/>
                            </m:rPr>
                            <a:rPr lang="en-US" sz="2250" dirty="0">
                              <a:solidFill>
                                <a:srgbClr val="10243A"/>
                              </a:solidFill>
                              <a:latin typeface="Cambria Math"/>
                              <a:ea typeface="Cambria Math"/>
                              <a:cs typeface="Cambria Math"/>
                            </a:rPr>
                            <m:t>L</m:t>
                          </m:r>
                        </m:e>
                        <m:sub>
                          <m:r>
                            <a:rPr lang="en-US" sz="2250" dirty="0">
                              <a:solidFill>
                                <a:srgbClr val="10243A"/>
                              </a:solidFill>
                              <a:latin typeface="Cambria Math"/>
                              <a:ea typeface="Cambria Math"/>
                              <a:cs typeface="Cambria Math"/>
                            </a:rPr>
                            <m:t>t</m:t>
                          </m:r>
                        </m:sub>
                      </m:sSub>
                      <m:d>
                        <m:dPr>
                          <m:begChr m:val="("/>
                          <m:sepChr m:val=""/>
                          <m:endChr m:val=")"/>
                          <m:grow m:val="on"/>
                          <m:ctrlPr>
                            <a:rPr lang="en-US" sz="2250" dirty="0">
                              <a:solidFill>
                                <a:srgbClr val="10243A"/>
                              </a:solidFill>
                              <a:latin typeface="Cambria Math"/>
                              <a:ea typeface="Cambria Math"/>
                              <a:cs typeface="Cambria Math"/>
                            </a:rPr>
                          </m:ctrlPr>
                        </m:dPr>
                        <m:e>
                          <m:r>
                            <a:rPr lang="en-US" sz="2250" dirty="0">
                              <a:solidFill>
                                <a:srgbClr val="10243A"/>
                              </a:solidFill>
                              <a:latin typeface="Cambria Math"/>
                              <a:ea typeface="Cambria Math"/>
                              <a:cs typeface="Cambria Math"/>
                            </a:rPr>
                            <m:t>θ</m:t>
                          </m:r>
                        </m:e>
                      </m:d>
                      <m:r>
                        <m:rPr>
                          <m:sty m:val="p"/>
                        </m:rPr>
                        <a:rPr lang="en-US" sz="2250" dirty="0">
                          <a:solidFill>
                            <a:srgbClr val="10243A"/>
                          </a:solidFill>
                          <a:latin typeface="Cambria Math"/>
                          <a:ea typeface="Cambria Math"/>
                          <a:cs typeface="Cambria Math"/>
                        </a:rPr>
                        <m:t>=−</m:t>
                      </m:r>
                      <m:nary>
                        <m:naryPr>
                          <m:chr m:val="∑"/>
                          <m:limLoc m:val="undOvr"/>
                          <m:grow m:val="off"/>
                          <m:subHide m:val="off"/>
                          <m:supHide m:val="off"/>
                          <m:ctrlPr>
                            <a:rPr lang="en-US" sz="2250" dirty="0">
                              <a:solidFill>
                                <a:srgbClr val="10243A"/>
                              </a:solidFill>
                              <a:latin typeface="Cambria Math"/>
                              <a:ea typeface="Cambria Math"/>
                              <a:cs typeface="Cambria Math"/>
                            </a:rPr>
                          </m:ctrlPr>
                        </m:naryPr>
                        <m:sub>
                          <m:r>
                            <a:rPr lang="en-US" sz="2250" dirty="0">
                              <a:solidFill>
                                <a:srgbClr val="10243A"/>
                              </a:solidFill>
                              <a:latin typeface="Cambria Math"/>
                              <a:ea typeface="Cambria Math"/>
                              <a:cs typeface="Cambria Math"/>
                            </a:rPr>
                            <m:t>i</m:t>
                          </m:r>
                          <m:r>
                            <m:rPr>
                              <m:sty m:val="p"/>
                            </m:rPr>
                            <a:rPr lang="en-US" sz="2250" dirty="0">
                              <a:solidFill>
                                <a:srgbClr val="10243A"/>
                              </a:solidFill>
                              <a:latin typeface="Cambria Math"/>
                              <a:ea typeface="Cambria Math"/>
                              <a:cs typeface="Cambria Math"/>
                            </a:rPr>
                            <m:t>=</m:t>
                          </m:r>
                          <m:r>
                            <a:rPr lang="en-US" sz="2250" dirty="0">
                              <a:solidFill>
                                <a:srgbClr val="10243A"/>
                              </a:solidFill>
                              <a:latin typeface="Cambria Math"/>
                              <a:ea typeface="Cambria Math"/>
                              <a:cs typeface="Cambria Math"/>
                            </a:rPr>
                            <m:t>1</m:t>
                          </m:r>
                        </m:sub>
                        <m:sup>
                          <m:r>
                            <a:rPr lang="en-US" sz="2250" dirty="0">
                              <a:solidFill>
                                <a:srgbClr val="10243A"/>
                              </a:solidFill>
                              <a:latin typeface="Cambria Math"/>
                              <a:ea typeface="Cambria Math"/>
                              <a:cs typeface="Cambria Math"/>
                            </a:rPr>
                            <m:t>t</m:t>
                          </m:r>
                        </m:sup>
                        <m:e>
                          <m:d>
                            <m:dPr>
                              <m:begChr m:val="["/>
                              <m:sepChr m:val=""/>
                              <m:endChr m:val="]"/>
                              <m:grow m:val="on"/>
                              <m:ctrlPr>
                                <a:rPr lang="en-US" sz="2250" dirty="0">
                                  <a:solidFill>
                                    <a:srgbClr val="10243A"/>
                                  </a:solidFill>
                                  <a:latin typeface="Cambria Math"/>
                                  <a:ea typeface="Cambria Math"/>
                                  <a:cs typeface="Cambria Math"/>
                                </a:rPr>
                              </m:ctrlPr>
                            </m:dPr>
                            <m:e>
                              <m:sSub>
                                <m:e>
                                  <m:r>
                                    <m:rPr>
                                      <m:sty m:val="p"/>
                                    </m:rPr>
                                    <a:rPr lang="en-US" sz="2250" dirty="0">
                                      <a:solidFill>
                                        <a:srgbClr val="10243A"/>
                                      </a:solidFill>
                                      <a:latin typeface="Cambria Math"/>
                                      <a:ea typeface="Cambria Math"/>
                                      <a:cs typeface="Cambria Math"/>
                                    </a:rPr>
                                    <m:t>ℓ</m:t>
                                  </m:r>
                                </m:e>
                                <m:sub>
                                  <m:r>
                                    <a:rPr lang="en-US" sz="2250" dirty="0">
                                      <a:solidFill>
                                        <a:srgbClr val="10243A"/>
                                      </a:solidFill>
                                      <a:latin typeface="Cambria Math"/>
                                      <a:ea typeface="Cambria Math"/>
                                      <a:cs typeface="Cambria Math"/>
                                    </a:rPr>
                                    <m:t>i</m:t>
                                  </m:r>
                                </m:sub>
                              </m:sSub>
                              <m:func>
                                <m:funcPr/>
                                <m:fName>
                                  <m:r>
                                    <m:rPr>
                                      <m:sty m:val="p"/>
                                    </m:rPr>
                                    <a:rPr lang="en-US" sz="2250" dirty="0">
                                      <a:solidFill>
                                        <a:srgbClr val="10243A"/>
                                      </a:solidFill>
                                      <a:latin typeface="Cambria Math"/>
                                      <a:ea typeface="Cambria Math"/>
                                      <a:cs typeface="Cambria Math"/>
                                    </a:rPr>
                                    <m:t>log</m:t>
                                  </m:r>
                                </m:fName>
                                <m:e>
                                  <m:sSub>
                                    <m:e>
                                      <m:r>
                                        <a:rPr lang="en-US" sz="2250" dirty="0">
                                          <a:solidFill>
                                            <a:srgbClr val="10243A"/>
                                          </a:solidFill>
                                          <a:latin typeface="Cambria Math"/>
                                          <a:ea typeface="Cambria Math"/>
                                          <a:cs typeface="Cambria Math"/>
                                        </a:rPr>
                                        <m:t>p</m:t>
                                      </m:r>
                                    </m:e>
                                    <m:sub>
                                      <m:r>
                                        <a:rPr lang="en-US" sz="2250" dirty="0">
                                          <a:solidFill>
                                            <a:srgbClr val="10243A"/>
                                          </a:solidFill>
                                          <a:latin typeface="Cambria Math"/>
                                          <a:ea typeface="Cambria Math"/>
                                          <a:cs typeface="Cambria Math"/>
                                        </a:rPr>
                                        <m:t>i</m:t>
                                      </m:r>
                                    </m:sub>
                                  </m:sSub>
                                </m:e>
                              </m:func>
                              <m:r>
                                <m:rPr>
                                  <m:sty m:val="p"/>
                                </m:rPr>
                                <a:rPr lang="en-US" sz="2250" dirty="0">
                                  <a:solidFill>
                                    <a:srgbClr val="10243A"/>
                                  </a:solidFill>
                                  <a:latin typeface="Cambria Math"/>
                                  <a:ea typeface="Cambria Math"/>
                                  <a:cs typeface="Cambria Math"/>
                                </a:rPr>
                                <m:t>+</m:t>
                              </m:r>
                              <m:d>
                                <m:dPr>
                                  <m:begChr m:val="("/>
                                  <m:sepChr m:val=""/>
                                  <m:endChr m:val=")"/>
                                  <m:grow m:val="on"/>
                                  <m:ctrlPr>
                                    <a:rPr lang="en-US" sz="2250" dirty="0">
                                      <a:solidFill>
                                        <a:srgbClr val="10243A"/>
                                      </a:solidFill>
                                      <a:latin typeface="Cambria Math"/>
                                      <a:ea typeface="Cambria Math"/>
                                      <a:cs typeface="Cambria Math"/>
                                    </a:rPr>
                                  </m:ctrlPr>
                                </m:dPr>
                                <m:e>
                                  <m:r>
                                    <a:rPr lang="en-US" sz="2250" dirty="0">
                                      <a:solidFill>
                                        <a:srgbClr val="10243A"/>
                                      </a:solidFill>
                                      <a:latin typeface="Cambria Math"/>
                                      <a:ea typeface="Cambria Math"/>
                                      <a:cs typeface="Cambria Math"/>
                                    </a:rPr>
                                    <m:t>1</m:t>
                                  </m:r>
                                  <m:r>
                                    <m:rPr>
                                      <m:sty m:val="p"/>
                                    </m:rPr>
                                    <a:rPr lang="en-US" sz="2250" dirty="0">
                                      <a:solidFill>
                                        <a:srgbClr val="10243A"/>
                                      </a:solidFill>
                                      <a:latin typeface="Cambria Math"/>
                                      <a:ea typeface="Cambria Math"/>
                                      <a:cs typeface="Cambria Math"/>
                                    </a:rPr>
                                    <m:t>−</m:t>
                                  </m:r>
                                  <m:sSub>
                                    <m:e>
                                      <m:r>
                                        <m:rPr>
                                          <m:sty m:val="p"/>
                                        </m:rPr>
                                        <a:rPr lang="en-US" sz="2250" dirty="0">
                                          <a:solidFill>
                                            <a:srgbClr val="10243A"/>
                                          </a:solidFill>
                                          <a:latin typeface="Cambria Math"/>
                                          <a:ea typeface="Cambria Math"/>
                                          <a:cs typeface="Cambria Math"/>
                                        </a:rPr>
                                        <m:t>ℓ</m:t>
                                      </m:r>
                                    </m:e>
                                    <m:sub>
                                      <m:r>
                                        <a:rPr lang="en-US" sz="2250" dirty="0">
                                          <a:solidFill>
                                            <a:srgbClr val="10243A"/>
                                          </a:solidFill>
                                          <a:latin typeface="Cambria Math"/>
                                          <a:ea typeface="Cambria Math"/>
                                          <a:cs typeface="Cambria Math"/>
                                        </a:rPr>
                                        <m:t>i</m:t>
                                      </m:r>
                                    </m:sub>
                                  </m:sSub>
                                </m:e>
                              </m:d>
                              <m:func>
                                <m:funcPr/>
                                <m:fName>
                                  <m:r>
                                    <m:rPr>
                                      <m:sty m:val="p"/>
                                    </m:rPr>
                                    <a:rPr lang="en-US" sz="2250" dirty="0">
                                      <a:solidFill>
                                        <a:srgbClr val="10243A"/>
                                      </a:solidFill>
                                      <a:latin typeface="Cambria Math"/>
                                      <a:ea typeface="Cambria Math"/>
                                      <a:cs typeface="Cambria Math"/>
                                    </a:rPr>
                                    <m:t>log</m:t>
                                  </m:r>
                                </m:fName>
                                <m:e>
                                  <m:d>
                                    <m:dPr>
                                      <m:begChr m:val="("/>
                                      <m:sepChr m:val=""/>
                                      <m:endChr m:val=")"/>
                                      <m:grow m:val="on"/>
                                      <m:ctrlPr>
                                        <a:rPr lang="en-US" sz="2250" dirty="0">
                                          <a:solidFill>
                                            <a:srgbClr val="10243A"/>
                                          </a:solidFill>
                                          <a:latin typeface="Cambria Math"/>
                                          <a:ea typeface="Cambria Math"/>
                                          <a:cs typeface="Cambria Math"/>
                                        </a:rPr>
                                      </m:ctrlPr>
                                    </m:dPr>
                                    <m:e>
                                      <m:r>
                                        <a:rPr lang="en-US" sz="2250" dirty="0">
                                          <a:solidFill>
                                            <a:srgbClr val="10243A"/>
                                          </a:solidFill>
                                          <a:latin typeface="Cambria Math"/>
                                          <a:ea typeface="Cambria Math"/>
                                          <a:cs typeface="Cambria Math"/>
                                        </a:rPr>
                                        <m:t>1</m:t>
                                      </m:r>
                                      <m:r>
                                        <m:rPr>
                                          <m:sty m:val="p"/>
                                        </m:rPr>
                                        <a:rPr lang="en-US" sz="2250" dirty="0">
                                          <a:solidFill>
                                            <a:srgbClr val="10243A"/>
                                          </a:solidFill>
                                          <a:latin typeface="Cambria Math"/>
                                          <a:ea typeface="Cambria Math"/>
                                          <a:cs typeface="Cambria Math"/>
                                        </a:rPr>
                                        <m:t>−</m:t>
                                      </m:r>
                                      <m:sSub>
                                        <m:e>
                                          <m:r>
                                            <a:rPr lang="en-US" sz="2250" dirty="0">
                                              <a:solidFill>
                                                <a:srgbClr val="10243A"/>
                                              </a:solidFill>
                                              <a:latin typeface="Cambria Math"/>
                                              <a:ea typeface="Cambria Math"/>
                                              <a:cs typeface="Cambria Math"/>
                                            </a:rPr>
                                            <m:t>p</m:t>
                                          </m:r>
                                        </m:e>
                                        <m:sub>
                                          <m:r>
                                            <a:rPr lang="en-US" sz="2250" dirty="0">
                                              <a:solidFill>
                                                <a:srgbClr val="10243A"/>
                                              </a:solidFill>
                                              <a:latin typeface="Cambria Math"/>
                                              <a:ea typeface="Cambria Math"/>
                                              <a:cs typeface="Cambria Math"/>
                                            </a:rPr>
                                            <m:t>i</m:t>
                                          </m:r>
                                        </m:sub>
                                      </m:sSub>
                                    </m:e>
                                  </m:d>
                                </m:e>
                              </m:func>
                            </m:e>
                          </m:d>
                        </m:e>
                      </m:nary>
                      <m:r>
                        <m:rPr>
                          <m:sty m:val="p"/>
                        </m:rPr>
                        <a:rPr lang="en-US" sz="2250" dirty="0">
                          <a:solidFill>
                            <a:srgbClr val="10243A"/>
                          </a:solidFill>
                          <a:latin typeface="Cambria Math"/>
                          <a:ea typeface="Cambria Math"/>
                          <a:cs typeface="Cambria Math"/>
                        </a:rPr>
                        <m:t>+</m:t>
                      </m:r>
                      <m:r>
                        <a:rPr lang="en-US" sz="2250" dirty="0">
                          <a:solidFill>
                            <a:srgbClr val="10243A"/>
                          </a:solidFill>
                          <a:latin typeface="Cambria Math"/>
                          <a:ea typeface="Cambria Math"/>
                          <a:cs typeface="Cambria Math"/>
                        </a:rPr>
                        <m:t>λ</m:t>
                      </m:r>
                      <m:sSubSup>
                        <m:e>
                          <m:d>
                            <m:dPr>
                              <m:begChr m:val="‖"/>
                              <m:sepChr m:val=""/>
                              <m:endChr m:val="‖"/>
                              <m:grow m:val="on"/>
                              <m:ctrlPr>
                                <a:rPr lang="en-US" sz="2250" dirty="0">
                                  <a:solidFill>
                                    <a:srgbClr val="10243A"/>
                                  </a:solidFill>
                                  <a:latin typeface="Cambria Math"/>
                                  <a:ea typeface="Cambria Math"/>
                                  <a:cs typeface="Cambria Math"/>
                                </a:rPr>
                              </m:ctrlPr>
                            </m:dPr>
                            <m:e>
                              <m:r>
                                <a:rPr lang="en-US" sz="2250" dirty="0">
                                  <a:solidFill>
                                    <a:srgbClr val="10243A"/>
                                  </a:solidFill>
                                  <a:latin typeface="Cambria Math"/>
                                  <a:ea typeface="Cambria Math"/>
                                  <a:cs typeface="Cambria Math"/>
                                </a:rPr>
                                <m:t>θ</m:t>
                              </m:r>
                            </m:e>
                          </m:d>
                        </m:e>
                        <m:sub>
                          <m:r>
                            <a:rPr lang="en-US" sz="2250" dirty="0">
                              <a:solidFill>
                                <a:srgbClr val="10243A"/>
                              </a:solidFill>
                              <a:latin typeface="Cambria Math"/>
                              <a:ea typeface="Cambria Math"/>
                              <a:cs typeface="Cambria Math"/>
                            </a:rPr>
                            <m:t>2</m:t>
                          </m:r>
                        </m:sub>
                        <m:sup>
                          <m:r>
                            <a:rPr lang="en-US" sz="2250" dirty="0">
                              <a:solidFill>
                                <a:srgbClr val="10243A"/>
                              </a:solidFill>
                              <a:latin typeface="Cambria Math"/>
                              <a:ea typeface="Cambria Math"/>
                              <a:cs typeface="Cambria Math"/>
                            </a:rPr>
                            <m:t>2</m:t>
                          </m:r>
                        </m:sup>
                      </m:sSubSup>
                    </m:oMath>
                  </m:oMathPara>
                </a14:m>
              </a:p>
            </p:txBody>
          </p:sp>
        </mc:Choice>
      </mc:AlternateContent>
      <p:grpSp>
        <p:nvGrpSpPr>
          <p:cNvPr id="26" name="training-timing"/>
          <p:cNvGrpSpPr/>
          <p:nvPr/>
        </p:nvGrpSpPr>
        <p:grpSpPr>
          <a:xfrm>
            <a:off x="598932" y="5745480"/>
            <a:ext cx="9328137" cy="410718"/>
            <a:chOff x="598932" y="5745480"/>
            <a:chExt cx="9328137" cy="410718"/>
          </a:xfrm>
        </p:grpSpPr>
        <p:sp>
          <p:nvSpPr>
            <p:cNvPr id="25" name="TextBox 25"/>
            <p:cNvSpPr txBox="1"/>
            <p:nvPr/>
          </p:nvSpPr>
          <p:spPr>
            <a:xfrm>
              <a:off x="598932" y="5745480"/>
              <a:ext cx="9328137"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After feedback:</a:t>
              </a:r>
              <a:r>
                <a:rPr lang="en-US" sz="2100" dirty="0">
                  <a:solidFill>
                    <a:schemeClr val="accent1"/>
                  </a:solidFill>
                  <a:latin typeface="+mn-lt"/>
                  <a:ea typeface="+mn-ea"/>
                  <a:cs typeface="+mn-cs"/>
                </a:rPr>
                <a:t xml:space="preserve"> train on all observed pairs. LLM and encoder stay frozen.</a:t>
              </a:r>
            </a:p>
          </p:txBody>
        </p:sp>
      </p:grpSp>
      <p:grpSp>
        <p:nvGrpSpPr>
          <p:cNvPr id="29" name="footer"/>
          <p:cNvGrpSpPr/>
          <p:nvPr/>
        </p:nvGrpSpPr>
        <p:grpSpPr>
          <a:xfrm>
            <a:off x="603504" y="6395085"/>
            <a:ext cx="10984992" cy="234696"/>
            <a:chOff x="603504" y="6395085"/>
            <a:chExt cx="10984992" cy="234696"/>
          </a:xfrm>
        </p:grpSpPr>
        <p:sp>
          <p:nvSpPr>
            <p:cNvPr id="27" name="TextBox 27"/>
            <p:cNvSpPr txBox="1"/>
            <p:nvPr/>
          </p:nvSpPr>
          <p:spPr>
            <a:xfrm>
              <a:off x="603504" y="6395085"/>
              <a:ext cx="6188617" cy="234696"/>
            </a:xfrm>
            <a:prstGeom prst="rect">
              <a:avLst/>
            </a:prstGeom>
            <a:noFill/>
            <a:ln>
              <a:noFill/>
            </a:ln>
          </p:spPr>
          <p:txBody>
            <a:bodyPr wrap="none" lIns="0" tIns="0" rIns="0" bIns="0" anchor="t" anchorCtr="0">
              <a:spAutoFit/>
            </a:bodyPr>
            <a:lstStyle/>
            <a:p>
              <a:pPr algn="l"/>
              <a:r>
                <a:rPr lang="el-GR" sz="1200" dirty="0">
                  <a:solidFill>
                    <a:schemeClr val="accent5"/>
                  </a:solidFill>
                  <a:latin typeface="+mn-lt"/>
                  <a:ea typeface="+mn-ea"/>
                  <a:cs typeface="+mn-cs"/>
                </a:rPr>
                <a:t>Source: Eq. (2); Algorithm 1, lines 16–17. θ is fixed while the current pair is generated.</a:t>
              </a:r>
            </a:p>
          </p:txBody>
        </p:sp>
        <p:sp>
          <p:nvSpPr>
            <p:cNvPr id="28" name="TextBox 28"/>
            <p:cNvSpPr txBox="1"/>
            <p:nvPr/>
          </p:nvSpPr>
          <p:spPr>
            <a:xfrm>
              <a:off x="11082270" y="6395085"/>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03 / 08</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70535"/>
            <a:ext cx="7396105" cy="952119"/>
            <a:chOff x="592836" y="470535"/>
            <a:chExt cx="7396105" cy="952119"/>
          </a:xfrm>
        </p:grpSpPr>
        <p:sp>
          <p:nvSpPr>
            <p:cNvPr id="2" name="TextBox 2"/>
            <p:cNvSpPr txBox="1"/>
            <p:nvPr/>
          </p:nvSpPr>
          <p:spPr>
            <a:xfrm>
              <a:off x="603504" y="470535"/>
              <a:ext cx="217470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04 / ONE DECODING STEP</a:t>
              </a:r>
            </a:p>
          </p:txBody>
        </p:sp>
        <p:sp>
          <p:nvSpPr>
            <p:cNvPr id="3" name="TextBox 3"/>
            <p:cNvSpPr txBox="1"/>
            <p:nvPr/>
          </p:nvSpPr>
          <p:spPr>
            <a:xfrm>
              <a:off x="592836" y="777240"/>
              <a:ext cx="7396105"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RM reward changes the next token</a:t>
              </a:r>
            </a:p>
          </p:txBody>
        </p:sp>
      </p:grpSp>
      <mc:AlternateContent xmlns:mc="http://schemas.openxmlformats.org/markup-compatibility/2006">
        <mc:Choice xmlns:a14="http://schemas.microsoft.com/office/drawing/2010/main" Requires="a14">
          <p:sp>
            <p:nvSpPr>
              <p:cNvPr id="5" name="score-equation"/>
              <p:cNvSpPr txBox="1">
                <a:spLocks noGrp="1"/>
              </p:cNvSpPr>
              <p:nvPr/>
            </p:nvSpPr>
            <p:spPr>
              <a:xfrm>
                <a:off x="609600" y="1581150"/>
                <a:ext cx="10972800" cy="66675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r>
                        <m:rPr>
                          <m:sty m:val="b"/>
                        </m:rPr>
                        <a:rPr lang="en-US" sz="2250" dirty="0">
                          <a:solidFill>
                            <a:srgbClr val="10243A"/>
                          </a:solidFill>
                          <a:latin typeface="Cambria Math"/>
                          <a:ea typeface="Cambria Math"/>
                          <a:cs typeface="Cambria Math"/>
                        </a:rPr>
                        <m:t>s</m:t>
                      </m:r>
                      <m:r>
                        <m:rPr>
                          <m:sty m:val="p"/>
                        </m:rPr>
                        <a:rPr lang="en-US" sz="2250" dirty="0">
                          <a:solidFill>
                            <a:srgbClr val="10243A"/>
                          </a:solidFill>
                          <a:latin typeface="Cambria Math"/>
                          <a:ea typeface="Cambria Math"/>
                          <a:cs typeface="Cambria Math"/>
                        </a:rPr>
                        <m:t>=</m:t>
                      </m:r>
                      <m:r>
                        <m:rPr>
                          <m:sty m:val="bi"/>
                        </m:rPr>
                        <a:rPr lang="en-US" sz="2250" dirty="0">
                          <a:solidFill>
                            <a:srgbClr val="10243A"/>
                          </a:solidFill>
                          <a:latin typeface="Cambria Math"/>
                          <a:ea typeface="Cambria Math"/>
                          <a:cs typeface="Cambria Math"/>
                        </a:rPr>
                        <m:t>π</m:t>
                      </m:r>
                      <m:r>
                        <m:rPr>
                          <m:sty m:val="p"/>
                        </m:rPr>
                        <a:rPr lang="en-US" sz="2250" dirty="0">
                          <a:solidFill>
                            <a:srgbClr val="10243A"/>
                          </a:solidFill>
                          <a:latin typeface="Cambria Math"/>
                          <a:ea typeface="Cambria Math"/>
                          <a:cs typeface="Cambria Math"/>
                        </a:rPr>
                        <m:t>+</m:t>
                      </m:r>
                      <m:r>
                        <a:rPr lang="en-US" sz="2250" dirty="0">
                          <a:solidFill>
                            <a:srgbClr val="10243A"/>
                          </a:solidFill>
                          <a:latin typeface="Cambria Math"/>
                          <a:ea typeface="Cambria Math"/>
                          <a:cs typeface="Cambria Math"/>
                        </a:rPr>
                        <m:t>ω</m:t>
                      </m:r>
                      <m:r>
                        <m:rPr>
                          <m:sty m:val="b"/>
                        </m:rPr>
                        <a:rPr lang="en-US" sz="2250" dirty="0">
                          <a:solidFill>
                            <a:srgbClr val="10243A"/>
                          </a:solidFill>
                          <a:latin typeface="Cambria Math"/>
                          <a:ea typeface="Cambria Math"/>
                          <a:cs typeface="Cambria Math"/>
                        </a:rPr>
                        <m:t>r</m:t>
                      </m:r>
                      <m:r>
                        <m:rPr>
                          <m:sty m:val="p"/>
                        </m:rPr>
                        <a:rPr lang="en-US" sz="2250" dirty="0">
                          <a:solidFill>
                            <a:srgbClr val="10243A"/>
                          </a:solidFill>
                          <a:latin typeface="Cambria Math"/>
                          <a:ea typeface="Cambria Math"/>
                          <a:cs typeface="Cambria Math"/>
                        </a:rPr>
                        <m:t>,</m:t>
                      </m:r>
                      <m:r>
                        <a:rPr lang="en-US" sz="2250" dirty="0">
                          <a:solidFill>
                            <a:srgbClr val="10243A"/>
                          </a:solidFill>
                          <a:latin typeface="Cambria Math"/>
                          <a:ea typeface="Cambria Math"/>
                          <a:cs typeface="Cambria Math"/>
                        </a:rPr>
                        <m:t xml:space="preserve"> </m:t>
                      </m:r>
                      <m:r>
                        <m:rPr>
                          <m:sty m:val="bi"/>
                        </m:rPr>
                        <a:rPr lang="en-US" sz="2250" dirty="0">
                          <a:solidFill>
                            <a:srgbClr val="10243A"/>
                          </a:solidFill>
                          <a:latin typeface="Cambria Math"/>
                          <a:ea typeface="Cambria Math"/>
                          <a:cs typeface="Cambria Math"/>
                        </a:rPr>
                        <m:t>π</m:t>
                      </m:r>
                      <m:r>
                        <m:rPr>
                          <m:sty m:val="p"/>
                        </m:rPr>
                        <a:rPr lang="en-US" sz="2250" dirty="0">
                          <a:solidFill>
                            <a:srgbClr val="10243A"/>
                          </a:solidFill>
                          <a:latin typeface="Cambria Math"/>
                          <a:ea typeface="Cambria Math"/>
                          <a:cs typeface="Cambria Math"/>
                        </a:rPr>
                        <m:t>,</m:t>
                      </m:r>
                      <m:r>
                        <m:rPr>
                          <m:sty m:val="b"/>
                        </m:rPr>
                        <a:rPr lang="en-US" sz="2250" dirty="0">
                          <a:solidFill>
                            <a:srgbClr val="10243A"/>
                          </a:solidFill>
                          <a:latin typeface="Cambria Math"/>
                          <a:ea typeface="Cambria Math"/>
                          <a:cs typeface="Cambria Math"/>
                        </a:rPr>
                        <m:t>r</m:t>
                      </m:r>
                      <m:r>
                        <m:rPr>
                          <m:sty m:val="p"/>
                        </m:rPr>
                        <a:rPr lang="en-US" sz="2250" dirty="0">
                          <a:solidFill>
                            <a:srgbClr val="10243A"/>
                          </a:solidFill>
                          <a:latin typeface="Cambria Math"/>
                          <a:ea typeface="Cambria Math"/>
                          <a:cs typeface="Cambria Math"/>
                        </a:rPr>
                        <m:t>,</m:t>
                      </m:r>
                      <m:r>
                        <m:rPr>
                          <m:sty m:val="b"/>
                        </m:rPr>
                        <a:rPr lang="en-US" sz="2250" dirty="0">
                          <a:solidFill>
                            <a:srgbClr val="10243A"/>
                          </a:solidFill>
                          <a:latin typeface="Cambria Math"/>
                          <a:ea typeface="Cambria Math"/>
                          <a:cs typeface="Cambria Math"/>
                        </a:rPr>
                        <m:t>s</m:t>
                      </m:r>
                      <m:r>
                        <m:rPr>
                          <m:sty m:val="p"/>
                        </m:rPr>
                        <a:rPr lang="en-US" sz="2250" dirty="0">
                          <a:solidFill>
                            <a:srgbClr val="10243A"/>
                          </a:solidFill>
                          <a:latin typeface="Cambria Math"/>
                          <a:ea typeface="Cambria Math"/>
                          <a:cs typeface="Cambria Math"/>
                        </a:rPr>
                        <m:t>∈</m:t>
                      </m:r>
                      <m:sSup>
                        <m:e>
                          <m:r>
                            <m:rPr>
                              <m:scr m:val="double-struck"/>
                              <m:sty m:val="p"/>
                            </m:rPr>
                            <a:rPr lang="en-US" sz="2250" dirty="0">
                              <a:solidFill>
                                <a:srgbClr val="10243A"/>
                              </a:solidFill>
                              <a:latin typeface="Cambria Math"/>
                              <a:ea typeface="Cambria Math"/>
                              <a:cs typeface="Cambria Math"/>
                            </a:rPr>
                            <m:t>R</m:t>
                          </m:r>
                        </m:e>
                        <m:sup>
                          <m:r>
                            <a:rPr lang="en-US" sz="2250" dirty="0">
                              <a:solidFill>
                                <a:srgbClr val="10243A"/>
                              </a:solidFill>
                              <a:latin typeface="Cambria Math"/>
                              <a:ea typeface="Cambria Math"/>
                              <a:cs typeface="Cambria Math"/>
                            </a:rPr>
                            <m:t>C</m:t>
                          </m:r>
                        </m:sup>
                      </m:sSup>
                    </m:oMath>
                  </m:oMathPara>
                </a14:m>
              </a:p>
            </p:txBody>
          </p:sp>
        </mc:Choice>
      </mc:AlternateContent>
      <p:grpSp>
        <p:nvGrpSpPr>
          <p:cNvPr id="8" name="example-context"/>
          <p:cNvGrpSpPr/>
          <p:nvPr/>
        </p:nvGrpSpPr>
        <p:grpSpPr>
          <a:xfrm>
            <a:off x="598932" y="2440305"/>
            <a:ext cx="10989564" cy="410718"/>
            <a:chOff x="598932" y="2440305"/>
            <a:chExt cx="10989564" cy="410718"/>
          </a:xfrm>
        </p:grpSpPr>
        <p:sp>
          <p:nvSpPr>
            <p:cNvPr id="6" name="TextBox 6"/>
            <p:cNvSpPr txBox="1"/>
            <p:nvPr/>
          </p:nvSpPr>
          <p:spPr>
            <a:xfrm>
              <a:off x="598932" y="2440305"/>
              <a:ext cx="5051833"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Prefix s: [question; ... Overfitting means]</a:t>
              </a:r>
            </a:p>
          </p:txBody>
        </p:sp>
        <p:sp>
          <p:nvSpPr>
            <p:cNvPr id="7" name="TextBox 7"/>
            <p:cNvSpPr txBox="1"/>
            <p:nvPr/>
          </p:nvSpPr>
          <p:spPr>
            <a:xfrm>
              <a:off x="9825686" y="2518410"/>
              <a:ext cx="1762810" cy="234696"/>
            </a:xfrm>
            <a:prstGeom prst="rect">
              <a:avLst/>
            </a:prstGeom>
            <a:noFill/>
            <a:ln>
              <a:noFill/>
            </a:ln>
          </p:spPr>
          <p:txBody>
            <a:bodyPr wrap="none" lIns="0" tIns="0" rIns="0" bIns="0" anchor="t" anchorCtr="0">
              <a:spAutoFit/>
            </a:bodyPr>
            <a:lstStyle/>
            <a:p>
              <a:pPr algn="r"/>
              <a:r>
                <a:rPr lang="el-GR" sz="1200" dirty="0">
                  <a:solidFill>
                    <a:schemeClr val="accent5"/>
                  </a:solidFill>
                  <a:latin typeface="+mn-lt"/>
                  <a:ea typeface="+mn-ea"/>
                  <a:cs typeface="+mn-cs"/>
                </a:rPr>
                <a:t>Illustrative values · ω = 1</a:t>
              </a:r>
            </a:p>
          </p:txBody>
        </p:sp>
      </p:grpSp>
      <p:graphicFrame>
        <p:nvGraphicFramePr>
          <p:cNvPr id="9" name="token-scores"/>
          <p:cNvGraphicFramePr>
            <a:graphicFrameLocks noGrp="1"/>
          </p:cNvGraphicFramePr>
          <p:nvPr/>
        </p:nvGraphicFramePr>
        <p:xfrm>
          <a:off x="609600" y="2895600"/>
          <a:ext cx="10972800" cy="2419350"/>
        </p:xfrm>
        <a:graphic>
          <a:graphicData uri="http://schemas.openxmlformats.org/drawingml/2006/table">
            <a:tbl>
              <a:tblPr firstRow="1" bandRow="0">
                <a:tableStyleId>{5C22544A-7EE6-4342-B048-85BDC9FD1C3A}</a:tableStyleId>
              </a:tblPr>
              <a:tblGrid>
                <a:gridCol w="2667000"/>
                <a:gridCol w="2324100"/>
                <a:gridCol w="1962150"/>
                <a:gridCol w="2305050"/>
                <a:gridCol w="1714500"/>
              </a:tblGrid>
              <a:tr h="533400">
                <a:tc>
                  <a:txBody>
                    <a:bodyPr/>
                    <a:lstStyle/>
                    <a:p>
                      <a:pPr/>
                      <a:r>
                        <a:rPr lang="en-US" sz="1650" b="1">
                          <a:solidFill>
                            <a:schemeClr val="accent5"/>
                          </a:solidFill>
                          <a:latin typeface="Arial"/>
                          <a:ea typeface="Microsoft YaHei"/>
                          <a:cs typeface="Arial"/>
                        </a:rPr>
                        <a:t>Token</a:t>
                      </a:r>
                    </a:p>
                  </a:txBody>
                  <a:tcPr anchor="ctr" marL="228600" marR="228600" marT="95250" marB="95250">
                    <a:lnL>
                      <a:noFill/>
                    </a:lnL>
                    <a:lnR>
                      <a:noFill/>
                    </a:lnR>
                    <a:lnT>
                      <a:noFill/>
                    </a:lnT>
                    <a:lnB w="9525">
                      <a:solidFill>
                        <a:schemeClr val="accent6"/>
                      </a:solidFill>
                      <a:prstDash val="solid"/>
                    </a:lnB>
                    <a:solidFill>
                      <a:schemeClr val="lt2"/>
                    </a:solidFill>
                  </a:tcPr>
                </a:tc>
                <a:tc>
                  <a:txBody>
                    <a:bodyPr/>
                    <a:lstStyle/>
                    <a:p>
                      <a:pPr algn="r"/>
                      <a:r>
                        <a:rPr lang="en-US" sz="1650" b="1">
                          <a:solidFill>
                            <a:schemeClr val="accent5"/>
                          </a:solidFill>
                          <a:latin typeface="Arial"/>
                          <a:ea typeface="Microsoft YaHei"/>
                          <a:cs typeface="Arial"/>
                        </a:rPr>
                        <a:t>LLM probability</a:t>
                      </a:r>
                    </a:p>
                  </a:txBody>
                  <a:tcPr anchor="ctr" marL="228600" marR="228600" marT="95250" marB="95250">
                    <a:lnL>
                      <a:noFill/>
                    </a:lnL>
                    <a:lnR>
                      <a:noFill/>
                    </a:lnR>
                    <a:lnT>
                      <a:noFill/>
                    </a:lnT>
                    <a:lnB w="9525">
                      <a:solidFill>
                        <a:schemeClr val="accent6"/>
                      </a:solidFill>
                      <a:prstDash val="solid"/>
                    </a:lnB>
                    <a:solidFill>
                      <a:schemeClr val="lt2"/>
                    </a:solidFill>
                  </a:tcPr>
                </a:tc>
                <a:tc>
                  <a:txBody>
                    <a:bodyPr/>
                    <a:lstStyle/>
                    <a:p>
                      <a:pPr algn="r"/>
                      <a:r>
                        <a:rPr lang="en-US" sz="1650" b="1">
                          <a:solidFill>
                            <a:schemeClr val="accent5"/>
                          </a:solidFill>
                          <a:latin typeface="Arial"/>
                          <a:ea typeface="Microsoft YaHei"/>
                          <a:cs typeface="Arial"/>
                        </a:rPr>
                        <a:t>RM reward</a:t>
                      </a:r>
                    </a:p>
                  </a:txBody>
                  <a:tcPr anchor="ctr" marL="228600" marR="228600" marT="95250" marB="95250">
                    <a:lnL>
                      <a:noFill/>
                    </a:lnL>
                    <a:lnR>
                      <a:noFill/>
                    </a:lnR>
                    <a:lnT>
                      <a:noFill/>
                    </a:lnT>
                    <a:lnB w="9525">
                      <a:solidFill>
                        <a:schemeClr val="accent6"/>
                      </a:solidFill>
                      <a:prstDash val="solid"/>
                    </a:lnB>
                    <a:solidFill>
                      <a:schemeClr val="lt2"/>
                    </a:solidFill>
                  </a:tcPr>
                </a:tc>
                <a:tc>
                  <a:txBody>
                    <a:bodyPr/>
                    <a:lstStyle/>
                    <a:p>
                      <a:pPr algn="r"/>
                      <a:r>
                        <a:rPr lang="en-US" sz="1650" b="1">
                          <a:solidFill>
                            <a:schemeClr val="accent5"/>
                          </a:solidFill>
                          <a:latin typeface="Arial"/>
                          <a:ea typeface="Microsoft YaHei"/>
                          <a:cs typeface="Arial"/>
                        </a:rPr>
                        <a:t>Combined</a:t>
                      </a:r>
                    </a:p>
                  </a:txBody>
                  <a:tcPr anchor="ctr" marL="228600" marR="228600" marT="95250" marB="95250">
                    <a:lnL>
                      <a:noFill/>
                    </a:lnL>
                    <a:lnR>
                      <a:noFill/>
                    </a:lnR>
                    <a:lnT>
                      <a:noFill/>
                    </a:lnT>
                    <a:lnB w="9525">
                      <a:solidFill>
                        <a:schemeClr val="accent6"/>
                      </a:solidFill>
                      <a:prstDash val="solid"/>
                    </a:lnB>
                    <a:solidFill>
                      <a:schemeClr val="lt2"/>
                    </a:solidFill>
                  </a:tcPr>
                </a:tc>
                <a:tc>
                  <a:txBody>
                    <a:bodyPr/>
                    <a:lstStyle/>
                    <a:p>
                      <a:pPr algn="ctr"/>
                      <a:r>
                        <a:rPr lang="en-US" sz="1650" b="1">
                          <a:solidFill>
                            <a:schemeClr val="accent5"/>
                          </a:solidFill>
                          <a:latin typeface="Arial"/>
                          <a:ea typeface="Microsoft YaHei"/>
                          <a:cs typeface="Arial"/>
                        </a:rPr>
                        <a:t>Pick</a:t>
                      </a:r>
                    </a:p>
                  </a:txBody>
                  <a:tcPr anchor="ctr" marL="228600" marR="228600" marT="95250" marB="95250">
                    <a:lnL>
                      <a:noFill/>
                    </a:lnL>
                    <a:lnR>
                      <a:noFill/>
                    </a:lnR>
                    <a:lnT>
                      <a:noFill/>
                    </a:lnT>
                    <a:lnB w="9525">
                      <a:solidFill>
                        <a:schemeClr val="accent6"/>
                      </a:solidFill>
                      <a:prstDash val="solid"/>
                    </a:lnB>
                    <a:solidFill>
                      <a:schemeClr val="lt2"/>
                    </a:solidFill>
                  </a:tcPr>
                </a:tc>
              </a:tr>
              <a:tr h="628650">
                <a:tc>
                  <a:txBody>
                    <a:bodyPr/>
                    <a:lstStyle/>
                    <a:p>
                      <a:pPr/>
                      <a:r>
                        <a:rPr lang="en-US" sz="2100" b="0">
                          <a:solidFill>
                            <a:schemeClr val="dk1"/>
                          </a:solidFill>
                          <a:latin typeface="Arial"/>
                          <a:ea typeface="Microsoft YaHei"/>
                          <a:cs typeface="Arial"/>
                        </a:rPr>
                        <a:t>memorizing</a:t>
                      </a:r>
                    </a:p>
                  </a:txBody>
                  <a:tcPr anchor="ctr" marL="228600" marR="228600" marT="95250" marB="95250">
                    <a:lnL>
                      <a:noFill/>
                    </a:lnL>
                    <a:lnR>
                      <a:noFill/>
                    </a:lnR>
                    <a:lnT>
                      <a:noFill/>
                    </a:lnT>
                    <a:lnB w="9525">
                      <a:solidFill>
                        <a:schemeClr val="accent6"/>
                      </a:solidFill>
                      <a:prstDash val="solid"/>
                    </a:lnB>
                    <a:noFill/>
                  </a:tcPr>
                </a:tc>
                <a:tc>
                  <a:txBody>
                    <a:bodyPr/>
                    <a:lstStyle/>
                    <a:p>
                      <a:pPr algn="r"/>
                      <a:r>
                        <a:rPr lang="en-US" sz="2100" b="0">
                          <a:solidFill>
                            <a:schemeClr val="dk1"/>
                          </a:solidFill>
                          <a:latin typeface="Arial"/>
                          <a:ea typeface="Microsoft YaHei"/>
                          <a:cs typeface="Arial"/>
                        </a:rPr>
                        <a:t>0.42</a:t>
                      </a:r>
                    </a:p>
                  </a:txBody>
                  <a:tcPr anchor="ctr" marL="228600" marR="228600" marT="95250" marB="95250">
                    <a:lnL>
                      <a:noFill/>
                    </a:lnL>
                    <a:lnR>
                      <a:noFill/>
                    </a:lnR>
                    <a:lnT>
                      <a:noFill/>
                    </a:lnT>
                    <a:lnB w="9525">
                      <a:solidFill>
                        <a:schemeClr val="accent6"/>
                      </a:solidFill>
                      <a:prstDash val="solid"/>
                    </a:lnB>
                    <a:noFill/>
                  </a:tcPr>
                </a:tc>
                <a:tc>
                  <a:txBody>
                    <a:bodyPr/>
                    <a:lstStyle/>
                    <a:p>
                      <a:pPr algn="r"/>
                      <a:r>
                        <a:rPr lang="en-US" sz="2100" b="0">
                          <a:solidFill>
                            <a:schemeClr val="dk1"/>
                          </a:solidFill>
                          <a:latin typeface="Arial"/>
                          <a:ea typeface="Microsoft YaHei"/>
                          <a:cs typeface="Arial"/>
                        </a:rPr>
                        <a:t>0.10</a:t>
                      </a:r>
                    </a:p>
                  </a:txBody>
                  <a:tcPr anchor="ctr" marL="228600" marR="228600" marT="95250" marB="95250">
                    <a:lnL>
                      <a:noFill/>
                    </a:lnL>
                    <a:lnR>
                      <a:noFill/>
                    </a:lnR>
                    <a:lnT>
                      <a:noFill/>
                    </a:lnT>
                    <a:lnB w="9525">
                      <a:solidFill>
                        <a:schemeClr val="accent6"/>
                      </a:solidFill>
                      <a:prstDash val="solid"/>
                    </a:lnB>
                    <a:noFill/>
                  </a:tcPr>
                </a:tc>
                <a:tc>
                  <a:txBody>
                    <a:bodyPr/>
                    <a:lstStyle/>
                    <a:p>
                      <a:pPr algn="r"/>
                      <a:r>
                        <a:rPr lang="en-US" sz="2100" b="0">
                          <a:solidFill>
                            <a:schemeClr val="dk1"/>
                          </a:solidFill>
                          <a:latin typeface="Arial"/>
                          <a:ea typeface="Microsoft YaHei"/>
                          <a:cs typeface="Arial"/>
                        </a:rPr>
                        <a:t>0.52</a:t>
                      </a:r>
                    </a:p>
                  </a:txBody>
                  <a:tcPr anchor="ctr" marL="228600" marR="228600" marT="95250" marB="95250">
                    <a:lnL>
                      <a:noFill/>
                    </a:lnL>
                    <a:lnR>
                      <a:noFill/>
                    </a:lnR>
                    <a:lnT>
                      <a:noFill/>
                    </a:lnT>
                    <a:lnB w="9525">
                      <a:solidFill>
                        <a:schemeClr val="accent6"/>
                      </a:solidFill>
                      <a:prstDash val="solid"/>
                    </a:lnB>
                    <a:noFill/>
                  </a:tcPr>
                </a:tc>
                <a:tc>
                  <a:txBody>
                    <a:bodyPr/>
                    <a:lstStyle/>
                    <a:p>
                      <a:pPr algn="ctr"/>
                      <a:r>
                        <a:rPr lang="en-US" sz="2100" b="0">
                          <a:solidFill>
                            <a:schemeClr val="dk1"/>
                          </a:solidFill>
                          <a:latin typeface="Arial"/>
                          <a:ea typeface="Microsoft YaHei"/>
                          <a:cs typeface="Arial"/>
                        </a:rPr>
                        <a:t>—</a:t>
                      </a:r>
                    </a:p>
                  </a:txBody>
                  <a:tcPr anchor="ctr" marL="228600" marR="228600" marT="95250" marB="95250">
                    <a:lnL>
                      <a:noFill/>
                    </a:lnL>
                    <a:lnR>
                      <a:noFill/>
                    </a:lnR>
                    <a:lnT>
                      <a:noFill/>
                    </a:lnT>
                    <a:lnB w="9525">
                      <a:solidFill>
                        <a:schemeClr val="accent6"/>
                      </a:solidFill>
                      <a:prstDash val="solid"/>
                    </a:lnB>
                    <a:noFill/>
                  </a:tcPr>
                </a:tc>
              </a:tr>
              <a:tr h="628650">
                <a:tc>
                  <a:txBody>
                    <a:bodyPr/>
                    <a:lstStyle/>
                    <a:p>
                      <a:pPr/>
                      <a:r>
                        <a:rPr lang="en-US" sz="2100" b="0">
                          <a:solidFill>
                            <a:schemeClr val="dk1"/>
                          </a:solidFill>
                          <a:latin typeface="Arial"/>
                          <a:ea typeface="Microsoft YaHei"/>
                          <a:cs typeface="Arial"/>
                        </a:rPr>
                        <a:t>learning</a:t>
                      </a:r>
                    </a:p>
                  </a:txBody>
                  <a:tcPr anchor="ctr" marL="228600" marR="228600" marT="95250" marB="95250">
                    <a:lnL>
                      <a:noFill/>
                    </a:lnL>
                    <a:lnR>
                      <a:noFill/>
                    </a:lnR>
                    <a:lnT>
                      <a:noFill/>
                    </a:lnT>
                    <a:lnB w="9525">
                      <a:solidFill>
                        <a:schemeClr val="accent6"/>
                      </a:solidFill>
                      <a:prstDash val="solid"/>
                    </a:lnB>
                    <a:noFill/>
                  </a:tcPr>
                </a:tc>
                <a:tc>
                  <a:txBody>
                    <a:bodyPr/>
                    <a:lstStyle/>
                    <a:p>
                      <a:pPr algn="r"/>
                      <a:r>
                        <a:rPr lang="en-US" sz="2100" b="0">
                          <a:solidFill>
                            <a:schemeClr val="dk1"/>
                          </a:solidFill>
                          <a:latin typeface="Arial"/>
                          <a:ea typeface="Microsoft YaHei"/>
                          <a:cs typeface="Arial"/>
                        </a:rPr>
                        <a:t>0.35</a:t>
                      </a:r>
                    </a:p>
                  </a:txBody>
                  <a:tcPr anchor="ctr" marL="228600" marR="228600" marT="95250" marB="95250">
                    <a:lnL>
                      <a:noFill/>
                    </a:lnL>
                    <a:lnR>
                      <a:noFill/>
                    </a:lnR>
                    <a:lnT>
                      <a:noFill/>
                    </a:lnT>
                    <a:lnB w="9525">
                      <a:solidFill>
                        <a:schemeClr val="accent6"/>
                      </a:solidFill>
                      <a:prstDash val="solid"/>
                    </a:lnB>
                    <a:noFill/>
                  </a:tcPr>
                </a:tc>
                <a:tc>
                  <a:txBody>
                    <a:bodyPr/>
                    <a:lstStyle/>
                    <a:p>
                      <a:pPr algn="r"/>
                      <a:r>
                        <a:rPr lang="en-US" sz="2100" b="0">
                          <a:solidFill>
                            <a:schemeClr val="dk1"/>
                          </a:solidFill>
                          <a:latin typeface="Arial"/>
                          <a:ea typeface="Microsoft YaHei"/>
                          <a:cs typeface="Arial"/>
                        </a:rPr>
                        <a:t>0.02</a:t>
                      </a:r>
                    </a:p>
                  </a:txBody>
                  <a:tcPr anchor="ctr" marL="228600" marR="228600" marT="95250" marB="95250">
                    <a:lnL>
                      <a:noFill/>
                    </a:lnL>
                    <a:lnR>
                      <a:noFill/>
                    </a:lnR>
                    <a:lnT>
                      <a:noFill/>
                    </a:lnT>
                    <a:lnB w="9525">
                      <a:solidFill>
                        <a:schemeClr val="accent6"/>
                      </a:solidFill>
                      <a:prstDash val="solid"/>
                    </a:lnB>
                    <a:noFill/>
                  </a:tcPr>
                </a:tc>
                <a:tc>
                  <a:txBody>
                    <a:bodyPr/>
                    <a:lstStyle/>
                    <a:p>
                      <a:pPr algn="r"/>
                      <a:r>
                        <a:rPr lang="en-US" sz="2100" b="0">
                          <a:solidFill>
                            <a:schemeClr val="dk1"/>
                          </a:solidFill>
                          <a:latin typeface="Arial"/>
                          <a:ea typeface="Microsoft YaHei"/>
                          <a:cs typeface="Arial"/>
                        </a:rPr>
                        <a:t>0.37</a:t>
                      </a:r>
                    </a:p>
                  </a:txBody>
                  <a:tcPr anchor="ctr" marL="228600" marR="228600" marT="95250" marB="95250">
                    <a:lnL>
                      <a:noFill/>
                    </a:lnL>
                    <a:lnR>
                      <a:noFill/>
                    </a:lnR>
                    <a:lnT>
                      <a:noFill/>
                    </a:lnT>
                    <a:lnB w="9525">
                      <a:solidFill>
                        <a:schemeClr val="accent6"/>
                      </a:solidFill>
                      <a:prstDash val="solid"/>
                    </a:lnB>
                    <a:noFill/>
                  </a:tcPr>
                </a:tc>
                <a:tc>
                  <a:txBody>
                    <a:bodyPr/>
                    <a:lstStyle/>
                    <a:p>
                      <a:pPr algn="ctr"/>
                      <a:r>
                        <a:rPr lang="en-US" sz="2100" b="0">
                          <a:solidFill>
                            <a:schemeClr val="dk1"/>
                          </a:solidFill>
                          <a:latin typeface="Arial"/>
                          <a:ea typeface="Microsoft YaHei"/>
                          <a:cs typeface="Arial"/>
                        </a:rPr>
                        <a:t>—</a:t>
                      </a:r>
                    </a:p>
                  </a:txBody>
                  <a:tcPr anchor="ctr" marL="228600" marR="228600" marT="95250" marB="95250">
                    <a:lnL>
                      <a:noFill/>
                    </a:lnL>
                    <a:lnR>
                      <a:noFill/>
                    </a:lnR>
                    <a:lnT>
                      <a:noFill/>
                    </a:lnT>
                    <a:lnB w="9525">
                      <a:solidFill>
                        <a:schemeClr val="accent6"/>
                      </a:solidFill>
                      <a:prstDash val="solid"/>
                    </a:lnB>
                    <a:noFill/>
                  </a:tcPr>
                </a:tc>
              </a:tr>
              <a:tr h="628650">
                <a:tc>
                  <a:txBody>
                    <a:bodyPr/>
                    <a:lstStyle/>
                    <a:p>
                      <a:pPr/>
                      <a:r>
                        <a:rPr lang="en-US" sz="2100" b="1">
                          <a:solidFill>
                            <a:schemeClr val="accent2"/>
                          </a:solidFill>
                          <a:latin typeface="Arial"/>
                          <a:ea typeface="Microsoft YaHei"/>
                          <a:cs typeface="Arial"/>
                        </a:rPr>
                        <a:t>fitting</a:t>
                      </a:r>
                    </a:p>
                  </a:txBody>
                  <a:tcPr anchor="ctr" marL="228600" marR="228600" marT="95250" marB="95250">
                    <a:lnL>
                      <a:noFill/>
                    </a:lnL>
                    <a:lnR>
                      <a:noFill/>
                    </a:lnR>
                    <a:lnT>
                      <a:noFill/>
                    </a:lnT>
                    <a:lnB w="9525">
                      <a:solidFill>
                        <a:schemeClr val="accent6"/>
                      </a:solidFill>
                      <a:prstDash val="solid"/>
                    </a:lnB>
                    <a:solidFill>
                      <a:srgbClr val="E6F2F3"/>
                    </a:solidFill>
                  </a:tcPr>
                </a:tc>
                <a:tc>
                  <a:txBody>
                    <a:bodyPr/>
                    <a:lstStyle/>
                    <a:p>
                      <a:pPr algn="r"/>
                      <a:r>
                        <a:rPr lang="en-US" sz="2100" b="1">
                          <a:solidFill>
                            <a:schemeClr val="accent2"/>
                          </a:solidFill>
                          <a:latin typeface="Arial"/>
                          <a:ea typeface="Microsoft YaHei"/>
                          <a:cs typeface="Arial"/>
                        </a:rPr>
                        <a:t>0.18</a:t>
                      </a:r>
                    </a:p>
                  </a:txBody>
                  <a:tcPr anchor="ctr" marL="228600" marR="228600" marT="95250" marB="95250">
                    <a:lnL>
                      <a:noFill/>
                    </a:lnL>
                    <a:lnR>
                      <a:noFill/>
                    </a:lnR>
                    <a:lnT>
                      <a:noFill/>
                    </a:lnT>
                    <a:lnB w="9525">
                      <a:solidFill>
                        <a:schemeClr val="accent6"/>
                      </a:solidFill>
                      <a:prstDash val="solid"/>
                    </a:lnB>
                    <a:solidFill>
                      <a:srgbClr val="E6F2F3"/>
                    </a:solidFill>
                  </a:tcPr>
                </a:tc>
                <a:tc>
                  <a:txBody>
                    <a:bodyPr/>
                    <a:lstStyle/>
                    <a:p>
                      <a:pPr algn="r"/>
                      <a:r>
                        <a:rPr lang="en-US" sz="2100" b="1">
                          <a:solidFill>
                            <a:schemeClr val="accent2"/>
                          </a:solidFill>
                          <a:latin typeface="Arial"/>
                          <a:ea typeface="Microsoft YaHei"/>
                          <a:cs typeface="Arial"/>
                        </a:rPr>
                        <a:t>0.45</a:t>
                      </a:r>
                    </a:p>
                  </a:txBody>
                  <a:tcPr anchor="ctr" marL="228600" marR="228600" marT="95250" marB="95250">
                    <a:lnL>
                      <a:noFill/>
                    </a:lnL>
                    <a:lnR>
                      <a:noFill/>
                    </a:lnR>
                    <a:lnT>
                      <a:noFill/>
                    </a:lnT>
                    <a:lnB w="9525">
                      <a:solidFill>
                        <a:schemeClr val="accent6"/>
                      </a:solidFill>
                      <a:prstDash val="solid"/>
                    </a:lnB>
                    <a:solidFill>
                      <a:srgbClr val="E6F2F3"/>
                    </a:solidFill>
                  </a:tcPr>
                </a:tc>
                <a:tc>
                  <a:txBody>
                    <a:bodyPr/>
                    <a:lstStyle/>
                    <a:p>
                      <a:pPr algn="r"/>
                      <a:r>
                        <a:rPr lang="en-US" sz="2100" b="1">
                          <a:solidFill>
                            <a:schemeClr val="accent2"/>
                          </a:solidFill>
                          <a:latin typeface="Arial"/>
                          <a:ea typeface="Microsoft YaHei"/>
                          <a:cs typeface="Arial"/>
                        </a:rPr>
                        <a:t>0.63</a:t>
                      </a:r>
                    </a:p>
                  </a:txBody>
                  <a:tcPr anchor="ctr" marL="228600" marR="228600" marT="95250" marB="95250">
                    <a:lnL>
                      <a:noFill/>
                    </a:lnL>
                    <a:lnR>
                      <a:noFill/>
                    </a:lnR>
                    <a:lnT>
                      <a:noFill/>
                    </a:lnT>
                    <a:lnB w="9525">
                      <a:solidFill>
                        <a:schemeClr val="accent6"/>
                      </a:solidFill>
                      <a:prstDash val="solid"/>
                    </a:lnB>
                    <a:solidFill>
                      <a:srgbClr val="E6F2F3"/>
                    </a:solidFill>
                  </a:tcPr>
                </a:tc>
                <a:tc>
                  <a:txBody>
                    <a:bodyPr/>
                    <a:lstStyle/>
                    <a:p>
                      <a:pPr algn="ctr"/>
                      <a:r>
                        <a:rPr lang="en-US" sz="2100" b="1">
                          <a:solidFill>
                            <a:schemeClr val="accent2"/>
                          </a:solidFill>
                          <a:latin typeface="Arial"/>
                          <a:ea typeface="Microsoft YaHei"/>
                          <a:cs typeface="Arial"/>
                        </a:rPr>
                        <a:t>SELECT</a:t>
                      </a:r>
                    </a:p>
                  </a:txBody>
                  <a:tcPr anchor="ctr" marL="228600" marR="228600" marT="95250" marB="95250">
                    <a:lnL>
                      <a:noFill/>
                    </a:lnL>
                    <a:lnR>
                      <a:noFill/>
                    </a:lnR>
                    <a:lnT>
                      <a:noFill/>
                    </a:lnT>
                    <a:lnB w="9525">
                      <a:solidFill>
                        <a:schemeClr val="accent6"/>
                      </a:solidFill>
                      <a:prstDash val="solid"/>
                    </a:lnB>
                    <a:solidFill>
                      <a:srgbClr val="E6F2F3"/>
                    </a:solidFill>
                  </a:tcPr>
                </a:tc>
              </a:tr>
            </a:tbl>
          </a:graphicData>
        </a:graphic>
      </p:graphicFrame>
      <p:grpSp>
        <p:nvGrpSpPr>
          <p:cNvPr id="11" name="continuation-rule"/>
          <p:cNvGrpSpPr/>
          <p:nvPr/>
        </p:nvGrpSpPr>
        <p:grpSpPr>
          <a:xfrm>
            <a:off x="598932" y="5697855"/>
            <a:ext cx="8018430" cy="410718"/>
            <a:chOff x="598932" y="5697855"/>
            <a:chExt cx="8018430" cy="410718"/>
          </a:xfrm>
        </p:grpSpPr>
        <p:sp>
          <p:nvSpPr>
            <p:cNvPr id="10" name="TextBox 10"/>
            <p:cNvSpPr txBox="1"/>
            <p:nvPr/>
          </p:nvSpPr>
          <p:spPr>
            <a:xfrm>
              <a:off x="598932" y="5697855"/>
              <a:ext cx="8018430" cy="410718"/>
            </a:xfrm>
            <a:prstGeom prst="rect">
              <a:avLst/>
            </a:prstGeom>
            <a:noFill/>
            <a:ln>
              <a:noFill/>
            </a:ln>
          </p:spPr>
          <p:txBody>
            <a:bodyPr wrap="none" lIns="0" tIns="0" rIns="0" bIns="0" anchor="t" anchorCtr="0">
              <a:spAutoFit/>
            </a:bodyPr>
            <a:lstStyle/>
            <a:p>
              <a:pPr algn="l"/>
              <a:r>
                <a:rPr lang="en-US" sz="2100" dirty="0">
                  <a:solidFill>
                    <a:schemeClr val="accent1"/>
                  </a:solidFill>
                  <a:latin typeface="+mn-lt"/>
                  <a:ea typeface="+mn-ea"/>
                  <a:cs typeface="+mn-cs"/>
                </a:rPr>
                <a:t xml:space="preserve">RM input: </a:t>
              </a:r>
              <a:r>
                <a:rPr lang="en-US" sz="2100" b="1" dirty="0">
                  <a:solidFill>
                    <a:schemeClr val="accent1"/>
                  </a:solidFill>
                  <a:latin typeface="+mn-lt"/>
                  <a:ea typeface="+mn-ea"/>
                  <a:cs typeface="+mn-cs"/>
                </a:rPr>
                <a:t>[s, candidate token]</a:t>
              </a:r>
              <a:r>
                <a:rPr lang="en-US" sz="2100" dirty="0">
                  <a:solidFill>
                    <a:schemeClr val="accent1"/>
                  </a:solidFill>
                  <a:latin typeface="+mn-lt"/>
                  <a:ea typeface="+mn-ea"/>
                  <a:cs typeface="+mn-cs"/>
                </a:rPr>
                <a:t>. Append the winner and repeat.</a:t>
              </a:r>
            </a:p>
          </p:txBody>
        </p:sp>
      </p:grpSp>
      <p:grpSp>
        <p:nvGrpSpPr>
          <p:cNvPr id="14" name="footer"/>
          <p:cNvGrpSpPr/>
          <p:nvPr/>
        </p:nvGrpSpPr>
        <p:grpSpPr>
          <a:xfrm>
            <a:off x="603504" y="6395085"/>
            <a:ext cx="10984992" cy="234696"/>
            <a:chOff x="603504" y="6395085"/>
            <a:chExt cx="10984992" cy="234696"/>
          </a:xfrm>
        </p:grpSpPr>
        <p:sp>
          <p:nvSpPr>
            <p:cNvPr id="12" name="TextBox 12"/>
            <p:cNvSpPr txBox="1"/>
            <p:nvPr/>
          </p:nvSpPr>
          <p:spPr>
            <a:xfrm>
              <a:off x="603504" y="6395085"/>
              <a:ext cx="632033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Source: Eq. (1); Algorithm 1, lines 7–11. Raw-reward paper rule; all numbers illustrative.</a:t>
              </a:r>
            </a:p>
          </p:txBody>
        </p:sp>
        <p:sp>
          <p:nvSpPr>
            <p:cNvPr id="13" name="TextBox 13"/>
            <p:cNvSpPr txBox="1"/>
            <p:nvPr/>
          </p:nvSpPr>
          <p:spPr>
            <a:xfrm>
              <a:off x="11082270" y="6395085"/>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04 / 08</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70535"/>
            <a:ext cx="7899554" cy="952119"/>
            <a:chOff x="592836" y="470535"/>
            <a:chExt cx="7899554" cy="952119"/>
          </a:xfrm>
        </p:grpSpPr>
        <p:sp>
          <p:nvSpPr>
            <p:cNvPr id="2" name="TextBox 2"/>
            <p:cNvSpPr txBox="1"/>
            <p:nvPr/>
          </p:nvSpPr>
          <p:spPr>
            <a:xfrm>
              <a:off x="603504" y="470535"/>
              <a:ext cx="3236898"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05 / TWO TOKEN-SELECTION POLICIES</a:t>
              </a:r>
            </a:p>
          </p:txBody>
        </p:sp>
        <p:sp>
          <p:nvSpPr>
            <p:cNvPr id="3" name="TextBox 3"/>
            <p:cNvSpPr txBox="1"/>
            <p:nvPr/>
          </p:nvSpPr>
          <p:spPr>
            <a:xfrm>
              <a:off x="592836" y="777240"/>
              <a:ext cx="7899554"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Shared candidates, separate prefixes</a:t>
              </a:r>
            </a:p>
          </p:txBody>
        </p:sp>
      </p:grpSp>
      <mc:AlternateContent xmlns:mc="http://schemas.openxmlformats.org/markup-compatibility/2006">
        <mc:Choice xmlns:a14="http://schemas.microsoft.com/office/drawing/2010/main" Requires="a14">
          <p:sp>
            <p:nvSpPr>
              <p:cNvPr id="5" name="candidate-union"/>
              <p:cNvSpPr txBox="1">
                <a:spLocks noGrp="1"/>
              </p:cNvSpPr>
              <p:nvPr/>
            </p:nvSpPr>
            <p:spPr>
              <a:xfrm>
                <a:off x="609600" y="1571625"/>
                <a:ext cx="10972800" cy="66675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r>
                        <m:rPr>
                          <m:scr m:val="script"/>
                          <m:sty m:val="p"/>
                        </m:rPr>
                        <a:rPr lang="en-US" sz="2250" dirty="0">
                          <a:solidFill>
                            <a:srgbClr val="10243A"/>
                          </a:solidFill>
                          <a:latin typeface="Cambria Math"/>
                          <a:ea typeface="Cambria Math"/>
                          <a:cs typeface="Cambria Math"/>
                        </a:rPr>
                        <m:t>C</m:t>
                      </m:r>
                      <m:r>
                        <m:rPr>
                          <m:sty m:val="p"/>
                        </m:rPr>
                        <a:rPr lang="en-US" sz="2250" dirty="0">
                          <a:solidFill>
                            <a:srgbClr val="10243A"/>
                          </a:solidFill>
                          <a:latin typeface="Cambria Math"/>
                          <a:ea typeface="Cambria Math"/>
                          <a:cs typeface="Cambria Math"/>
                        </a:rPr>
                        <m:t>=</m:t>
                      </m:r>
                      <m:func>
                        <m:funcPr/>
                        <m:fName>
                          <m:r>
                            <m:rPr>
                              <m:sty m:val="p"/>
                            </m:rPr>
                            <a:rPr lang="en-US" sz="2250" dirty="0">
                              <a:solidFill>
                                <a:srgbClr val="10243A"/>
                              </a:solidFill>
                              <a:latin typeface="Cambria Math"/>
                              <a:ea typeface="Cambria Math"/>
                              <a:cs typeface="Cambria Math"/>
                            </a:rPr>
                            <m:t>Top40</m:t>
                          </m:r>
                        </m:fName>
                        <m:e>
                          <m:d>
                            <m:dPr>
                              <m:begChr m:val="("/>
                              <m:sepChr m:val=""/>
                              <m:endChr m:val=")"/>
                              <m:grow m:val="on"/>
                              <m:ctrlPr>
                                <a:rPr lang="en-US" sz="2250" dirty="0">
                                  <a:solidFill>
                                    <a:srgbClr val="10243A"/>
                                  </a:solidFill>
                                  <a:latin typeface="Cambria Math"/>
                                  <a:ea typeface="Cambria Math"/>
                                  <a:cs typeface="Cambria Math"/>
                                </a:rPr>
                              </m:ctrlPr>
                            </m:dPr>
                            <m:e>
                              <m:sSub>
                                <m:e>
                                  <m:r>
                                    <a:rPr lang="en-US" sz="2250" dirty="0">
                                      <a:solidFill>
                                        <a:srgbClr val="10243A"/>
                                      </a:solidFill>
                                      <a:latin typeface="Cambria Math"/>
                                      <a:ea typeface="Cambria Math"/>
                                      <a:cs typeface="Cambria Math"/>
                                    </a:rPr>
                                    <m:t>π</m:t>
                                  </m:r>
                                </m:e>
                                <m:sub>
                                  <m:r>
                                    <a:rPr lang="en-US" sz="2250" dirty="0">
                                      <a:solidFill>
                                        <a:srgbClr val="10243A"/>
                                      </a:solidFill>
                                      <a:latin typeface="Cambria Math"/>
                                      <a:ea typeface="Cambria Math"/>
                                      <a:cs typeface="Cambria Math"/>
                                    </a:rPr>
                                    <m:t>1</m:t>
                                  </m:r>
                                </m:sub>
                              </m:sSub>
                            </m:e>
                          </m:d>
                        </m:e>
                      </m:func>
                      <m:r>
                        <m:rPr>
                          <m:sty m:val="p"/>
                        </m:rPr>
                        <a:rPr lang="en-US" sz="2250" dirty="0">
                          <a:solidFill>
                            <a:srgbClr val="10243A"/>
                          </a:solidFill>
                          <a:latin typeface="Cambria Math"/>
                          <a:ea typeface="Cambria Math"/>
                          <a:cs typeface="Cambria Math"/>
                        </a:rPr>
                        <m:t>∪</m:t>
                      </m:r>
                      <m:func>
                        <m:funcPr/>
                        <m:fName>
                          <m:r>
                            <m:rPr>
                              <m:sty m:val="p"/>
                            </m:rPr>
                            <a:rPr lang="en-US" sz="2250" dirty="0">
                              <a:solidFill>
                                <a:srgbClr val="10243A"/>
                              </a:solidFill>
                              <a:latin typeface="Cambria Math"/>
                              <a:ea typeface="Cambria Math"/>
                              <a:cs typeface="Cambria Math"/>
                            </a:rPr>
                            <m:t>Top40</m:t>
                          </m:r>
                        </m:fName>
                        <m:e>
                          <m:d>
                            <m:dPr>
                              <m:begChr m:val="("/>
                              <m:sepChr m:val=""/>
                              <m:endChr m:val=")"/>
                              <m:grow m:val="on"/>
                              <m:ctrlPr>
                                <a:rPr lang="en-US" sz="2250" dirty="0">
                                  <a:solidFill>
                                    <a:srgbClr val="10243A"/>
                                  </a:solidFill>
                                  <a:latin typeface="Cambria Math"/>
                                  <a:ea typeface="Cambria Math"/>
                                  <a:cs typeface="Cambria Math"/>
                                </a:rPr>
                              </m:ctrlPr>
                            </m:dPr>
                            <m:e>
                              <m:sSub>
                                <m:e>
                                  <m:r>
                                    <a:rPr lang="en-US" sz="2250" dirty="0">
                                      <a:solidFill>
                                        <a:srgbClr val="10243A"/>
                                      </a:solidFill>
                                      <a:latin typeface="Cambria Math"/>
                                      <a:ea typeface="Cambria Math"/>
                                      <a:cs typeface="Cambria Math"/>
                                    </a:rPr>
                                    <m:t>π</m:t>
                                  </m:r>
                                </m:e>
                                <m:sub>
                                  <m:r>
                                    <a:rPr lang="en-US" sz="2250" dirty="0">
                                      <a:solidFill>
                                        <a:srgbClr val="10243A"/>
                                      </a:solidFill>
                                      <a:latin typeface="Cambria Math"/>
                                      <a:ea typeface="Cambria Math"/>
                                      <a:cs typeface="Cambria Math"/>
                                    </a:rPr>
                                    <m:t>2</m:t>
                                  </m:r>
                                </m:sub>
                              </m:sSub>
                            </m:e>
                          </m:d>
                        </m:e>
                      </m:func>
                      <m:r>
                        <m:rPr>
                          <m:sty m:val="p"/>
                        </m:rPr>
                        <a:rPr lang="en-US" sz="2250" dirty="0">
                          <a:solidFill>
                            <a:srgbClr val="10243A"/>
                          </a:solidFill>
                          <a:latin typeface="Cambria Math"/>
                          <a:ea typeface="Cambria Math"/>
                          <a:cs typeface="Cambria Math"/>
                        </a:rPr>
                        <m:t>,</m:t>
                      </m:r>
                      <m:r>
                        <a:rPr lang="en-US" sz="2250" dirty="0">
                          <a:solidFill>
                            <a:srgbClr val="10243A"/>
                          </a:solidFill>
                          <a:latin typeface="Cambria Math"/>
                          <a:ea typeface="Cambria Math"/>
                          <a:cs typeface="Cambria Math"/>
                        </a:rPr>
                        <m:t xml:space="preserve"> </m:t>
                      </m:r>
                      <m:d>
                        <m:dPr>
                          <m:begChr m:val="|"/>
                          <m:sepChr m:val=""/>
                          <m:endChr m:val="|"/>
                          <m:grow m:val="on"/>
                          <m:ctrlPr>
                            <a:rPr lang="en-US" sz="2250" dirty="0">
                              <a:solidFill>
                                <a:srgbClr val="10243A"/>
                              </a:solidFill>
                              <a:latin typeface="Cambria Math"/>
                              <a:ea typeface="Cambria Math"/>
                              <a:cs typeface="Cambria Math"/>
                            </a:rPr>
                          </m:ctrlPr>
                        </m:dPr>
                        <m:e>
                          <m:r>
                            <m:rPr>
                              <m:scr m:val="script"/>
                              <m:sty m:val="p"/>
                            </m:rPr>
                            <a:rPr lang="en-US" sz="2250" dirty="0">
                              <a:solidFill>
                                <a:srgbClr val="10243A"/>
                              </a:solidFill>
                              <a:latin typeface="Cambria Math"/>
                              <a:ea typeface="Cambria Math"/>
                              <a:cs typeface="Cambria Math"/>
                            </a:rPr>
                            <m:t>C</m:t>
                          </m:r>
                        </m:e>
                      </m:d>
                      <m:r>
                        <m:rPr>
                          <m:sty m:val="p"/>
                        </m:rPr>
                        <a:rPr lang="en-US" sz="2250" dirty="0">
                          <a:solidFill>
                            <a:srgbClr val="10243A"/>
                          </a:solidFill>
                          <a:latin typeface="Cambria Math"/>
                          <a:ea typeface="Cambria Math"/>
                          <a:cs typeface="Cambria Math"/>
                        </a:rPr>
                        <m:t>≤</m:t>
                      </m:r>
                      <m:r>
                        <a:rPr lang="en-US" sz="2250" dirty="0">
                          <a:solidFill>
                            <a:srgbClr val="10243A"/>
                          </a:solidFill>
                          <a:latin typeface="Cambria Math"/>
                          <a:ea typeface="Cambria Math"/>
                          <a:cs typeface="Cambria Math"/>
                        </a:rPr>
                        <m:t>80</m:t>
                      </m:r>
                    </m:oMath>
                  </m:oMathPara>
                </a14:m>
              </a:p>
            </p:txBody>
          </p:sp>
        </mc:Choice>
      </mc:AlternateContent>
      <p:grpSp>
        <p:nvGrpSpPr>
          <p:cNvPr id="29" name="candidate-routing"/>
          <p:cNvGrpSpPr/>
          <p:nvPr/>
        </p:nvGrpSpPr>
        <p:grpSpPr>
          <a:xfrm>
            <a:off x="609600" y="2495550"/>
            <a:ext cx="10972800" cy="2895600"/>
            <a:chOff x="609600" y="2495550"/>
            <a:chExt cx="10972800" cy="2895600"/>
          </a:xfrm>
        </p:grpSpPr>
        <p:sp>
          <p:nvSpPr>
            <p:cNvPr id="6" name="Rectangle 6"/>
            <p:cNvSpPr/>
            <p:nvPr/>
          </p:nvSpPr>
          <p:spPr>
            <a:xfrm>
              <a:off x="609600" y="2505075"/>
              <a:ext cx="2705100" cy="962025"/>
            </a:xfrm>
            <a:prstGeom prst="rect">
              <a:avLst/>
            </a:prstGeom>
            <a:solidFill>
              <a:srgbClr val="E6F2F3"/>
            </a:solidFill>
            <a:ln>
              <a:noFill/>
            </a:ln>
          </p:spPr>
        </p:sp>
        <p:sp>
          <p:nvSpPr>
            <p:cNvPr id="7" name="TextBox 7"/>
            <p:cNvSpPr txBox="1"/>
            <p:nvPr/>
          </p:nvSpPr>
          <p:spPr>
            <a:xfrm>
              <a:off x="818007" y="2668905"/>
              <a:ext cx="2276656"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Prefix s₁ → LLM</a:t>
              </a:r>
            </a:p>
          </p:txBody>
        </p:sp>
        <p:sp>
          <p:nvSpPr>
            <p:cNvPr id="8" name="TextBox 8"/>
            <p:cNvSpPr txBox="1"/>
            <p:nvPr/>
          </p:nvSpPr>
          <p:spPr>
            <a:xfrm>
              <a:off x="820293" y="3060382"/>
              <a:ext cx="1914280"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Top 40 next tokens</a:t>
              </a:r>
            </a:p>
          </p:txBody>
        </p:sp>
        <p:sp>
          <p:nvSpPr>
            <p:cNvPr id="9" name="Rectangle 9"/>
            <p:cNvSpPr/>
            <p:nvPr/>
          </p:nvSpPr>
          <p:spPr>
            <a:xfrm>
              <a:off x="609600" y="4171950"/>
              <a:ext cx="2705100" cy="962025"/>
            </a:xfrm>
            <a:prstGeom prst="rect">
              <a:avLst/>
            </a:prstGeom>
            <a:solidFill>
              <a:srgbClr val="FBEEE4"/>
            </a:solidFill>
            <a:ln>
              <a:noFill/>
            </a:ln>
          </p:spPr>
        </p:sp>
        <p:sp>
          <p:nvSpPr>
            <p:cNvPr id="10" name="TextBox 10"/>
            <p:cNvSpPr txBox="1"/>
            <p:nvPr/>
          </p:nvSpPr>
          <p:spPr>
            <a:xfrm>
              <a:off x="818007" y="4335780"/>
              <a:ext cx="2276656" cy="410718"/>
            </a:xfrm>
            <a:prstGeom prst="rect">
              <a:avLst/>
            </a:prstGeom>
            <a:noFill/>
            <a:ln>
              <a:noFill/>
            </a:ln>
          </p:spPr>
          <p:txBody>
            <a:bodyPr wrap="none" lIns="0" tIns="0" rIns="0" bIns="0" anchor="t" anchorCtr="0">
              <a:spAutoFit/>
            </a:bodyPr>
            <a:lstStyle/>
            <a:p>
              <a:pPr algn="l"/>
              <a:r>
                <a:rPr lang="en-US" sz="2100" b="1" dirty="0">
                  <a:solidFill>
                    <a:schemeClr val="accent3"/>
                  </a:solidFill>
                  <a:latin typeface="+mn-lt"/>
                  <a:ea typeface="+mn-ea"/>
                  <a:cs typeface="+mn-cs"/>
                </a:rPr>
                <a:t>Prefix s₂ → LLM</a:t>
              </a:r>
            </a:p>
          </p:txBody>
        </p:sp>
        <p:sp>
          <p:nvSpPr>
            <p:cNvPr id="11" name="TextBox 11"/>
            <p:cNvSpPr txBox="1"/>
            <p:nvPr/>
          </p:nvSpPr>
          <p:spPr>
            <a:xfrm>
              <a:off x="820293" y="4727258"/>
              <a:ext cx="1914280"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Top 40 next tokens</a:t>
              </a:r>
            </a:p>
          </p:txBody>
        </p:sp>
        <p:sp>
          <p:nvSpPr>
            <p:cNvPr id="12" name="Line 12"/>
            <p:cNvSpPr/>
            <p:nvPr/>
          </p:nvSpPr>
          <p:spPr>
            <a:xfrm>
              <a:off x="3467100" y="2981325"/>
              <a:ext cx="714375" cy="457200"/>
            </a:xfrm>
            <a:prstGeom prst="line">
              <a:avLst/>
            </a:prstGeom>
            <a:noFill/>
            <a:ln w="19050">
              <a:solidFill>
                <a:schemeClr val="accent1"/>
              </a:solidFill>
              <a:tailEnd type="arrow" w="med" len="med"/>
            </a:ln>
          </p:spPr>
        </p:sp>
        <p:sp>
          <p:nvSpPr>
            <p:cNvPr id="13" name="Line 13"/>
            <p:cNvSpPr/>
            <p:nvPr/>
          </p:nvSpPr>
          <p:spPr>
            <a:xfrm flipV="1">
              <a:off x="3467100" y="4076700"/>
              <a:ext cx="714375" cy="571500"/>
            </a:xfrm>
            <a:prstGeom prst="line">
              <a:avLst/>
            </a:prstGeom>
            <a:noFill/>
            <a:ln w="19050">
              <a:solidFill>
                <a:schemeClr val="accent1"/>
              </a:solidFill>
              <a:tailEnd type="arrow" w="med" len="med"/>
            </a:ln>
          </p:spPr>
        </p:sp>
        <p:sp>
          <p:nvSpPr>
            <p:cNvPr id="14" name="Rectangle 14"/>
            <p:cNvSpPr/>
            <p:nvPr/>
          </p:nvSpPr>
          <p:spPr>
            <a:xfrm>
              <a:off x="4333875" y="3219450"/>
              <a:ext cx="2343150" cy="1143000"/>
            </a:xfrm>
            <a:prstGeom prst="rect">
              <a:avLst/>
            </a:prstGeom>
            <a:solidFill>
              <a:schemeClr val="accent1"/>
            </a:solidFill>
            <a:ln>
              <a:noFill/>
            </a:ln>
          </p:spPr>
        </p:sp>
        <p:sp>
          <p:nvSpPr>
            <p:cNvPr id="15" name="TextBox 15"/>
            <p:cNvSpPr txBox="1"/>
            <p:nvPr/>
          </p:nvSpPr>
          <p:spPr>
            <a:xfrm>
              <a:off x="4526816" y="3402330"/>
              <a:ext cx="1957268" cy="410718"/>
            </a:xfrm>
            <a:prstGeom prst="rect">
              <a:avLst/>
            </a:prstGeom>
            <a:noFill/>
            <a:ln>
              <a:noFill/>
            </a:ln>
          </p:spPr>
          <p:txBody>
            <a:bodyPr wrap="none" lIns="0" tIns="0" rIns="0" bIns="0" anchor="t" anchorCtr="0">
              <a:spAutoFit/>
            </a:bodyPr>
            <a:lstStyle/>
            <a:p>
              <a:pPr algn="ctr"/>
              <a:r>
                <a:rPr lang="en-US" sz="2100" b="1" dirty="0">
                  <a:solidFill>
                    <a:srgbClr val="FFFFFF"/>
                  </a:solidFill>
                  <a:latin typeface="+mn-lt"/>
                  <a:ea typeface="+mn-ea"/>
                  <a:cs typeface="+mn-cs"/>
                </a:rPr>
                <a:t>Shared pool C</a:t>
              </a:r>
            </a:p>
          </p:txBody>
        </p:sp>
        <p:sp>
          <p:nvSpPr>
            <p:cNvPr id="16" name="TextBox 16"/>
            <p:cNvSpPr txBox="1"/>
            <p:nvPr/>
          </p:nvSpPr>
          <p:spPr>
            <a:xfrm>
              <a:off x="4914519" y="3870008"/>
              <a:ext cx="1181861" cy="322707"/>
            </a:xfrm>
            <a:prstGeom prst="rect">
              <a:avLst/>
            </a:prstGeom>
            <a:noFill/>
            <a:ln>
              <a:noFill/>
            </a:ln>
          </p:spPr>
          <p:txBody>
            <a:bodyPr wrap="none" lIns="0" tIns="0" rIns="0" bIns="0" anchor="t" anchorCtr="0">
              <a:spAutoFit/>
            </a:bodyPr>
            <a:lstStyle/>
            <a:p>
              <a:pPr algn="ctr"/>
              <a:r>
                <a:rPr lang="en-US" sz="1650" dirty="0">
                  <a:solidFill>
                    <a:srgbClr val="FFFFFF"/>
                  </a:solidFill>
                  <a:latin typeface="+mn-lt"/>
                  <a:ea typeface="+mn-ea"/>
                  <a:cs typeface="+mn-cs"/>
                </a:rPr>
                <a:t>Every v ∈ C</a:t>
              </a:r>
            </a:p>
          </p:txBody>
        </p:sp>
        <p:sp>
          <p:nvSpPr>
            <p:cNvPr id="17" name="Line 17"/>
            <p:cNvSpPr/>
            <p:nvPr/>
          </p:nvSpPr>
          <p:spPr>
            <a:xfrm flipV="1">
              <a:off x="6819900" y="3028950"/>
              <a:ext cx="600075" cy="400050"/>
            </a:xfrm>
            <a:prstGeom prst="line">
              <a:avLst/>
            </a:prstGeom>
            <a:noFill/>
            <a:ln w="19050">
              <a:solidFill>
                <a:schemeClr val="accent1"/>
              </a:solidFill>
              <a:tailEnd type="arrow" w="med" len="med"/>
            </a:ln>
          </p:spPr>
        </p:sp>
        <p:sp>
          <p:nvSpPr>
            <p:cNvPr id="18" name="Line 18"/>
            <p:cNvSpPr/>
            <p:nvPr/>
          </p:nvSpPr>
          <p:spPr>
            <a:xfrm>
              <a:off x="6819900" y="4086225"/>
              <a:ext cx="600075" cy="542925"/>
            </a:xfrm>
            <a:prstGeom prst="line">
              <a:avLst/>
            </a:prstGeom>
            <a:noFill/>
            <a:ln w="19050">
              <a:solidFill>
                <a:schemeClr val="accent1"/>
              </a:solidFill>
              <a:tailEnd type="arrow" w="med" len="med"/>
            </a:ln>
          </p:spPr>
        </p:sp>
        <p:sp>
          <p:nvSpPr>
            <p:cNvPr id="19" name="Rectangle 19"/>
            <p:cNvSpPr/>
            <p:nvPr/>
          </p:nvSpPr>
          <p:spPr>
            <a:xfrm>
              <a:off x="7572375" y="2495550"/>
              <a:ext cx="4010025" cy="1200150"/>
            </a:xfrm>
            <a:prstGeom prst="rect">
              <a:avLst/>
            </a:prstGeom>
            <a:solidFill>
              <a:srgbClr val="E6F2F3"/>
            </a:solidFill>
            <a:ln>
              <a:noFill/>
            </a:ln>
          </p:spPr>
        </p:sp>
        <p:sp>
          <p:nvSpPr>
            <p:cNvPr id="20" name="TextBox 20"/>
            <p:cNvSpPr txBox="1"/>
            <p:nvPr/>
          </p:nvSpPr>
          <p:spPr>
            <a:xfrm>
              <a:off x="7790307" y="2649855"/>
              <a:ext cx="2560918"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[s₁, v] → same RM</a:t>
              </a:r>
            </a:p>
          </p:txBody>
        </p:sp>
        <p:sp>
          <p:nvSpPr>
            <p:cNvPr id="21" name="TextBox 21"/>
            <p:cNvSpPr txBox="1"/>
            <p:nvPr/>
          </p:nvSpPr>
          <p:spPr>
            <a:xfrm>
              <a:off x="7792593" y="3060382"/>
              <a:ext cx="2217755"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Reward vector r₁: (C,)</a:t>
              </a:r>
            </a:p>
          </p:txBody>
        </p:sp>
        <p:sp>
          <p:nvSpPr>
            <p:cNvPr id="22" name="TextBox 22"/>
            <p:cNvSpPr txBox="1"/>
            <p:nvPr/>
          </p:nvSpPr>
          <p:spPr>
            <a:xfrm>
              <a:off x="7792593" y="3374708"/>
              <a:ext cx="1973204"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mn-lt"/>
                  <a:ea typeface="+mn-ea"/>
                  <a:cs typeface="+mn-cs"/>
                </a:rPr>
                <a:t>Pick argmax score₁</a:t>
              </a:r>
            </a:p>
          </p:txBody>
        </p:sp>
        <p:sp>
          <p:nvSpPr>
            <p:cNvPr id="23" name="Rectangle 23"/>
            <p:cNvSpPr/>
            <p:nvPr/>
          </p:nvSpPr>
          <p:spPr>
            <a:xfrm>
              <a:off x="7572375" y="4057650"/>
              <a:ext cx="4010025" cy="1333500"/>
            </a:xfrm>
            <a:prstGeom prst="rect">
              <a:avLst/>
            </a:prstGeom>
            <a:solidFill>
              <a:srgbClr val="FBEEE4"/>
            </a:solidFill>
            <a:ln>
              <a:noFill/>
            </a:ln>
          </p:spPr>
        </p:sp>
        <p:sp>
          <p:nvSpPr>
            <p:cNvPr id="24" name="TextBox 24"/>
            <p:cNvSpPr txBox="1"/>
            <p:nvPr/>
          </p:nvSpPr>
          <p:spPr>
            <a:xfrm>
              <a:off x="7790307" y="4221480"/>
              <a:ext cx="2560918" cy="410718"/>
            </a:xfrm>
            <a:prstGeom prst="rect">
              <a:avLst/>
            </a:prstGeom>
            <a:noFill/>
            <a:ln>
              <a:noFill/>
            </a:ln>
          </p:spPr>
          <p:txBody>
            <a:bodyPr wrap="none" lIns="0" tIns="0" rIns="0" bIns="0" anchor="t" anchorCtr="0">
              <a:spAutoFit/>
            </a:bodyPr>
            <a:lstStyle/>
            <a:p>
              <a:pPr algn="l"/>
              <a:r>
                <a:rPr lang="en-US" sz="2100" b="1" dirty="0">
                  <a:solidFill>
                    <a:schemeClr val="accent3"/>
                  </a:solidFill>
                  <a:latin typeface="+mn-lt"/>
                  <a:ea typeface="+mn-ea"/>
                  <a:cs typeface="+mn-cs"/>
                </a:rPr>
                <a:t>[s₂, v] → same RM</a:t>
              </a:r>
            </a:p>
          </p:txBody>
        </p:sp>
        <p:sp>
          <p:nvSpPr>
            <p:cNvPr id="25" name="TextBox 25"/>
            <p:cNvSpPr txBox="1"/>
            <p:nvPr/>
          </p:nvSpPr>
          <p:spPr>
            <a:xfrm>
              <a:off x="7792593" y="4632008"/>
              <a:ext cx="2217755"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Reward vector r₂: (C,)</a:t>
              </a:r>
            </a:p>
          </p:txBody>
        </p:sp>
        <p:sp>
          <p:nvSpPr>
            <p:cNvPr id="26" name="TextBox 26"/>
            <p:cNvSpPr txBox="1"/>
            <p:nvPr/>
          </p:nvSpPr>
          <p:spPr>
            <a:xfrm>
              <a:off x="7792593" y="4993958"/>
              <a:ext cx="2918639"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Pick argmax(score₂ + bonus)</a:t>
              </a:r>
            </a:p>
          </p:txBody>
        </p:sp>
        <p:sp>
          <p:nvSpPr>
            <p:cNvPr id="27" name="TextBox 27"/>
            <p:cNvSpPr txBox="1"/>
            <p:nvPr/>
          </p:nvSpPr>
          <p:spPr>
            <a:xfrm>
              <a:off x="4592193" y="4670108"/>
              <a:ext cx="1937798"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Tokens are shared.</a:t>
              </a:r>
            </a:p>
          </p:txBody>
        </p:sp>
        <p:sp>
          <p:nvSpPr>
            <p:cNvPr id="28" name="TextBox 28"/>
            <p:cNvSpPr txBox="1"/>
            <p:nvPr/>
          </p:nvSpPr>
          <p:spPr>
            <a:xfrm>
              <a:off x="4592193" y="4984432"/>
              <a:ext cx="1863552"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Prefixes are kept.</a:t>
              </a:r>
            </a:p>
          </p:txBody>
        </p:sp>
      </p:grpSp>
      <p:grpSp>
        <p:nvGrpSpPr>
          <p:cNvPr id="31" name="coupling"/>
          <p:cNvGrpSpPr/>
          <p:nvPr/>
        </p:nvGrpSpPr>
        <p:grpSpPr>
          <a:xfrm>
            <a:off x="598932" y="5793105"/>
            <a:ext cx="9927628" cy="410718"/>
            <a:chOff x="598932" y="5793105"/>
            <a:chExt cx="9927628" cy="410718"/>
          </a:xfrm>
        </p:grpSpPr>
        <p:sp>
          <p:nvSpPr>
            <p:cNvPr id="30" name="TextBox 30"/>
            <p:cNvSpPr txBox="1"/>
            <p:nvPr/>
          </p:nvSpPr>
          <p:spPr>
            <a:xfrm>
              <a:off x="598932" y="5793105"/>
              <a:ext cx="9927628" cy="410718"/>
            </a:xfrm>
            <a:prstGeom prst="rect">
              <a:avLst/>
            </a:prstGeom>
            <a:noFill/>
            <a:ln>
              <a:noFill/>
            </a:ln>
          </p:spPr>
          <p:txBody>
            <a:bodyPr wrap="none" lIns="0" tIns="0" rIns="0" bIns="0" anchor="t" anchorCtr="0">
              <a:spAutoFit/>
            </a:bodyPr>
            <a:lstStyle/>
            <a:p>
              <a:pPr algn="l"/>
              <a:r>
                <a:rPr lang="en-US" sz="2100" dirty="0">
                  <a:solidFill>
                    <a:schemeClr val="accent1"/>
                  </a:solidFill>
                  <a:latin typeface="+mn-lt"/>
                  <a:ea typeface="+mn-ea"/>
                  <a:cs typeface="+mn-cs"/>
                </a:rPr>
                <a:t xml:space="preserve">Exploration also uses the </a:t>
              </a:r>
              <a:r>
                <a:rPr lang="en-US" sz="2100" b="1" dirty="0">
                  <a:solidFill>
                    <a:schemeClr val="accent1"/>
                  </a:solidFill>
                  <a:latin typeface="+mn-lt"/>
                  <a:ea typeface="+mn-ea"/>
                  <a:cs typeface="+mn-cs"/>
                </a:rPr>
                <a:t>selected exploitation continuation</a:t>
              </a:r>
              <a:r>
                <a:rPr lang="en-US" sz="2100" dirty="0">
                  <a:solidFill>
                    <a:schemeClr val="accent1"/>
                  </a:solidFill>
                  <a:latin typeface="+mn-lt"/>
                  <a:ea typeface="+mn-ea"/>
                  <a:cs typeface="+mn-cs"/>
                </a:rPr>
                <a:t xml:space="preserve"> as its reference.</a:t>
              </a:r>
            </a:p>
          </p:txBody>
        </p:sp>
      </p:grpSp>
      <p:grpSp>
        <p:nvGrpSpPr>
          <p:cNvPr id="34" name="footer"/>
          <p:cNvGrpSpPr/>
          <p:nvPr/>
        </p:nvGrpSpPr>
        <p:grpSpPr>
          <a:xfrm>
            <a:off x="603504" y="6395085"/>
            <a:ext cx="10984992" cy="234696"/>
            <a:chOff x="603504" y="6395085"/>
            <a:chExt cx="10984992" cy="234696"/>
          </a:xfrm>
        </p:grpSpPr>
        <p:sp>
          <p:nvSpPr>
            <p:cNvPr id="32" name="TextBox 32"/>
            <p:cNvSpPr txBox="1"/>
            <p:nvPr/>
          </p:nvSpPr>
          <p:spPr>
            <a:xfrm>
              <a:off x="603504" y="6395085"/>
              <a:ext cx="4635586"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Source: Algorithm 1, lines 4–12. Both prefixes contain the query.</a:t>
              </a:r>
            </a:p>
          </p:txBody>
        </p:sp>
        <p:sp>
          <p:nvSpPr>
            <p:cNvPr id="33" name="TextBox 33"/>
            <p:cNvSpPr txBox="1"/>
            <p:nvPr/>
          </p:nvSpPr>
          <p:spPr>
            <a:xfrm>
              <a:off x="11082270" y="6395085"/>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05 / 08</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70535"/>
            <a:ext cx="8688221" cy="952119"/>
            <a:chOff x="592836" y="470535"/>
            <a:chExt cx="8688221" cy="952119"/>
          </a:xfrm>
        </p:grpSpPr>
        <p:sp>
          <p:nvSpPr>
            <p:cNvPr id="2" name="TextBox 2"/>
            <p:cNvSpPr txBox="1"/>
            <p:nvPr/>
          </p:nvSpPr>
          <p:spPr>
            <a:xfrm>
              <a:off x="603504" y="470535"/>
              <a:ext cx="221280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06 / EXPLORATION BONUS</a:t>
              </a:r>
            </a:p>
          </p:txBody>
        </p:sp>
        <p:sp>
          <p:nvSpPr>
            <p:cNvPr id="3" name="TextBox 3"/>
            <p:cNvSpPr txBox="1"/>
            <p:nvPr/>
          </p:nvSpPr>
          <p:spPr>
            <a:xfrm>
              <a:off x="592836" y="777240"/>
              <a:ext cx="8688221"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Explore uncertain preference differences</a:t>
              </a:r>
            </a:p>
          </p:txBody>
        </p:sp>
      </p:grpSp>
      <p:grpSp>
        <p:nvGrpSpPr>
          <p:cNvPr id="8" name="reference-gradient"/>
          <p:cNvGrpSpPr/>
          <p:nvPr/>
        </p:nvGrpSpPr>
        <p:grpSpPr>
          <a:xfrm>
            <a:off x="609600" y="1619250"/>
            <a:ext cx="5200650" cy="1438275"/>
            <a:chOff x="609600" y="1619250"/>
            <a:chExt cx="5200650" cy="1438275"/>
          </a:xfrm>
        </p:grpSpPr>
        <p:sp>
          <p:nvSpPr>
            <p:cNvPr id="5" name="Rectangle 5"/>
            <p:cNvSpPr/>
            <p:nvPr/>
          </p:nvSpPr>
          <p:spPr>
            <a:xfrm>
              <a:off x="609600" y="1619250"/>
              <a:ext cx="5200650" cy="1438275"/>
            </a:xfrm>
            <a:prstGeom prst="rect">
              <a:avLst/>
            </a:prstGeom>
            <a:solidFill>
              <a:srgbClr val="E6F2F3"/>
            </a:solidFill>
            <a:ln>
              <a:noFill/>
            </a:ln>
          </p:spPr>
        </p:sp>
        <p:sp>
          <p:nvSpPr>
            <p:cNvPr id="6" name="TextBox 6"/>
            <p:cNvSpPr txBox="1"/>
            <p:nvPr/>
          </p:nvSpPr>
          <p:spPr>
            <a:xfrm>
              <a:off x="829818" y="1803082"/>
              <a:ext cx="3680509"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EXPLOITATION WINNER (FIXED)</a:t>
              </a:r>
            </a:p>
          </p:txBody>
        </p:sp>
        <mc:AlternateContent xmlns:mc="http://schemas.openxmlformats.org/markup-compatibility/2006">
          <mc:Choice xmlns:a14="http://schemas.microsoft.com/office/drawing/2010/main" Requires="a14">
            <p:sp>
              <p:nvSpPr>
                <p:cNvPr id="7" name="g-one"/>
                <p:cNvSpPr txBox="1">
                  <a:spLocks noGrp="1"/>
                </p:cNvSpPr>
                <p:nvPr/>
              </p:nvSpPr>
              <p:spPr>
                <a:xfrm>
                  <a:off x="838200" y="2162175"/>
                  <a:ext cx="4743450" cy="70485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sSubSup>
                          <m:e>
                            <m:r>
                              <a:rPr lang="en-US" sz="2250" dirty="0">
                                <a:solidFill>
                                  <a:srgbClr val="087F8C"/>
                                </a:solidFill>
                                <a:latin typeface="Cambria Math"/>
                                <a:ea typeface="Cambria Math"/>
                                <a:cs typeface="Cambria Math"/>
                              </a:rPr>
                              <m:t>g</m:t>
                            </m:r>
                          </m:e>
                          <m:sub>
                            <m:r>
                              <a:rPr lang="en-US" sz="2250" dirty="0">
                                <a:solidFill>
                                  <a:srgbClr val="087F8C"/>
                                </a:solidFill>
                                <a:latin typeface="Cambria Math"/>
                                <a:ea typeface="Cambria Math"/>
                                <a:cs typeface="Cambria Math"/>
                              </a:rPr>
                              <m:t>1</m:t>
                            </m:r>
                          </m:sub>
                          <m:sup>
                            <m:r>
                              <m:rPr>
                                <m:sty m:val="p"/>
                              </m:rPr>
                              <a:rPr lang="en-US" sz="2250" dirty="0">
                                <a:solidFill>
                                  <a:srgbClr val="087F8C"/>
                                </a:solidFill>
                                <a:latin typeface="Cambria Math"/>
                                <a:ea typeface="Cambria Math"/>
                                <a:cs typeface="Cambria Math"/>
                              </a:rPr>
                              <m:t>⋆</m:t>
                            </m:r>
                          </m:sup>
                        </m:sSubSup>
                        <m:r>
                          <m:rPr>
                            <m:sty m:val="p"/>
                          </m:rPr>
                          <a:rPr lang="en-US" sz="2250" dirty="0">
                            <a:solidFill>
                              <a:srgbClr val="087F8C"/>
                            </a:solidFill>
                            <a:latin typeface="Cambria Math"/>
                            <a:ea typeface="Cambria Math"/>
                            <a:cs typeface="Cambria Math"/>
                          </a:rPr>
                          <m:t>=</m:t>
                        </m:r>
                        <m:sSub>
                          <m:e>
                            <m:r>
                              <m:rPr>
                                <m:sty m:val="p"/>
                              </m:rPr>
                              <a:rPr lang="en-US" sz="2250" dirty="0">
                                <a:solidFill>
                                  <a:srgbClr val="087F8C"/>
                                </a:solidFill>
                                <a:latin typeface="Cambria Math"/>
                                <a:ea typeface="Cambria Math"/>
                                <a:cs typeface="Cambria Math"/>
                              </a:rPr>
                              <m:t>∇</m:t>
                            </m:r>
                          </m:e>
                          <m:sub>
                            <m:r>
                              <a:rPr lang="en-US" sz="2250" dirty="0">
                                <a:solidFill>
                                  <a:srgbClr val="087F8C"/>
                                </a:solidFill>
                                <a:latin typeface="Cambria Math"/>
                                <a:ea typeface="Cambria Math"/>
                                <a:cs typeface="Cambria Math"/>
                              </a:rPr>
                              <m:t>θ</m:t>
                            </m:r>
                          </m:sub>
                        </m:sSub>
                        <m:sSub>
                          <m:e>
                            <m:r>
                              <a:rPr lang="en-US" sz="2250" dirty="0">
                                <a:solidFill>
                                  <a:srgbClr val="087F8C"/>
                                </a:solidFill>
                                <a:latin typeface="Cambria Math"/>
                                <a:ea typeface="Cambria Math"/>
                                <a:cs typeface="Cambria Math"/>
                              </a:rPr>
                              <m:t>r</m:t>
                            </m:r>
                          </m:e>
                          <m:sub>
                            <m:r>
                              <a:rPr lang="en-US" sz="2250" dirty="0">
                                <a:solidFill>
                                  <a:srgbClr val="087F8C"/>
                                </a:solidFill>
                                <a:latin typeface="Cambria Math"/>
                                <a:ea typeface="Cambria Math"/>
                                <a:cs typeface="Cambria Math"/>
                              </a:rPr>
                              <m:t>θ</m:t>
                            </m:r>
                          </m:sub>
                        </m:sSub>
                        <m:d>
                          <m:dPr>
                            <m:begChr m:val="("/>
                            <m:sepChr m:val=""/>
                            <m:endChr m:val=")"/>
                            <m:grow m:val="on"/>
                            <m:ctrlPr>
                              <a:rPr lang="en-US" sz="2250" dirty="0">
                                <a:solidFill>
                                  <a:srgbClr val="087F8C"/>
                                </a:solidFill>
                                <a:latin typeface="Cambria Math"/>
                                <a:ea typeface="Cambria Math"/>
                                <a:cs typeface="Cambria Math"/>
                              </a:rPr>
                            </m:ctrlPr>
                          </m:dPr>
                          <m:e>
                            <m:d>
                              <m:dPr>
                                <m:begChr m:val="["/>
                                <m:sepChr m:val=""/>
                                <m:endChr m:val="]"/>
                                <m:grow m:val="on"/>
                                <m:ctrlPr>
                                  <a:rPr lang="en-US" sz="2250" dirty="0">
                                    <a:solidFill>
                                      <a:srgbClr val="087F8C"/>
                                    </a:solidFill>
                                    <a:latin typeface="Cambria Math"/>
                                    <a:ea typeface="Cambria Math"/>
                                    <a:cs typeface="Cambria Math"/>
                                  </a:rPr>
                                </m:ctrlPr>
                              </m:dPr>
                              <m:e>
                                <m:sSub>
                                  <m:e>
                                    <m:r>
                                      <a:rPr lang="en-US" sz="2250" dirty="0">
                                        <a:solidFill>
                                          <a:srgbClr val="087F8C"/>
                                        </a:solidFill>
                                        <a:latin typeface="Cambria Math"/>
                                        <a:ea typeface="Cambria Math"/>
                                        <a:cs typeface="Cambria Math"/>
                                      </a:rPr>
                                      <m:t>s</m:t>
                                    </m:r>
                                  </m:e>
                                  <m:sub>
                                    <m:r>
                                      <a:rPr lang="en-US" sz="2250" dirty="0">
                                        <a:solidFill>
                                          <a:srgbClr val="087F8C"/>
                                        </a:solidFill>
                                        <a:latin typeface="Cambria Math"/>
                                        <a:ea typeface="Cambria Math"/>
                                        <a:cs typeface="Cambria Math"/>
                                      </a:rPr>
                                      <m:t>1</m:t>
                                    </m:r>
                                  </m:sub>
                                </m:sSub>
                                <m:r>
                                  <m:rPr>
                                    <m:sty m:val="p"/>
                                  </m:rPr>
                                  <a:rPr lang="en-US" sz="2250" dirty="0">
                                    <a:solidFill>
                                      <a:srgbClr val="087F8C"/>
                                    </a:solidFill>
                                    <a:latin typeface="Cambria Math"/>
                                    <a:ea typeface="Cambria Math"/>
                                    <a:cs typeface="Cambria Math"/>
                                  </a:rPr>
                                  <m:t>,</m:t>
                                </m:r>
                                <m:sSubSup>
                                  <m:e>
                                    <m:r>
                                      <a:rPr lang="en-US" sz="2250" dirty="0">
                                        <a:solidFill>
                                          <a:srgbClr val="087F8C"/>
                                        </a:solidFill>
                                        <a:latin typeface="Cambria Math"/>
                                        <a:ea typeface="Cambria Math"/>
                                        <a:cs typeface="Cambria Math"/>
                                      </a:rPr>
                                      <m:t>v</m:t>
                                    </m:r>
                                  </m:e>
                                  <m:sub>
                                    <m:r>
                                      <a:rPr lang="en-US" sz="2250" dirty="0">
                                        <a:solidFill>
                                          <a:srgbClr val="087F8C"/>
                                        </a:solidFill>
                                        <a:latin typeface="Cambria Math"/>
                                        <a:ea typeface="Cambria Math"/>
                                        <a:cs typeface="Cambria Math"/>
                                      </a:rPr>
                                      <m:t>1</m:t>
                                    </m:r>
                                  </m:sub>
                                  <m:sup>
                                    <m:r>
                                      <m:rPr>
                                        <m:sty m:val="p"/>
                                      </m:rPr>
                                      <a:rPr lang="en-US" sz="2250" dirty="0">
                                        <a:solidFill>
                                          <a:srgbClr val="087F8C"/>
                                        </a:solidFill>
                                        <a:latin typeface="Cambria Math"/>
                                        <a:ea typeface="Cambria Math"/>
                                        <a:cs typeface="Cambria Math"/>
                                      </a:rPr>
                                      <m:t>⋆</m:t>
                                    </m:r>
                                  </m:sup>
                                </m:sSubSup>
                              </m:e>
                            </m:d>
                          </m:e>
                        </m:d>
                      </m:oMath>
                    </m:oMathPara>
                  </a14:m>
                </a:p>
              </p:txBody>
            </p:sp>
          </mc:Choice>
        </mc:AlternateContent>
      </p:grpSp>
      <p:grpSp>
        <p:nvGrpSpPr>
          <p:cNvPr id="12" name="candidate-gradient"/>
          <p:cNvGrpSpPr/>
          <p:nvPr/>
        </p:nvGrpSpPr>
        <p:grpSpPr>
          <a:xfrm>
            <a:off x="6191250" y="1619250"/>
            <a:ext cx="5391150" cy="1438275"/>
            <a:chOff x="6191250" y="1619250"/>
            <a:chExt cx="5391150" cy="1438275"/>
          </a:xfrm>
        </p:grpSpPr>
        <p:sp>
          <p:nvSpPr>
            <p:cNvPr id="9" name="Rectangle 9"/>
            <p:cNvSpPr/>
            <p:nvPr/>
          </p:nvSpPr>
          <p:spPr>
            <a:xfrm>
              <a:off x="6191250" y="1619250"/>
              <a:ext cx="5391150" cy="1438275"/>
            </a:xfrm>
            <a:prstGeom prst="rect">
              <a:avLst/>
            </a:prstGeom>
            <a:solidFill>
              <a:srgbClr val="FBEEE4"/>
            </a:solidFill>
            <a:ln>
              <a:noFill/>
            </a:ln>
          </p:spPr>
        </p:sp>
        <p:sp>
          <p:nvSpPr>
            <p:cNvPr id="10" name="TextBox 10"/>
            <p:cNvSpPr txBox="1"/>
            <p:nvPr/>
          </p:nvSpPr>
          <p:spPr>
            <a:xfrm>
              <a:off x="6411468" y="1803082"/>
              <a:ext cx="3346377"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EXPLORATION CANDIDATE v</a:t>
              </a:r>
            </a:p>
          </p:txBody>
        </p:sp>
        <mc:AlternateContent xmlns:mc="http://schemas.openxmlformats.org/markup-compatibility/2006">
          <mc:Choice xmlns:a14="http://schemas.microsoft.com/office/drawing/2010/main" Requires="a14">
            <p:sp>
              <p:nvSpPr>
                <p:cNvPr id="11" name="g-two"/>
                <p:cNvSpPr txBox="1">
                  <a:spLocks noGrp="1"/>
                </p:cNvSpPr>
                <p:nvPr/>
              </p:nvSpPr>
              <p:spPr>
                <a:xfrm>
                  <a:off x="6419850" y="2162175"/>
                  <a:ext cx="4933950" cy="70485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sSub>
                          <m:e>
                            <m:r>
                              <a:rPr lang="en-US" sz="2250" dirty="0">
                                <a:solidFill>
                                  <a:srgbClr val="C86620"/>
                                </a:solidFill>
                                <a:latin typeface="Cambria Math"/>
                                <a:ea typeface="Cambria Math"/>
                                <a:cs typeface="Cambria Math"/>
                              </a:rPr>
                              <m:t>g</m:t>
                            </m:r>
                          </m:e>
                          <m:sub>
                            <m:r>
                              <a:rPr lang="en-US" sz="2250" dirty="0">
                                <a:solidFill>
                                  <a:srgbClr val="C86620"/>
                                </a:solidFill>
                                <a:latin typeface="Cambria Math"/>
                                <a:ea typeface="Cambria Math"/>
                                <a:cs typeface="Cambria Math"/>
                              </a:rPr>
                              <m:t>2</m:t>
                            </m:r>
                          </m:sub>
                        </m:sSub>
                        <m:d>
                          <m:dPr>
                            <m:begChr m:val="("/>
                            <m:sepChr m:val=""/>
                            <m:endChr m:val=")"/>
                            <m:grow m:val="on"/>
                            <m:ctrlPr>
                              <a:rPr lang="en-US" sz="2250" dirty="0">
                                <a:solidFill>
                                  <a:srgbClr val="C86620"/>
                                </a:solidFill>
                                <a:latin typeface="Cambria Math"/>
                                <a:ea typeface="Cambria Math"/>
                                <a:cs typeface="Cambria Math"/>
                              </a:rPr>
                            </m:ctrlPr>
                          </m:dPr>
                          <m:e>
                            <m:r>
                              <a:rPr lang="en-US" sz="2250" dirty="0">
                                <a:solidFill>
                                  <a:srgbClr val="C86620"/>
                                </a:solidFill>
                                <a:latin typeface="Cambria Math"/>
                                <a:ea typeface="Cambria Math"/>
                                <a:cs typeface="Cambria Math"/>
                              </a:rPr>
                              <m:t>v</m:t>
                            </m:r>
                          </m:e>
                        </m:d>
                        <m:r>
                          <m:rPr>
                            <m:sty m:val="p"/>
                          </m:rPr>
                          <a:rPr lang="en-US" sz="2250" dirty="0">
                            <a:solidFill>
                              <a:srgbClr val="C86620"/>
                            </a:solidFill>
                            <a:latin typeface="Cambria Math"/>
                            <a:ea typeface="Cambria Math"/>
                            <a:cs typeface="Cambria Math"/>
                          </a:rPr>
                          <m:t>=</m:t>
                        </m:r>
                        <m:sSub>
                          <m:e>
                            <m:r>
                              <m:rPr>
                                <m:sty m:val="p"/>
                              </m:rPr>
                              <a:rPr lang="en-US" sz="2250" dirty="0">
                                <a:solidFill>
                                  <a:srgbClr val="C86620"/>
                                </a:solidFill>
                                <a:latin typeface="Cambria Math"/>
                                <a:ea typeface="Cambria Math"/>
                                <a:cs typeface="Cambria Math"/>
                              </a:rPr>
                              <m:t>∇</m:t>
                            </m:r>
                          </m:e>
                          <m:sub>
                            <m:r>
                              <a:rPr lang="en-US" sz="2250" dirty="0">
                                <a:solidFill>
                                  <a:srgbClr val="C86620"/>
                                </a:solidFill>
                                <a:latin typeface="Cambria Math"/>
                                <a:ea typeface="Cambria Math"/>
                                <a:cs typeface="Cambria Math"/>
                              </a:rPr>
                              <m:t>θ</m:t>
                            </m:r>
                          </m:sub>
                        </m:sSub>
                        <m:sSub>
                          <m:e>
                            <m:r>
                              <a:rPr lang="en-US" sz="2250" dirty="0">
                                <a:solidFill>
                                  <a:srgbClr val="C86620"/>
                                </a:solidFill>
                                <a:latin typeface="Cambria Math"/>
                                <a:ea typeface="Cambria Math"/>
                                <a:cs typeface="Cambria Math"/>
                              </a:rPr>
                              <m:t>r</m:t>
                            </m:r>
                          </m:e>
                          <m:sub>
                            <m:r>
                              <a:rPr lang="en-US" sz="2250" dirty="0">
                                <a:solidFill>
                                  <a:srgbClr val="C86620"/>
                                </a:solidFill>
                                <a:latin typeface="Cambria Math"/>
                                <a:ea typeface="Cambria Math"/>
                                <a:cs typeface="Cambria Math"/>
                              </a:rPr>
                              <m:t>θ</m:t>
                            </m:r>
                          </m:sub>
                        </m:sSub>
                        <m:d>
                          <m:dPr>
                            <m:begChr m:val="("/>
                            <m:sepChr m:val=""/>
                            <m:endChr m:val=")"/>
                            <m:grow m:val="on"/>
                            <m:ctrlPr>
                              <a:rPr lang="en-US" sz="2250" dirty="0">
                                <a:solidFill>
                                  <a:srgbClr val="C86620"/>
                                </a:solidFill>
                                <a:latin typeface="Cambria Math"/>
                                <a:ea typeface="Cambria Math"/>
                                <a:cs typeface="Cambria Math"/>
                              </a:rPr>
                            </m:ctrlPr>
                          </m:dPr>
                          <m:e>
                            <m:d>
                              <m:dPr>
                                <m:begChr m:val="["/>
                                <m:sepChr m:val=""/>
                                <m:endChr m:val="]"/>
                                <m:grow m:val="on"/>
                                <m:ctrlPr>
                                  <a:rPr lang="en-US" sz="2250" dirty="0">
                                    <a:solidFill>
                                      <a:srgbClr val="C86620"/>
                                    </a:solidFill>
                                    <a:latin typeface="Cambria Math"/>
                                    <a:ea typeface="Cambria Math"/>
                                    <a:cs typeface="Cambria Math"/>
                                  </a:rPr>
                                </m:ctrlPr>
                              </m:dPr>
                              <m:e>
                                <m:sSub>
                                  <m:e>
                                    <m:r>
                                      <a:rPr lang="en-US" sz="2250" dirty="0">
                                        <a:solidFill>
                                          <a:srgbClr val="C86620"/>
                                        </a:solidFill>
                                        <a:latin typeface="Cambria Math"/>
                                        <a:ea typeface="Cambria Math"/>
                                        <a:cs typeface="Cambria Math"/>
                                      </a:rPr>
                                      <m:t>s</m:t>
                                    </m:r>
                                  </m:e>
                                  <m:sub>
                                    <m:r>
                                      <a:rPr lang="en-US" sz="2250" dirty="0">
                                        <a:solidFill>
                                          <a:srgbClr val="C86620"/>
                                        </a:solidFill>
                                        <a:latin typeface="Cambria Math"/>
                                        <a:ea typeface="Cambria Math"/>
                                        <a:cs typeface="Cambria Math"/>
                                      </a:rPr>
                                      <m:t>2</m:t>
                                    </m:r>
                                  </m:sub>
                                </m:sSub>
                                <m:r>
                                  <m:rPr>
                                    <m:sty m:val="p"/>
                                  </m:rPr>
                                  <a:rPr lang="en-US" sz="2250" dirty="0">
                                    <a:solidFill>
                                      <a:srgbClr val="C86620"/>
                                    </a:solidFill>
                                    <a:latin typeface="Cambria Math"/>
                                    <a:ea typeface="Cambria Math"/>
                                    <a:cs typeface="Cambria Math"/>
                                  </a:rPr>
                                  <m:t>,</m:t>
                                </m:r>
                                <m:r>
                                  <a:rPr lang="en-US" sz="2250" dirty="0">
                                    <a:solidFill>
                                      <a:srgbClr val="C86620"/>
                                    </a:solidFill>
                                    <a:latin typeface="Cambria Math"/>
                                    <a:ea typeface="Cambria Math"/>
                                    <a:cs typeface="Cambria Math"/>
                                  </a:rPr>
                                  <m:t>v</m:t>
                                </m:r>
                              </m:e>
                            </m:d>
                          </m:e>
                        </m:d>
                      </m:oMath>
                    </m:oMathPara>
                  </a14:m>
                </a:p>
              </p:txBody>
            </p:sp>
          </mc:Choice>
        </mc:AlternateContent>
      </p:grpSp>
      <mc:AlternateContent xmlns:mc="http://schemas.openxmlformats.org/markup-compatibility/2006">
        <mc:Choice xmlns:a14="http://schemas.microsoft.com/office/drawing/2010/main" Requires="a14">
          <p:sp>
            <p:nvSpPr>
              <p:cNvPr id="13" name="uncertainty"/>
              <p:cNvSpPr txBox="1">
                <a:spLocks noGrp="1"/>
              </p:cNvSpPr>
              <p:nvPr/>
            </p:nvSpPr>
            <p:spPr>
              <a:xfrm>
                <a:off x="609600" y="3209925"/>
                <a:ext cx="10972800" cy="942975"/>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r>
                        <a:rPr lang="en-US" sz="2250" dirty="0">
                          <a:solidFill>
                            <a:srgbClr val="10243A"/>
                          </a:solidFill>
                          <a:latin typeface="Cambria Math"/>
                          <a:ea typeface="Cambria Math"/>
                          <a:cs typeface="Cambria Math"/>
                        </a:rPr>
                        <m:t>z</m:t>
                      </m:r>
                      <m:d>
                        <m:dPr>
                          <m:begChr m:val="("/>
                          <m:sepChr m:val=""/>
                          <m:endChr m:val=")"/>
                          <m:grow m:val="on"/>
                          <m:ctrlPr>
                            <a:rPr lang="en-US" sz="2250" dirty="0">
                              <a:solidFill>
                                <a:srgbClr val="10243A"/>
                              </a:solidFill>
                              <a:latin typeface="Cambria Math"/>
                              <a:ea typeface="Cambria Math"/>
                              <a:cs typeface="Cambria Math"/>
                            </a:rPr>
                          </m:ctrlPr>
                        </m:dPr>
                        <m:e>
                          <m:r>
                            <a:rPr lang="en-US" sz="2250" dirty="0">
                              <a:solidFill>
                                <a:srgbClr val="10243A"/>
                              </a:solidFill>
                              <a:latin typeface="Cambria Math"/>
                              <a:ea typeface="Cambria Math"/>
                              <a:cs typeface="Cambria Math"/>
                            </a:rPr>
                            <m:t>v</m:t>
                          </m:r>
                        </m:e>
                      </m:d>
                      <m:r>
                        <m:rPr>
                          <m:sty m:val="p"/>
                        </m:rPr>
                        <a:rPr lang="en-US" sz="2250" dirty="0">
                          <a:solidFill>
                            <a:srgbClr val="10243A"/>
                          </a:solidFill>
                          <a:latin typeface="Cambria Math"/>
                          <a:ea typeface="Cambria Math"/>
                          <a:cs typeface="Cambria Math"/>
                        </a:rPr>
                        <m:t>=</m:t>
                      </m:r>
                      <m:sSub>
                        <m:e>
                          <m:r>
                            <a:rPr lang="en-US" sz="2250" dirty="0">
                              <a:solidFill>
                                <a:srgbClr val="10243A"/>
                              </a:solidFill>
                              <a:latin typeface="Cambria Math"/>
                              <a:ea typeface="Cambria Math"/>
                              <a:cs typeface="Cambria Math"/>
                            </a:rPr>
                            <m:t>g</m:t>
                          </m:r>
                        </m:e>
                        <m:sub>
                          <m:r>
                            <a:rPr lang="en-US" sz="2250" dirty="0">
                              <a:solidFill>
                                <a:srgbClr val="10243A"/>
                              </a:solidFill>
                              <a:latin typeface="Cambria Math"/>
                              <a:ea typeface="Cambria Math"/>
                              <a:cs typeface="Cambria Math"/>
                            </a:rPr>
                            <m:t>2</m:t>
                          </m:r>
                        </m:sub>
                      </m:sSub>
                      <m:d>
                        <m:dPr>
                          <m:begChr m:val="("/>
                          <m:sepChr m:val=""/>
                          <m:endChr m:val=")"/>
                          <m:grow m:val="on"/>
                          <m:ctrlPr>
                            <a:rPr lang="en-US" sz="2250" dirty="0">
                              <a:solidFill>
                                <a:srgbClr val="10243A"/>
                              </a:solidFill>
                              <a:latin typeface="Cambria Math"/>
                              <a:ea typeface="Cambria Math"/>
                              <a:cs typeface="Cambria Math"/>
                            </a:rPr>
                          </m:ctrlPr>
                        </m:dPr>
                        <m:e>
                          <m:r>
                            <a:rPr lang="en-US" sz="2250" dirty="0">
                              <a:solidFill>
                                <a:srgbClr val="10243A"/>
                              </a:solidFill>
                              <a:latin typeface="Cambria Math"/>
                              <a:ea typeface="Cambria Math"/>
                              <a:cs typeface="Cambria Math"/>
                            </a:rPr>
                            <m:t>v</m:t>
                          </m:r>
                        </m:e>
                      </m:d>
                      <m:r>
                        <m:rPr>
                          <m:sty m:val="p"/>
                        </m:rPr>
                        <a:rPr lang="en-US" sz="2250" dirty="0">
                          <a:solidFill>
                            <a:srgbClr val="10243A"/>
                          </a:solidFill>
                          <a:latin typeface="Cambria Math"/>
                          <a:ea typeface="Cambria Math"/>
                          <a:cs typeface="Cambria Math"/>
                        </a:rPr>
                        <m:t>−</m:t>
                      </m:r>
                      <m:sSubSup>
                        <m:e>
                          <m:r>
                            <a:rPr lang="en-US" sz="2250" dirty="0">
                              <a:solidFill>
                                <a:srgbClr val="10243A"/>
                              </a:solidFill>
                              <a:latin typeface="Cambria Math"/>
                              <a:ea typeface="Cambria Math"/>
                              <a:cs typeface="Cambria Math"/>
                            </a:rPr>
                            <m:t>g</m:t>
                          </m:r>
                        </m:e>
                        <m:sub>
                          <m:r>
                            <a:rPr lang="en-US" sz="2250" dirty="0">
                              <a:solidFill>
                                <a:srgbClr val="10243A"/>
                              </a:solidFill>
                              <a:latin typeface="Cambria Math"/>
                              <a:ea typeface="Cambria Math"/>
                              <a:cs typeface="Cambria Math"/>
                            </a:rPr>
                            <m:t>1</m:t>
                          </m:r>
                        </m:sub>
                        <m:sup>
                          <m:r>
                            <m:rPr>
                              <m:sty m:val="p"/>
                            </m:rPr>
                            <a:rPr lang="en-US" sz="2250" dirty="0">
                              <a:solidFill>
                                <a:srgbClr val="10243A"/>
                              </a:solidFill>
                              <a:latin typeface="Cambria Math"/>
                              <a:ea typeface="Cambria Math"/>
                              <a:cs typeface="Cambria Math"/>
                            </a:rPr>
                            <m:t>⋆</m:t>
                          </m:r>
                        </m:sup>
                      </m:sSubSup>
                      <m:r>
                        <m:rPr>
                          <m:sty m:val="p"/>
                        </m:rPr>
                        <a:rPr lang="en-US" sz="2250" dirty="0">
                          <a:solidFill>
                            <a:srgbClr val="10243A"/>
                          </a:solidFill>
                          <a:latin typeface="Cambria Math"/>
                          <a:ea typeface="Cambria Math"/>
                          <a:cs typeface="Cambria Math"/>
                        </a:rPr>
                        <m:t>∈</m:t>
                      </m:r>
                      <m:sSup>
                        <m:e>
                          <m:r>
                            <m:rPr>
                              <m:scr m:val="double-struck"/>
                              <m:sty m:val="p"/>
                            </m:rPr>
                            <a:rPr lang="en-US" sz="2250" dirty="0">
                              <a:solidFill>
                                <a:srgbClr val="10243A"/>
                              </a:solidFill>
                              <a:latin typeface="Cambria Math"/>
                              <a:ea typeface="Cambria Math"/>
                              <a:cs typeface="Cambria Math"/>
                            </a:rPr>
                            <m:t>R</m:t>
                          </m:r>
                        </m:e>
                        <m:sup>
                          <m:r>
                            <a:rPr lang="en-US" sz="2250" dirty="0">
                              <a:solidFill>
                                <a:srgbClr val="10243A"/>
                              </a:solidFill>
                              <a:latin typeface="Cambria Math"/>
                              <a:ea typeface="Cambria Math"/>
                              <a:cs typeface="Cambria Math"/>
                            </a:rPr>
                            <m:t>P</m:t>
                          </m:r>
                        </m:sup>
                      </m:sSup>
                      <m:r>
                        <m:rPr>
                          <m:sty m:val="p"/>
                        </m:rPr>
                        <a:rPr lang="en-US" sz="2250" dirty="0">
                          <a:solidFill>
                            <a:srgbClr val="10243A"/>
                          </a:solidFill>
                          <a:latin typeface="Cambria Math"/>
                          <a:ea typeface="Cambria Math"/>
                          <a:cs typeface="Cambria Math"/>
                        </a:rPr>
                        <m:t>,</m:t>
                      </m:r>
                      <m:r>
                        <a:rPr lang="en-US" sz="2250" dirty="0">
                          <a:solidFill>
                            <a:srgbClr val="10243A"/>
                          </a:solidFill>
                          <a:latin typeface="Cambria Math"/>
                          <a:ea typeface="Cambria Math"/>
                          <a:cs typeface="Cambria Math"/>
                        </a:rPr>
                        <m:t xml:space="preserve"> </m:t>
                      </m:r>
                      <m:r>
                        <a:rPr lang="en-US" sz="2250" dirty="0">
                          <a:solidFill>
                            <a:srgbClr val="10243A"/>
                          </a:solidFill>
                          <a:latin typeface="Cambria Math"/>
                          <a:ea typeface="Cambria Math"/>
                          <a:cs typeface="Cambria Math"/>
                        </a:rPr>
                        <m:t>u</m:t>
                      </m:r>
                      <m:d>
                        <m:dPr>
                          <m:begChr m:val="("/>
                          <m:sepChr m:val=""/>
                          <m:endChr m:val=")"/>
                          <m:grow m:val="on"/>
                          <m:ctrlPr>
                            <a:rPr lang="en-US" sz="2250" dirty="0">
                              <a:solidFill>
                                <a:srgbClr val="10243A"/>
                              </a:solidFill>
                              <a:latin typeface="Cambria Math"/>
                              <a:ea typeface="Cambria Math"/>
                              <a:cs typeface="Cambria Math"/>
                            </a:rPr>
                          </m:ctrlPr>
                        </m:dPr>
                        <m:e>
                          <m:r>
                            <a:rPr lang="en-US" sz="2250" dirty="0">
                              <a:solidFill>
                                <a:srgbClr val="10243A"/>
                              </a:solidFill>
                              <a:latin typeface="Cambria Math"/>
                              <a:ea typeface="Cambria Math"/>
                              <a:cs typeface="Cambria Math"/>
                            </a:rPr>
                            <m:t>v</m:t>
                          </m:r>
                        </m:e>
                      </m:d>
                      <m:r>
                        <m:rPr>
                          <m:sty m:val="p"/>
                        </m:rPr>
                        <a:rPr lang="en-US" sz="2250" dirty="0">
                          <a:solidFill>
                            <a:srgbClr val="10243A"/>
                          </a:solidFill>
                          <a:latin typeface="Cambria Math"/>
                          <a:ea typeface="Cambria Math"/>
                          <a:cs typeface="Cambria Math"/>
                        </a:rPr>
                        <m:t>=</m:t>
                      </m:r>
                      <m:rad>
                        <m:radPr>
                          <m:degHide m:val="on"/>
                          <m:ctrlPr>
                            <a:rPr lang="en-US" sz="2250" dirty="0">
                              <a:solidFill>
                                <a:srgbClr val="10243A"/>
                              </a:solidFill>
                              <a:latin typeface="Cambria Math"/>
                              <a:ea typeface="Cambria Math"/>
                              <a:cs typeface="Cambria Math"/>
                            </a:rPr>
                          </m:ctrlPr>
                        </m:radPr>
                        <m:deg/>
                        <m:e>
                          <m:r>
                            <a:rPr lang="en-US" sz="2250" dirty="0">
                              <a:solidFill>
                                <a:srgbClr val="10243A"/>
                              </a:solidFill>
                              <a:latin typeface="Cambria Math"/>
                              <a:ea typeface="Cambria Math"/>
                              <a:cs typeface="Cambria Math"/>
                            </a:rPr>
                            <m:t>z</m:t>
                          </m:r>
                          <m:sSup>
                            <m:e>
                              <m:d>
                                <m:dPr>
                                  <m:begChr m:val="("/>
                                  <m:sepChr m:val=""/>
                                  <m:endChr m:val=")"/>
                                  <m:grow m:val="on"/>
                                  <m:ctrlPr>
                                    <a:rPr lang="en-US" sz="2250" dirty="0">
                                      <a:solidFill>
                                        <a:srgbClr val="10243A"/>
                                      </a:solidFill>
                                      <a:latin typeface="Cambria Math"/>
                                      <a:ea typeface="Cambria Math"/>
                                      <a:cs typeface="Cambria Math"/>
                                    </a:rPr>
                                  </m:ctrlPr>
                                </m:dPr>
                                <m:e>
                                  <m:r>
                                    <a:rPr lang="en-US" sz="2250" dirty="0">
                                      <a:solidFill>
                                        <a:srgbClr val="10243A"/>
                                      </a:solidFill>
                                      <a:latin typeface="Cambria Math"/>
                                      <a:ea typeface="Cambria Math"/>
                                      <a:cs typeface="Cambria Math"/>
                                    </a:rPr>
                                    <m:t>v</m:t>
                                  </m:r>
                                </m:e>
                              </m:d>
                            </m:e>
                            <m:sup>
                              <m:r>
                                <m:rPr>
                                  <m:sty m:val="p"/>
                                </m:rPr>
                                <a:rPr lang="en-US" sz="2250" dirty="0">
                                  <a:solidFill>
                                    <a:srgbClr val="10243A"/>
                                  </a:solidFill>
                                  <a:latin typeface="Cambria Math"/>
                                  <a:ea typeface="Cambria Math"/>
                                  <a:cs typeface="Cambria Math"/>
                                </a:rPr>
                                <m:t>⊤</m:t>
                              </m:r>
                            </m:sup>
                          </m:sSup>
                          <m:sSup>
                            <m:e>
                              <m:r>
                                <a:rPr lang="en-US" sz="2250" dirty="0">
                                  <a:solidFill>
                                    <a:srgbClr val="10243A"/>
                                  </a:solidFill>
                                  <a:latin typeface="Cambria Math"/>
                                  <a:ea typeface="Cambria Math"/>
                                  <a:cs typeface="Cambria Math"/>
                                </a:rPr>
                                <m:t>V</m:t>
                              </m:r>
                            </m:e>
                            <m:sup>
                              <m:r>
                                <m:rPr>
                                  <m:sty m:val="p"/>
                                </m:rPr>
                                <a:rPr lang="en-US" sz="2250" dirty="0">
                                  <a:solidFill>
                                    <a:srgbClr val="10243A"/>
                                  </a:solidFill>
                                  <a:latin typeface="Cambria Math"/>
                                  <a:ea typeface="Cambria Math"/>
                                  <a:cs typeface="Cambria Math"/>
                                </a:rPr>
                                <m:t>−</m:t>
                              </m:r>
                              <m:r>
                                <a:rPr lang="en-US" sz="2250" dirty="0">
                                  <a:solidFill>
                                    <a:srgbClr val="10243A"/>
                                  </a:solidFill>
                                  <a:latin typeface="Cambria Math"/>
                                  <a:ea typeface="Cambria Math"/>
                                  <a:cs typeface="Cambria Math"/>
                                </a:rPr>
                                <m:t>1</m:t>
                              </m:r>
                            </m:sup>
                          </m:sSup>
                          <m:r>
                            <a:rPr lang="en-US" sz="2250" dirty="0">
                              <a:solidFill>
                                <a:srgbClr val="10243A"/>
                              </a:solidFill>
                              <a:latin typeface="Cambria Math"/>
                              <a:ea typeface="Cambria Math"/>
                              <a:cs typeface="Cambria Math"/>
                            </a:rPr>
                            <m:t>z</m:t>
                          </m:r>
                          <m:d>
                            <m:dPr>
                              <m:begChr m:val="("/>
                              <m:sepChr m:val=""/>
                              <m:endChr m:val=")"/>
                              <m:grow m:val="on"/>
                              <m:ctrlPr>
                                <a:rPr lang="en-US" sz="2250" dirty="0">
                                  <a:solidFill>
                                    <a:srgbClr val="10243A"/>
                                  </a:solidFill>
                                  <a:latin typeface="Cambria Math"/>
                                  <a:ea typeface="Cambria Math"/>
                                  <a:cs typeface="Cambria Math"/>
                                </a:rPr>
                              </m:ctrlPr>
                            </m:dPr>
                            <m:e>
                              <m:r>
                                <a:rPr lang="en-US" sz="2250" dirty="0">
                                  <a:solidFill>
                                    <a:srgbClr val="10243A"/>
                                  </a:solidFill>
                                  <a:latin typeface="Cambria Math"/>
                                  <a:ea typeface="Cambria Math"/>
                                  <a:cs typeface="Cambria Math"/>
                                </a:rPr>
                                <m:t>v</m:t>
                              </m:r>
                            </m:e>
                          </m:d>
                        </m:e>
                      </m:rad>
                    </m:oMath>
                  </m:oMathPara>
                </a14:m>
              </a:p>
            </p:txBody>
          </p:sp>
        </mc:Choice>
      </mc:AlternateContent>
      <p:grpSp>
        <p:nvGrpSpPr>
          <p:cNvPr id="17" name="exploration-policy"/>
          <p:cNvGrpSpPr/>
          <p:nvPr/>
        </p:nvGrpSpPr>
        <p:grpSpPr>
          <a:xfrm>
            <a:off x="609600" y="4295775"/>
            <a:ext cx="10972800" cy="1219200"/>
            <a:chOff x="609600" y="4295775"/>
            <a:chExt cx="10972800" cy="1219200"/>
          </a:xfrm>
        </p:grpSpPr>
        <p:sp>
          <p:nvSpPr>
            <p:cNvPr id="14" name="Rectangle 14"/>
            <p:cNvSpPr/>
            <p:nvPr/>
          </p:nvSpPr>
          <p:spPr>
            <a:xfrm>
              <a:off x="609600" y="4295775"/>
              <a:ext cx="10972800" cy="1219200"/>
            </a:xfrm>
            <a:prstGeom prst="rect">
              <a:avLst/>
            </a:prstGeom>
            <a:solidFill>
              <a:srgbClr val="FBEEE4"/>
            </a:solidFill>
            <a:ln>
              <a:noFill/>
            </a:ln>
          </p:spPr>
        </p:sp>
        <p:sp>
          <p:nvSpPr>
            <p:cNvPr id="15" name="TextBox 15"/>
            <p:cNvSpPr txBox="1"/>
            <p:nvPr/>
          </p:nvSpPr>
          <p:spPr>
            <a:xfrm>
              <a:off x="829818" y="4431982"/>
              <a:ext cx="3120149"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EXPLORATION SELECTION</a:t>
              </a:r>
            </a:p>
          </p:txBody>
        </p:sp>
        <mc:AlternateContent xmlns:mc="http://schemas.openxmlformats.org/markup-compatibility/2006">
          <mc:Choice xmlns:a14="http://schemas.microsoft.com/office/drawing/2010/main" Requires="a14">
            <p:sp>
              <p:nvSpPr>
                <p:cNvPr id="16" name="exploration-argmax"/>
                <p:cNvSpPr txBox="1">
                  <a:spLocks noGrp="1"/>
                </p:cNvSpPr>
                <p:nvPr/>
              </p:nvSpPr>
              <p:spPr>
                <a:xfrm>
                  <a:off x="838200" y="4695825"/>
                  <a:ext cx="10515600" cy="790575"/>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sSubSup>
                          <m:e>
                            <m:r>
                              <a:rPr lang="en-US" sz="2250" dirty="0">
                                <a:solidFill>
                                  <a:srgbClr val="10243A"/>
                                </a:solidFill>
                                <a:latin typeface="Cambria Math"/>
                                <a:ea typeface="Cambria Math"/>
                                <a:cs typeface="Cambria Math"/>
                              </a:rPr>
                              <m:t>v</m:t>
                            </m:r>
                          </m:e>
                          <m:sub>
                            <m:r>
                              <a:rPr lang="en-US" sz="2250" dirty="0">
                                <a:solidFill>
                                  <a:srgbClr val="10243A"/>
                                </a:solidFill>
                                <a:latin typeface="Cambria Math"/>
                                <a:ea typeface="Cambria Math"/>
                                <a:cs typeface="Cambria Math"/>
                              </a:rPr>
                              <m:t>2</m:t>
                            </m:r>
                          </m:sub>
                          <m:sup>
                            <m:r>
                              <m:rPr>
                                <m:sty m:val="p"/>
                              </m:rPr>
                              <a:rPr lang="en-US" sz="2250" dirty="0">
                                <a:solidFill>
                                  <a:srgbClr val="10243A"/>
                                </a:solidFill>
                                <a:latin typeface="Cambria Math"/>
                                <a:ea typeface="Cambria Math"/>
                                <a:cs typeface="Cambria Math"/>
                              </a:rPr>
                              <m:t>⋆</m:t>
                            </m:r>
                          </m:sup>
                        </m:sSubSup>
                        <m:r>
                          <m:rPr>
                            <m:sty m:val="p"/>
                          </m:rPr>
                          <a:rPr lang="en-US" sz="2250" dirty="0">
                            <a:solidFill>
                              <a:srgbClr val="10243A"/>
                            </a:solidFill>
                            <a:latin typeface="Cambria Math"/>
                            <a:ea typeface="Cambria Math"/>
                            <a:cs typeface="Cambria Math"/>
                          </a:rPr>
                          <m:t>=</m:t>
                        </m:r>
                        <m:func>
                          <m:funcPr/>
                          <m:fName>
                            <m:r>
                              <m:rPr>
                                <m:sty m:val="p"/>
                              </m:rPr>
                              <a:rPr lang="en-US" sz="2250" dirty="0">
                                <a:solidFill>
                                  <a:srgbClr val="10243A"/>
                                </a:solidFill>
                                <a:latin typeface="Cambria Math"/>
                                <a:ea typeface="Cambria Math"/>
                                <a:cs typeface="Cambria Math"/>
                              </a:rPr>
                              <m:t>arg</m:t>
                            </m:r>
                          </m:fName>
                          <m:e>
                            <m:func>
                              <m:funcPr/>
                              <m:fName>
                                <m:limLow>
                                  <m:limLowPr/>
                                  <m:e>
                                    <m:r>
                                      <m:rPr>
                                        <m:sty m:val="p"/>
                                      </m:rPr>
                                      <a:rPr lang="en-US" sz="2250" dirty="0">
                                        <a:solidFill>
                                          <a:srgbClr val="10243A"/>
                                        </a:solidFill>
                                        <a:latin typeface="Cambria Math"/>
                                        <a:ea typeface="Cambria Math"/>
                                        <a:cs typeface="Cambria Math"/>
                                      </a:rPr>
                                      <m:t>max</m:t>
                                    </m:r>
                                  </m:e>
                                  <m:lim>
                                    <m:r>
                                      <a:rPr lang="en-US" sz="2250" dirty="0">
                                        <a:solidFill>
                                          <a:srgbClr val="10243A"/>
                                        </a:solidFill>
                                        <a:latin typeface="Cambria Math"/>
                                        <a:ea typeface="Cambria Math"/>
                                        <a:cs typeface="Cambria Math"/>
                                      </a:rPr>
                                      <m:t>v</m:t>
                                    </m:r>
                                    <m:r>
                                      <m:rPr>
                                        <m:sty m:val="p"/>
                                      </m:rPr>
                                      <a:rPr lang="en-US" sz="2250" dirty="0">
                                        <a:solidFill>
                                          <a:srgbClr val="10243A"/>
                                        </a:solidFill>
                                        <a:latin typeface="Cambria Math"/>
                                        <a:ea typeface="Cambria Math"/>
                                        <a:cs typeface="Cambria Math"/>
                                      </a:rPr>
                                      <m:t>∈</m:t>
                                    </m:r>
                                    <m:r>
                                      <m:rPr>
                                        <m:scr m:val="script"/>
                                        <m:sty m:val="p"/>
                                      </m:rPr>
                                      <a:rPr lang="en-US" sz="2250" dirty="0">
                                        <a:solidFill>
                                          <a:srgbClr val="10243A"/>
                                        </a:solidFill>
                                        <a:latin typeface="Cambria Math"/>
                                        <a:ea typeface="Cambria Math"/>
                                        <a:cs typeface="Cambria Math"/>
                                      </a:rPr>
                                      <m:t>C</m:t>
                                    </m:r>
                                  </m:lim>
                                </m:limLow>
                              </m:fName>
                              <m:e>
                                <m:d>
                                  <m:dPr>
                                    <m:begChr m:val="["/>
                                    <m:sepChr m:val=""/>
                                    <m:endChr m:val="]"/>
                                    <m:grow m:val="on"/>
                                    <m:ctrlPr>
                                      <a:rPr lang="en-US" sz="2250" dirty="0">
                                        <a:solidFill>
                                          <a:srgbClr val="10243A"/>
                                        </a:solidFill>
                                        <a:latin typeface="Cambria Math"/>
                                        <a:ea typeface="Cambria Math"/>
                                        <a:cs typeface="Cambria Math"/>
                                      </a:rPr>
                                    </m:ctrlPr>
                                  </m:dPr>
                                  <m:e>
                                    <m:sSub>
                                      <m:e>
                                        <m:r>
                                          <a:rPr lang="en-US" sz="2250" dirty="0">
                                            <a:solidFill>
                                              <a:srgbClr val="10243A"/>
                                            </a:solidFill>
                                            <a:latin typeface="Cambria Math"/>
                                            <a:ea typeface="Cambria Math"/>
                                            <a:cs typeface="Cambria Math"/>
                                          </a:rPr>
                                          <m:t>π</m:t>
                                        </m:r>
                                      </m:e>
                                      <m:sub>
                                        <m:r>
                                          <a:rPr lang="en-US" sz="2250" dirty="0">
                                            <a:solidFill>
                                              <a:srgbClr val="10243A"/>
                                            </a:solidFill>
                                            <a:latin typeface="Cambria Math"/>
                                            <a:ea typeface="Cambria Math"/>
                                            <a:cs typeface="Cambria Math"/>
                                          </a:rPr>
                                          <m:t>2</m:t>
                                        </m:r>
                                      </m:sub>
                                    </m:sSub>
                                    <m:d>
                                      <m:dPr>
                                        <m:begChr m:val="("/>
                                        <m:sepChr m:val=""/>
                                        <m:endChr m:val=")"/>
                                        <m:grow m:val="on"/>
                                        <m:ctrlPr>
                                          <a:rPr lang="en-US" sz="2250" dirty="0">
                                            <a:solidFill>
                                              <a:srgbClr val="10243A"/>
                                            </a:solidFill>
                                            <a:latin typeface="Cambria Math"/>
                                            <a:ea typeface="Cambria Math"/>
                                            <a:cs typeface="Cambria Math"/>
                                          </a:rPr>
                                        </m:ctrlPr>
                                      </m:dPr>
                                      <m:e>
                                        <m:r>
                                          <a:rPr lang="en-US" sz="2250" dirty="0">
                                            <a:solidFill>
                                              <a:srgbClr val="10243A"/>
                                            </a:solidFill>
                                            <a:latin typeface="Cambria Math"/>
                                            <a:ea typeface="Cambria Math"/>
                                            <a:cs typeface="Cambria Math"/>
                                          </a:rPr>
                                          <m:t>v</m:t>
                                        </m:r>
                                      </m:e>
                                    </m:d>
                                    <m:r>
                                      <m:rPr>
                                        <m:sty m:val="p"/>
                                      </m:rPr>
                                      <a:rPr lang="en-US" sz="2250" dirty="0">
                                        <a:solidFill>
                                          <a:srgbClr val="10243A"/>
                                        </a:solidFill>
                                        <a:latin typeface="Cambria Math"/>
                                        <a:ea typeface="Cambria Math"/>
                                        <a:cs typeface="Cambria Math"/>
                                      </a:rPr>
                                      <m:t>+</m:t>
                                    </m:r>
                                    <m:r>
                                      <a:rPr lang="en-US" sz="2250" dirty="0">
                                        <a:solidFill>
                                          <a:srgbClr val="10243A"/>
                                        </a:solidFill>
                                        <a:latin typeface="Cambria Math"/>
                                        <a:ea typeface="Cambria Math"/>
                                        <a:cs typeface="Cambria Math"/>
                                      </a:rPr>
                                      <m:t>ω</m:t>
                                    </m:r>
                                    <m:sSub>
                                      <m:e>
                                        <m:r>
                                          <a:rPr lang="en-US" sz="2250" dirty="0">
                                            <a:solidFill>
                                              <a:srgbClr val="10243A"/>
                                            </a:solidFill>
                                            <a:latin typeface="Cambria Math"/>
                                            <a:ea typeface="Cambria Math"/>
                                            <a:cs typeface="Cambria Math"/>
                                          </a:rPr>
                                          <m:t>r</m:t>
                                        </m:r>
                                      </m:e>
                                      <m:sub>
                                        <m:r>
                                          <a:rPr lang="en-US" sz="2250" dirty="0">
                                            <a:solidFill>
                                              <a:srgbClr val="10243A"/>
                                            </a:solidFill>
                                            <a:latin typeface="Cambria Math"/>
                                            <a:ea typeface="Cambria Math"/>
                                            <a:cs typeface="Cambria Math"/>
                                          </a:rPr>
                                          <m:t>θ</m:t>
                                        </m:r>
                                      </m:sub>
                                    </m:sSub>
                                    <m:d>
                                      <m:dPr>
                                        <m:begChr m:val="("/>
                                        <m:sepChr m:val=""/>
                                        <m:endChr m:val=")"/>
                                        <m:grow m:val="on"/>
                                        <m:ctrlPr>
                                          <a:rPr lang="en-US" sz="2250" dirty="0">
                                            <a:solidFill>
                                              <a:srgbClr val="10243A"/>
                                            </a:solidFill>
                                            <a:latin typeface="Cambria Math"/>
                                            <a:ea typeface="Cambria Math"/>
                                            <a:cs typeface="Cambria Math"/>
                                          </a:rPr>
                                        </m:ctrlPr>
                                      </m:dPr>
                                      <m:e>
                                        <m:d>
                                          <m:dPr>
                                            <m:begChr m:val="["/>
                                            <m:sepChr m:val=""/>
                                            <m:endChr m:val="]"/>
                                            <m:grow m:val="on"/>
                                            <m:ctrlPr>
                                              <a:rPr lang="en-US" sz="2250" dirty="0">
                                                <a:solidFill>
                                                  <a:srgbClr val="10243A"/>
                                                </a:solidFill>
                                                <a:latin typeface="Cambria Math"/>
                                                <a:ea typeface="Cambria Math"/>
                                                <a:cs typeface="Cambria Math"/>
                                              </a:rPr>
                                            </m:ctrlPr>
                                          </m:dPr>
                                          <m:e>
                                            <m:sSub>
                                              <m:e>
                                                <m:r>
                                                  <a:rPr lang="en-US" sz="2250" dirty="0">
                                                    <a:solidFill>
                                                      <a:srgbClr val="10243A"/>
                                                    </a:solidFill>
                                                    <a:latin typeface="Cambria Math"/>
                                                    <a:ea typeface="Cambria Math"/>
                                                    <a:cs typeface="Cambria Math"/>
                                                  </a:rPr>
                                                  <m:t>s</m:t>
                                                </m:r>
                                              </m:e>
                                              <m:sub>
                                                <m:r>
                                                  <a:rPr lang="en-US" sz="2250" dirty="0">
                                                    <a:solidFill>
                                                      <a:srgbClr val="10243A"/>
                                                    </a:solidFill>
                                                    <a:latin typeface="Cambria Math"/>
                                                    <a:ea typeface="Cambria Math"/>
                                                    <a:cs typeface="Cambria Math"/>
                                                  </a:rPr>
                                                  <m:t>2</m:t>
                                                </m:r>
                                              </m:sub>
                                            </m:sSub>
                                            <m:r>
                                              <m:rPr>
                                                <m:sty m:val="p"/>
                                              </m:rPr>
                                              <a:rPr lang="en-US" sz="2250" dirty="0">
                                                <a:solidFill>
                                                  <a:srgbClr val="10243A"/>
                                                </a:solidFill>
                                                <a:latin typeface="Cambria Math"/>
                                                <a:ea typeface="Cambria Math"/>
                                                <a:cs typeface="Cambria Math"/>
                                              </a:rPr>
                                              <m:t>,</m:t>
                                            </m:r>
                                            <m:r>
                                              <a:rPr lang="en-US" sz="2250" dirty="0">
                                                <a:solidFill>
                                                  <a:srgbClr val="10243A"/>
                                                </a:solidFill>
                                                <a:latin typeface="Cambria Math"/>
                                                <a:ea typeface="Cambria Math"/>
                                                <a:cs typeface="Cambria Math"/>
                                              </a:rPr>
                                              <m:t>v</m:t>
                                            </m:r>
                                          </m:e>
                                        </m:d>
                                      </m:e>
                                    </m:d>
                                    <m:r>
                                      <m:rPr>
                                        <m:sty m:val="p"/>
                                      </m:rPr>
                                      <a:rPr lang="en-US" sz="2250" dirty="0">
                                        <a:solidFill>
                                          <a:srgbClr val="10243A"/>
                                        </a:solidFill>
                                        <a:latin typeface="Cambria Math"/>
                                        <a:ea typeface="Cambria Math"/>
                                        <a:cs typeface="Cambria Math"/>
                                      </a:rPr>
                                      <m:t>+</m:t>
                                    </m:r>
                                    <m:r>
                                      <a:rPr lang="en-US" sz="2250" dirty="0">
                                        <a:solidFill>
                                          <a:srgbClr val="10243A"/>
                                        </a:solidFill>
                                        <a:latin typeface="Cambria Math"/>
                                        <a:ea typeface="Cambria Math"/>
                                        <a:cs typeface="Cambria Math"/>
                                      </a:rPr>
                                      <m:t>ωνu</m:t>
                                    </m:r>
                                    <m:d>
                                      <m:dPr>
                                        <m:begChr m:val="("/>
                                        <m:sepChr m:val=""/>
                                        <m:endChr m:val=")"/>
                                        <m:grow m:val="on"/>
                                        <m:ctrlPr>
                                          <a:rPr lang="en-US" sz="2250" dirty="0">
                                            <a:solidFill>
                                              <a:srgbClr val="10243A"/>
                                            </a:solidFill>
                                            <a:latin typeface="Cambria Math"/>
                                            <a:ea typeface="Cambria Math"/>
                                            <a:cs typeface="Cambria Math"/>
                                          </a:rPr>
                                        </m:ctrlPr>
                                      </m:dPr>
                                      <m:e>
                                        <m:r>
                                          <a:rPr lang="en-US" sz="2250" dirty="0">
                                            <a:solidFill>
                                              <a:srgbClr val="10243A"/>
                                            </a:solidFill>
                                            <a:latin typeface="Cambria Math"/>
                                            <a:ea typeface="Cambria Math"/>
                                            <a:cs typeface="Cambria Math"/>
                                          </a:rPr>
                                          <m:t>v</m:t>
                                        </m:r>
                                      </m:e>
                                    </m:d>
                                  </m:e>
                                </m:d>
                              </m:e>
                            </m:func>
                          </m:e>
                        </m:func>
                      </m:oMath>
                    </m:oMathPara>
                  </a14:m>
                </a:p>
              </p:txBody>
            </p:sp>
          </mc:Choice>
        </mc:AlternateContent>
      </p:grpSp>
      <p:grpSp>
        <p:nvGrpSpPr>
          <p:cNvPr id="19" name="gradient-meaning"/>
          <p:cNvGrpSpPr/>
          <p:nvPr/>
        </p:nvGrpSpPr>
        <p:grpSpPr>
          <a:xfrm>
            <a:off x="601218" y="5803582"/>
            <a:ext cx="7235994" cy="322707"/>
            <a:chOff x="601218" y="5803582"/>
            <a:chExt cx="7235994" cy="322707"/>
          </a:xfrm>
        </p:grpSpPr>
        <p:sp>
          <p:nvSpPr>
            <p:cNvPr id="18" name="TextBox 18"/>
            <p:cNvSpPr txBox="1"/>
            <p:nvPr/>
          </p:nvSpPr>
          <p:spPr>
            <a:xfrm>
              <a:off x="601218" y="5803582"/>
              <a:ext cx="7235994"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P = RM parameter count. V tracks covered gradient-difference directions.</a:t>
              </a:r>
            </a:p>
          </p:txBody>
        </p:sp>
      </p:grpSp>
      <p:grpSp>
        <p:nvGrpSpPr>
          <p:cNvPr id="22" name="footer"/>
          <p:cNvGrpSpPr/>
          <p:nvPr/>
        </p:nvGrpSpPr>
        <p:grpSpPr>
          <a:xfrm>
            <a:off x="603504" y="6395085"/>
            <a:ext cx="10984992" cy="234696"/>
            <a:chOff x="603504" y="6395085"/>
            <a:chExt cx="10984992" cy="234696"/>
          </a:xfrm>
        </p:grpSpPr>
        <p:sp>
          <p:nvSpPr>
            <p:cNvPr id="20" name="TextBox 20"/>
            <p:cNvSpPr txBox="1"/>
            <p:nvPr/>
          </p:nvSpPr>
          <p:spPr>
            <a:xfrm>
              <a:off x="603504" y="6395085"/>
              <a:ext cx="648679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Source: Eqs. (4)–(5); Algorithm 1, line 12. g is a parameter gradient, not a text embedding.</a:t>
              </a:r>
            </a:p>
          </p:txBody>
        </p:sp>
        <p:sp>
          <p:nvSpPr>
            <p:cNvPr id="21" name="TextBox 21"/>
            <p:cNvSpPr txBox="1"/>
            <p:nvPr/>
          </p:nvSpPr>
          <p:spPr>
            <a:xfrm>
              <a:off x="11082270" y="6395085"/>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06 / 08</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70535"/>
            <a:ext cx="7724389" cy="952119"/>
            <a:chOff x="592836" y="470535"/>
            <a:chExt cx="7724389" cy="952119"/>
          </a:xfrm>
        </p:grpSpPr>
        <p:sp>
          <p:nvSpPr>
            <p:cNvPr id="2" name="TextBox 2"/>
            <p:cNvSpPr txBox="1"/>
            <p:nvPr/>
          </p:nvSpPr>
          <p:spPr>
            <a:xfrm>
              <a:off x="603504" y="470535"/>
              <a:ext cx="2099058"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07 / THE LINE-14 UPDATE</a:t>
              </a:r>
            </a:p>
          </p:txBody>
        </p:sp>
        <p:sp>
          <p:nvSpPr>
            <p:cNvPr id="3" name="TextBox 3"/>
            <p:cNvSpPr txBox="1"/>
            <p:nvPr/>
          </p:nvSpPr>
          <p:spPr>
            <a:xfrm>
              <a:off x="592836" y="777240"/>
              <a:ext cx="7724389"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Two clocks: update V, then train RM</a:t>
              </a:r>
            </a:p>
          </p:txBody>
        </p:sp>
      </p:grpSp>
      <p:grpSp>
        <p:nvGrpSpPr>
          <p:cNvPr id="12" name="token-clock"/>
          <p:cNvGrpSpPr/>
          <p:nvPr/>
        </p:nvGrpSpPr>
        <p:grpSpPr>
          <a:xfrm>
            <a:off x="609600" y="1704975"/>
            <a:ext cx="10972800" cy="1933575"/>
            <a:chOff x="609600" y="1704975"/>
            <a:chExt cx="10972800" cy="1933575"/>
          </a:xfrm>
        </p:grpSpPr>
        <p:sp>
          <p:nvSpPr>
            <p:cNvPr id="5" name="Rectangle 5"/>
            <p:cNvSpPr/>
            <p:nvPr/>
          </p:nvSpPr>
          <p:spPr>
            <a:xfrm>
              <a:off x="609600" y="1704975"/>
              <a:ext cx="10972800" cy="1933575"/>
            </a:xfrm>
            <a:prstGeom prst="rect">
              <a:avLst/>
            </a:prstGeom>
            <a:solidFill>
              <a:schemeClr val="lt2"/>
            </a:solidFill>
            <a:ln>
              <a:noFill/>
            </a:ln>
          </p:spPr>
        </p:sp>
        <p:sp>
          <p:nvSpPr>
            <p:cNvPr id="6" name="Rectangle 6"/>
            <p:cNvSpPr/>
            <p:nvPr/>
          </p:nvSpPr>
          <p:spPr>
            <a:xfrm>
              <a:off x="609600" y="1704975"/>
              <a:ext cx="76200" cy="1933575"/>
            </a:xfrm>
            <a:prstGeom prst="rect">
              <a:avLst/>
            </a:prstGeom>
            <a:solidFill>
              <a:schemeClr val="accent3"/>
            </a:solidFill>
            <a:ln>
              <a:noFill/>
            </a:ln>
          </p:spPr>
        </p:sp>
        <p:sp>
          <p:nvSpPr>
            <p:cNvPr id="7" name="TextBox 7"/>
            <p:cNvSpPr txBox="1"/>
            <p:nvPr/>
          </p:nvSpPr>
          <p:spPr>
            <a:xfrm>
              <a:off x="826008" y="1912620"/>
              <a:ext cx="1866532" cy="469392"/>
            </a:xfrm>
            <a:prstGeom prst="rect">
              <a:avLst/>
            </a:prstGeom>
            <a:noFill/>
            <a:ln>
              <a:noFill/>
            </a:ln>
          </p:spPr>
          <p:txBody>
            <a:bodyPr wrap="none" lIns="0" tIns="0" rIns="0" bIns="0" anchor="t" anchorCtr="0">
              <a:spAutoFit/>
            </a:bodyPr>
            <a:lstStyle/>
            <a:p>
              <a:pPr algn="l"/>
              <a:r>
                <a:rPr lang="en-US" sz="2400" b="1" dirty="0">
                  <a:solidFill>
                    <a:schemeClr val="accent3"/>
                  </a:solidFill>
                  <a:latin typeface="+mn-lt"/>
                  <a:ea typeface="+mn-ea"/>
                  <a:cs typeface="+mn-cs"/>
                </a:rPr>
                <a:t>Every token</a:t>
              </a:r>
            </a:p>
          </p:txBody>
        </p:sp>
        <p:sp>
          <p:nvSpPr>
            <p:cNvPr id="8" name="TextBox 8"/>
            <p:cNvSpPr txBox="1"/>
            <p:nvPr/>
          </p:nvSpPr>
          <p:spPr>
            <a:xfrm>
              <a:off x="829818" y="2365058"/>
              <a:ext cx="2000794"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Algorithm 1 · line 14</a:t>
              </a:r>
            </a:p>
          </p:txBody>
        </p:sp>
        <p:sp>
          <p:nvSpPr>
            <p:cNvPr id="9" name="TextBox 9"/>
            <p:cNvSpPr txBox="1"/>
            <p:nvPr/>
          </p:nvSpPr>
          <p:spPr>
            <a:xfrm>
              <a:off x="829818" y="3050858"/>
              <a:ext cx="1319427"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p = 1, 2, 3, ...</a:t>
              </a:r>
            </a:p>
          </p:txBody>
        </p:sp>
        <mc:AlternateContent xmlns:mc="http://schemas.openxmlformats.org/markup-compatibility/2006">
          <mc:Choice xmlns:a14="http://schemas.microsoft.com/office/drawing/2010/main" Requires="a14">
            <p:sp>
              <p:nvSpPr>
                <p:cNvPr id="10" name="v-update"/>
                <p:cNvSpPr txBox="1">
                  <a:spLocks noGrp="1"/>
                </p:cNvSpPr>
                <p:nvPr/>
              </p:nvSpPr>
              <p:spPr>
                <a:xfrm>
                  <a:off x="3476625" y="1952625"/>
                  <a:ext cx="7858125" cy="89535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r>
                          <a:rPr lang="en-US" sz="2250" dirty="0">
                            <a:solidFill>
                              <a:srgbClr val="10243A"/>
                            </a:solidFill>
                            <a:latin typeface="Cambria Math"/>
                            <a:ea typeface="Cambria Math"/>
                            <a:cs typeface="Cambria Math"/>
                          </a:rPr>
                          <m:t>δ</m:t>
                        </m:r>
                        <m:r>
                          <m:rPr>
                            <m:sty m:val="p"/>
                          </m:rPr>
                          <a:rPr lang="en-US" sz="2250" dirty="0">
                            <a:solidFill>
                              <a:srgbClr val="10243A"/>
                            </a:solidFill>
                            <a:latin typeface="Cambria Math"/>
                            <a:ea typeface="Cambria Math"/>
                            <a:cs typeface="Cambria Math"/>
                          </a:rPr>
                          <m:t>=</m:t>
                        </m:r>
                        <m:sSubSup>
                          <m:e>
                            <m:r>
                              <a:rPr lang="en-US" sz="2250" dirty="0">
                                <a:solidFill>
                                  <a:srgbClr val="10243A"/>
                                </a:solidFill>
                                <a:latin typeface="Cambria Math"/>
                                <a:ea typeface="Cambria Math"/>
                                <a:cs typeface="Cambria Math"/>
                              </a:rPr>
                              <m:t>g</m:t>
                            </m:r>
                          </m:e>
                          <m:sub>
                            <m:r>
                              <a:rPr lang="en-US" sz="2250" dirty="0">
                                <a:solidFill>
                                  <a:srgbClr val="10243A"/>
                                </a:solidFill>
                                <a:latin typeface="Cambria Math"/>
                                <a:ea typeface="Cambria Math"/>
                                <a:cs typeface="Cambria Math"/>
                              </a:rPr>
                              <m:t>1</m:t>
                            </m:r>
                          </m:sub>
                          <m:sup>
                            <m:r>
                              <m:rPr>
                                <m:sty m:val="p"/>
                              </m:rPr>
                              <a:rPr lang="en-US" sz="2250" dirty="0">
                                <a:solidFill>
                                  <a:srgbClr val="10243A"/>
                                </a:solidFill>
                                <a:latin typeface="Cambria Math"/>
                                <a:ea typeface="Cambria Math"/>
                                <a:cs typeface="Cambria Math"/>
                              </a:rPr>
                              <m:t>⋆</m:t>
                            </m:r>
                          </m:sup>
                        </m:sSubSup>
                        <m:r>
                          <m:rPr>
                            <m:sty m:val="p"/>
                          </m:rPr>
                          <a:rPr lang="en-US" sz="2250" dirty="0">
                            <a:solidFill>
                              <a:srgbClr val="10243A"/>
                            </a:solidFill>
                            <a:latin typeface="Cambria Math"/>
                            <a:ea typeface="Cambria Math"/>
                            <a:cs typeface="Cambria Math"/>
                          </a:rPr>
                          <m:t>−</m:t>
                        </m:r>
                        <m:sSubSup>
                          <m:e>
                            <m:r>
                              <a:rPr lang="en-US" sz="2250" dirty="0">
                                <a:solidFill>
                                  <a:srgbClr val="10243A"/>
                                </a:solidFill>
                                <a:latin typeface="Cambria Math"/>
                                <a:ea typeface="Cambria Math"/>
                                <a:cs typeface="Cambria Math"/>
                              </a:rPr>
                              <m:t>g</m:t>
                            </m:r>
                          </m:e>
                          <m:sub>
                            <m:r>
                              <a:rPr lang="en-US" sz="2250" dirty="0">
                                <a:solidFill>
                                  <a:srgbClr val="10243A"/>
                                </a:solidFill>
                                <a:latin typeface="Cambria Math"/>
                                <a:ea typeface="Cambria Math"/>
                                <a:cs typeface="Cambria Math"/>
                              </a:rPr>
                              <m:t>2</m:t>
                            </m:r>
                          </m:sub>
                          <m:sup>
                            <m:r>
                              <m:rPr>
                                <m:sty m:val="p"/>
                              </m:rPr>
                              <a:rPr lang="en-US" sz="2250" dirty="0">
                                <a:solidFill>
                                  <a:srgbClr val="10243A"/>
                                </a:solidFill>
                                <a:latin typeface="Cambria Math"/>
                                <a:ea typeface="Cambria Math"/>
                                <a:cs typeface="Cambria Math"/>
                              </a:rPr>
                              <m:t>⋆</m:t>
                            </m:r>
                          </m:sup>
                        </m:sSubSup>
                        <m:r>
                          <m:rPr>
                            <m:sty m:val="p"/>
                          </m:rPr>
                          <a:rPr lang="en-US" sz="2250" dirty="0">
                            <a:solidFill>
                              <a:srgbClr val="10243A"/>
                            </a:solidFill>
                            <a:latin typeface="Cambria Math"/>
                            <a:ea typeface="Cambria Math"/>
                            <a:cs typeface="Cambria Math"/>
                          </a:rPr>
                          <m:t>,</m:t>
                        </m:r>
                        <m:r>
                          <a:rPr lang="en-US" sz="2250" dirty="0">
                            <a:solidFill>
                              <a:srgbClr val="10243A"/>
                            </a:solidFill>
                            <a:latin typeface="Cambria Math"/>
                            <a:ea typeface="Cambria Math"/>
                            <a:cs typeface="Cambria Math"/>
                          </a:rPr>
                          <m:t xml:space="preserve"> </m:t>
                        </m:r>
                        <m:r>
                          <a:rPr lang="en-US" sz="2250" dirty="0">
                            <a:solidFill>
                              <a:srgbClr val="10243A"/>
                            </a:solidFill>
                            <a:latin typeface="Cambria Math"/>
                            <a:ea typeface="Cambria Math"/>
                            <a:cs typeface="Cambria Math"/>
                          </a:rPr>
                          <m:t>V</m:t>
                        </m:r>
                        <m:r>
                          <m:rPr>
                            <m:sty m:val="p"/>
                          </m:rPr>
                          <a:rPr lang="en-US" sz="2250" dirty="0">
                            <a:solidFill>
                              <a:srgbClr val="10243A"/>
                            </a:solidFill>
                            <a:latin typeface="Cambria Math"/>
                            <a:ea typeface="Cambria Math"/>
                            <a:cs typeface="Cambria Math"/>
                          </a:rPr>
                          <m:t>←</m:t>
                        </m:r>
                        <m:r>
                          <a:rPr lang="en-US" sz="2250" dirty="0">
                            <a:solidFill>
                              <a:srgbClr val="10243A"/>
                            </a:solidFill>
                            <a:latin typeface="Cambria Math"/>
                            <a:ea typeface="Cambria Math"/>
                            <a:cs typeface="Cambria Math"/>
                          </a:rPr>
                          <m:t>V</m:t>
                        </m:r>
                        <m:r>
                          <m:rPr>
                            <m:sty m:val="p"/>
                          </m:rPr>
                          <a:rPr lang="en-US" sz="2250" dirty="0">
                            <a:solidFill>
                              <a:srgbClr val="10243A"/>
                            </a:solidFill>
                            <a:latin typeface="Cambria Math"/>
                            <a:ea typeface="Cambria Math"/>
                            <a:cs typeface="Cambria Math"/>
                          </a:rPr>
                          <m:t>+</m:t>
                        </m:r>
                        <m:r>
                          <a:rPr lang="en-US" sz="2250" dirty="0">
                            <a:solidFill>
                              <a:srgbClr val="10243A"/>
                            </a:solidFill>
                            <a:latin typeface="Cambria Math"/>
                            <a:ea typeface="Cambria Math"/>
                            <a:cs typeface="Cambria Math"/>
                          </a:rPr>
                          <m:t>δ</m:t>
                        </m:r>
                        <m:sSup>
                          <m:e>
                            <m:r>
                              <a:rPr lang="en-US" sz="2250" dirty="0">
                                <a:solidFill>
                                  <a:srgbClr val="10243A"/>
                                </a:solidFill>
                                <a:latin typeface="Cambria Math"/>
                                <a:ea typeface="Cambria Math"/>
                                <a:cs typeface="Cambria Math"/>
                              </a:rPr>
                              <m:t>δ</m:t>
                            </m:r>
                          </m:e>
                          <m:sup>
                            <m:r>
                              <m:rPr>
                                <m:sty m:val="p"/>
                              </m:rPr>
                              <a:rPr lang="en-US" sz="2250" dirty="0">
                                <a:solidFill>
                                  <a:srgbClr val="10243A"/>
                                </a:solidFill>
                                <a:latin typeface="Cambria Math"/>
                                <a:ea typeface="Cambria Math"/>
                                <a:cs typeface="Cambria Math"/>
                              </a:rPr>
                              <m:t>⊤</m:t>
                            </m:r>
                          </m:sup>
                        </m:sSup>
                        <m:r>
                          <m:rPr>
                            <m:sty m:val="p"/>
                          </m:rPr>
                          <a:rPr lang="en-US" sz="2250" dirty="0">
                            <a:solidFill>
                              <a:srgbClr val="10243A"/>
                            </a:solidFill>
                            <a:latin typeface="Cambria Math"/>
                            <a:ea typeface="Cambria Math"/>
                            <a:cs typeface="Cambria Math"/>
                          </a:rPr>
                          <m:t>,</m:t>
                        </m:r>
                        <m:r>
                          <a:rPr lang="en-US" sz="2250" dirty="0">
                            <a:solidFill>
                              <a:srgbClr val="10243A"/>
                            </a:solidFill>
                            <a:latin typeface="Cambria Math"/>
                            <a:ea typeface="Cambria Math"/>
                            <a:cs typeface="Cambria Math"/>
                          </a:rPr>
                          <m:t xml:space="preserve"> </m:t>
                        </m:r>
                        <m:r>
                          <a:rPr lang="en-US" sz="2250" dirty="0">
                            <a:solidFill>
                              <a:srgbClr val="10243A"/>
                            </a:solidFill>
                            <a:latin typeface="Cambria Math"/>
                            <a:ea typeface="Cambria Math"/>
                            <a:cs typeface="Cambria Math"/>
                          </a:rPr>
                          <m:t>V</m:t>
                        </m:r>
                        <m:r>
                          <m:rPr>
                            <m:sty m:val="p"/>
                          </m:rPr>
                          <a:rPr lang="en-US" sz="2250" dirty="0">
                            <a:solidFill>
                              <a:srgbClr val="10243A"/>
                            </a:solidFill>
                            <a:latin typeface="Cambria Math"/>
                            <a:ea typeface="Cambria Math"/>
                            <a:cs typeface="Cambria Math"/>
                          </a:rPr>
                          <m:t>∈</m:t>
                        </m:r>
                        <m:sSup>
                          <m:e>
                            <m:r>
                              <m:rPr>
                                <m:scr m:val="double-struck"/>
                                <m:sty m:val="p"/>
                              </m:rPr>
                              <a:rPr lang="en-US" sz="2250" dirty="0">
                                <a:solidFill>
                                  <a:srgbClr val="10243A"/>
                                </a:solidFill>
                                <a:latin typeface="Cambria Math"/>
                                <a:ea typeface="Cambria Math"/>
                                <a:cs typeface="Cambria Math"/>
                              </a:rPr>
                              <m:t>R</m:t>
                            </m:r>
                          </m:e>
                          <m:sup>
                            <m:r>
                              <a:rPr lang="en-US" sz="2250" dirty="0">
                                <a:solidFill>
                                  <a:srgbClr val="10243A"/>
                                </a:solidFill>
                                <a:latin typeface="Cambria Math"/>
                                <a:ea typeface="Cambria Math"/>
                                <a:cs typeface="Cambria Math"/>
                              </a:rPr>
                              <m:t>P</m:t>
                            </m:r>
                            <m:r>
                              <m:rPr>
                                <m:sty m:val="p"/>
                              </m:rPr>
                              <a:rPr lang="en-US" sz="2250" dirty="0">
                                <a:solidFill>
                                  <a:srgbClr val="10243A"/>
                                </a:solidFill>
                                <a:latin typeface="Cambria Math"/>
                                <a:ea typeface="Cambria Math"/>
                                <a:cs typeface="Cambria Math"/>
                              </a:rPr>
                              <m:t>×</m:t>
                            </m:r>
                            <m:r>
                              <a:rPr lang="en-US" sz="2250" dirty="0">
                                <a:solidFill>
                                  <a:srgbClr val="10243A"/>
                                </a:solidFill>
                                <a:latin typeface="Cambria Math"/>
                                <a:ea typeface="Cambria Math"/>
                                <a:cs typeface="Cambria Math"/>
                              </a:rPr>
                              <m:t>P</m:t>
                            </m:r>
                          </m:sup>
                        </m:sSup>
                      </m:oMath>
                    </m:oMathPara>
                  </a14:m>
                </a:p>
              </p:txBody>
            </p:sp>
          </mc:Choice>
        </mc:AlternateContent>
        <p:sp>
          <p:nvSpPr>
            <p:cNvPr id="11" name="TextBox 11"/>
            <p:cNvSpPr txBox="1"/>
            <p:nvPr/>
          </p:nvSpPr>
          <p:spPr>
            <a:xfrm>
              <a:off x="3563493" y="3050858"/>
              <a:ext cx="5524041" cy="322707"/>
            </a:xfrm>
            <a:prstGeom prst="rect">
              <a:avLst/>
            </a:prstGeom>
            <a:noFill/>
            <a:ln>
              <a:noFill/>
            </a:ln>
          </p:spPr>
          <p:txBody>
            <a:bodyPr wrap="none" lIns="0" tIns="0" rIns="0" bIns="0" anchor="t" anchorCtr="0">
              <a:spAutoFit/>
            </a:bodyPr>
            <a:lstStyle/>
            <a:p>
              <a:pPr algn="l"/>
              <a:r>
                <a:rPr lang="el-GR" sz="1650" dirty="0">
                  <a:solidFill>
                    <a:schemeClr val="dk1"/>
                  </a:solidFill>
                  <a:latin typeface="+mn-lt"/>
                  <a:ea typeface="+mn-ea"/>
                  <a:cs typeface="+mn-cs"/>
                </a:rPr>
                <a:t>Selected prefixes · θ fixed · No preference label needed</a:t>
              </a:r>
            </a:p>
          </p:txBody>
        </p:sp>
      </p:grpSp>
      <p:grpSp>
        <p:nvGrpSpPr>
          <p:cNvPr id="15" name="clock-transition"/>
          <p:cNvGrpSpPr/>
          <p:nvPr/>
        </p:nvGrpSpPr>
        <p:grpSpPr>
          <a:xfrm>
            <a:off x="1895475" y="3724275"/>
            <a:ext cx="4911531" cy="305181"/>
            <a:chOff x="1895475" y="3724275"/>
            <a:chExt cx="4911531" cy="305181"/>
          </a:xfrm>
        </p:grpSpPr>
        <p:sp>
          <p:nvSpPr>
            <p:cNvPr id="13" name="Line 13"/>
            <p:cNvSpPr/>
            <p:nvPr/>
          </p:nvSpPr>
          <p:spPr>
            <a:xfrm>
              <a:off x="1895475" y="3724275"/>
              <a:ext cx="1" cy="257175"/>
            </a:xfrm>
            <a:prstGeom prst="line">
              <a:avLst/>
            </a:prstGeom>
            <a:noFill/>
            <a:ln w="19050">
              <a:solidFill>
                <a:schemeClr val="accent1"/>
              </a:solidFill>
              <a:tailEnd type="arrow" w="med" len="med"/>
            </a:ln>
          </p:spPr>
        </p:sp>
        <p:sp>
          <p:nvSpPr>
            <p:cNvPr id="14" name="TextBox 14"/>
            <p:cNvSpPr txBox="1"/>
            <p:nvPr/>
          </p:nvSpPr>
          <p:spPr>
            <a:xfrm>
              <a:off x="3565779" y="3794760"/>
              <a:ext cx="324122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Both responses finish; the user chooses one.</a:t>
              </a:r>
            </a:p>
          </p:txBody>
        </p:sp>
      </p:grpSp>
      <p:grpSp>
        <p:nvGrpSpPr>
          <p:cNvPr id="22" name="feedback-clock"/>
          <p:cNvGrpSpPr/>
          <p:nvPr/>
        </p:nvGrpSpPr>
        <p:grpSpPr>
          <a:xfrm>
            <a:off x="609600" y="4095750"/>
            <a:ext cx="10972800" cy="1809750"/>
            <a:chOff x="609600" y="4095750"/>
            <a:chExt cx="10972800" cy="1809750"/>
          </a:xfrm>
        </p:grpSpPr>
        <p:sp>
          <p:nvSpPr>
            <p:cNvPr id="16" name="Rectangle 16"/>
            <p:cNvSpPr/>
            <p:nvPr/>
          </p:nvSpPr>
          <p:spPr>
            <a:xfrm>
              <a:off x="609600" y="4095750"/>
              <a:ext cx="10972800" cy="1809750"/>
            </a:xfrm>
            <a:prstGeom prst="rect">
              <a:avLst/>
            </a:prstGeom>
            <a:solidFill>
              <a:schemeClr val="lt2"/>
            </a:solidFill>
            <a:ln>
              <a:noFill/>
            </a:ln>
          </p:spPr>
        </p:sp>
        <p:sp>
          <p:nvSpPr>
            <p:cNvPr id="17" name="Rectangle 17"/>
            <p:cNvSpPr/>
            <p:nvPr/>
          </p:nvSpPr>
          <p:spPr>
            <a:xfrm>
              <a:off x="609600" y="4095750"/>
              <a:ext cx="76200" cy="1809750"/>
            </a:xfrm>
            <a:prstGeom prst="rect">
              <a:avLst/>
            </a:prstGeom>
            <a:solidFill>
              <a:schemeClr val="accent1"/>
            </a:solidFill>
            <a:ln>
              <a:noFill/>
            </a:ln>
          </p:spPr>
        </p:sp>
        <p:sp>
          <p:nvSpPr>
            <p:cNvPr id="18" name="TextBox 18"/>
            <p:cNvSpPr txBox="1"/>
            <p:nvPr/>
          </p:nvSpPr>
          <p:spPr>
            <a:xfrm>
              <a:off x="827532" y="4345305"/>
              <a:ext cx="1993818"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After feedback</a:t>
              </a:r>
            </a:p>
          </p:txBody>
        </p:sp>
        <p:sp>
          <p:nvSpPr>
            <p:cNvPr id="19" name="TextBox 19"/>
            <p:cNvSpPr txBox="1"/>
            <p:nvPr/>
          </p:nvSpPr>
          <p:spPr>
            <a:xfrm>
              <a:off x="829818" y="4765358"/>
              <a:ext cx="2000794"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Algorithm 1 · line 17</a:t>
              </a:r>
            </a:p>
          </p:txBody>
        </p:sp>
        <mc:AlternateContent xmlns:mc="http://schemas.openxmlformats.org/markup-compatibility/2006">
          <mc:Choice xmlns:a14="http://schemas.microsoft.com/office/drawing/2010/main" Requires="a14">
            <p:sp>
              <p:nvSpPr>
                <p:cNvPr id="20" name="theta-update"/>
                <p:cNvSpPr txBox="1">
                  <a:spLocks noGrp="1"/>
                </p:cNvSpPr>
                <p:nvPr/>
              </p:nvSpPr>
              <p:spPr>
                <a:xfrm>
                  <a:off x="3476625" y="4286250"/>
                  <a:ext cx="7858125" cy="91440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sSub>
                          <m:e>
                            <m:r>
                              <a:rPr lang="en-US" sz="2250" dirty="0">
                                <a:solidFill>
                                  <a:srgbClr val="10243A"/>
                                </a:solidFill>
                                <a:latin typeface="Cambria Math"/>
                                <a:ea typeface="Cambria Math"/>
                                <a:cs typeface="Cambria Math"/>
                              </a:rPr>
                              <m:t>θ</m:t>
                            </m:r>
                          </m:e>
                          <m:sub>
                            <m:r>
                              <a:rPr lang="en-US" sz="2250" dirty="0">
                                <a:solidFill>
                                  <a:srgbClr val="10243A"/>
                                </a:solidFill>
                                <a:latin typeface="Cambria Math"/>
                                <a:ea typeface="Cambria Math"/>
                                <a:cs typeface="Cambria Math"/>
                              </a:rPr>
                              <m:t>t</m:t>
                            </m:r>
                            <m:r>
                              <m:rPr>
                                <m:sty m:val="p"/>
                              </m:rPr>
                              <a:rPr lang="en-US" sz="2250" dirty="0">
                                <a:solidFill>
                                  <a:srgbClr val="10243A"/>
                                </a:solidFill>
                                <a:latin typeface="Cambria Math"/>
                                <a:ea typeface="Cambria Math"/>
                                <a:cs typeface="Cambria Math"/>
                              </a:rPr>
                              <m:t>+</m:t>
                            </m:r>
                            <m:r>
                              <a:rPr lang="en-US" sz="2250" dirty="0">
                                <a:solidFill>
                                  <a:srgbClr val="10243A"/>
                                </a:solidFill>
                                <a:latin typeface="Cambria Math"/>
                                <a:ea typeface="Cambria Math"/>
                                <a:cs typeface="Cambria Math"/>
                              </a:rPr>
                              <m:t>1</m:t>
                            </m:r>
                          </m:sub>
                        </m:sSub>
                        <m:r>
                          <m:rPr>
                            <m:sty m:val="p"/>
                          </m:rPr>
                          <a:rPr lang="en-US" sz="2250" dirty="0">
                            <a:solidFill>
                              <a:srgbClr val="10243A"/>
                            </a:solidFill>
                            <a:latin typeface="Cambria Math"/>
                            <a:ea typeface="Cambria Math"/>
                            <a:cs typeface="Cambria Math"/>
                          </a:rPr>
                          <m:t>=</m:t>
                        </m:r>
                        <m:func>
                          <m:funcPr/>
                          <m:fName>
                            <m:r>
                              <m:rPr>
                                <m:sty m:val="p"/>
                              </m:rPr>
                              <a:rPr lang="en-US" sz="2250" dirty="0">
                                <a:solidFill>
                                  <a:srgbClr val="10243A"/>
                                </a:solidFill>
                                <a:latin typeface="Cambria Math"/>
                                <a:ea typeface="Cambria Math"/>
                                <a:cs typeface="Cambria Math"/>
                              </a:rPr>
                              <m:t>arg</m:t>
                            </m:r>
                          </m:fName>
                          <m:e>
                            <m:func>
                              <m:funcPr/>
                              <m:fName>
                                <m:limLow>
                                  <m:limLowPr/>
                                  <m:e>
                                    <m:r>
                                      <m:rPr>
                                        <m:sty m:val="p"/>
                                      </m:rPr>
                                      <a:rPr lang="en-US" sz="2250" dirty="0">
                                        <a:solidFill>
                                          <a:srgbClr val="10243A"/>
                                        </a:solidFill>
                                        <a:latin typeface="Cambria Math"/>
                                        <a:ea typeface="Cambria Math"/>
                                        <a:cs typeface="Cambria Math"/>
                                      </a:rPr>
                                      <m:t>min</m:t>
                                    </m:r>
                                  </m:e>
                                  <m:lim>
                                    <m:r>
                                      <a:rPr lang="en-US" sz="2250" dirty="0">
                                        <a:solidFill>
                                          <a:srgbClr val="10243A"/>
                                        </a:solidFill>
                                        <a:latin typeface="Cambria Math"/>
                                        <a:ea typeface="Cambria Math"/>
                                        <a:cs typeface="Cambria Math"/>
                                      </a:rPr>
                                      <m:t>θ</m:t>
                                    </m:r>
                                  </m:lim>
                                </m:limLow>
                              </m:fName>
                              <m:e>
                                <m:sSub>
                                  <m:e>
                                    <m:r>
                                      <m:rPr>
                                        <m:scr m:val="script"/>
                                        <m:sty m:val="p"/>
                                      </m:rPr>
                                      <a:rPr lang="en-US" sz="2250" dirty="0">
                                        <a:solidFill>
                                          <a:srgbClr val="10243A"/>
                                        </a:solidFill>
                                        <a:latin typeface="Cambria Math"/>
                                        <a:ea typeface="Cambria Math"/>
                                        <a:cs typeface="Cambria Math"/>
                                      </a:rPr>
                                      <m:t>L</m:t>
                                    </m:r>
                                  </m:e>
                                  <m:sub>
                                    <m:r>
                                      <a:rPr lang="en-US" sz="2250" dirty="0">
                                        <a:solidFill>
                                          <a:srgbClr val="10243A"/>
                                        </a:solidFill>
                                        <a:latin typeface="Cambria Math"/>
                                        <a:ea typeface="Cambria Math"/>
                                        <a:cs typeface="Cambria Math"/>
                                      </a:rPr>
                                      <m:t>t</m:t>
                                    </m:r>
                                  </m:sub>
                                </m:sSub>
                                <m:d>
                                  <m:dPr>
                                    <m:begChr m:val="("/>
                                    <m:sepChr m:val=""/>
                                    <m:endChr m:val=")"/>
                                    <m:grow m:val="on"/>
                                    <m:ctrlPr>
                                      <a:rPr lang="en-US" sz="2250" dirty="0">
                                        <a:solidFill>
                                          <a:srgbClr val="10243A"/>
                                        </a:solidFill>
                                        <a:latin typeface="Cambria Math"/>
                                        <a:ea typeface="Cambria Math"/>
                                        <a:cs typeface="Cambria Math"/>
                                      </a:rPr>
                                    </m:ctrlPr>
                                  </m:dPr>
                                  <m:e>
                                    <m:r>
                                      <a:rPr lang="en-US" sz="2250" dirty="0">
                                        <a:solidFill>
                                          <a:srgbClr val="10243A"/>
                                        </a:solidFill>
                                        <a:latin typeface="Cambria Math"/>
                                        <a:ea typeface="Cambria Math"/>
                                        <a:cs typeface="Cambria Math"/>
                                      </a:rPr>
                                      <m:t>θ</m:t>
                                    </m:r>
                                  </m:e>
                                </m:d>
                              </m:e>
                            </m:func>
                          </m:e>
                        </m:func>
                      </m:oMath>
                    </m:oMathPara>
                  </a14:m>
                </a:p>
              </p:txBody>
            </p:sp>
          </mc:Choice>
        </mc:AlternateContent>
        <p:sp>
          <p:nvSpPr>
            <p:cNvPr id="21" name="TextBox 21"/>
            <p:cNvSpPr txBox="1"/>
            <p:nvPr/>
          </p:nvSpPr>
          <p:spPr>
            <a:xfrm>
              <a:off x="3563493" y="5365432"/>
              <a:ext cx="6010863"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Complete response pair → add to Dₜ → train the shared RM</a:t>
              </a:r>
            </a:p>
          </p:txBody>
        </p:sp>
      </p:grpSp>
      <p:grpSp>
        <p:nvGrpSpPr>
          <p:cNvPr id="25" name="footer"/>
          <p:cNvGrpSpPr/>
          <p:nvPr/>
        </p:nvGrpSpPr>
        <p:grpSpPr>
          <a:xfrm>
            <a:off x="603504" y="6395085"/>
            <a:ext cx="10984992" cy="234696"/>
            <a:chOff x="603504" y="6395085"/>
            <a:chExt cx="10984992" cy="234696"/>
          </a:xfrm>
        </p:grpSpPr>
        <p:sp>
          <p:nvSpPr>
            <p:cNvPr id="23" name="TextBox 23"/>
            <p:cNvSpPr txBox="1"/>
            <p:nvPr/>
          </p:nvSpPr>
          <p:spPr>
            <a:xfrm>
              <a:off x="603504" y="6395085"/>
              <a:ext cx="6402373" cy="234696"/>
            </a:xfrm>
            <a:prstGeom prst="rect">
              <a:avLst/>
            </a:prstGeom>
            <a:noFill/>
            <a:ln>
              <a:noFill/>
            </a:ln>
          </p:spPr>
          <p:txBody>
            <a:bodyPr wrap="none" lIns="0" tIns="0" rIns="0" bIns="0" anchor="t" anchorCtr="0">
              <a:spAutoFit/>
            </a:bodyPr>
            <a:lstStyle/>
            <a:p>
              <a:pPr algn="l"/>
              <a:r>
                <a:rPr lang="el-GR" sz="1200" dirty="0">
                  <a:solidFill>
                    <a:schemeClr val="accent5"/>
                  </a:solidFill>
                  <a:latin typeface="+mn-lt"/>
                  <a:ea typeface="+mn-ea"/>
                  <a:cs typeface="+mn-cs"/>
                </a:rPr>
                <a:t>Source: Algorithm 1, lines 13–18; Eq. (6). Gradient computation alone does not update θ.</a:t>
              </a:r>
            </a:p>
          </p:txBody>
        </p:sp>
        <p:sp>
          <p:nvSpPr>
            <p:cNvPr id="24" name="TextBox 24"/>
            <p:cNvSpPr txBox="1"/>
            <p:nvPr/>
          </p:nvSpPr>
          <p:spPr>
            <a:xfrm>
              <a:off x="11082270" y="6395085"/>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07 / 08</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70535"/>
            <a:ext cx="6812433" cy="952119"/>
            <a:chOff x="592836" y="470535"/>
            <a:chExt cx="6812433" cy="952119"/>
          </a:xfrm>
        </p:grpSpPr>
        <p:sp>
          <p:nvSpPr>
            <p:cNvPr id="2" name="TextBox 2"/>
            <p:cNvSpPr txBox="1"/>
            <p:nvPr/>
          </p:nvSpPr>
          <p:spPr>
            <a:xfrm>
              <a:off x="603504" y="470535"/>
              <a:ext cx="3104342"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08 / LEARNING VS. FINAL INFERENCE</a:t>
              </a:r>
            </a:p>
          </p:txBody>
        </p:sp>
        <p:sp>
          <p:nvSpPr>
            <p:cNvPr id="3" name="TextBox 3"/>
            <p:cNvSpPr txBox="1"/>
            <p:nvPr/>
          </p:nvSpPr>
          <p:spPr>
            <a:xfrm>
              <a:off x="592836" y="777240"/>
              <a:ext cx="6812433"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Deployment returns one answer</a:t>
              </a:r>
            </a:p>
          </p:txBody>
        </p:sp>
      </p:grpSp>
      <p:grpSp>
        <p:nvGrpSpPr>
          <p:cNvPr id="14" name="two-phases"/>
          <p:cNvGrpSpPr/>
          <p:nvPr/>
        </p:nvGrpSpPr>
        <p:grpSpPr>
          <a:xfrm>
            <a:off x="790575" y="1781175"/>
            <a:ext cx="9037505" cy="3355848"/>
            <a:chOff x="790575" y="1781175"/>
            <a:chExt cx="9037505" cy="3355848"/>
          </a:xfrm>
        </p:grpSpPr>
        <p:sp>
          <p:nvSpPr>
            <p:cNvPr id="5" name="Line 5"/>
            <p:cNvSpPr/>
            <p:nvPr/>
          </p:nvSpPr>
          <p:spPr>
            <a:xfrm>
              <a:off x="6096000" y="1781175"/>
              <a:ext cx="9525" cy="3305175"/>
            </a:xfrm>
            <a:custGeom>
              <a:avLst/>
              <a:gdLst/>
              <a:ahLst/>
              <a:cxnLst/>
              <a:rect l="l" t="t" r="r" b="b"/>
              <a:pathLst>
                <a:path w="9525" h="3305175">
                  <a:moveTo>
                    <a:pt x="0" y="0"/>
                  </a:moveTo>
                  <a:lnTo>
                    <a:pt x="0" y="3305175"/>
                  </a:lnTo>
                </a:path>
              </a:pathLst>
            </a:custGeom>
            <a:noFill/>
            <a:ln w="19050">
              <a:solidFill>
                <a:schemeClr val="accent6"/>
              </a:solidFill>
            </a:ln>
          </p:spPr>
        </p:sp>
        <p:sp>
          <p:nvSpPr>
            <p:cNvPr id="6" name="TextBox 6"/>
            <p:cNvSpPr txBox="1"/>
            <p:nvPr/>
          </p:nvSpPr>
          <p:spPr>
            <a:xfrm>
              <a:off x="829818" y="1926908"/>
              <a:ext cx="3211258" cy="322707"/>
            </a:xfrm>
            <a:prstGeom prst="rect">
              <a:avLst/>
            </a:prstGeom>
            <a:noFill/>
            <a:ln>
              <a:noFill/>
            </a:ln>
          </p:spPr>
          <p:txBody>
            <a:bodyPr wrap="none" lIns="0" tIns="0" rIns="0" bIns="0" anchor="t" anchorCtr="0">
              <a:spAutoFit/>
            </a:bodyPr>
            <a:lstStyle/>
            <a:p>
              <a:pPr algn="l"/>
              <a:r>
                <a:rPr lang="en-US" sz="1650" b="1" dirty="0">
                  <a:solidFill>
                    <a:schemeClr val="accent5"/>
                  </a:solidFill>
                  <a:latin typeface="+mn-lt"/>
                  <a:ea typeface="+mn-ea"/>
                  <a:cs typeface="+mn-cs"/>
                </a:rPr>
                <a:t>ONLINE PERSONALIZATION</a:t>
              </a:r>
            </a:p>
          </p:txBody>
        </p:sp>
        <p:sp>
          <p:nvSpPr>
            <p:cNvPr id="7" name="TextBox 7"/>
            <p:cNvSpPr txBox="1"/>
            <p:nvPr/>
          </p:nvSpPr>
          <p:spPr>
            <a:xfrm>
              <a:off x="7144893" y="1926908"/>
              <a:ext cx="2402777"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FINAL DEPLOYMENT</a:t>
              </a:r>
            </a:p>
          </p:txBody>
        </p:sp>
        <p:sp>
          <p:nvSpPr>
            <p:cNvPr id="8" name="TextBox 8"/>
            <p:cNvSpPr txBox="1"/>
            <p:nvPr/>
          </p:nvSpPr>
          <p:spPr>
            <a:xfrm>
              <a:off x="790575" y="2687955"/>
              <a:ext cx="532279" cy="1276350"/>
            </a:xfrm>
            <a:prstGeom prst="rect">
              <a:avLst/>
            </a:prstGeom>
            <a:noFill/>
            <a:ln>
              <a:noFill/>
            </a:ln>
          </p:spPr>
          <p:txBody>
            <a:bodyPr wrap="none" lIns="0" tIns="0" rIns="0" bIns="0" anchor="t" anchorCtr="0">
              <a:spAutoFit/>
            </a:bodyPr>
            <a:lstStyle/>
            <a:p>
              <a:pPr algn="l"/>
              <a:r>
                <a:rPr lang="en-US" sz="6600" b="1" dirty="0">
                  <a:solidFill>
                    <a:schemeClr val="accent1"/>
                  </a:solidFill>
                  <a:latin typeface="+mn-lt"/>
                  <a:ea typeface="+mn-ea"/>
                  <a:cs typeface="+mn-cs"/>
                </a:rPr>
                <a:t>2</a:t>
              </a:r>
            </a:p>
          </p:txBody>
        </p:sp>
        <p:sp>
          <p:nvSpPr>
            <p:cNvPr id="9" name="TextBox 9"/>
            <p:cNvSpPr txBox="1"/>
            <p:nvPr/>
          </p:nvSpPr>
          <p:spPr>
            <a:xfrm>
              <a:off x="7115175" y="2687955"/>
              <a:ext cx="532279" cy="1276350"/>
            </a:xfrm>
            <a:prstGeom prst="rect">
              <a:avLst/>
            </a:prstGeom>
            <a:noFill/>
            <a:ln>
              <a:noFill/>
            </a:ln>
          </p:spPr>
          <p:txBody>
            <a:bodyPr wrap="none" lIns="0" tIns="0" rIns="0" bIns="0" anchor="t" anchorCtr="0">
              <a:spAutoFit/>
            </a:bodyPr>
            <a:lstStyle/>
            <a:p>
              <a:pPr algn="l"/>
              <a:r>
                <a:rPr lang="en-US" sz="6600" b="1" dirty="0">
                  <a:solidFill>
                    <a:schemeClr val="accent2"/>
                  </a:solidFill>
                  <a:latin typeface="+mn-lt"/>
                  <a:ea typeface="+mn-ea"/>
                  <a:cs typeface="+mn-cs"/>
                </a:rPr>
                <a:t>1</a:t>
              </a:r>
            </a:p>
          </p:txBody>
        </p:sp>
        <p:sp>
          <p:nvSpPr>
            <p:cNvPr id="10" name="TextBox 10"/>
            <p:cNvSpPr txBox="1"/>
            <p:nvPr/>
          </p:nvSpPr>
          <p:spPr>
            <a:xfrm>
              <a:off x="825246" y="3582352"/>
              <a:ext cx="2849875" cy="498729"/>
            </a:xfrm>
            <a:prstGeom prst="rect">
              <a:avLst/>
            </a:prstGeom>
            <a:noFill/>
            <a:ln>
              <a:noFill/>
            </a:ln>
          </p:spPr>
          <p:txBody>
            <a:bodyPr wrap="none" lIns="0" tIns="0" rIns="0" bIns="0" anchor="t" anchorCtr="0">
              <a:spAutoFit/>
            </a:bodyPr>
            <a:lstStyle/>
            <a:p>
              <a:pPr algn="l"/>
              <a:r>
                <a:rPr lang="en-US" sz="2550" dirty="0">
                  <a:solidFill>
                    <a:schemeClr val="accent1"/>
                  </a:solidFill>
                  <a:latin typeface="+mn-lt"/>
                  <a:ea typeface="+mn-ea"/>
                  <a:cs typeface="+mn-cs"/>
                </a:rPr>
                <a:t>answers per query</a:t>
              </a:r>
            </a:p>
          </p:txBody>
        </p:sp>
        <p:sp>
          <p:nvSpPr>
            <p:cNvPr id="11" name="TextBox 11"/>
            <p:cNvSpPr txBox="1"/>
            <p:nvPr/>
          </p:nvSpPr>
          <p:spPr>
            <a:xfrm>
              <a:off x="7149846" y="3582352"/>
              <a:ext cx="2678234" cy="498729"/>
            </a:xfrm>
            <a:prstGeom prst="rect">
              <a:avLst/>
            </a:prstGeom>
            <a:noFill/>
            <a:ln>
              <a:noFill/>
            </a:ln>
          </p:spPr>
          <p:txBody>
            <a:bodyPr wrap="none" lIns="0" tIns="0" rIns="0" bIns="0" anchor="t" anchorCtr="0">
              <a:spAutoFit/>
            </a:bodyPr>
            <a:lstStyle/>
            <a:p>
              <a:pPr algn="l"/>
              <a:r>
                <a:rPr lang="en-US" sz="2550" dirty="0">
                  <a:solidFill>
                    <a:schemeClr val="accent1"/>
                  </a:solidFill>
                  <a:latin typeface="+mn-lt"/>
                  <a:ea typeface="+mn-ea"/>
                  <a:cs typeface="+mn-cs"/>
                </a:rPr>
                <a:t>answer per query</a:t>
              </a:r>
            </a:p>
          </p:txBody>
        </p:sp>
        <p:sp>
          <p:nvSpPr>
            <p:cNvPr id="12" name="TextBox 12"/>
            <p:cNvSpPr txBox="1"/>
            <p:nvPr/>
          </p:nvSpPr>
          <p:spPr>
            <a:xfrm>
              <a:off x="827532" y="4316730"/>
              <a:ext cx="2245027" cy="820293"/>
            </a:xfrm>
            <a:prstGeom prst="rect">
              <a:avLst/>
            </a:prstGeom>
            <a:noFill/>
            <a:ln>
              <a:noFill/>
            </a:ln>
          </p:spPr>
          <p:txBody>
            <a:bodyPr wrap="none" lIns="0" tIns="0" rIns="0" bIns="0" anchor="t" anchorCtr="0">
              <a:spAutoFit/>
            </a:bodyPr>
            <a:lstStyle/>
            <a:p>
              <a:pPr algn="l">
                <a:lnSpc>
                  <a:spcPts val="3225"/>
                </a:lnSpc>
              </a:pPr>
              <a:r>
                <a:rPr lang="en-US" sz="2100" dirty="0">
                  <a:solidFill>
                    <a:schemeClr val="dk1"/>
                  </a:solidFill>
                  <a:latin typeface="+mn-lt"/>
                  <a:ea typeface="+mn-ea"/>
                  <a:cs typeface="+mn-cs"/>
                </a:rPr>
                <a:t>Pairwise feedback</a:t>
              </a:r>
              <a:br/>
              <a:r>
                <a:rPr lang="en-US" sz="2100" dirty="0">
                  <a:solidFill>
                    <a:schemeClr val="dk1"/>
                  </a:solidFill>
                  <a:latin typeface="+mn-lt"/>
                  <a:ea typeface="+mn-ea"/>
                  <a:cs typeface="+mn-cs"/>
                </a:rPr>
                <a:t>RM keeps learning</a:t>
              </a:r>
            </a:p>
          </p:txBody>
        </p:sp>
        <p:sp>
          <p:nvSpPr>
            <p:cNvPr id="13" name="TextBox 13"/>
            <p:cNvSpPr txBox="1"/>
            <p:nvPr/>
          </p:nvSpPr>
          <p:spPr>
            <a:xfrm>
              <a:off x="7152132" y="4316730"/>
              <a:ext cx="2571095" cy="820293"/>
            </a:xfrm>
            <a:prstGeom prst="rect">
              <a:avLst/>
            </a:prstGeom>
            <a:noFill/>
            <a:ln>
              <a:noFill/>
            </a:ln>
          </p:spPr>
          <p:txBody>
            <a:bodyPr wrap="none" lIns="0" tIns="0" rIns="0" bIns="0" anchor="t" anchorCtr="0">
              <a:spAutoFit/>
            </a:bodyPr>
            <a:lstStyle/>
            <a:p>
              <a:pPr algn="l">
                <a:lnSpc>
                  <a:spcPts val="3225"/>
                </a:lnSpc>
              </a:pPr>
              <a:r>
                <a:rPr lang="en-US" sz="2100" dirty="0">
                  <a:solidFill>
                    <a:schemeClr val="dk1"/>
                  </a:solidFill>
                  <a:latin typeface="+mn-lt"/>
                  <a:ea typeface="+mn-ea"/>
                  <a:cs typeface="+mn-cs"/>
                </a:rPr>
                <a:t>Exploitation only</a:t>
              </a:r>
              <a:br/>
              <a:r>
                <a:rPr lang="en-US" sz="2100" dirty="0">
                  <a:solidFill>
                    <a:schemeClr val="dk1"/>
                  </a:solidFill>
                  <a:latin typeface="+mn-lt"/>
                  <a:ea typeface="+mn-ea"/>
                  <a:cs typeface="+mn-cs"/>
                </a:rPr>
                <a:t>Learned RM is frozen</a:t>
              </a:r>
            </a:p>
          </p:txBody>
        </p:sp>
      </p:grpSp>
      <p:grpSp>
        <p:nvGrpSpPr>
          <p:cNvPr id="17" name="deployment-takeaway"/>
          <p:cNvGrpSpPr/>
          <p:nvPr/>
        </p:nvGrpSpPr>
        <p:grpSpPr>
          <a:xfrm>
            <a:off x="598932" y="5497830"/>
            <a:ext cx="6967704" cy="780859"/>
            <a:chOff x="598932" y="5497830"/>
            <a:chExt cx="6967704" cy="780859"/>
          </a:xfrm>
        </p:grpSpPr>
        <p:sp>
          <p:nvSpPr>
            <p:cNvPr id="15" name="TextBox 15"/>
            <p:cNvSpPr txBox="1"/>
            <p:nvPr/>
          </p:nvSpPr>
          <p:spPr>
            <a:xfrm>
              <a:off x="598932" y="5497830"/>
              <a:ext cx="4755365"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One RM. Two policies. Two clocks.</a:t>
              </a:r>
            </a:p>
          </p:txBody>
        </p:sp>
        <p:sp>
          <p:nvSpPr>
            <p:cNvPr id="16" name="TextBox 16"/>
            <p:cNvSpPr txBox="1"/>
            <p:nvPr/>
          </p:nvSpPr>
          <p:spPr>
            <a:xfrm>
              <a:off x="601218" y="5955982"/>
              <a:ext cx="6965418"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Evidence: larger Mistral/Qwen gains; near tie with AMULET on Llama.</a:t>
              </a:r>
            </a:p>
          </p:txBody>
        </p:sp>
      </p:grpSp>
      <p:grpSp>
        <p:nvGrpSpPr>
          <p:cNvPr id="20" name="footer"/>
          <p:cNvGrpSpPr/>
          <p:nvPr/>
        </p:nvGrpSpPr>
        <p:grpSpPr>
          <a:xfrm>
            <a:off x="603504" y="6395085"/>
            <a:ext cx="10984992" cy="234696"/>
            <a:chOff x="603504" y="6395085"/>
            <a:chExt cx="10984992" cy="234696"/>
          </a:xfrm>
        </p:grpSpPr>
        <p:sp>
          <p:nvSpPr>
            <p:cNvPr id="18" name="TextBox 18"/>
            <p:cNvSpPr txBox="1"/>
            <p:nvPr/>
          </p:nvSpPr>
          <p:spPr>
            <a:xfrm>
              <a:off x="603504" y="6395085"/>
              <a:ext cx="554257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Source: §3.2; Table 1. Main experiments use simulated preference feedback.</a:t>
              </a:r>
            </a:p>
          </p:txBody>
        </p:sp>
        <p:sp>
          <p:nvSpPr>
            <p:cNvPr id="19" name="TextBox 19"/>
            <p:cNvSpPr txBox="1"/>
            <p:nvPr/>
          </p:nvSpPr>
          <p:spPr>
            <a:xfrm>
              <a:off x="11082270" y="6395085"/>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08 / 08</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tpop_group_meeting">
  <a:themeElements>
    <a:clrScheme name="tpop_group_meeting">
      <a:dk1>
        <a:srgbClr val="233447"/>
      </a:dk1>
      <a:lt1>
        <a:srgbClr val="FFFFFF"/>
      </a:lt1>
      <a:dk2>
        <a:srgbClr val="1F497D"/>
      </a:dk2>
      <a:lt2>
        <a:srgbClr val="F3F6FA"/>
      </a:lt2>
      <a:accent1>
        <a:srgbClr val="10243A"/>
      </a:accent1>
      <a:accent2>
        <a:srgbClr val="087F8C"/>
      </a:accent2>
      <a:accent3>
        <a:srgbClr val="C86620"/>
      </a:accent3>
      <a:accent4>
        <a:srgbClr val="10243A"/>
      </a:accent4>
      <a:accent5>
        <a:srgbClr val="5B6B7A"/>
      </a:accent5>
      <a:accent6>
        <a:srgbClr val="CBD4DE"/>
      </a:accent6>
      <a:hlink>
        <a:srgbClr val="087F8C"/>
      </a:hlink>
      <a:folHlink>
        <a:srgbClr val="C86620"/>
      </a:folHlink>
    </a:clrScheme>
    <a:fontScheme name="tpop_group_meeting">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pop_group_meeti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pop_group_meeting">
  <a:themeElements>
    <a:clrScheme name="tpop_group_meeting">
      <a:dk1>
        <a:srgbClr val="233447"/>
      </a:dk1>
      <a:lt1>
        <a:srgbClr val="FFFFFF"/>
      </a:lt1>
      <a:dk2>
        <a:srgbClr val="1F497D"/>
      </a:dk2>
      <a:lt2>
        <a:srgbClr val="F3F6FA"/>
      </a:lt2>
      <a:accent1>
        <a:srgbClr val="10243A"/>
      </a:accent1>
      <a:accent2>
        <a:srgbClr val="087F8C"/>
      </a:accent2>
      <a:accent3>
        <a:srgbClr val="C86620"/>
      </a:accent3>
      <a:accent4>
        <a:srgbClr val="10243A"/>
      </a:accent4>
      <a:accent5>
        <a:srgbClr val="5B6B7A"/>
      </a:accent5>
      <a:accent6>
        <a:srgbClr val="CBD4DE"/>
      </a:accent6>
      <a:hlink>
        <a:srgbClr val="087F8C"/>
      </a:hlink>
      <a:folHlink>
        <a:srgbClr val="C86620"/>
      </a:folHlink>
    </a:clrScheme>
    <a:fontScheme name="tpop_group_meeting">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pop_group_meeti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2026-09-21T11:21:54Z</dcterms:created>
  <dcterms:modified xsi:type="dcterms:W3CDTF">2026-09-21T11:21:54Z</dcterms:modified>
  <cp:category/>
  <cp:contentStatus/>
</cp:coreProperties>
</file>