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  <Relationship Id="rId1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这次先从论文要解决的问题出发。T-POP 关注的不是回答通常好不好，而是它是否适合某个具体用户。同一个问题，有人希望简短，有人希望详细。通用 RLHF 和 DPO 主要学习聚合偏好；面向个人的微调又需要逐用户优化，难以快速适配。利用历史、RAG 或提示词可以避免改模型，但依赖已经存在的用户资料。LA 和 AMULET 等测试时方法提供了引导冻结模型的途径。接下来的问题就是：新用户还没有历史，我们从哪里获得个性化信号？这就是论文的冷启动出发点。</a:t>
            </a:r>
          </a:p>
          <a:p>
            <a:pPr/>
            <a:endParaRPr lang="en-US" dirty="0"/>
          </a:p>
          <a:p>
            <a:pPr/>
            <a:r>
              <a:rPr lang="en-US" dirty="0"/>
              <a:t>T-POP starts from the gap between a generally helpful answer and an answer that fits a particular user. The same question may call for a concise response for one person and a detailed response for another. General RLHF and DPO mainly learn aggregate preferences. Personalized fine-tuning requires per-user optimization, making rapid adaptation difficult. History, RAG, and prompting can avoid model updates, but rely on existing user information. Test-time methods such as LA and AMULET offer ways to steer a frozen model. This leaves the paper's central starting question: where does the personalization signal come from when a new user has no history?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先把任务本身定义清楚。系统面对一个没有偏好历史的新用户，已有一个冻结的预训练 LLM，并持续收到这个用户的问题。用户真正喜欢什么不能直接观察；能够获得的是他在同一道问题的两个完整回答之间作出的选择。这是回答级的二元反馈，不是逐 token 标注。目标是在少量在线比较后，让后续回答更符合这个具体用户，同时保持基础模型参数不变，减少用户的反馈负担。这一页只规定条件、反馈和目标；下一页先说明实验如何实例化这个任务，再进入方法。</a:t>
            </a:r>
          </a:p>
          <a:p>
            <a:pPr/>
            <a:endParaRPr lang="en-US" dirty="0"/>
          </a:p>
          <a:p>
            <a:pPr/>
            <a:r>
              <a:rPr lang="en-US" dirty="0"/>
              <a:t>First define the task. A new user has no preference history. We have a frozen pretrained LLM and a stream of queries from that user. Their true preferences are not directly observable. The available signal is a binary choice between two complete answers to the same query, rather than token-level labels. The goal is to make future answers fit this user using few online comparisons, without changing the base LLM or requiring too much feedback. These are the conditions and objective. We next see how the experiments instantiate them, before discussing the method.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先把抽象的用户和问题落到实验设置上。论文使用 HelpSteer、TruthfulQA、UltraChat 和 Personal Preference Eval，只保留问题，丢弃原回答。表里的数量是问题池大小，不是已有的偏好训练对；新的回答与标签在线产生。偏好目标是创造性、详细、简洁和鼓舞性，基础模型是三个七到八十亿参数级别的指令模型。在线反馈主要由 GPT-4o 模拟用户提供；评估包括 ArmoRM 分数，以及 GPT-4o 判断的相对基础模型胜率。这里的 ArmoRM 是外部评估器，不是训练中的个人 RM。对比方法覆盖基础模型、偏好提示、束搜索、LA 和 AMULET。</a:t>
            </a:r>
          </a:p>
          <a:p>
            <a:pPr/>
            <a:endParaRPr lang="en-US" dirty="0"/>
          </a:p>
          <a:p>
            <a:pPr/>
            <a:r>
              <a:rPr lang="en-US" dirty="0"/>
              <a:t>The experimental setup makes these abstract users concrete. Questions come from HelpSteer, TruthfulQA, UltraChat, and Personal Preference Eval. Original answers are discarded. The listed sizes describe question pools, not pre-existing preference pairs: new answers and labels are generated online. The four preference targets are creative, verbose, concise, and uplifting, tested on Mistral, Qwen, and Llama instruction models. GPT-4o mainly simulates online user feedback. Evaluation uses ArmoRM scores and GPT-4o judgments of win rates against the base model. ArmoRM is an external evaluator, separate from the learned personal reward model. Baselines include Base, preference prompting, beam search, LA, and AMULET.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这张图区分前台生成、后台训练和停止学习后的使用。前台中，冻结 LLM 给出候选 token 及其概率；把候选接到当前前缀后，交给当前 RM 评分。两者按概率加加权奖励合并，利用分支按这个分数选词，探索分支额外加入不确定性奖励。两条分支共享模型，但各自保留前缀，逐 token 生成两条完整回答。用户选择后，问题、回答对和标签进入历史，后台用成对偏好损失更新 RM。关键是 async：后台训练期间，新的问题继续用已经就绪的 RM，不等待训练结束；新参数完成后，再用于后续问题。图中的 k 表示已发布的参数版本。右下角是另一个状态：停止个性化后冻结最终 RM，只用利用分支，每次输出一条回答。异步训练并不消除前台逐 token 评分的成本。</a:t>
            </a:r>
          </a:p>
          <a:p>
            <a:pPr/>
            <a:endParaRPr lang="en-US" dirty="0"/>
          </a:p>
          <a:p>
            <a:pPr/>
            <a:r>
              <a:rPr lang="en-US" dirty="0"/>
              <a:t>The diagram separates foreground generation, background training, and use after personalization stops. The frozen LLM supplies candidate tokens and probabilities. Each candidate extends the current prefix and is scored by the serving RM. Probability plus weighted reward gives the combined score. Exploitation selects by this score; exploration adds uncertainty. The branches share models but keep separate prefixes, generating two complete answers token by token. The user's choice adds a question, answer pair, and label to history. A background process trains the RM with a pairwise preference loss. Crucially, serving and training run asynchronously: new queries continue using the ready RM while training runs. A new checkpoint is used for subsequent queries once ready; k denotes checkpoint versions here. The lower-right region shows use after personalization stops: freeze the final RM and use exploitation to return one answer. Async training does not remove the cost of token-level reward scoring.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这一页直接保留论文第四页的 Algorithm 1。按三段读即可：第一到二行开始新一轮交互并初始化两条前缀；第三到十五行是 token 循环，构造候选、分别评分、执行利用和探索，并接回选出的 token。特别注意第十四行：把两个已选延续的奖励梯度之差做外积，加到 V。这是在记录已经覆盖的比较方向，更新探索的不确定性统计，不是在训练 RM。第十六到十八行才取得完整回答偏好、加入历史，并在第十七行更新 RM 参数。表里表达的是逻辑顺序；后台异步执行是论文第 3.2 节的部署说明。下一页把 token 循环的符号单独展开。</a:t>
            </a:r>
          </a:p>
          <a:p>
            <a:pPr/>
            <a:endParaRPr lang="en-US" dirty="0"/>
          </a:p>
          <a:p>
            <a:pPr/>
            <a:r>
              <a:rPr lang="en-US" dirty="0"/>
              <a:t>This is the original Algorithm One from PDF page four. Read it in three blocks. Lines one and two start an interaction and initialize the prefixes. Lines three through fifteen generate the pair token by token: construct candidates, score them, apply exploitation and exploration, and append the selected tokens. Line fourteen deserves attention. It adds an outer product of the selected reward-gradient difference to V, recording explored comparison directions. This updates uncertainty statistics, not RM parameters. Lines sixteen through eighteen collect complete-answer feedback, add it to history, and train the RM at line seventeen. The table specifies logical order; asynchronous execution is described separately in Section 3.2. The next slide expands the token loop.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接着把算法表中的双臂解码展开。两条前缀分别取 LLM 概率最高的四十个 token，并集最多八十个。每个候选都接到各自前缀，经过同一个 RM；因此两条分支各有长度为 C 的概率和奖励向量。利用分支先按概率加加权奖励选出 token。探索分支再加不确定性奖励，它比较候选延续与已经选中的利用延续，计算二者对 RM 参数的梯度差，再用 V 的逆矩阵加权。这里 P 是参数个数。两个 token 选定后，各自接回前缀，并把已选梯度差的外积加到 V。这一步只更新不确定性统计，不训练 RM；当前回答对的 theta 保持固定；RM 训练由完整回答的偏好反馈触发。随后继续下一个解码步。</a:t>
            </a:r>
          </a:p>
          <a:p>
            <a:pPr/>
            <a:endParaRPr lang="en-US" dirty="0"/>
          </a:p>
          <a:p>
            <a:pPr/>
            <a:r>
              <a:rPr lang="en-US" dirty="0"/>
              <a:t>For one paired decoding step, each prefix produces its forty highest-probability next tokens; their union contains at most eighty candidates. Each candidate extends each branch's own prefix and passes through the shared reward model. Each branch therefore has probability and reward vectors of length C. Exploitation first maximizes probability plus weighted reward. Exploration adds an uncertainty bonus relative to that selected exploitation continuation. The bonus uses the difference between reward gradients, weighted by the inverse of V. P is the number of reward-model parameters. After selecting both tokens, append them to their own prefixes and add the selected gradient-difference outer product to V. This updates uncertainty statistics, not the reward-model parameters. The current pair uses fixed theta; complete-answer feedback triggers RM training. Decoding then repeats.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实验集中回答两个问题：是否更符合偏好，以及探索是否有用。左表是从论文表一的四个属性平均行再取均值得到的 ArmoRM 分数，不是胜率。相对 AMULET，Qwen 和 Mistral 的提升分别约百分之二十八和百分之十九点九；Llama 的零点五三五与零点五三二五几乎持平，也并非每个属性都赢。支持冷启动动机的证据是，在两个简洁偏好设置下，收益集中出现在前二十轮。另一个局部消融表明，梯度不确定性探索优于熵奖励和 Boltzmann 探索。它支持主动学习偏好的设计，但不能据此声称对所有模型和偏好都有同样幅度的提升。</a:t>
            </a:r>
          </a:p>
          <a:p>
            <a:pPr/>
            <a:endParaRPr lang="en-US" dirty="0"/>
          </a:p>
          <a:p>
            <a:pPr/>
            <a:r>
              <a:rPr lang="en-US" dirty="0"/>
              <a:t>The evidence addresses two questions: does alignment improve, and does directed exploration help? The table averages the four attribute-average rows in the paper's Table One. These are ArmoRM scores, not win rates. Relative to AMULET, gains are about twenty-eight percent on Qwen and nineteen-point-nine percent on Mistral. Llama is almost tied, at 0.535 versus 0.5325, and T-POP does not win every attribute. Supporting the cold-start motivation, two concise-preference settings show fast gains within the first twenty interactions. A separate ablation finds gradient-based exploration better than entropy and Boltzmann alternatives. These findings support the design without establishing equally large gains everywhere.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最后，关键启发是把“学习什么是好回答”和“选择怎样的回答对来学习”放进同一个闭环，而不用微调 LLM。仍有三点值得讨论。第一，主实验反馈是模拟的，跨评估器检验仍然依赖模型，需要真实用户的长期研究。第二，完整回答的偏好被用于指导部分前缀，这种监督迁移在什么条件下可靠，是我们提出的问题。第三，论文报告的每问题延迟为二十三点二六秒，对比 AMULET 的十一点二五秒，在线计算成本仍然明显；后台训练与服务并发，并没有消除这部分评分开销。这些分别指向真实反馈验证、前缀层面的归因检验和评分效率优化。论文明确提出的未来方向则是更丰富的反馈形式，以及长期偏好变化。</a:t>
            </a:r>
          </a:p>
          <a:p>
            <a:pPr/>
            <a:endParaRPr lang="en-US" dirty="0"/>
          </a:p>
          <a:p>
            <a:pPr/>
            <a:r>
              <a:rPr lang="en-US" dirty="0"/>
              <a:t>The main insight is to couple learning what a user values with choosing comparisons that improve that learning, while keeping the LLM frozen. Three limitations motivate discussion. First, the main feedback is simulated, and cross-judge checks are still model-mediated; longitudinal studies with real users remain valuable. Second, complete-answer preferences supervise partial-prefix scoring. Testing when this transfer is reliable is our discussion proposal. Third, reported query latency is 23.26 seconds, versus 11.25 seconds for AMULET, leaving a substantial online computation cost even with asynchronous training. These suggest tests of real feedback, prefix-level credit assignment, and more efficient reward scoring. The paper's own future directions are richer feedback and long-term changes in user preferences.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POP_v2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POP_v2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c52d317844d3cb.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923157" cy="971169"/>
            <a:chOff x="592836" y="461010"/>
            <a:chExt cx="9923157" cy="971169"/>
          </a:xfrm>
        </p:grpSpPr>
        <p:sp>
          <p:nvSpPr>
            <p:cNvPr id="2" name="TextBox 2"/>
            <p:cNvSpPr txBox="1"/>
            <p:nvPr/>
          </p:nvSpPr>
          <p:spPr>
            <a:xfrm>
              <a:off x="603504" y="461010"/>
              <a:ext cx="667939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 Test-Time Personalization with Online Preference Feedback · Qu et al., ICML 2026</a:t>
              </a:r>
            </a:p>
          </p:txBody>
        </p:sp>
        <p:sp>
          <p:nvSpPr>
            <p:cNvPr id="3" name="TextBox 3"/>
            <p:cNvSpPr txBox="1"/>
            <p:nvPr/>
          </p:nvSpPr>
          <p:spPr>
            <a:xfrm>
              <a:off x="592836" y="786765"/>
              <a:ext cx="992315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Beyond generic alignment: whose preference?</a:t>
              </a:r>
            </a:p>
          </p:txBody>
        </p:sp>
      </p:grpSp>
      <p:grpSp>
        <p:nvGrpSpPr>
          <p:cNvPr id="7" name="preference-gap"/>
          <p:cNvGrpSpPr/>
          <p:nvPr/>
        </p:nvGrpSpPr>
        <p:grpSpPr>
          <a:xfrm>
            <a:off x="598932" y="1659255"/>
            <a:ext cx="6811882" cy="906018"/>
            <a:chOff x="598932" y="1659255"/>
            <a:chExt cx="6811882" cy="906018"/>
          </a:xfrm>
        </p:grpSpPr>
        <p:sp>
          <p:nvSpPr>
            <p:cNvPr id="5" name="TextBox 5"/>
            <p:cNvSpPr txBox="1"/>
            <p:nvPr/>
          </p:nvSpPr>
          <p:spPr>
            <a:xfrm>
              <a:off x="598932" y="1659255"/>
              <a:ext cx="681188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General RLHF / DPO learns </a:t>
              </a:r>
              <a:r>
                <a:rPr lang="en-US" sz="2100" b="1" dirty="0">
                  <a:solidFill>
                    <a:schemeClr val="dk1"/>
                  </a:solidFill>
                  <a:latin typeface="+mn-lt"/>
                  <a:ea typeface="+mn-ea"/>
                  <a:cs typeface="+mn-cs"/>
                </a:rPr>
                <a:t>aggregate preferences</a:t>
              </a:r>
              <a:r>
                <a:rPr lang="en-US" sz="2100" dirty="0">
                  <a:solidFill>
                    <a:schemeClr val="dk1"/>
                  </a:solidFill>
                  <a:latin typeface="+mn-lt"/>
                  <a:ea typeface="+mn-ea"/>
                  <a:cs typeface="+mn-cs"/>
                </a:rPr>
                <a:t>.</a:t>
              </a:r>
            </a:p>
          </p:txBody>
        </p:sp>
        <p:sp>
          <p:nvSpPr>
            <p:cNvPr id="6" name="TextBox 6"/>
            <p:cNvSpPr txBox="1"/>
            <p:nvPr/>
          </p:nvSpPr>
          <p:spPr>
            <a:xfrm>
              <a:off x="598932" y="2154555"/>
              <a:ext cx="67394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Same question, different users: </a:t>
              </a:r>
              <a:r>
                <a:rPr lang="en-US" sz="2100" b="1" dirty="0">
                  <a:solidFill>
                    <a:schemeClr val="accent2"/>
                  </a:solidFill>
                  <a:latin typeface="+mn-lt"/>
                  <a:ea typeface="+mn-ea"/>
                  <a:cs typeface="+mn-cs"/>
                </a:rPr>
                <a:t>concise</a:t>
              </a:r>
              <a:r>
                <a:rPr lang="en-US" sz="2100" dirty="0">
                  <a:solidFill>
                    <a:schemeClr val="dk1"/>
                  </a:solidFill>
                  <a:latin typeface="+mn-lt"/>
                  <a:ea typeface="+mn-ea"/>
                  <a:cs typeface="+mn-cs"/>
                </a:rPr>
                <a:t xml:space="preserve"> vs. </a:t>
              </a:r>
              <a:r>
                <a:rPr lang="en-US" sz="2100" b="1" dirty="0">
                  <a:solidFill>
                    <a:schemeClr val="accent3"/>
                  </a:solidFill>
                  <a:latin typeface="+mn-lt"/>
                  <a:ea typeface="+mn-ea"/>
                  <a:cs typeface="+mn-cs"/>
                </a:rPr>
                <a:t>detailed</a:t>
              </a:r>
              <a:r>
                <a:rPr lang="en-US" sz="2100" dirty="0">
                  <a:solidFill>
                    <a:schemeClr val="dk1"/>
                  </a:solidFill>
                  <a:latin typeface="+mn-lt"/>
                  <a:ea typeface="+mn-ea"/>
                  <a:cs typeface="+mn-cs"/>
                </a:rPr>
                <a:t>.</a:t>
              </a:r>
            </a:p>
          </p:txBody>
        </p:sp>
      </p:grpSp>
      <p:graphicFrame>
        <p:nvGraphicFramePr>
          <p:cNvPr id="8" name="prior-work"/>
          <p:cNvGraphicFramePr>
            <a:graphicFrameLocks noGrp="1"/>
          </p:cNvGraphicFramePr>
          <p:nvPr/>
        </p:nvGraphicFramePr>
        <p:xfrm>
          <a:off x="609600" y="2781300"/>
          <a:ext cx="10972800" cy="2762250"/>
        </p:xfrm>
        <a:graphic>
          <a:graphicData uri="http://schemas.openxmlformats.org/drawingml/2006/table">
            <a:tbl>
              <a:tblPr firstRow="1" bandRow="0">
                <a:tableStyleId>{5C22544A-7EE6-4342-B048-85BDC9FD1C3A}</a:tableStyleId>
              </a:tblPr>
              <a:tblGrid>
                <a:gridCol w="3448050"/>
                <a:gridCol w="3676650"/>
                <a:gridCol w="3848100"/>
              </a:tblGrid>
              <a:tr h="476250">
                <a:tc>
                  <a:txBody>
                    <a:bodyPr/>
                    <a:lstStyle/>
                    <a:p>
                      <a:pPr/>
                      <a:r>
                        <a:rPr lang="en-US" sz="1650" b="1">
                          <a:solidFill>
                            <a:schemeClr val="accent5"/>
                          </a:solidFill>
                          <a:latin typeface="Arial"/>
                          <a:ea typeface="Microsoft YaHei"/>
                          <a:cs typeface="Arial"/>
                        </a:rPr>
                        <a:t>Prior direction</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r>
                        <a:rPr lang="en-US" sz="1650" b="1">
                          <a:solidFill>
                            <a:schemeClr val="accent5"/>
                          </a:solidFill>
                          <a:latin typeface="Arial"/>
                          <a:ea typeface="Microsoft YaHei"/>
                          <a:cs typeface="Arial"/>
                        </a:rPr>
                        <a:t>What it relies on</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r>
                        <a:rPr lang="en-US" sz="1650" b="1">
                          <a:solidFill>
                            <a:schemeClr val="accent5"/>
                          </a:solidFill>
                          <a:latin typeface="Arial"/>
                          <a:ea typeface="Microsoft YaHei"/>
                          <a:cs typeface="Arial"/>
                        </a:rPr>
                        <a:t>Cold-start question</a:t>
                      </a:r>
                    </a:p>
                  </a:txBody>
                  <a:tcPr anchor="ctr" marL="171450" marR="171450" marT="91440" marB="91440">
                    <a:lnL>
                      <a:noFill/>
                    </a:lnL>
                    <a:lnR>
                      <a:noFill/>
                    </a:lnR>
                    <a:lnT>
                      <a:noFill/>
                    </a:lnT>
                    <a:lnB w="9525">
                      <a:solidFill>
                        <a:schemeClr val="accent6"/>
                      </a:solidFill>
                      <a:prstDash val="solid"/>
                    </a:lnB>
                    <a:solidFill>
                      <a:schemeClr val="lt2"/>
                    </a:solidFill>
                  </a:tcPr>
                </a:tc>
              </a:tr>
              <a:tr h="723900">
                <a:tc>
                  <a:txBody>
                    <a:bodyPr/>
                    <a:lstStyle/>
                    <a:p>
                      <a:pPr/>
                      <a:r>
                        <a:rPr lang="en-US" sz="1800" b="1">
                          <a:solidFill>
                            <a:schemeClr val="dk1"/>
                          </a:solidFill>
                          <a:latin typeface="Arial"/>
                          <a:ea typeface="Microsoft YaHei"/>
                          <a:cs typeface="Arial"/>
                        </a:rPr>
                        <a:t>User-specific fine-tuning</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Per-user model optimization</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Can it adapt quickly?</a:t>
                      </a:r>
                    </a:p>
                  </a:txBody>
                  <a:tcPr anchor="ctr" marL="171450" marR="171450" marT="95250" marB="95250">
                    <a:lnL>
                      <a:noFill/>
                    </a:lnL>
                    <a:lnR>
                      <a:noFill/>
                    </a:lnR>
                    <a:lnT>
                      <a:noFill/>
                    </a:lnT>
                    <a:lnB w="9525">
                      <a:solidFill>
                        <a:schemeClr val="accent6"/>
                      </a:solidFill>
                      <a:prstDash val="solid"/>
                    </a:lnB>
                    <a:noFill/>
                  </a:tcPr>
                </a:tc>
              </a:tr>
              <a:tr h="723900">
                <a:tc>
                  <a:txBody>
                    <a:bodyPr/>
                    <a:lstStyle/>
                    <a:p>
                      <a:pPr/>
                      <a:r>
                        <a:rPr lang="en-US" sz="1800" b="1">
                          <a:solidFill>
                            <a:schemeClr val="dk1"/>
                          </a:solidFill>
                          <a:latin typeface="Arial"/>
                          <a:ea typeface="Microsoft YaHei"/>
                          <a:cs typeface="Arial"/>
                        </a:rPr>
                        <a:t>History / RAG / prompting</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Existing user records</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What if no history exists?</a:t>
                      </a:r>
                    </a:p>
                  </a:txBody>
                  <a:tcPr anchor="ctr" marL="171450" marR="171450" marT="95250" marB="95250">
                    <a:lnL>
                      <a:noFill/>
                    </a:lnL>
                    <a:lnR>
                      <a:noFill/>
                    </a:lnR>
                    <a:lnT>
                      <a:noFill/>
                    </a:lnT>
                    <a:lnB w="9525">
                      <a:solidFill>
                        <a:schemeClr val="accent6"/>
                      </a:solidFill>
                      <a:prstDash val="solid"/>
                    </a:lnB>
                    <a:noFill/>
                  </a:tcPr>
                </a:tc>
              </a:tr>
              <a:tr h="838200">
                <a:tc>
                  <a:txBody>
                    <a:bodyPr/>
                    <a:lstStyle/>
                    <a:p>
                      <a:pPr/>
                      <a:r>
                        <a:rPr lang="en-US" sz="1800" b="1">
                          <a:solidFill>
                            <a:schemeClr val="dk1"/>
                          </a:solidFill>
                          <a:latin typeface="Arial"/>
                          <a:ea typeface="Microsoft YaHei"/>
                          <a:cs typeface="Arial"/>
                        </a:rPr>
                        <a:t>Test-time steering
(e.g., LA, AMULET)</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A preference signal or objective</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How do we acquire
that signal online?</a:t>
                      </a:r>
                    </a:p>
                  </a:txBody>
                  <a:tcPr anchor="ctr" marL="171450" marR="171450" marT="95250" marB="95250">
                    <a:lnL>
                      <a:noFill/>
                    </a:lnL>
                    <a:lnR>
                      <a:noFill/>
                    </a:lnR>
                    <a:lnT>
                      <a:noFill/>
                    </a:lnT>
                    <a:lnB w="9525">
                      <a:solidFill>
                        <a:schemeClr val="accent6"/>
                      </a:solidFill>
                      <a:prstDash val="solid"/>
                    </a:lnB>
                    <a:noFill/>
                  </a:tcPr>
                </a:tc>
              </a:tr>
            </a:tbl>
          </a:graphicData>
        </a:graphic>
      </p:graphicFrame>
      <p:grpSp>
        <p:nvGrpSpPr>
          <p:cNvPr id="10" name="takeaway"/>
          <p:cNvGrpSpPr/>
          <p:nvPr/>
        </p:nvGrpSpPr>
        <p:grpSpPr>
          <a:xfrm>
            <a:off x="597408" y="5779770"/>
            <a:ext cx="8407228" cy="469392"/>
            <a:chOff x="597408" y="5779770"/>
            <a:chExt cx="8407228" cy="469392"/>
          </a:xfrm>
        </p:grpSpPr>
        <p:sp>
          <p:nvSpPr>
            <p:cNvPr id="9" name="TextBox 9"/>
            <p:cNvSpPr txBox="1"/>
            <p:nvPr/>
          </p:nvSpPr>
          <p:spPr>
            <a:xfrm>
              <a:off x="597408" y="5779770"/>
              <a:ext cx="8407228" cy="469392"/>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 xml:space="preserve">The missing starting point: </a:t>
              </a:r>
              <a:r>
                <a:rPr lang="en-US" sz="2400" b="1" dirty="0">
                  <a:solidFill>
                    <a:schemeClr val="accent1"/>
                  </a:solidFill>
                  <a:latin typeface="+mn-lt"/>
                  <a:ea typeface="+mn-ea"/>
                  <a:cs typeface="+mn-cs"/>
                </a:rPr>
                <a:t>a new user's preference data.</a:t>
              </a:r>
            </a:p>
          </p:txBody>
        </p:sp>
      </p:grpSp>
      <p:grpSp>
        <p:nvGrpSpPr>
          <p:cNvPr id="13" name="footer"/>
          <p:cNvGrpSpPr/>
          <p:nvPr/>
        </p:nvGrpSpPr>
        <p:grpSpPr>
          <a:xfrm>
            <a:off x="603504" y="6404610"/>
            <a:ext cx="10984992" cy="234696"/>
            <a:chOff x="603504" y="6404610"/>
            <a:chExt cx="10984992" cy="234696"/>
          </a:xfrm>
        </p:grpSpPr>
        <p:sp>
          <p:nvSpPr>
            <p:cNvPr id="11" name="TextBox 11"/>
            <p:cNvSpPr txBox="1"/>
            <p:nvPr/>
          </p:nvSpPr>
          <p:spPr>
            <a:xfrm>
              <a:off x="603504" y="6404610"/>
              <a:ext cx="48061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§§1–2, 6 · Comparison summarizes the paper's motivation.</a:t>
              </a:r>
            </a:p>
          </p:txBody>
        </p:sp>
        <p:sp>
          <p:nvSpPr>
            <p:cNvPr id="12" name="TextBox 12"/>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3510" cy="971169"/>
            <a:chOff x="592836" y="461010"/>
            <a:chExt cx="9673510" cy="971169"/>
          </a:xfrm>
        </p:grpSpPr>
        <p:sp>
          <p:nvSpPr>
            <p:cNvPr id="2" name="TextBox 2"/>
            <p:cNvSpPr txBox="1"/>
            <p:nvPr/>
          </p:nvSpPr>
          <p:spPr>
            <a:xfrm>
              <a:off x="603504" y="461010"/>
              <a:ext cx="34640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MOTIVATION → PROBLEM FORMULATION</a:t>
              </a:r>
            </a:p>
          </p:txBody>
        </p:sp>
        <p:sp>
          <p:nvSpPr>
            <p:cNvPr id="3" name="TextBox 3"/>
            <p:cNvSpPr txBox="1"/>
            <p:nvPr/>
          </p:nvSpPr>
          <p:spPr>
            <a:xfrm>
              <a:off x="592836" y="786765"/>
              <a:ext cx="967351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Problem formulation: personalizing from zero</a:t>
              </a:r>
            </a:p>
          </p:txBody>
        </p:sp>
      </p:grpSp>
      <p:grpSp>
        <p:nvGrpSpPr>
          <p:cNvPr id="8" name="cold-start"/>
          <p:cNvGrpSpPr/>
          <p:nvPr/>
        </p:nvGrpSpPr>
        <p:grpSpPr>
          <a:xfrm>
            <a:off x="609600" y="1571625"/>
            <a:ext cx="10972800" cy="811340"/>
            <a:chOff x="609600" y="1571625"/>
            <a:chExt cx="10972800" cy="811340"/>
          </a:xfrm>
        </p:grpSpPr>
        <p:sp>
          <p:nvSpPr>
            <p:cNvPr id="5" name="Rectangle 5"/>
            <p:cNvSpPr/>
            <p:nvPr/>
          </p:nvSpPr>
          <p:spPr>
            <a:xfrm>
              <a:off x="609600" y="1571625"/>
              <a:ext cx="10972800" cy="809625"/>
            </a:xfrm>
            <a:prstGeom prst="rect">
              <a:avLst/>
            </a:prstGeom>
            <a:solidFill>
              <a:schemeClr val="lt2"/>
            </a:solidFill>
            <a:ln>
              <a:noFill/>
            </a:ln>
          </p:spPr>
        </p:sp>
        <p:sp>
          <p:nvSpPr>
            <p:cNvPr id="6" name="TextBox 6"/>
            <p:cNvSpPr txBox="1"/>
            <p:nvPr/>
          </p:nvSpPr>
          <p:spPr>
            <a:xfrm>
              <a:off x="808482" y="1697355"/>
              <a:ext cx="466555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 new user, no preference history.</a:t>
              </a:r>
            </a:p>
          </p:txBody>
        </p:sp>
        <p:sp>
          <p:nvSpPr>
            <p:cNvPr id="7" name="TextBox 7"/>
            <p:cNvSpPr txBox="1"/>
            <p:nvPr/>
          </p:nvSpPr>
          <p:spPr>
            <a:xfrm>
              <a:off x="810768" y="2060258"/>
              <a:ext cx="712943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user's preferences are unknown; general helpfulness is not enough.</a:t>
              </a:r>
            </a:p>
          </p:txBody>
        </p:sp>
      </p:grpSp>
      <p:grpSp>
        <p:nvGrpSpPr>
          <p:cNvPr id="13" name="given"/>
          <p:cNvGrpSpPr/>
          <p:nvPr/>
        </p:nvGrpSpPr>
        <p:grpSpPr>
          <a:xfrm>
            <a:off x="598932" y="2686050"/>
            <a:ext cx="5211318" cy="1725739"/>
            <a:chOff x="598932" y="2686050"/>
            <a:chExt cx="5211318" cy="1725739"/>
          </a:xfrm>
        </p:grpSpPr>
        <p:sp>
          <p:nvSpPr>
            <p:cNvPr id="9" name="Line 9"/>
            <p:cNvSpPr/>
            <p:nvPr/>
          </p:nvSpPr>
          <p:spPr>
            <a:xfrm>
              <a:off x="609600" y="2686050"/>
              <a:ext cx="5200650" cy="9525"/>
            </a:xfrm>
            <a:custGeom>
              <a:avLst/>
              <a:gdLst/>
              <a:ahLst/>
              <a:cxnLst/>
              <a:rect l="l" t="t" r="r" b="b"/>
              <a:pathLst>
                <a:path w="5200650" h="9525">
                  <a:moveTo>
                    <a:pt x="0" y="0"/>
                  </a:moveTo>
                  <a:lnTo>
                    <a:pt x="5200650" y="0"/>
                  </a:lnTo>
                </a:path>
              </a:pathLst>
            </a:custGeom>
            <a:noFill/>
            <a:ln w="19050">
              <a:solidFill>
                <a:schemeClr val="accent6"/>
              </a:solidFill>
            </a:ln>
          </p:spPr>
        </p:sp>
        <p:sp>
          <p:nvSpPr>
            <p:cNvPr id="10" name="TextBox 10"/>
            <p:cNvSpPr txBox="1"/>
            <p:nvPr/>
          </p:nvSpPr>
          <p:spPr>
            <a:xfrm>
              <a:off x="601218" y="2869882"/>
              <a:ext cx="74709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GIVEN</a:t>
              </a:r>
            </a:p>
          </p:txBody>
        </p:sp>
        <p:sp>
          <p:nvSpPr>
            <p:cNvPr id="11" name="TextBox 11"/>
            <p:cNvSpPr txBox="1"/>
            <p:nvPr/>
          </p:nvSpPr>
          <p:spPr>
            <a:xfrm>
              <a:off x="598932" y="3259455"/>
              <a:ext cx="30008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frozen pretrained LLM.</a:t>
              </a:r>
              <a:br/>
              <a:r>
                <a:rPr lang="en-US" sz="2100" dirty="0">
                  <a:solidFill>
                    <a:schemeClr val="dk1"/>
                  </a:solidFill>
                  <a:latin typeface="+mn-lt"/>
                  <a:ea typeface="+mn-ea"/>
                  <a:cs typeface="+mn-cs"/>
                </a:rPr>
                <a:t>A stream of user queries.</a:t>
              </a:r>
            </a:p>
          </p:txBody>
        </p:sp>
        <p:sp>
          <p:nvSpPr>
            <p:cNvPr id="12" name="TextBox 12"/>
            <p:cNvSpPr txBox="1"/>
            <p:nvPr/>
          </p:nvSpPr>
          <p:spPr>
            <a:xfrm>
              <a:off x="601218" y="4089082"/>
              <a:ext cx="3627600"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User utility is not directly observable.</a:t>
              </a:r>
            </a:p>
          </p:txBody>
        </p:sp>
      </p:grpSp>
      <p:grpSp>
        <p:nvGrpSpPr>
          <p:cNvPr id="18" name="feedback"/>
          <p:cNvGrpSpPr/>
          <p:nvPr/>
        </p:nvGrpSpPr>
        <p:grpSpPr>
          <a:xfrm>
            <a:off x="6313932" y="2686050"/>
            <a:ext cx="5268468" cy="1725739"/>
            <a:chOff x="6313932" y="2686050"/>
            <a:chExt cx="5268468" cy="1725739"/>
          </a:xfrm>
        </p:grpSpPr>
        <p:sp>
          <p:nvSpPr>
            <p:cNvPr id="14" name="Line 14"/>
            <p:cNvSpPr/>
            <p:nvPr/>
          </p:nvSpPr>
          <p:spPr>
            <a:xfrm>
              <a:off x="6324600" y="2686050"/>
              <a:ext cx="5257800" cy="9525"/>
            </a:xfrm>
            <a:custGeom>
              <a:avLst/>
              <a:gdLst/>
              <a:ahLst/>
              <a:cxnLst/>
              <a:rect l="l" t="t" r="r" b="b"/>
              <a:pathLst>
                <a:path w="5257800" h="9525">
                  <a:moveTo>
                    <a:pt x="0" y="0"/>
                  </a:moveTo>
                  <a:lnTo>
                    <a:pt x="5257800" y="0"/>
                  </a:lnTo>
                </a:path>
              </a:pathLst>
            </a:custGeom>
            <a:noFill/>
            <a:ln w="19050">
              <a:solidFill>
                <a:schemeClr val="accent6"/>
              </a:solidFill>
            </a:ln>
          </p:spPr>
        </p:sp>
        <p:sp>
          <p:nvSpPr>
            <p:cNvPr id="15" name="TextBox 15"/>
            <p:cNvSpPr txBox="1"/>
            <p:nvPr/>
          </p:nvSpPr>
          <p:spPr>
            <a:xfrm>
              <a:off x="6316218" y="2869882"/>
              <a:ext cx="270309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OBSERVED FEEDBACK</a:t>
              </a:r>
            </a:p>
          </p:txBody>
        </p:sp>
        <p:sp>
          <p:nvSpPr>
            <p:cNvPr id="16" name="TextBox 16"/>
            <p:cNvSpPr txBox="1"/>
            <p:nvPr/>
          </p:nvSpPr>
          <p:spPr>
            <a:xfrm>
              <a:off x="6313932" y="3259455"/>
              <a:ext cx="3994206"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binary preference between</a:t>
              </a:r>
              <a:br/>
              <a:r>
                <a:rPr lang="en-US" sz="2100" dirty="0">
                  <a:solidFill>
                    <a:schemeClr val="dk1"/>
                  </a:solidFill>
                  <a:latin typeface="+mn-lt"/>
                  <a:ea typeface="+mn-ea"/>
                  <a:cs typeface="+mn-cs"/>
                </a:rPr>
                <a:t>two complete answers to a query.</a:t>
              </a:r>
            </a:p>
          </p:txBody>
        </p:sp>
        <p:sp>
          <p:nvSpPr>
            <p:cNvPr id="17" name="TextBox 17"/>
            <p:cNvSpPr txBox="1"/>
            <p:nvPr/>
          </p:nvSpPr>
          <p:spPr>
            <a:xfrm>
              <a:off x="6316218" y="4089082"/>
              <a:ext cx="416337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user chooses A or B; no token labels.</a:t>
              </a:r>
            </a:p>
          </p:txBody>
        </p:sp>
      </p:grpSp>
      <p:grpSp>
        <p:nvGrpSpPr>
          <p:cNvPr id="23" name="objective"/>
          <p:cNvGrpSpPr/>
          <p:nvPr/>
        </p:nvGrpSpPr>
        <p:grpSpPr>
          <a:xfrm>
            <a:off x="609600" y="4695825"/>
            <a:ext cx="10972800" cy="1543050"/>
            <a:chOff x="609600" y="4695825"/>
            <a:chExt cx="10972800" cy="1543050"/>
          </a:xfrm>
        </p:grpSpPr>
        <p:sp>
          <p:nvSpPr>
            <p:cNvPr id="19" name="Rectangle 19"/>
            <p:cNvSpPr/>
            <p:nvPr/>
          </p:nvSpPr>
          <p:spPr>
            <a:xfrm>
              <a:off x="609600" y="4695825"/>
              <a:ext cx="10972800" cy="1543050"/>
            </a:xfrm>
            <a:prstGeom prst="rect">
              <a:avLst/>
            </a:prstGeom>
            <a:solidFill>
              <a:srgbClr val="E6F2F3"/>
            </a:solidFill>
            <a:ln>
              <a:noFill/>
            </a:ln>
          </p:spPr>
        </p:sp>
        <p:sp>
          <p:nvSpPr>
            <p:cNvPr id="20" name="TextBox 20"/>
            <p:cNvSpPr txBox="1"/>
            <p:nvPr/>
          </p:nvSpPr>
          <p:spPr>
            <a:xfrm>
              <a:off x="810768" y="4889182"/>
              <a:ext cx="302861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GOAL AND CONSTRAINTS</a:t>
              </a:r>
            </a:p>
          </p:txBody>
        </p:sp>
        <p:sp>
          <p:nvSpPr>
            <p:cNvPr id="21" name="TextBox 21"/>
            <p:cNvSpPr txBox="1"/>
            <p:nvPr/>
          </p:nvSpPr>
          <p:spPr>
            <a:xfrm>
              <a:off x="808482" y="5288280"/>
              <a:ext cx="766498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Adapt answers to this user with few online comparisons.</a:t>
              </a:r>
            </a:p>
          </p:txBody>
        </p:sp>
        <p:sp>
          <p:nvSpPr>
            <p:cNvPr id="22" name="TextBox 22"/>
            <p:cNvSpPr txBox="1"/>
            <p:nvPr/>
          </p:nvSpPr>
          <p:spPr>
            <a:xfrm>
              <a:off x="810768" y="5775008"/>
              <a:ext cx="741730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Start without history · Keep the base LLM fixed · Limit the feedback burden</a:t>
              </a: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4181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§§1–3 · Task, available feedback, and constraints.</a:t>
              </a: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107318" cy="971169"/>
            <a:chOff x="592836" y="461010"/>
            <a:chExt cx="9107318" cy="971169"/>
          </a:xfrm>
        </p:grpSpPr>
        <p:sp>
          <p:nvSpPr>
            <p:cNvPr id="2" name="TextBox 2"/>
            <p:cNvSpPr txBox="1"/>
            <p:nvPr/>
          </p:nvSpPr>
          <p:spPr>
            <a:xfrm>
              <a:off x="603504" y="461010"/>
              <a:ext cx="27910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DATA AND EVALUATION SETTING</a:t>
              </a:r>
            </a:p>
          </p:txBody>
        </p:sp>
        <p:sp>
          <p:nvSpPr>
            <p:cNvPr id="3" name="TextBox 3"/>
            <p:cNvSpPr txBox="1"/>
            <p:nvPr/>
          </p:nvSpPr>
          <p:spPr>
            <a:xfrm>
              <a:off x="592836" y="786765"/>
              <a:ext cx="910731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What is personalized, and how is it tested?</a:t>
              </a:r>
            </a:p>
          </p:txBody>
        </p:sp>
      </p:grpSp>
      <p:graphicFrame>
        <p:nvGraphicFramePr>
          <p:cNvPr id="5" name="question-pools"/>
          <p:cNvGraphicFramePr>
            <a:graphicFrameLocks noGrp="1"/>
          </p:cNvGraphicFramePr>
          <p:nvPr/>
        </p:nvGraphicFramePr>
        <p:xfrm>
          <a:off x="609600" y="1676400"/>
          <a:ext cx="6019800" cy="2686050"/>
        </p:xfrm>
        <a:graphic>
          <a:graphicData uri="http://schemas.openxmlformats.org/drawingml/2006/table">
            <a:tbl>
              <a:tblPr firstRow="1" bandRow="0">
                <a:tableStyleId>{5C22544A-7EE6-4342-B048-85BDC9FD1C3A}</a:tableStyleId>
              </a:tblPr>
              <a:tblGrid>
                <a:gridCol w="4571999"/>
                <a:gridCol w="1447801"/>
              </a:tblGrid>
              <a:tr h="476250">
                <a:tc>
                  <a:txBody>
                    <a:bodyPr/>
                    <a:lstStyle/>
                    <a:p>
                      <a:pPr/>
                      <a:r>
                        <a:rPr lang="en-US" sz="1650" b="1">
                          <a:solidFill>
                            <a:schemeClr val="accent5"/>
                          </a:solidFill>
                          <a:latin typeface="Arial"/>
                          <a:ea typeface="Microsoft YaHei"/>
                          <a:cs typeface="Arial"/>
                        </a:rPr>
                        <a:t>Question pool</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Size</a:t>
                      </a:r>
                    </a:p>
                  </a:txBody>
                  <a:tcPr anchor="ctr" marL="171450" marR="171450" marT="91440" marB="91440">
                    <a:lnL>
                      <a:noFill/>
                    </a:lnL>
                    <a:lnR>
                      <a:noFill/>
                    </a:lnR>
                    <a:lnT>
                      <a:noFill/>
                    </a:lnT>
                    <a:lnB w="9525">
                      <a:solidFill>
                        <a:schemeClr val="accent6"/>
                      </a:solidFill>
                      <a:prstDash val="solid"/>
                    </a:lnB>
                    <a:solidFill>
                      <a:schemeClr val="lt2"/>
                    </a:solidFill>
                  </a:tcPr>
                </a:tc>
              </a:tr>
              <a:tr h="552450">
                <a:tc>
                  <a:txBody>
                    <a:bodyPr/>
                    <a:lstStyle/>
                    <a:p>
                      <a:pPr/>
                      <a:r>
                        <a:rPr lang="en-US" sz="1800" b="0">
                          <a:solidFill>
                            <a:schemeClr val="dk1"/>
                          </a:solidFill>
                          <a:latin typeface="Arial"/>
                          <a:ea typeface="Microsoft YaHei"/>
                          <a:cs typeface="Arial"/>
                        </a:rPr>
                        <a:t>HelpSteer</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1,236</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TruthfulQA</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811</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UltraChat</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3,845</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Personal Preference Eval</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548</a:t>
                      </a:r>
                    </a:p>
                  </a:txBody>
                  <a:tcPr anchor="ctr" marL="171450" marR="171450" marT="95250" marB="95250">
                    <a:lnL>
                      <a:noFill/>
                    </a:lnL>
                    <a:lnR>
                      <a:noFill/>
                    </a:lnR>
                    <a:lnT>
                      <a:noFill/>
                    </a:lnT>
                    <a:lnB w="9525">
                      <a:solidFill>
                        <a:schemeClr val="accent6"/>
                      </a:solidFill>
                      <a:prstDash val="solid"/>
                    </a:lnB>
                    <a:noFill/>
                  </a:tcPr>
                </a:tc>
              </a:tr>
            </a:tbl>
          </a:graphicData>
        </a:graphic>
      </p:graphicFrame>
      <p:grpSp>
        <p:nvGrpSpPr>
          <p:cNvPr id="11" name="feedback-and-evaluation"/>
          <p:cNvGrpSpPr/>
          <p:nvPr/>
        </p:nvGrpSpPr>
        <p:grpSpPr>
          <a:xfrm>
            <a:off x="7152132" y="1784032"/>
            <a:ext cx="3674082" cy="2542033"/>
            <a:chOff x="7152132" y="1784032"/>
            <a:chExt cx="3674082" cy="2542033"/>
          </a:xfrm>
        </p:grpSpPr>
        <p:sp>
          <p:nvSpPr>
            <p:cNvPr id="6" name="TextBox 6"/>
            <p:cNvSpPr txBox="1"/>
            <p:nvPr/>
          </p:nvSpPr>
          <p:spPr>
            <a:xfrm>
              <a:off x="7154418" y="1784032"/>
              <a:ext cx="22725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ONLINE FEEDBACK</a:t>
              </a:r>
            </a:p>
          </p:txBody>
        </p:sp>
        <p:sp>
          <p:nvSpPr>
            <p:cNvPr id="7" name="TextBox 7"/>
            <p:cNvSpPr txBox="1"/>
            <p:nvPr/>
          </p:nvSpPr>
          <p:spPr>
            <a:xfrm>
              <a:off x="7152132" y="2116455"/>
              <a:ext cx="349148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GPT-4o simulates the user.</a:t>
              </a:r>
            </a:p>
          </p:txBody>
        </p:sp>
        <p:sp>
          <p:nvSpPr>
            <p:cNvPr id="8" name="TextBox 8"/>
            <p:cNvSpPr txBox="1"/>
            <p:nvPr/>
          </p:nvSpPr>
          <p:spPr>
            <a:xfrm>
              <a:off x="7154418" y="2736532"/>
              <a:ext cx="154228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EVALUATION</a:t>
              </a:r>
            </a:p>
          </p:txBody>
        </p:sp>
        <p:sp>
          <p:nvSpPr>
            <p:cNvPr id="9" name="TextBox 9"/>
            <p:cNvSpPr txBox="1"/>
            <p:nvPr/>
          </p:nvSpPr>
          <p:spPr>
            <a:xfrm>
              <a:off x="7152132" y="3068955"/>
              <a:ext cx="30599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ArmoRM reward scores</a:t>
              </a:r>
              <a:br/>
              <a:r>
                <a:rPr lang="en-US" sz="2100" dirty="0">
                  <a:solidFill>
                    <a:schemeClr val="dk1"/>
                  </a:solidFill>
                  <a:latin typeface="+mn-lt"/>
                  <a:ea typeface="+mn-ea"/>
                  <a:cs typeface="+mn-cs"/>
                </a:rPr>
                <a:t>GPT-4o win rate vs. Base</a:t>
              </a:r>
            </a:p>
          </p:txBody>
        </p:sp>
        <p:sp>
          <p:nvSpPr>
            <p:cNvPr id="10" name="TextBox 10"/>
            <p:cNvSpPr txBox="1"/>
            <p:nvPr/>
          </p:nvSpPr>
          <p:spPr>
            <a:xfrm>
              <a:off x="7154418" y="4003358"/>
              <a:ext cx="367179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ArmoRM ≠ the learned personal RM.</a:t>
              </a:r>
            </a:p>
          </p:txBody>
        </p:sp>
      </p:grpSp>
      <p:grpSp>
        <p:nvGrpSpPr>
          <p:cNvPr id="13" name="data-boundary"/>
          <p:cNvGrpSpPr/>
          <p:nvPr/>
        </p:nvGrpSpPr>
        <p:grpSpPr>
          <a:xfrm>
            <a:off x="601218" y="4612958"/>
            <a:ext cx="10019809" cy="322707"/>
            <a:chOff x="601218" y="4612958"/>
            <a:chExt cx="10019809" cy="322707"/>
          </a:xfrm>
        </p:grpSpPr>
        <p:sp>
          <p:nvSpPr>
            <p:cNvPr id="12" name="TextBox 12"/>
            <p:cNvSpPr txBox="1"/>
            <p:nvPr/>
          </p:nvSpPr>
          <p:spPr>
            <a:xfrm>
              <a:off x="601218" y="4612958"/>
              <a:ext cx="1001980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Keep questions; discard original answers. Generate new response pairs and preference labels online.</a:t>
              </a:r>
            </a:p>
          </p:txBody>
        </p:sp>
      </p:grpSp>
      <p:grpSp>
        <p:nvGrpSpPr>
          <p:cNvPr id="17" name="targets-and-models"/>
          <p:cNvGrpSpPr/>
          <p:nvPr/>
        </p:nvGrpSpPr>
        <p:grpSpPr>
          <a:xfrm>
            <a:off x="601218" y="5146358"/>
            <a:ext cx="7744896" cy="1065657"/>
            <a:chOff x="601218" y="5146358"/>
            <a:chExt cx="7744896" cy="1065657"/>
          </a:xfrm>
        </p:grpSpPr>
        <p:sp>
          <p:nvSpPr>
            <p:cNvPr id="14" name="TextBox 14"/>
            <p:cNvSpPr txBox="1"/>
            <p:nvPr/>
          </p:nvSpPr>
          <p:spPr>
            <a:xfrm>
              <a:off x="601218" y="5146358"/>
              <a:ext cx="464094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Targets:</a:t>
              </a:r>
              <a:r>
                <a:rPr lang="en-US" sz="1650" dirty="0">
                  <a:solidFill>
                    <a:schemeClr val="dk1"/>
                  </a:solidFill>
                  <a:latin typeface="+mn-lt"/>
                  <a:ea typeface="+mn-ea"/>
                  <a:cs typeface="+mn-cs"/>
                </a:rPr>
                <a:t xml:space="preserve"> creative · verbose · concise · uplifting</a:t>
              </a:r>
            </a:p>
          </p:txBody>
        </p:sp>
        <p:sp>
          <p:nvSpPr>
            <p:cNvPr id="15" name="TextBox 15"/>
            <p:cNvSpPr txBox="1"/>
            <p:nvPr/>
          </p:nvSpPr>
          <p:spPr>
            <a:xfrm>
              <a:off x="601218" y="5517832"/>
              <a:ext cx="59562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Frozen backbones:</a:t>
              </a:r>
              <a:r>
                <a:rPr lang="en-US" sz="1650" dirty="0">
                  <a:solidFill>
                    <a:schemeClr val="dk1"/>
                  </a:solidFill>
                  <a:latin typeface="+mn-lt"/>
                  <a:ea typeface="+mn-ea"/>
                  <a:cs typeface="+mn-cs"/>
                </a:rPr>
                <a:t xml:space="preserve"> Mistral-7B · Qwen2-7B · Llama-3.1-8B</a:t>
              </a:r>
            </a:p>
          </p:txBody>
        </p:sp>
        <p:sp>
          <p:nvSpPr>
            <p:cNvPr id="16" name="TextBox 16"/>
            <p:cNvSpPr txBox="1"/>
            <p:nvPr/>
          </p:nvSpPr>
          <p:spPr>
            <a:xfrm>
              <a:off x="601218" y="5889308"/>
              <a:ext cx="77448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Baselines:</a:t>
              </a:r>
              <a:r>
                <a:rPr lang="en-US" sz="1650" dirty="0">
                  <a:solidFill>
                    <a:schemeClr val="dk1"/>
                  </a:solidFill>
                  <a:latin typeface="+mn-lt"/>
                  <a:ea typeface="+mn-ea"/>
                  <a:cs typeface="+mn-cs"/>
                </a:rPr>
                <a:t xml:space="preserve"> Base · Preference Prompting · Beam Search (16) · LA · AMULET</a:t>
              </a: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68303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§4.1; Appendix B · Sizes describe question pools, not observed preference-pair counts.</a:t>
              </a: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8811075" cy="971169"/>
            <a:chOff x="592836" y="461010"/>
            <a:chExt cx="8811075" cy="971169"/>
          </a:xfrm>
        </p:grpSpPr>
        <p:sp>
          <p:nvSpPr>
            <p:cNvPr id="2" name="TextBox 2"/>
            <p:cNvSpPr txBox="1"/>
            <p:nvPr/>
          </p:nvSpPr>
          <p:spPr>
            <a:xfrm>
              <a:off x="603504" y="461010"/>
              <a:ext cx="488687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1/3 · SERVING, TRAINING, AND FINAL INFERENCE</a:t>
              </a:r>
            </a:p>
          </p:txBody>
        </p:sp>
        <p:sp>
          <p:nvSpPr>
            <p:cNvPr id="3" name="TextBox 3"/>
            <p:cNvSpPr txBox="1"/>
            <p:nvPr/>
          </p:nvSpPr>
          <p:spPr>
            <a:xfrm>
              <a:off x="592836" y="786765"/>
              <a:ext cx="8811075"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Serving and learning run asynchronously</a:t>
              </a:r>
            </a:p>
          </p:txBody>
        </p:sp>
      </p:grpSp>
      <p:grpSp>
        <p:nvGrpSpPr>
          <p:cNvPr id="63" name="system-flow"/>
          <p:cNvGrpSpPr/>
          <p:nvPr/>
        </p:nvGrpSpPr>
        <p:grpSpPr>
          <a:xfrm>
            <a:off x="601218" y="1564958"/>
            <a:ext cx="10981182" cy="4683442"/>
            <a:chOff x="601218" y="1564958"/>
            <a:chExt cx="10981182" cy="4683442"/>
          </a:xfrm>
        </p:grpSpPr>
        <p:sp>
          <p:nvSpPr>
            <p:cNvPr id="5" name="TextBox 5"/>
            <p:cNvSpPr txBox="1"/>
            <p:nvPr/>
          </p:nvSpPr>
          <p:spPr>
            <a:xfrm>
              <a:off x="601218" y="1564958"/>
              <a:ext cx="202496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ONLINE SERVING</a:t>
              </a:r>
            </a:p>
          </p:txBody>
        </p:sp>
        <p:sp>
          <p:nvSpPr>
            <p:cNvPr id="6" name="TextBox 6"/>
            <p:cNvSpPr txBox="1"/>
            <p:nvPr/>
          </p:nvSpPr>
          <p:spPr>
            <a:xfrm>
              <a:off x="3001518" y="1564958"/>
              <a:ext cx="717860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Shared frozen LLM + latest ready RM; each branch keeps its own prefix.</a:t>
              </a:r>
            </a:p>
          </p:txBody>
        </p:sp>
        <p:sp>
          <p:nvSpPr>
            <p:cNvPr id="7" name="Line 7"/>
            <p:cNvSpPr/>
            <p:nvPr/>
          </p:nvSpPr>
          <p:spPr>
            <a:xfrm flipV="1">
              <a:off x="1562100" y="2400300"/>
              <a:ext cx="314325" cy="266700"/>
            </a:xfrm>
            <a:prstGeom prst="line">
              <a:avLst/>
            </a:prstGeom>
            <a:noFill/>
            <a:ln w="19050">
              <a:solidFill>
                <a:schemeClr val="accent1"/>
              </a:solidFill>
              <a:tailEnd type="arrow" w="med" len="med"/>
            </a:ln>
          </p:spPr>
        </p:sp>
        <p:sp>
          <p:nvSpPr>
            <p:cNvPr id="8" name="Line 8"/>
            <p:cNvSpPr/>
            <p:nvPr/>
          </p:nvSpPr>
          <p:spPr>
            <a:xfrm>
              <a:off x="2762250" y="2676525"/>
              <a:ext cx="1" cy="428625"/>
            </a:xfrm>
            <a:prstGeom prst="line">
              <a:avLst/>
            </a:prstGeom>
            <a:noFill/>
            <a:ln w="19050">
              <a:solidFill>
                <a:schemeClr val="accent1"/>
              </a:solidFill>
              <a:tailEnd type="arrow" w="med" len="med"/>
            </a:ln>
          </p:spPr>
        </p:sp>
        <p:sp>
          <p:nvSpPr>
            <p:cNvPr id="9" name="TextBox 9"/>
            <p:cNvSpPr txBox="1"/>
            <p:nvPr/>
          </p:nvSpPr>
          <p:spPr>
            <a:xfrm>
              <a:off x="2915793" y="2784158"/>
              <a:ext cx="48571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 v]</a:t>
              </a:r>
            </a:p>
          </p:txBody>
        </p:sp>
        <p:sp>
          <p:nvSpPr>
            <p:cNvPr id="10" name="Freeform 10"/>
            <p:cNvSpPr/>
            <p:nvPr/>
          </p:nvSpPr>
          <p:spPr>
            <a:xfrm>
              <a:off x="3657600" y="2362200"/>
              <a:ext cx="742950" cy="381000"/>
            </a:xfrm>
            <a:custGeom>
              <a:avLst/>
              <a:gdLst/>
              <a:ahLst/>
              <a:cxnLst/>
              <a:rect l="l" t="t" r="r" b="b"/>
              <a:pathLst>
                <a:path w="742950" h="381000">
                  <a:moveTo>
                    <a:pt x="0" y="0"/>
                  </a:moveTo>
                  <a:lnTo>
                    <a:pt x="361950" y="0"/>
                  </a:lnTo>
                  <a:lnTo>
                    <a:pt x="742950" y="381000"/>
                  </a:lnTo>
                </a:path>
              </a:pathLst>
            </a:custGeom>
            <a:noFill/>
            <a:ln w="19050">
              <a:solidFill>
                <a:schemeClr val="accent1"/>
              </a:solidFill>
              <a:tailEnd type="arrow" w="med" len="med"/>
            </a:ln>
          </p:spPr>
        </p:sp>
        <p:sp>
          <p:nvSpPr>
            <p:cNvPr id="11" name="TextBox 11"/>
            <p:cNvSpPr txBox="1"/>
            <p:nvPr/>
          </p:nvSpPr>
          <p:spPr>
            <a:xfrm>
              <a:off x="3906393" y="2050732"/>
              <a:ext cx="397927" cy="322707"/>
            </a:xfrm>
            <a:prstGeom prst="rect">
              <a:avLst/>
            </a:prstGeom>
            <a:noFill/>
            <a:ln>
              <a:noFill/>
            </a:ln>
          </p:spPr>
          <p:txBody>
            <a:bodyPr wrap="none" lIns="0" tIns="0" rIns="0" bIns="0" anchor="t" anchorCtr="0">
              <a:spAutoFit/>
            </a:bodyPr>
            <a:lstStyle/>
            <a:p>
              <a:pPr algn="l"/>
              <a:r>
                <a:rPr lang="el-GR" sz="1650" dirty="0">
                  <a:solidFill>
                    <a:schemeClr val="accent1"/>
                  </a:solidFill>
                  <a:latin typeface="+mn-lt"/>
                  <a:ea typeface="+mn-ea"/>
                  <a:cs typeface="+mn-cs"/>
                </a:rPr>
                <a:t>π(v)</a:t>
              </a:r>
            </a:p>
          </p:txBody>
        </p:sp>
        <p:sp>
          <p:nvSpPr>
            <p:cNvPr id="12" name="Freeform 12"/>
            <p:cNvSpPr/>
            <p:nvPr/>
          </p:nvSpPr>
          <p:spPr>
            <a:xfrm>
              <a:off x="3657600" y="3028950"/>
              <a:ext cx="742950" cy="419100"/>
            </a:xfrm>
            <a:custGeom>
              <a:avLst/>
              <a:gdLst/>
              <a:ahLst/>
              <a:cxnLst/>
              <a:rect l="l" t="t" r="r" b="b"/>
              <a:pathLst>
                <a:path w="742950" h="419100">
                  <a:moveTo>
                    <a:pt x="0" y="419100"/>
                  </a:moveTo>
                  <a:lnTo>
                    <a:pt x="361950" y="419100"/>
                  </a:lnTo>
                  <a:lnTo>
                    <a:pt x="742950" y="0"/>
                  </a:lnTo>
                </a:path>
              </a:pathLst>
            </a:custGeom>
            <a:noFill/>
            <a:ln w="19050">
              <a:solidFill>
                <a:schemeClr val="accent1"/>
              </a:solidFill>
              <a:tailEnd type="arrow" w="med" len="med"/>
            </a:ln>
          </p:spPr>
        </p:sp>
        <p:sp>
          <p:nvSpPr>
            <p:cNvPr id="13" name="TextBox 13"/>
            <p:cNvSpPr txBox="1"/>
            <p:nvPr/>
          </p:nvSpPr>
          <p:spPr>
            <a:xfrm>
              <a:off x="3906393" y="3527108"/>
              <a:ext cx="349726"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r(v)</a:t>
              </a:r>
            </a:p>
          </p:txBody>
        </p:sp>
        <p:sp>
          <p:nvSpPr>
            <p:cNvPr id="14" name="Line 14"/>
            <p:cNvSpPr/>
            <p:nvPr/>
          </p:nvSpPr>
          <p:spPr>
            <a:xfrm flipV="1">
              <a:off x="6772275" y="2362200"/>
              <a:ext cx="638175" cy="381000"/>
            </a:xfrm>
            <a:prstGeom prst="line">
              <a:avLst/>
            </a:prstGeom>
            <a:noFill/>
            <a:ln w="19050">
              <a:solidFill>
                <a:schemeClr val="accent1"/>
              </a:solidFill>
              <a:tailEnd type="arrow" w="med" len="med"/>
            </a:ln>
          </p:spPr>
        </p:sp>
        <p:sp>
          <p:nvSpPr>
            <p:cNvPr id="15" name="Line 15"/>
            <p:cNvSpPr/>
            <p:nvPr/>
          </p:nvSpPr>
          <p:spPr>
            <a:xfrm>
              <a:off x="6772275" y="3038475"/>
              <a:ext cx="638175" cy="438150"/>
            </a:xfrm>
            <a:prstGeom prst="line">
              <a:avLst/>
            </a:prstGeom>
            <a:noFill/>
            <a:ln w="19050">
              <a:solidFill>
                <a:schemeClr val="accent1"/>
              </a:solidFill>
              <a:tailEnd type="arrow" w="med" len="med"/>
            </a:ln>
          </p:spPr>
        </p:sp>
        <p:sp>
          <p:nvSpPr>
            <p:cNvPr id="16" name="Freeform 16"/>
            <p:cNvSpPr/>
            <p:nvPr/>
          </p:nvSpPr>
          <p:spPr>
            <a:xfrm>
              <a:off x="9305925" y="2362200"/>
              <a:ext cx="619125" cy="400050"/>
            </a:xfrm>
            <a:custGeom>
              <a:avLst/>
              <a:gdLst/>
              <a:ahLst/>
              <a:cxnLst/>
              <a:rect l="l" t="t" r="r" b="b"/>
              <a:pathLst>
                <a:path w="619125" h="400050">
                  <a:moveTo>
                    <a:pt x="0" y="0"/>
                  </a:moveTo>
                  <a:lnTo>
                    <a:pt x="266700" y="0"/>
                  </a:lnTo>
                  <a:lnTo>
                    <a:pt x="619125" y="400050"/>
                  </a:lnTo>
                </a:path>
              </a:pathLst>
            </a:custGeom>
            <a:noFill/>
            <a:ln w="19050">
              <a:solidFill>
                <a:schemeClr val="accent1"/>
              </a:solidFill>
              <a:tailEnd type="arrow" w="med" len="med"/>
            </a:ln>
          </p:spPr>
        </p:sp>
        <p:sp>
          <p:nvSpPr>
            <p:cNvPr id="17" name="Freeform 17"/>
            <p:cNvSpPr/>
            <p:nvPr/>
          </p:nvSpPr>
          <p:spPr>
            <a:xfrm>
              <a:off x="9305925" y="3105150"/>
              <a:ext cx="619125" cy="371475"/>
            </a:xfrm>
            <a:custGeom>
              <a:avLst/>
              <a:gdLst/>
              <a:ahLst/>
              <a:cxnLst/>
              <a:rect l="l" t="t" r="r" b="b"/>
              <a:pathLst>
                <a:path w="619125" h="371475">
                  <a:moveTo>
                    <a:pt x="0" y="371475"/>
                  </a:moveTo>
                  <a:lnTo>
                    <a:pt x="266700" y="371475"/>
                  </a:lnTo>
                  <a:lnTo>
                    <a:pt x="619125" y="0"/>
                  </a:lnTo>
                </a:path>
              </a:pathLst>
            </a:custGeom>
            <a:noFill/>
            <a:ln w="19050">
              <a:solidFill>
                <a:schemeClr val="accent1"/>
              </a:solidFill>
              <a:tailEnd type="arrow" w="med" len="med"/>
            </a:ln>
          </p:spPr>
        </p:sp>
        <p:sp>
          <p:nvSpPr>
            <p:cNvPr id="18" name="Freeform 18"/>
            <p:cNvSpPr/>
            <p:nvPr/>
          </p:nvSpPr>
          <p:spPr>
            <a:xfrm>
              <a:off x="6515100" y="3295650"/>
              <a:ext cx="4257675" cy="1657350"/>
            </a:xfrm>
            <a:custGeom>
              <a:avLst/>
              <a:gdLst/>
              <a:ahLst/>
              <a:cxnLst/>
              <a:rect l="l" t="t" r="r" b="b"/>
              <a:pathLst>
                <a:path w="4257675" h="1657350">
                  <a:moveTo>
                    <a:pt x="4257675" y="0"/>
                  </a:moveTo>
                  <a:lnTo>
                    <a:pt x="4257675" y="895350"/>
                  </a:lnTo>
                  <a:lnTo>
                    <a:pt x="0" y="895350"/>
                  </a:lnTo>
                  <a:lnTo>
                    <a:pt x="0" y="1657350"/>
                  </a:lnTo>
                </a:path>
              </a:pathLst>
            </a:custGeom>
            <a:noFill/>
            <a:ln w="19050">
              <a:solidFill>
                <a:schemeClr val="accent1"/>
              </a:solidFill>
              <a:tailEnd type="arrow" w="med" len="med"/>
            </a:ln>
          </p:spPr>
        </p:sp>
        <p:sp>
          <p:nvSpPr>
            <p:cNvPr id="19" name="TextBox 19"/>
            <p:cNvSpPr txBox="1"/>
            <p:nvPr/>
          </p:nvSpPr>
          <p:spPr>
            <a:xfrm>
              <a:off x="7583043" y="3917632"/>
              <a:ext cx="212853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Full pair + preference</a:t>
              </a:r>
            </a:p>
          </p:txBody>
        </p:sp>
        <p:sp>
          <p:nvSpPr>
            <p:cNvPr id="20" name="Rectangle 20"/>
            <p:cNvSpPr/>
            <p:nvPr/>
          </p:nvSpPr>
          <p:spPr>
            <a:xfrm>
              <a:off x="609600" y="2476500"/>
              <a:ext cx="952500" cy="742950"/>
            </a:xfrm>
            <a:prstGeom prst="rect">
              <a:avLst/>
            </a:prstGeom>
            <a:solidFill>
              <a:schemeClr val="lt2"/>
            </a:solidFill>
            <a:ln>
              <a:noFill/>
            </a:ln>
          </p:spPr>
        </p:sp>
        <p:sp>
          <p:nvSpPr>
            <p:cNvPr id="21" name="TextBox 21"/>
            <p:cNvSpPr txBox="1"/>
            <p:nvPr/>
          </p:nvSpPr>
          <p:spPr>
            <a:xfrm>
              <a:off x="701850" y="2593658"/>
              <a:ext cx="768001" cy="598932"/>
            </a:xfrm>
            <a:prstGeom prst="rect">
              <a:avLst/>
            </a:prstGeom>
            <a:noFill/>
            <a:ln>
              <a:noFill/>
            </a:ln>
          </p:spPr>
          <p:txBody>
            <a:bodyPr wrap="none" lIns="0" tIns="0" rIns="0" bIns="0" anchor="t" anchorCtr="0">
              <a:spAutoFit/>
            </a:bodyPr>
            <a:lstStyle/>
            <a:p>
              <a:pPr algn="ctr">
                <a:lnSpc>
                  <a:spcPts val="2175"/>
                </a:lnSpc>
              </a:pPr>
              <a:r>
                <a:rPr lang="en-US" sz="1650" dirty="0">
                  <a:solidFill>
                    <a:schemeClr val="accent1"/>
                  </a:solidFill>
                  <a:latin typeface="+mn-lt"/>
                  <a:ea typeface="+mn-ea"/>
                  <a:cs typeface="+mn-cs"/>
                </a:rPr>
                <a:t>Query +</a:t>
              </a:r>
              <a:br/>
              <a:r>
                <a:rPr lang="en-US" sz="1650" dirty="0">
                  <a:solidFill>
                    <a:schemeClr val="accent1"/>
                  </a:solidFill>
                  <a:latin typeface="+mn-lt"/>
                  <a:ea typeface="+mn-ea"/>
                  <a:cs typeface="+mn-cs"/>
                </a:rPr>
                <a:t>prefix</a:t>
              </a:r>
            </a:p>
          </p:txBody>
        </p:sp>
        <p:sp>
          <p:nvSpPr>
            <p:cNvPr id="22" name="Rectangle 22"/>
            <p:cNvSpPr/>
            <p:nvPr/>
          </p:nvSpPr>
          <p:spPr>
            <a:xfrm>
              <a:off x="1924050" y="2038350"/>
              <a:ext cx="1733550" cy="638175"/>
            </a:xfrm>
            <a:prstGeom prst="rect">
              <a:avLst/>
            </a:prstGeom>
            <a:solidFill>
              <a:schemeClr val="lt2"/>
            </a:solidFill>
            <a:ln>
              <a:noFill/>
            </a:ln>
          </p:spPr>
        </p:sp>
        <p:sp>
          <p:nvSpPr>
            <p:cNvPr id="23" name="TextBox 23"/>
            <p:cNvSpPr txBox="1"/>
            <p:nvPr/>
          </p:nvSpPr>
          <p:spPr>
            <a:xfrm>
              <a:off x="2143691" y="2136458"/>
              <a:ext cx="129426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Frozen LLM</a:t>
              </a:r>
            </a:p>
          </p:txBody>
        </p:sp>
        <p:sp>
          <p:nvSpPr>
            <p:cNvPr id="24" name="TextBox 24"/>
            <p:cNvSpPr txBox="1"/>
            <p:nvPr/>
          </p:nvSpPr>
          <p:spPr>
            <a:xfrm>
              <a:off x="2057567" y="2374582"/>
              <a:ext cx="1466516" cy="322707"/>
            </a:xfrm>
            <a:prstGeom prst="rect">
              <a:avLst/>
            </a:prstGeom>
            <a:noFill/>
            <a:ln>
              <a:noFill/>
            </a:ln>
          </p:spPr>
          <p:txBody>
            <a:bodyPr wrap="none" lIns="0" tIns="0" rIns="0" bIns="0" anchor="t" anchorCtr="0">
              <a:spAutoFit/>
            </a:bodyPr>
            <a:lstStyle/>
            <a:p>
              <a:pPr algn="ctr"/>
              <a:r>
                <a:rPr lang="el-GR" sz="1650" dirty="0">
                  <a:solidFill>
                    <a:schemeClr val="accent5"/>
                  </a:solidFill>
                  <a:latin typeface="+mn-lt"/>
                  <a:ea typeface="+mn-ea"/>
                  <a:cs typeface="+mn-cs"/>
                </a:rPr>
                <a:t>candidates + π</a:t>
              </a:r>
            </a:p>
          </p:txBody>
        </p:sp>
        <p:sp>
          <p:nvSpPr>
            <p:cNvPr id="25" name="Rectangle 25"/>
            <p:cNvSpPr/>
            <p:nvPr/>
          </p:nvSpPr>
          <p:spPr>
            <a:xfrm>
              <a:off x="1924050" y="3152775"/>
              <a:ext cx="1733550" cy="638175"/>
            </a:xfrm>
            <a:prstGeom prst="rect">
              <a:avLst/>
            </a:prstGeom>
            <a:solidFill>
              <a:schemeClr val="accent1"/>
            </a:solidFill>
            <a:ln>
              <a:noFill/>
            </a:ln>
          </p:spPr>
        </p:sp>
        <p:sp>
          <p:nvSpPr>
            <p:cNvPr id="26" name="TextBox 26"/>
            <p:cNvSpPr txBox="1"/>
            <p:nvPr/>
          </p:nvSpPr>
          <p:spPr>
            <a:xfrm>
              <a:off x="1999288" y="3250882"/>
              <a:ext cx="1583074" cy="322707"/>
            </a:xfrm>
            <a:prstGeom prst="rect">
              <a:avLst/>
            </a:prstGeom>
            <a:noFill/>
            <a:ln>
              <a:noFill/>
            </a:ln>
          </p:spPr>
          <p:txBody>
            <a:bodyPr wrap="none" lIns="0" tIns="0" rIns="0" bIns="0" anchor="t" anchorCtr="0">
              <a:spAutoFit/>
            </a:bodyPr>
            <a:lstStyle/>
            <a:p>
              <a:pPr algn="ctr"/>
              <a:r>
                <a:rPr lang="el-GR" sz="1650" b="1" dirty="0">
                  <a:solidFill>
                    <a:srgbClr val="FFFFFF"/>
                  </a:solidFill>
                  <a:latin typeface="+mn-lt"/>
                  <a:ea typeface="+mn-ea"/>
                  <a:cs typeface="+mn-cs"/>
                </a:rPr>
                <a:t>Serving RM θₖ</a:t>
              </a:r>
            </a:p>
          </p:txBody>
        </p:sp>
        <p:sp>
          <p:nvSpPr>
            <p:cNvPr id="27" name="TextBox 27"/>
            <p:cNvSpPr txBox="1"/>
            <p:nvPr/>
          </p:nvSpPr>
          <p:spPr>
            <a:xfrm>
              <a:off x="1973826" y="3489008"/>
              <a:ext cx="1633997"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score each [s, v]</a:t>
              </a:r>
            </a:p>
          </p:txBody>
        </p:sp>
        <p:sp>
          <p:nvSpPr>
            <p:cNvPr id="28" name="Rectangle 28"/>
            <p:cNvSpPr/>
            <p:nvPr/>
          </p:nvSpPr>
          <p:spPr>
            <a:xfrm>
              <a:off x="4438650" y="2543175"/>
              <a:ext cx="2333625" cy="723900"/>
            </a:xfrm>
            <a:prstGeom prst="rect">
              <a:avLst/>
            </a:prstGeom>
            <a:solidFill>
              <a:schemeClr val="lt2"/>
            </a:solidFill>
            <a:ln>
              <a:noFill/>
            </a:ln>
          </p:spPr>
        </p:sp>
        <p:sp>
          <p:nvSpPr>
            <p:cNvPr id="29" name="TextBox 29"/>
            <p:cNvSpPr txBox="1"/>
            <p:nvPr/>
          </p:nvSpPr>
          <p:spPr>
            <a:xfrm>
              <a:off x="4865156" y="2621280"/>
              <a:ext cx="1471088" cy="410718"/>
            </a:xfrm>
            <a:prstGeom prst="rect">
              <a:avLst/>
            </a:prstGeom>
            <a:noFill/>
            <a:ln>
              <a:noFill/>
            </a:ln>
          </p:spPr>
          <p:txBody>
            <a:bodyPr wrap="none" lIns="0" tIns="0" rIns="0" bIns="0" anchor="t" anchorCtr="0">
              <a:spAutoFit/>
            </a:bodyPr>
            <a:lstStyle/>
            <a:p>
              <a:pPr algn="ctr"/>
              <a:r>
                <a:rPr lang="el-GR" sz="2100" b="1" dirty="0">
                  <a:solidFill>
                    <a:schemeClr val="accent1"/>
                  </a:solidFill>
                  <a:latin typeface="+mn-lt"/>
                  <a:ea typeface="+mn-ea"/>
                  <a:cs typeface="+mn-cs"/>
                </a:rPr>
                <a:t>π(v) + ωr(v)</a:t>
              </a:r>
            </a:p>
          </p:txBody>
        </p:sp>
        <p:sp>
          <p:nvSpPr>
            <p:cNvPr id="30" name="TextBox 30"/>
            <p:cNvSpPr txBox="1"/>
            <p:nvPr/>
          </p:nvSpPr>
          <p:spPr>
            <a:xfrm>
              <a:off x="4780091" y="2955608"/>
              <a:ext cx="1641217"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Combined score</a:t>
              </a:r>
            </a:p>
          </p:txBody>
        </p:sp>
        <p:sp>
          <p:nvSpPr>
            <p:cNvPr id="31" name="TextBox 31"/>
            <p:cNvSpPr txBox="1"/>
            <p:nvPr/>
          </p:nvSpPr>
          <p:spPr>
            <a:xfrm>
              <a:off x="4668393" y="3403282"/>
              <a:ext cx="220937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Repeat for each token</a:t>
              </a:r>
            </a:p>
          </p:txBody>
        </p:sp>
        <p:sp>
          <p:nvSpPr>
            <p:cNvPr id="32" name="Rectangle 32"/>
            <p:cNvSpPr/>
            <p:nvPr/>
          </p:nvSpPr>
          <p:spPr>
            <a:xfrm>
              <a:off x="7448550" y="2019300"/>
              <a:ext cx="1857375" cy="714375"/>
            </a:xfrm>
            <a:prstGeom prst="rect">
              <a:avLst/>
            </a:prstGeom>
            <a:solidFill>
              <a:srgbClr val="E6F2F3"/>
            </a:solidFill>
            <a:ln>
              <a:noFill/>
            </a:ln>
          </p:spPr>
        </p:sp>
        <p:sp>
          <p:nvSpPr>
            <p:cNvPr id="33" name="TextBox 33"/>
            <p:cNvSpPr txBox="1"/>
            <p:nvPr/>
          </p:nvSpPr>
          <p:spPr>
            <a:xfrm>
              <a:off x="7725601" y="2126932"/>
              <a:ext cx="1293747"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Exploitation</a:t>
              </a:r>
            </a:p>
          </p:txBody>
        </p:sp>
        <p:sp>
          <p:nvSpPr>
            <p:cNvPr id="34" name="TextBox 34"/>
            <p:cNvSpPr txBox="1"/>
            <p:nvPr/>
          </p:nvSpPr>
          <p:spPr>
            <a:xfrm>
              <a:off x="7537596" y="2384108"/>
              <a:ext cx="1669759"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 full answer a₁</a:t>
              </a:r>
            </a:p>
          </p:txBody>
        </p:sp>
        <p:sp>
          <p:nvSpPr>
            <p:cNvPr id="35" name="Rectangle 35"/>
            <p:cNvSpPr/>
            <p:nvPr/>
          </p:nvSpPr>
          <p:spPr>
            <a:xfrm>
              <a:off x="7448550" y="3019425"/>
              <a:ext cx="1857375" cy="876300"/>
            </a:xfrm>
            <a:prstGeom prst="rect">
              <a:avLst/>
            </a:prstGeom>
            <a:solidFill>
              <a:srgbClr val="FBEEE4"/>
            </a:solidFill>
            <a:ln>
              <a:noFill/>
            </a:ln>
          </p:spPr>
        </p:sp>
        <p:sp>
          <p:nvSpPr>
            <p:cNvPr id="36" name="TextBox 36"/>
            <p:cNvSpPr txBox="1"/>
            <p:nvPr/>
          </p:nvSpPr>
          <p:spPr>
            <a:xfrm>
              <a:off x="7750067" y="3108008"/>
              <a:ext cx="1244816" cy="322707"/>
            </a:xfrm>
            <a:prstGeom prst="rect">
              <a:avLst/>
            </a:prstGeom>
            <a:noFill/>
            <a:ln>
              <a:noFill/>
            </a:ln>
          </p:spPr>
          <p:txBody>
            <a:bodyPr wrap="none" lIns="0" tIns="0" rIns="0" bIns="0" anchor="t" anchorCtr="0">
              <a:spAutoFit/>
            </a:bodyPr>
            <a:lstStyle/>
            <a:p>
              <a:pPr algn="ctr"/>
              <a:r>
                <a:rPr lang="en-US" sz="1650" b="1" dirty="0">
                  <a:solidFill>
                    <a:schemeClr val="accent3"/>
                  </a:solidFill>
                  <a:latin typeface="+mn-lt"/>
                  <a:ea typeface="+mn-ea"/>
                  <a:cs typeface="+mn-cs"/>
                </a:rPr>
                <a:t>Exploration</a:t>
              </a:r>
            </a:p>
          </p:txBody>
        </p:sp>
        <p:sp>
          <p:nvSpPr>
            <p:cNvPr id="37" name="TextBox 37"/>
            <p:cNvSpPr txBox="1"/>
            <p:nvPr/>
          </p:nvSpPr>
          <p:spPr>
            <a:xfrm>
              <a:off x="7725090" y="3374708"/>
              <a:ext cx="1294771"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 uncertainty</a:t>
              </a:r>
            </a:p>
          </p:txBody>
        </p:sp>
        <p:sp>
          <p:nvSpPr>
            <p:cNvPr id="38" name="TextBox 38"/>
            <p:cNvSpPr txBox="1"/>
            <p:nvPr/>
          </p:nvSpPr>
          <p:spPr>
            <a:xfrm>
              <a:off x="7537596" y="3641408"/>
              <a:ext cx="1669759"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 full answer a₂</a:t>
              </a:r>
            </a:p>
          </p:txBody>
        </p:sp>
        <p:sp>
          <p:nvSpPr>
            <p:cNvPr id="39" name="Rectangle 39"/>
            <p:cNvSpPr/>
            <p:nvPr/>
          </p:nvSpPr>
          <p:spPr>
            <a:xfrm>
              <a:off x="9963150" y="2581275"/>
              <a:ext cx="1619250" cy="714375"/>
            </a:xfrm>
            <a:prstGeom prst="rect">
              <a:avLst/>
            </a:prstGeom>
            <a:solidFill>
              <a:schemeClr val="accent1"/>
            </a:solidFill>
            <a:ln>
              <a:noFill/>
            </a:ln>
          </p:spPr>
        </p:sp>
        <p:sp>
          <p:nvSpPr>
            <p:cNvPr id="40" name="TextBox 40"/>
            <p:cNvSpPr txBox="1"/>
            <p:nvPr/>
          </p:nvSpPr>
          <p:spPr>
            <a:xfrm>
              <a:off x="10131155" y="2717482"/>
              <a:ext cx="1283241"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User choice</a:t>
              </a:r>
            </a:p>
          </p:txBody>
        </p:sp>
        <p:sp>
          <p:nvSpPr>
            <p:cNvPr id="41" name="TextBox 41"/>
            <p:cNvSpPr txBox="1"/>
            <p:nvPr/>
          </p:nvSpPr>
          <p:spPr>
            <a:xfrm>
              <a:off x="10221613" y="2993708"/>
              <a:ext cx="1102324"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one label ℓ</a:t>
              </a:r>
            </a:p>
          </p:txBody>
        </p:sp>
        <p:sp>
          <p:nvSpPr>
            <p:cNvPr id="42" name="Rectangle 42"/>
            <p:cNvSpPr/>
            <p:nvPr/>
          </p:nvSpPr>
          <p:spPr>
            <a:xfrm>
              <a:off x="609600" y="4419600"/>
              <a:ext cx="6953250" cy="1828800"/>
            </a:xfrm>
            <a:prstGeom prst="rect">
              <a:avLst/>
            </a:prstGeom>
            <a:solidFill>
              <a:schemeClr val="lt2"/>
            </a:solidFill>
            <a:ln>
              <a:noFill/>
            </a:ln>
          </p:spPr>
        </p:sp>
        <p:sp>
          <p:nvSpPr>
            <p:cNvPr id="43" name="TextBox 43"/>
            <p:cNvSpPr txBox="1"/>
            <p:nvPr/>
          </p:nvSpPr>
          <p:spPr>
            <a:xfrm>
              <a:off x="820293" y="4536758"/>
              <a:ext cx="396744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BACKGROUND TRAINING · ASYNC</a:t>
              </a:r>
            </a:p>
          </p:txBody>
        </p:sp>
        <p:sp>
          <p:nvSpPr>
            <p:cNvPr id="44" name="Line 44"/>
            <p:cNvSpPr/>
            <p:nvPr/>
          </p:nvSpPr>
          <p:spPr>
            <a:xfrm flipH="1">
              <a:off x="5114925" y="5305425"/>
              <a:ext cx="514350" cy="1"/>
            </a:xfrm>
            <a:prstGeom prst="line">
              <a:avLst/>
            </a:prstGeom>
            <a:noFill/>
            <a:ln w="19050">
              <a:solidFill>
                <a:schemeClr val="accent1"/>
              </a:solidFill>
              <a:tailEnd type="arrow" w="med" len="med"/>
            </a:ln>
          </p:spPr>
        </p:sp>
        <p:sp>
          <p:nvSpPr>
            <p:cNvPr id="45" name="Line 45"/>
            <p:cNvSpPr/>
            <p:nvPr/>
          </p:nvSpPr>
          <p:spPr>
            <a:xfrm flipH="1">
              <a:off x="2714625" y="5305425"/>
              <a:ext cx="457200" cy="1"/>
            </a:xfrm>
            <a:prstGeom prst="line">
              <a:avLst/>
            </a:prstGeom>
            <a:noFill/>
            <a:ln w="19050">
              <a:solidFill>
                <a:schemeClr val="accent1"/>
              </a:solidFill>
              <a:tailEnd type="arrow" w="med" len="med"/>
            </a:ln>
          </p:spPr>
        </p:sp>
        <p:sp>
          <p:nvSpPr>
            <p:cNvPr id="46" name="Rectangle 46"/>
            <p:cNvSpPr/>
            <p:nvPr/>
          </p:nvSpPr>
          <p:spPr>
            <a:xfrm>
              <a:off x="5629275" y="4981575"/>
              <a:ext cx="1743075" cy="638175"/>
            </a:xfrm>
            <a:prstGeom prst="rect">
              <a:avLst/>
            </a:prstGeom>
            <a:solidFill>
              <a:schemeClr val="lt1"/>
            </a:solidFill>
            <a:ln>
              <a:noFill/>
            </a:ln>
          </p:spPr>
        </p:sp>
        <p:sp>
          <p:nvSpPr>
            <p:cNvPr id="47" name="TextBox 47"/>
            <p:cNvSpPr txBox="1"/>
            <p:nvPr/>
          </p:nvSpPr>
          <p:spPr>
            <a:xfrm>
              <a:off x="6101922" y="5070158"/>
              <a:ext cx="788255"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History</a:t>
              </a:r>
            </a:p>
          </p:txBody>
        </p:sp>
        <p:sp>
          <p:nvSpPr>
            <p:cNvPr id="48" name="TextBox 48"/>
            <p:cNvSpPr txBox="1"/>
            <p:nvPr/>
          </p:nvSpPr>
          <p:spPr>
            <a:xfrm>
              <a:off x="5860015" y="5336858"/>
              <a:ext cx="1272070"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(q, a₁, a₂, ℓ)</a:t>
              </a:r>
            </a:p>
          </p:txBody>
        </p:sp>
        <p:sp>
          <p:nvSpPr>
            <p:cNvPr id="49" name="Rectangle 49"/>
            <p:cNvSpPr/>
            <p:nvPr/>
          </p:nvSpPr>
          <p:spPr>
            <a:xfrm>
              <a:off x="3171825" y="4981575"/>
              <a:ext cx="1905000" cy="638175"/>
            </a:xfrm>
            <a:prstGeom prst="rect">
              <a:avLst/>
            </a:prstGeom>
            <a:solidFill>
              <a:schemeClr val="accent1"/>
            </a:solidFill>
            <a:ln>
              <a:noFill/>
            </a:ln>
          </p:spPr>
        </p:sp>
        <p:sp>
          <p:nvSpPr>
            <p:cNvPr id="50" name="TextBox 50"/>
            <p:cNvSpPr txBox="1"/>
            <p:nvPr/>
          </p:nvSpPr>
          <p:spPr>
            <a:xfrm>
              <a:off x="3629319" y="5070158"/>
              <a:ext cx="990012"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Train RM</a:t>
              </a:r>
            </a:p>
          </p:txBody>
        </p:sp>
        <p:sp>
          <p:nvSpPr>
            <p:cNvPr id="51" name="TextBox 51"/>
            <p:cNvSpPr txBox="1"/>
            <p:nvPr/>
          </p:nvSpPr>
          <p:spPr>
            <a:xfrm>
              <a:off x="3480183" y="5336858"/>
              <a:ext cx="1288285"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pairwise loss</a:t>
              </a:r>
            </a:p>
          </p:txBody>
        </p:sp>
        <p:sp>
          <p:nvSpPr>
            <p:cNvPr id="52" name="Rectangle 52"/>
            <p:cNvSpPr/>
            <p:nvPr/>
          </p:nvSpPr>
          <p:spPr>
            <a:xfrm>
              <a:off x="914400" y="4981575"/>
              <a:ext cx="1762125" cy="638175"/>
            </a:xfrm>
            <a:prstGeom prst="rect">
              <a:avLst/>
            </a:prstGeom>
            <a:solidFill>
              <a:srgbClr val="E6F2F3"/>
            </a:solidFill>
            <a:ln>
              <a:noFill/>
            </a:ln>
          </p:spPr>
        </p:sp>
        <p:sp>
          <p:nvSpPr>
            <p:cNvPr id="53" name="TextBox 53"/>
            <p:cNvSpPr txBox="1"/>
            <p:nvPr/>
          </p:nvSpPr>
          <p:spPr>
            <a:xfrm>
              <a:off x="940477" y="5070158"/>
              <a:ext cx="1700445" cy="322707"/>
            </a:xfrm>
            <a:prstGeom prst="rect">
              <a:avLst/>
            </a:prstGeom>
            <a:noFill/>
            <a:ln>
              <a:noFill/>
            </a:ln>
          </p:spPr>
          <p:txBody>
            <a:bodyPr wrap="none" lIns="0" tIns="0" rIns="0" bIns="0" anchor="t" anchorCtr="0">
              <a:spAutoFit/>
            </a:bodyPr>
            <a:lstStyle/>
            <a:p>
              <a:pPr algn="ctr"/>
              <a:r>
                <a:rPr lang="el-GR" sz="1650" b="1" dirty="0">
                  <a:solidFill>
                    <a:schemeClr val="accent2"/>
                  </a:solidFill>
                  <a:latin typeface="+mn-lt"/>
                  <a:ea typeface="+mn-ea"/>
                  <a:cs typeface="+mn-cs"/>
                </a:rPr>
                <a:t>Ready RM θₖ₊₁</a:t>
              </a:r>
            </a:p>
          </p:txBody>
        </p:sp>
        <p:sp>
          <p:nvSpPr>
            <p:cNvPr id="54" name="TextBox 54"/>
            <p:cNvSpPr txBox="1"/>
            <p:nvPr/>
          </p:nvSpPr>
          <p:spPr>
            <a:xfrm>
              <a:off x="1059774" y="5336858"/>
              <a:ext cx="1461852"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publish update</a:t>
              </a:r>
            </a:p>
          </p:txBody>
        </p:sp>
        <p:sp>
          <p:nvSpPr>
            <p:cNvPr id="55" name="Freeform 55"/>
            <p:cNvSpPr/>
            <p:nvPr/>
          </p:nvSpPr>
          <p:spPr>
            <a:xfrm>
              <a:off x="723900" y="3829050"/>
              <a:ext cx="2038350" cy="1476375"/>
            </a:xfrm>
            <a:custGeom>
              <a:avLst/>
              <a:gdLst/>
              <a:ahLst/>
              <a:cxnLst/>
              <a:rect l="l" t="t" r="r" b="b"/>
              <a:pathLst>
                <a:path w="2038350" h="1476375">
                  <a:moveTo>
                    <a:pt x="190500" y="1476375"/>
                  </a:moveTo>
                  <a:lnTo>
                    <a:pt x="0" y="1476375"/>
                  </a:lnTo>
                  <a:lnTo>
                    <a:pt x="0" y="133350"/>
                  </a:lnTo>
                  <a:lnTo>
                    <a:pt x="2038350" y="133350"/>
                  </a:lnTo>
                  <a:lnTo>
                    <a:pt x="2038350" y="0"/>
                  </a:lnTo>
                </a:path>
              </a:pathLst>
            </a:custGeom>
            <a:noFill/>
            <a:ln w="19050">
              <a:solidFill>
                <a:schemeClr val="accent2"/>
              </a:solidFill>
              <a:custDash>
                <a:ds d="300000" sp="200000"/>
              </a:custDash>
              <a:tailEnd type="arrow" w="med" len="med"/>
            </a:ln>
          </p:spPr>
        </p:sp>
        <p:sp>
          <p:nvSpPr>
            <p:cNvPr id="56" name="TextBox 56"/>
            <p:cNvSpPr txBox="1"/>
            <p:nvPr/>
          </p:nvSpPr>
          <p:spPr>
            <a:xfrm>
              <a:off x="2991993" y="3946208"/>
              <a:ext cx="1629485"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Use when ready</a:t>
              </a:r>
            </a:p>
          </p:txBody>
        </p:sp>
        <p:sp>
          <p:nvSpPr>
            <p:cNvPr id="57" name="TextBox 57"/>
            <p:cNvSpPr txBox="1"/>
            <p:nvPr/>
          </p:nvSpPr>
          <p:spPr>
            <a:xfrm>
              <a:off x="820293" y="5813108"/>
              <a:ext cx="52599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During updates, new queries still use the current RM.</a:t>
              </a:r>
            </a:p>
          </p:txBody>
        </p:sp>
        <p:sp>
          <p:nvSpPr>
            <p:cNvPr id="58" name="Rectangle 58"/>
            <p:cNvSpPr/>
            <p:nvPr/>
          </p:nvSpPr>
          <p:spPr>
            <a:xfrm>
              <a:off x="7839075" y="4419600"/>
              <a:ext cx="3743325" cy="1828800"/>
            </a:xfrm>
            <a:prstGeom prst="rect">
              <a:avLst/>
            </a:prstGeom>
            <a:solidFill>
              <a:srgbClr val="E6F2F3"/>
            </a:solidFill>
            <a:ln>
              <a:noFill/>
            </a:ln>
          </p:spPr>
        </p:sp>
        <p:sp>
          <p:nvSpPr>
            <p:cNvPr id="59" name="TextBox 59"/>
            <p:cNvSpPr txBox="1"/>
            <p:nvPr/>
          </p:nvSpPr>
          <p:spPr>
            <a:xfrm>
              <a:off x="8021193" y="4536758"/>
              <a:ext cx="3106865"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AFTER PERSONALIZATION</a:t>
              </a:r>
            </a:p>
          </p:txBody>
        </p:sp>
        <p:sp>
          <p:nvSpPr>
            <p:cNvPr id="60" name="TextBox 60"/>
            <p:cNvSpPr txBox="1"/>
            <p:nvPr/>
          </p:nvSpPr>
          <p:spPr>
            <a:xfrm>
              <a:off x="8021193" y="4984432"/>
              <a:ext cx="2994050"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Frozen LLM + frozen final RM</a:t>
              </a:r>
            </a:p>
          </p:txBody>
        </p:sp>
        <p:sp>
          <p:nvSpPr>
            <p:cNvPr id="61" name="TextBox 61"/>
            <p:cNvSpPr txBox="1"/>
            <p:nvPr/>
          </p:nvSpPr>
          <p:spPr>
            <a:xfrm>
              <a:off x="8021193" y="5384482"/>
              <a:ext cx="286305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Exploitation → one answer</a:t>
              </a:r>
            </a:p>
          </p:txBody>
        </p:sp>
        <p:sp>
          <p:nvSpPr>
            <p:cNvPr id="62" name="TextBox 62"/>
            <p:cNvSpPr txBox="1"/>
            <p:nvPr/>
          </p:nvSpPr>
          <p:spPr>
            <a:xfrm>
              <a:off x="8021193" y="5813108"/>
              <a:ext cx="304857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No further preference updates.</a:t>
              </a:r>
            </a:p>
          </p:txBody>
        </p:sp>
      </p:grpSp>
      <p:grpSp>
        <p:nvGrpSpPr>
          <p:cNvPr id="66" name="footer"/>
          <p:cNvGrpSpPr/>
          <p:nvPr/>
        </p:nvGrpSpPr>
        <p:grpSpPr>
          <a:xfrm>
            <a:off x="603504" y="6404610"/>
            <a:ext cx="10984992" cy="234696"/>
            <a:chOff x="603504" y="6404610"/>
            <a:chExt cx="10984992" cy="234696"/>
          </a:xfrm>
        </p:grpSpPr>
        <p:sp>
          <p:nvSpPr>
            <p:cNvPr id="64" name="TextBox 64"/>
            <p:cNvSpPr txBox="1"/>
            <p:nvPr/>
          </p:nvSpPr>
          <p:spPr>
            <a:xfrm>
              <a:off x="603504" y="6404610"/>
              <a:ext cx="600413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§3.2; Eq. (1); Algorithm 1 · New RM checkpoints serve subsequent queries.</a:t>
              </a:r>
            </a:p>
          </p:txBody>
        </p:sp>
        <p:sp>
          <p:nvSpPr>
            <p:cNvPr id="65" name="TextBox 6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394335"/>
            <a:ext cx="4219556" cy="904494"/>
            <a:chOff x="592836" y="394335"/>
            <a:chExt cx="4219556" cy="904494"/>
          </a:xfrm>
        </p:grpSpPr>
        <p:sp>
          <p:nvSpPr>
            <p:cNvPr id="2" name="TextBox 2"/>
            <p:cNvSpPr txBox="1"/>
            <p:nvPr/>
          </p:nvSpPr>
          <p:spPr>
            <a:xfrm>
              <a:off x="603504" y="394335"/>
              <a:ext cx="38913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2/3 · ORIGINAL PAPER PSEUDOCODE</a:t>
              </a:r>
            </a:p>
          </p:txBody>
        </p:sp>
        <p:sp>
          <p:nvSpPr>
            <p:cNvPr id="3" name="TextBox 3"/>
            <p:cNvSpPr txBox="1"/>
            <p:nvPr/>
          </p:nvSpPr>
          <p:spPr>
            <a:xfrm>
              <a:off x="592836" y="653415"/>
              <a:ext cx="421955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Algorithm 1: T-POP</a:t>
              </a:r>
            </a:p>
          </p:txBody>
        </p:sp>
      </p:grpSp>
      <p:grpSp>
        <p:nvGrpSpPr>
          <p:cNvPr id="6" name="original-algorithm"/>
          <p:cNvGrpSpPr/>
          <p:nvPr/>
        </p:nvGrpSpPr>
        <p:grpSpPr>
          <a:xfrm>
            <a:off x="1175004" y="1257300"/>
            <a:ext cx="9841992" cy="4991100"/>
            <a:chOff x="1175004" y="1257300"/>
            <a:chExt cx="9841992" cy="4991100"/>
          </a:xfrm>
        </p:grpSpPr>
        <p:pic>
          <p:nvPicPr>
            <p:cNvPr id="5" name="algorithm1"/>
            <p:cNvPicPr>
              <a:picLocks noChangeAspect="1"/>
            </p:cNvPicPr>
            <p:nvPr/>
          </p:nvPicPr>
          <p:blipFill>
            <a:blip r:embed="rId2"/>
            <a:stretch>
              <a:fillRect/>
            </a:stretch>
          </p:blipFill>
          <p:spPr>
            <a:xfrm>
              <a:off x="1175004" y="1257300"/>
              <a:ext cx="9841992" cy="4991100"/>
            </a:xfrm>
            <a:prstGeom prst="rect">
              <a:avLst/>
            </a:prstGeom>
          </p:spPr>
        </p:pic>
      </p:grpSp>
      <p:grpSp>
        <p:nvGrpSpPr>
          <p:cNvPr id="9" name="footer"/>
          <p:cNvGrpSpPr/>
          <p:nvPr/>
        </p:nvGrpSpPr>
        <p:grpSpPr>
          <a:xfrm>
            <a:off x="603504" y="6404610"/>
            <a:ext cx="10984992" cy="234696"/>
            <a:chOff x="603504" y="6404610"/>
            <a:chExt cx="10984992" cy="234696"/>
          </a:xfrm>
        </p:grpSpPr>
        <p:sp>
          <p:nvSpPr>
            <p:cNvPr id="7" name="TextBox 7"/>
            <p:cNvSpPr txBox="1"/>
            <p:nvPr/>
          </p:nvSpPr>
          <p:spPr>
            <a:xfrm>
              <a:off x="603504" y="6404610"/>
              <a:ext cx="42104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T-POP.pdf, p. 4 · Original Algorithm 1 (unaltered).</a:t>
              </a:r>
            </a:p>
          </p:txBody>
        </p:sp>
        <p:sp>
          <p:nvSpPr>
            <p:cNvPr id="8" name="TextBox 8"/>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8862247" cy="971169"/>
            <a:chOff x="592836" y="461010"/>
            <a:chExt cx="8862247" cy="971169"/>
          </a:xfrm>
        </p:grpSpPr>
        <p:sp>
          <p:nvSpPr>
            <p:cNvPr id="2" name="TextBox 2"/>
            <p:cNvSpPr txBox="1"/>
            <p:nvPr/>
          </p:nvSpPr>
          <p:spPr>
            <a:xfrm>
              <a:off x="603504" y="461010"/>
              <a:ext cx="400492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3/3 · ONE COMPLETE DECODING STEP</a:t>
              </a:r>
            </a:p>
          </p:txBody>
        </p:sp>
        <p:sp>
          <p:nvSpPr>
            <p:cNvPr id="3" name="TextBox 3"/>
            <p:cNvSpPr txBox="1"/>
            <p:nvPr/>
          </p:nvSpPr>
          <p:spPr>
            <a:xfrm>
              <a:off x="592836" y="786765"/>
              <a:ext cx="886224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Two-arm decoding: score, explore, repeat</a:t>
              </a:r>
            </a:p>
          </p:txBody>
        </p:sp>
      </p:grpSp>
      <mc:AlternateContent xmlns:mc="http://schemas.openxmlformats.org/markup-compatibility/2006">
        <mc:Choice xmlns:a14="http://schemas.microsoft.com/office/drawing/2010/main" Requires="a14">
          <p:sp>
            <p:nvSpPr>
              <p:cNvPr id="5" name="candidates"/>
              <p:cNvSpPr txBox="1">
                <a:spLocks noGrp="1"/>
              </p:cNvSpPr>
              <p:nvPr/>
            </p:nvSpPr>
            <p:spPr>
              <a:xfrm>
                <a:off x="609600" y="1590675"/>
                <a:ext cx="1097280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m:rPr>
                          <m:scr m:val="script"/>
                          <m:sty m:val="p"/>
                        </m:rPr>
                        <a:rPr lang="en-US" sz="2100" dirty="0">
                          <a:solidFill>
                            <a:srgbClr val="10243A"/>
                          </a:solidFill>
                          <a:latin typeface="Cambria Math"/>
                          <a:ea typeface="Cambria Math"/>
                          <a:cs typeface="Cambria Math"/>
                        </a:rPr>
                        <m:t>C</m:t>
                      </m:r>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Top40</m:t>
                          </m:r>
                        </m:fName>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π</m:t>
                                  </m:r>
                                </m:e>
                                <m:sub>
                                  <m:r>
                                    <a:rPr lang="en-US" sz="2100" dirty="0">
                                      <a:solidFill>
                                        <a:srgbClr val="10243A"/>
                                      </a:solidFill>
                                      <a:latin typeface="Cambria Math"/>
                                      <a:ea typeface="Cambria Math"/>
                                      <a:cs typeface="Cambria Math"/>
                                    </a:rPr>
                                    <m:t>1</m:t>
                                  </m:r>
                                </m:sub>
                              </m:sSub>
                            </m:e>
                          </m:d>
                        </m:e>
                      </m:func>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Top40</m:t>
                          </m:r>
                        </m:fName>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π</m:t>
                                  </m:r>
                                </m:e>
                                <m:sub>
                                  <m:r>
                                    <a:rPr lang="en-US" sz="2100" dirty="0">
                                      <a:solidFill>
                                        <a:srgbClr val="10243A"/>
                                      </a:solidFill>
                                      <a:latin typeface="Cambria Math"/>
                                      <a:ea typeface="Cambria Math"/>
                                      <a:cs typeface="Cambria Math"/>
                                    </a:rPr>
                                    <m:t>2</m:t>
                                  </m:r>
                                </m:sub>
                              </m:sSub>
                            </m:e>
                          </m:d>
                        </m:e>
                      </m:func>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 xml:space="preserve"> </m:t>
                      </m:r>
                      <m:d>
                        <m:dPr>
                          <m:begChr m:val="|"/>
                          <m:sepChr m:val=""/>
                          <m:endChr m:val="|"/>
                          <m:grow m:val="on"/>
                          <m:ctrlPr>
                            <a:rPr lang="en-US" sz="2100" dirty="0">
                              <a:solidFill>
                                <a:srgbClr val="10243A"/>
                              </a:solidFill>
                              <a:latin typeface="Cambria Math"/>
                              <a:ea typeface="Cambria Math"/>
                              <a:cs typeface="Cambria Math"/>
                            </a:rPr>
                          </m:ctrlPr>
                        </m:dPr>
                        <m:e>
                          <m:r>
                            <m:rPr>
                              <m:scr m:val="script"/>
                              <m:sty m:val="p"/>
                            </m:rPr>
                            <a:rPr lang="en-US" sz="2100" dirty="0">
                              <a:solidFill>
                                <a:srgbClr val="10243A"/>
                              </a:solidFill>
                              <a:latin typeface="Cambria Math"/>
                              <a:ea typeface="Cambria Math"/>
                              <a:cs typeface="Cambria Math"/>
                            </a:rPr>
                            <m:t>C</m:t>
                          </m:r>
                        </m:e>
                      </m:d>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80</m:t>
                      </m:r>
                    </m:oMath>
                  </m:oMathPara>
                </a14:m>
              </a:p>
            </p:txBody>
          </p:sp>
        </mc:Choice>
      </mc:AlternateContent>
      <p:grpSp>
        <p:nvGrpSpPr>
          <p:cNvPr id="7" name="prefix-ownership"/>
          <p:cNvGrpSpPr/>
          <p:nvPr/>
        </p:nvGrpSpPr>
        <p:grpSpPr>
          <a:xfrm>
            <a:off x="601218" y="2326958"/>
            <a:ext cx="9646516" cy="322707"/>
            <a:chOff x="601218" y="2326958"/>
            <a:chExt cx="9646516" cy="322707"/>
          </a:xfrm>
        </p:grpSpPr>
        <p:sp>
          <p:nvSpPr>
            <p:cNvPr id="6" name="TextBox 6"/>
            <p:cNvSpPr txBox="1"/>
            <p:nvPr/>
          </p:nvSpPr>
          <p:spPr>
            <a:xfrm>
              <a:off x="601218" y="2326958"/>
              <a:ext cx="9646516"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Each arm keeps its own prefix: rⱼ(v) = rθ([sⱼ, v]). Its probability and reward vectors have length C.</a:t>
              </a:r>
            </a:p>
          </p:txBody>
        </p:sp>
      </p:grpSp>
      <p:grpSp>
        <p:nvGrpSpPr>
          <p:cNvPr id="14" name="policy-fields"/>
          <p:cNvGrpSpPr/>
          <p:nvPr/>
        </p:nvGrpSpPr>
        <p:grpSpPr>
          <a:xfrm>
            <a:off x="609600" y="2752725"/>
            <a:ext cx="10972800" cy="1323975"/>
            <a:chOff x="609600" y="2752725"/>
            <a:chExt cx="10972800" cy="1323975"/>
          </a:xfrm>
        </p:grpSpPr>
        <p:sp>
          <p:nvSpPr>
            <p:cNvPr id="8" name="Rectangle 8"/>
            <p:cNvSpPr/>
            <p:nvPr/>
          </p:nvSpPr>
          <p:spPr>
            <a:xfrm>
              <a:off x="609600" y="2752725"/>
              <a:ext cx="5276850" cy="1323975"/>
            </a:xfrm>
            <a:prstGeom prst="rect">
              <a:avLst/>
            </a:prstGeom>
            <a:solidFill>
              <a:srgbClr val="E6F2F3"/>
            </a:solidFill>
            <a:ln>
              <a:noFill/>
            </a:ln>
          </p:spPr>
        </p:sp>
        <p:sp>
          <p:nvSpPr>
            <p:cNvPr id="9" name="Rectangle 9"/>
            <p:cNvSpPr/>
            <p:nvPr/>
          </p:nvSpPr>
          <p:spPr>
            <a:xfrm>
              <a:off x="6305550" y="2752725"/>
              <a:ext cx="5276850" cy="1323975"/>
            </a:xfrm>
            <a:prstGeom prst="rect">
              <a:avLst/>
            </a:prstGeom>
            <a:solidFill>
              <a:srgbClr val="FBEEE4"/>
            </a:solidFill>
            <a:ln>
              <a:noFill/>
            </a:ln>
          </p:spPr>
        </p:sp>
        <p:sp>
          <p:nvSpPr>
            <p:cNvPr id="10" name="TextBox 10"/>
            <p:cNvSpPr txBox="1"/>
            <p:nvPr/>
          </p:nvSpPr>
          <p:spPr>
            <a:xfrm>
              <a:off x="810768" y="2907982"/>
              <a:ext cx="521945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1. EXPLOIT: MAXIMIZE THE CURRENT SCORE</a:t>
              </a:r>
            </a:p>
          </p:txBody>
        </p:sp>
        <p:sp>
          <p:nvSpPr>
            <p:cNvPr id="11" name="TextBox 11"/>
            <p:cNvSpPr txBox="1"/>
            <p:nvPr/>
          </p:nvSpPr>
          <p:spPr>
            <a:xfrm>
              <a:off x="6506718" y="2907982"/>
              <a:ext cx="3798280"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2. EXPLORE: ADD UNCERTAINTY</a:t>
              </a:r>
            </a:p>
          </p:txBody>
        </p:sp>
        <mc:AlternateContent xmlns:mc="http://schemas.openxmlformats.org/markup-compatibility/2006">
          <mc:Choice xmlns:a14="http://schemas.microsoft.com/office/drawing/2010/main" Requires="a14">
            <p:sp>
              <p:nvSpPr>
                <p:cNvPr id="12" name="exploit-policy"/>
                <p:cNvSpPr txBox="1">
                  <a:spLocks noGrp="1"/>
                </p:cNvSpPr>
                <p:nvPr/>
              </p:nvSpPr>
              <p:spPr>
                <a:xfrm>
                  <a:off x="800100" y="3295650"/>
                  <a:ext cx="4895850" cy="69532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Sup>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1</m:t>
                            </m:r>
                          </m:sub>
                          <m:sup>
                            <m:r>
                              <m:rPr>
                                <m:sty m:val="p"/>
                              </m:rPr>
                              <a:rPr lang="en-US" sz="2100" dirty="0">
                                <a:solidFill>
                                  <a:srgbClr val="10243A"/>
                                </a:solidFill>
                                <a:latin typeface="Cambria Math"/>
                                <a:ea typeface="Cambria Math"/>
                                <a:cs typeface="Cambria Math"/>
                              </a:rPr>
                              <m:t>⋆</m:t>
                            </m:r>
                          </m:sup>
                        </m:sSubSup>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arg</m:t>
                            </m:r>
                          </m:fName>
                          <m:e>
                            <m:func>
                              <m:funcPr/>
                              <m:fName>
                                <m:limLow>
                                  <m:limLowPr/>
                                  <m:e>
                                    <m:r>
                                      <m:rPr>
                                        <m:sty m:val="p"/>
                                      </m:rPr>
                                      <a:rPr lang="en-US" sz="2100" dirty="0">
                                        <a:solidFill>
                                          <a:srgbClr val="10243A"/>
                                        </a:solidFill>
                                        <a:latin typeface="Cambria Math"/>
                                        <a:ea typeface="Cambria Math"/>
                                        <a:cs typeface="Cambria Math"/>
                                      </a:rPr>
                                      <m:t>max</m:t>
                                    </m:r>
                                  </m:e>
                                  <m:lim>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r>
                                      <m:rPr>
                                        <m:scr m:val="script"/>
                                        <m:sty m:val="p"/>
                                      </m:rPr>
                                      <a:rPr lang="en-US" sz="2100" dirty="0">
                                        <a:solidFill>
                                          <a:srgbClr val="10243A"/>
                                        </a:solidFill>
                                        <a:latin typeface="Cambria Math"/>
                                        <a:ea typeface="Cambria Math"/>
                                        <a:cs typeface="Cambria Math"/>
                                      </a:rPr>
                                      <m:t>C</m:t>
                                    </m:r>
                                  </m:lim>
                                </m:limLow>
                              </m:fName>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π</m:t>
                                        </m:r>
                                      </m:e>
                                      <m:sub>
                                        <m:r>
                                          <a:rPr lang="en-US" sz="2100" dirty="0">
                                            <a:solidFill>
                                              <a:srgbClr val="10243A"/>
                                            </a:solidFill>
                                            <a:latin typeface="Cambria Math"/>
                                            <a:ea typeface="Cambria Math"/>
                                            <a:cs typeface="Cambria Math"/>
                                          </a:rPr>
                                          <m:t>1</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ω</m:t>
                                    </m:r>
                                    <m:sSub>
                                      <m:e>
                                        <m:r>
                                          <a:rPr lang="en-US" sz="2100" dirty="0">
                                            <a:solidFill>
                                              <a:srgbClr val="10243A"/>
                                            </a:solidFill>
                                            <a:latin typeface="Cambria Math"/>
                                            <a:ea typeface="Cambria Math"/>
                                            <a:cs typeface="Cambria Math"/>
                                          </a:rPr>
                                          <m:t>r</m:t>
                                        </m:r>
                                      </m:e>
                                      <m:sub>
                                        <m:r>
                                          <a:rPr lang="en-US" sz="2100" dirty="0">
                                            <a:solidFill>
                                              <a:srgbClr val="10243A"/>
                                            </a:solidFill>
                                            <a:latin typeface="Cambria Math"/>
                                            <a:ea typeface="Cambria Math"/>
                                            <a:cs typeface="Cambria Math"/>
                                          </a:rPr>
                                          <m:t>1</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e>
                                </m:d>
                              </m:e>
                            </m:func>
                          </m:e>
                        </m:func>
                      </m:oMath>
                    </m:oMathPara>
                  </a14:m>
                </a:p>
              </p:txBody>
            </p:sp>
          </mc:Choice>
        </mc:AlternateContent>
        <mc:AlternateContent xmlns:mc="http://schemas.openxmlformats.org/markup-compatibility/2006">
          <mc:Choice xmlns:a14="http://schemas.microsoft.com/office/drawing/2010/main" Requires="a14">
            <p:sp>
              <p:nvSpPr>
                <p:cNvPr id="13" name="explore-policy"/>
                <p:cNvSpPr txBox="1">
                  <a:spLocks noGrp="1"/>
                </p:cNvSpPr>
                <p:nvPr/>
              </p:nvSpPr>
              <p:spPr>
                <a:xfrm>
                  <a:off x="6496050" y="3295650"/>
                  <a:ext cx="4895850" cy="69532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Sup>
                          <m:e>
                            <m:r>
                              <a:rPr lang="en-US" sz="1800" dirty="0">
                                <a:solidFill>
                                  <a:srgbClr val="10243A"/>
                                </a:solidFill>
                                <a:latin typeface="Cambria Math"/>
                                <a:ea typeface="Cambria Math"/>
                                <a:cs typeface="Cambria Math"/>
                              </a:rPr>
                              <m:t>v</m:t>
                            </m:r>
                          </m:e>
                          <m:sub>
                            <m:r>
                              <a:rPr lang="en-US" sz="1800" dirty="0">
                                <a:solidFill>
                                  <a:srgbClr val="10243A"/>
                                </a:solidFill>
                                <a:latin typeface="Cambria Math"/>
                                <a:ea typeface="Cambria Math"/>
                                <a:cs typeface="Cambria Math"/>
                              </a:rPr>
                              <m:t>2</m:t>
                            </m:r>
                          </m:sub>
                          <m:sup>
                            <m:r>
                              <m:rPr>
                                <m:sty m:val="p"/>
                              </m:rPr>
                              <a:rPr lang="en-US" sz="1800" dirty="0">
                                <a:solidFill>
                                  <a:srgbClr val="10243A"/>
                                </a:solidFill>
                                <a:latin typeface="Cambria Math"/>
                                <a:ea typeface="Cambria Math"/>
                                <a:cs typeface="Cambria Math"/>
                              </a:rPr>
                              <m:t>⋆</m:t>
                            </m:r>
                          </m:sup>
                        </m:sSubSup>
                        <m:r>
                          <m:rPr>
                            <m:sty m:val="p"/>
                          </m:rPr>
                          <a:rPr lang="en-US" sz="1800" dirty="0">
                            <a:solidFill>
                              <a:srgbClr val="10243A"/>
                            </a:solidFill>
                            <a:latin typeface="Cambria Math"/>
                            <a:ea typeface="Cambria Math"/>
                            <a:cs typeface="Cambria Math"/>
                          </a:rPr>
                          <m:t>=</m:t>
                        </m:r>
                        <m:func>
                          <m:funcPr/>
                          <m:fName>
                            <m:r>
                              <m:rPr>
                                <m:sty m:val="p"/>
                              </m:rPr>
                              <a:rPr lang="en-US" sz="1800" dirty="0">
                                <a:solidFill>
                                  <a:srgbClr val="10243A"/>
                                </a:solidFill>
                                <a:latin typeface="Cambria Math"/>
                                <a:ea typeface="Cambria Math"/>
                                <a:cs typeface="Cambria Math"/>
                              </a:rPr>
                              <m:t>arg</m:t>
                            </m:r>
                          </m:fName>
                          <m:e>
                            <m:func>
                              <m:funcPr/>
                              <m:fName>
                                <m:limLow>
                                  <m:limLowPr/>
                                  <m:e>
                                    <m:r>
                                      <m:rPr>
                                        <m:sty m:val="p"/>
                                      </m:rPr>
                                      <a:rPr lang="en-US" sz="1800" dirty="0">
                                        <a:solidFill>
                                          <a:srgbClr val="10243A"/>
                                        </a:solidFill>
                                        <a:latin typeface="Cambria Math"/>
                                        <a:ea typeface="Cambria Math"/>
                                        <a:cs typeface="Cambria Math"/>
                                      </a:rPr>
                                      <m:t>max</m:t>
                                    </m:r>
                                  </m:e>
                                  <m:lim>
                                    <m:r>
                                      <a:rPr lang="en-US" sz="1800" dirty="0">
                                        <a:solidFill>
                                          <a:srgbClr val="10243A"/>
                                        </a:solidFill>
                                        <a:latin typeface="Cambria Math"/>
                                        <a:ea typeface="Cambria Math"/>
                                        <a:cs typeface="Cambria Math"/>
                                      </a:rPr>
                                      <m:t>v</m:t>
                                    </m:r>
                                    <m:r>
                                      <m:rPr>
                                        <m:sty m:val="p"/>
                                      </m:rPr>
                                      <a:rPr lang="en-US" sz="1800" dirty="0">
                                        <a:solidFill>
                                          <a:srgbClr val="10243A"/>
                                        </a:solidFill>
                                        <a:latin typeface="Cambria Math"/>
                                        <a:ea typeface="Cambria Math"/>
                                        <a:cs typeface="Cambria Math"/>
                                      </a:rPr>
                                      <m:t>∈</m:t>
                                    </m:r>
                                    <m:r>
                                      <m:rPr>
                                        <m:scr m:val="script"/>
                                        <m:sty m:val="p"/>
                                      </m:rPr>
                                      <a:rPr lang="en-US" sz="1800" dirty="0">
                                        <a:solidFill>
                                          <a:srgbClr val="10243A"/>
                                        </a:solidFill>
                                        <a:latin typeface="Cambria Math"/>
                                        <a:ea typeface="Cambria Math"/>
                                        <a:cs typeface="Cambria Math"/>
                                      </a:rPr>
                                      <m:t>C</m:t>
                                    </m:r>
                                  </m:lim>
                                </m:limLow>
                              </m:fName>
                              <m:e>
                                <m:d>
                                  <m:dPr>
                                    <m:begChr m:val="["/>
                                    <m:sepChr m:val=""/>
                                    <m:endChr m:val="]"/>
                                    <m:grow m:val="on"/>
                                    <m:ctrlPr>
                                      <a:rPr lang="en-US" sz="1800" dirty="0">
                                        <a:solidFill>
                                          <a:srgbClr val="10243A"/>
                                        </a:solidFill>
                                        <a:latin typeface="Cambria Math"/>
                                        <a:ea typeface="Cambria Math"/>
                                        <a:cs typeface="Cambria Math"/>
                                      </a:rPr>
                                    </m:ctrlPr>
                                  </m:dPr>
                                  <m:e>
                                    <m:sSub>
                                      <m:e>
                                        <m:r>
                                          <a:rPr lang="en-US" sz="1800" dirty="0">
                                            <a:solidFill>
                                              <a:srgbClr val="10243A"/>
                                            </a:solidFill>
                                            <a:latin typeface="Cambria Math"/>
                                            <a:ea typeface="Cambria Math"/>
                                            <a:cs typeface="Cambria Math"/>
                                          </a:rPr>
                                          <m:t>π</m:t>
                                        </m:r>
                                      </m:e>
                                      <m:sub>
                                        <m:r>
                                          <a:rPr lang="en-US" sz="1800" dirty="0">
                                            <a:solidFill>
                                              <a:srgbClr val="10243A"/>
                                            </a:solidFill>
                                            <a:latin typeface="Cambria Math"/>
                                            <a:ea typeface="Cambria Math"/>
                                            <a:cs typeface="Cambria Math"/>
                                          </a:rPr>
                                          <m:t>2</m:t>
                                        </m:r>
                                      </m:sub>
                                    </m:sSub>
                                    <m:d>
                                      <m:dPr>
                                        <m:begChr m:val="("/>
                                        <m:sepChr m:val=""/>
                                        <m:endChr m:val=")"/>
                                        <m:grow m:val="on"/>
                                        <m:ctrlPr>
                                          <a:rPr lang="en-US" sz="1800" dirty="0">
                                            <a:solidFill>
                                              <a:srgbClr val="10243A"/>
                                            </a:solidFill>
                                            <a:latin typeface="Cambria Math"/>
                                            <a:ea typeface="Cambria Math"/>
                                            <a:cs typeface="Cambria Math"/>
                                          </a:rPr>
                                        </m:ctrlPr>
                                      </m:dPr>
                                      <m:e>
                                        <m:r>
                                          <a:rPr lang="en-US" sz="1800" dirty="0">
                                            <a:solidFill>
                                              <a:srgbClr val="10243A"/>
                                            </a:solidFill>
                                            <a:latin typeface="Cambria Math"/>
                                            <a:ea typeface="Cambria Math"/>
                                            <a:cs typeface="Cambria Math"/>
                                          </a:rPr>
                                          <m:t>v</m:t>
                                        </m:r>
                                      </m:e>
                                    </m:d>
                                    <m:r>
                                      <m:rPr>
                                        <m:sty m:val="p"/>
                                      </m:rPr>
                                      <a:rPr lang="en-US" sz="1800" dirty="0">
                                        <a:solidFill>
                                          <a:srgbClr val="10243A"/>
                                        </a:solidFill>
                                        <a:latin typeface="Cambria Math"/>
                                        <a:ea typeface="Cambria Math"/>
                                        <a:cs typeface="Cambria Math"/>
                                      </a:rPr>
                                      <m:t>+</m:t>
                                    </m:r>
                                    <m:r>
                                      <a:rPr lang="en-US" sz="1800" dirty="0">
                                        <a:solidFill>
                                          <a:srgbClr val="10243A"/>
                                        </a:solidFill>
                                        <a:latin typeface="Cambria Math"/>
                                        <a:ea typeface="Cambria Math"/>
                                        <a:cs typeface="Cambria Math"/>
                                      </a:rPr>
                                      <m:t>ω</m:t>
                                    </m:r>
                                    <m:sSub>
                                      <m:e>
                                        <m:r>
                                          <a:rPr lang="en-US" sz="1800" dirty="0">
                                            <a:solidFill>
                                              <a:srgbClr val="10243A"/>
                                            </a:solidFill>
                                            <a:latin typeface="Cambria Math"/>
                                            <a:ea typeface="Cambria Math"/>
                                            <a:cs typeface="Cambria Math"/>
                                          </a:rPr>
                                          <m:t>r</m:t>
                                        </m:r>
                                      </m:e>
                                      <m:sub>
                                        <m:r>
                                          <a:rPr lang="en-US" sz="1800" dirty="0">
                                            <a:solidFill>
                                              <a:srgbClr val="10243A"/>
                                            </a:solidFill>
                                            <a:latin typeface="Cambria Math"/>
                                            <a:ea typeface="Cambria Math"/>
                                            <a:cs typeface="Cambria Math"/>
                                          </a:rPr>
                                          <m:t>2</m:t>
                                        </m:r>
                                      </m:sub>
                                    </m:sSub>
                                    <m:d>
                                      <m:dPr>
                                        <m:begChr m:val="("/>
                                        <m:sepChr m:val=""/>
                                        <m:endChr m:val=")"/>
                                        <m:grow m:val="on"/>
                                        <m:ctrlPr>
                                          <a:rPr lang="en-US" sz="1800" dirty="0">
                                            <a:solidFill>
                                              <a:srgbClr val="10243A"/>
                                            </a:solidFill>
                                            <a:latin typeface="Cambria Math"/>
                                            <a:ea typeface="Cambria Math"/>
                                            <a:cs typeface="Cambria Math"/>
                                          </a:rPr>
                                        </m:ctrlPr>
                                      </m:dPr>
                                      <m:e>
                                        <m:r>
                                          <a:rPr lang="en-US" sz="1800" dirty="0">
                                            <a:solidFill>
                                              <a:srgbClr val="10243A"/>
                                            </a:solidFill>
                                            <a:latin typeface="Cambria Math"/>
                                            <a:ea typeface="Cambria Math"/>
                                            <a:cs typeface="Cambria Math"/>
                                          </a:rPr>
                                          <m:t>v</m:t>
                                        </m:r>
                                      </m:e>
                                    </m:d>
                                    <m:r>
                                      <m:rPr>
                                        <m:sty m:val="p"/>
                                      </m:rPr>
                                      <a:rPr lang="en-US" sz="1800" dirty="0">
                                        <a:solidFill>
                                          <a:srgbClr val="10243A"/>
                                        </a:solidFill>
                                        <a:latin typeface="Cambria Math"/>
                                        <a:ea typeface="Cambria Math"/>
                                        <a:cs typeface="Cambria Math"/>
                                      </a:rPr>
                                      <m:t>+</m:t>
                                    </m:r>
                                    <m:r>
                                      <a:rPr lang="en-US" sz="1800" dirty="0">
                                        <a:solidFill>
                                          <a:srgbClr val="10243A"/>
                                        </a:solidFill>
                                        <a:latin typeface="Cambria Math"/>
                                        <a:ea typeface="Cambria Math"/>
                                        <a:cs typeface="Cambria Math"/>
                                      </a:rPr>
                                      <m:t>ωνu</m:t>
                                    </m:r>
                                    <m:d>
                                      <m:dPr>
                                        <m:begChr m:val="("/>
                                        <m:sepChr m:val=""/>
                                        <m:endChr m:val=")"/>
                                        <m:grow m:val="on"/>
                                        <m:ctrlPr>
                                          <a:rPr lang="en-US" sz="1800" dirty="0">
                                            <a:solidFill>
                                              <a:srgbClr val="10243A"/>
                                            </a:solidFill>
                                            <a:latin typeface="Cambria Math"/>
                                            <a:ea typeface="Cambria Math"/>
                                            <a:cs typeface="Cambria Math"/>
                                          </a:rPr>
                                        </m:ctrlPr>
                                      </m:dPr>
                                      <m:e>
                                        <m:r>
                                          <a:rPr lang="en-US" sz="1800" dirty="0">
                                            <a:solidFill>
                                              <a:srgbClr val="10243A"/>
                                            </a:solidFill>
                                            <a:latin typeface="Cambria Math"/>
                                            <a:ea typeface="Cambria Math"/>
                                            <a:cs typeface="Cambria Math"/>
                                          </a:rPr>
                                          <m:t>v</m:t>
                                        </m:r>
                                      </m:e>
                                    </m:d>
                                  </m:e>
                                </m:d>
                              </m:e>
                            </m:func>
                          </m:e>
                        </m:func>
                      </m:oMath>
                    </m:oMathPara>
                  </a14:m>
                </a:p>
              </p:txBody>
            </p:sp>
          </mc:Choice>
        </mc:AlternateContent>
      </p:grpSp>
      <mc:AlternateContent xmlns:mc="http://schemas.openxmlformats.org/markup-compatibility/2006">
        <mc:Choice xmlns:a14="http://schemas.microsoft.com/office/drawing/2010/main" Requires="a14">
          <p:sp>
            <p:nvSpPr>
              <p:cNvPr id="15" name="uncertainty"/>
              <p:cNvSpPr txBox="1">
                <a:spLocks noGrp="1"/>
              </p:cNvSpPr>
              <p:nvPr/>
            </p:nvSpPr>
            <p:spPr>
              <a:xfrm>
                <a:off x="609600" y="4238625"/>
                <a:ext cx="3667125"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100" dirty="0">
                          <a:solidFill>
                            <a:srgbClr val="10243A"/>
                          </a:solidFill>
                          <a:latin typeface="Cambria Math"/>
                          <a:ea typeface="Cambria Math"/>
                          <a:cs typeface="Cambria Math"/>
                        </a:rPr>
                        <m:t>u</m:t>
                      </m:r>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r>
                        <m:rPr>
                          <m:sty m:val="p"/>
                        </m:rPr>
                        <a:rPr lang="en-US" sz="2100" dirty="0">
                          <a:solidFill>
                            <a:srgbClr val="10243A"/>
                          </a:solidFill>
                          <a:latin typeface="Cambria Math"/>
                          <a:ea typeface="Cambria Math"/>
                          <a:cs typeface="Cambria Math"/>
                        </a:rPr>
                        <m:t>=</m:t>
                      </m:r>
                      <m:rad>
                        <m:radPr>
                          <m:degHide m:val="on"/>
                          <m:ctrlPr>
                            <a:rPr lang="en-US" sz="2100" dirty="0">
                              <a:solidFill>
                                <a:srgbClr val="10243A"/>
                              </a:solidFill>
                              <a:latin typeface="Cambria Math"/>
                              <a:ea typeface="Cambria Math"/>
                              <a:cs typeface="Cambria Math"/>
                            </a:rPr>
                          </m:ctrlPr>
                        </m:radPr>
                        <m:deg/>
                        <m:e>
                          <m:r>
                            <a:rPr lang="en-US" sz="2100" dirty="0">
                              <a:solidFill>
                                <a:srgbClr val="10243A"/>
                              </a:solidFill>
                              <a:latin typeface="Cambria Math"/>
                              <a:ea typeface="Cambria Math"/>
                              <a:cs typeface="Cambria Math"/>
                            </a:rPr>
                            <m:t>z</m:t>
                          </m:r>
                          <m:sSup>
                            <m:e>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e>
                            <m:sup>
                              <m:r>
                                <m:rPr>
                                  <m:sty m:val="p"/>
                                </m:rPr>
                                <a:rPr lang="en-US" sz="2100" dirty="0">
                                  <a:solidFill>
                                    <a:srgbClr val="10243A"/>
                                  </a:solidFill>
                                  <a:latin typeface="Cambria Math"/>
                                  <a:ea typeface="Cambria Math"/>
                                  <a:cs typeface="Cambria Math"/>
                                </a:rPr>
                                <m:t>⊤</m:t>
                              </m:r>
                            </m:sup>
                          </m:sSup>
                          <m:sSup>
                            <m:e>
                              <m:r>
                                <a:rPr lang="en-US" sz="2100" dirty="0">
                                  <a:solidFill>
                                    <a:srgbClr val="10243A"/>
                                  </a:solidFill>
                                  <a:latin typeface="Cambria Math"/>
                                  <a:ea typeface="Cambria Math"/>
                                  <a:cs typeface="Cambria Math"/>
                                </a:rPr>
                                <m:t>V</m:t>
                              </m:r>
                            </m:e>
                            <m:sup>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p>
                          </m:sSup>
                          <m:r>
                            <a:rPr lang="en-US" sz="2100" dirty="0">
                              <a:solidFill>
                                <a:srgbClr val="10243A"/>
                              </a:solidFill>
                              <a:latin typeface="Cambria Math"/>
                              <a:ea typeface="Cambria Math"/>
                              <a:cs typeface="Cambria Math"/>
                            </a:rPr>
                            <m:t>z</m:t>
                          </m:r>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e>
                      </m:rad>
                    </m:oMath>
                  </m:oMathPara>
                </a14:m>
              </a:p>
            </p:txBody>
          </p:sp>
        </mc:Choice>
      </mc:AlternateContent>
      <mc:AlternateContent xmlns:mc="http://schemas.openxmlformats.org/markup-compatibility/2006">
        <mc:Choice xmlns:a14="http://schemas.microsoft.com/office/drawing/2010/main" Requires="a14">
          <p:sp>
            <p:nvSpPr>
              <p:cNvPr id="16" name="gradient-difference"/>
              <p:cNvSpPr txBox="1">
                <a:spLocks noGrp="1"/>
              </p:cNvSpPr>
              <p:nvPr/>
            </p:nvSpPr>
            <p:spPr>
              <a:xfrm>
                <a:off x="4495800" y="4238625"/>
                <a:ext cx="708660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1950" dirty="0">
                          <a:solidFill>
                            <a:srgbClr val="10243A"/>
                          </a:solidFill>
                          <a:latin typeface="Cambria Math"/>
                          <a:ea typeface="Cambria Math"/>
                          <a:cs typeface="Cambria Math"/>
                        </a:rPr>
                        <m:t>z</m:t>
                      </m:r>
                      <m:d>
                        <m:dPr>
                          <m:begChr m:val="("/>
                          <m:sepChr m:val=""/>
                          <m:endChr m:val=")"/>
                          <m:grow m:val="on"/>
                          <m:ctrlPr>
                            <a:rPr lang="en-US" sz="1950" dirty="0">
                              <a:solidFill>
                                <a:srgbClr val="10243A"/>
                              </a:solidFill>
                              <a:latin typeface="Cambria Math"/>
                              <a:ea typeface="Cambria Math"/>
                              <a:cs typeface="Cambria Math"/>
                            </a:rPr>
                          </m:ctrlPr>
                        </m:dPr>
                        <m:e>
                          <m:r>
                            <a:rPr lang="en-US" sz="1950" dirty="0">
                              <a:solidFill>
                                <a:srgbClr val="10243A"/>
                              </a:solidFill>
                              <a:latin typeface="Cambria Math"/>
                              <a:ea typeface="Cambria Math"/>
                              <a:cs typeface="Cambria Math"/>
                            </a:rPr>
                            <m:t>v</m:t>
                          </m:r>
                        </m:e>
                      </m:d>
                      <m:r>
                        <m:rPr>
                          <m:sty m:val="p"/>
                        </m:rPr>
                        <a:rPr lang="en-US" sz="1950" dirty="0">
                          <a:solidFill>
                            <a:srgbClr val="10243A"/>
                          </a:solidFill>
                          <a:latin typeface="Cambria Math"/>
                          <a:ea typeface="Cambria Math"/>
                          <a:cs typeface="Cambria Math"/>
                        </a:rPr>
                        <m:t>=</m:t>
                      </m:r>
                      <m:sSub>
                        <m:e>
                          <m:r>
                            <m:rPr>
                              <m:sty m:val="p"/>
                            </m:rPr>
                            <a:rPr lang="en-US" sz="1950" dirty="0">
                              <a:solidFill>
                                <a:srgbClr val="10243A"/>
                              </a:solidFill>
                              <a:latin typeface="Cambria Math"/>
                              <a:ea typeface="Cambria Math"/>
                              <a:cs typeface="Cambria Math"/>
                            </a:rPr>
                            <m:t>∇</m:t>
                          </m:r>
                        </m:e>
                        <m:sub>
                          <m:r>
                            <a:rPr lang="en-US" sz="1950" dirty="0">
                              <a:solidFill>
                                <a:srgbClr val="10243A"/>
                              </a:solidFill>
                              <a:latin typeface="Cambria Math"/>
                              <a:ea typeface="Cambria Math"/>
                              <a:cs typeface="Cambria Math"/>
                            </a:rPr>
                            <m:t>θ</m:t>
                          </m:r>
                        </m:sub>
                      </m:sSub>
                      <m:sSub>
                        <m:e>
                          <m:r>
                            <a:rPr lang="en-US" sz="1950" dirty="0">
                              <a:solidFill>
                                <a:srgbClr val="10243A"/>
                              </a:solidFill>
                              <a:latin typeface="Cambria Math"/>
                              <a:ea typeface="Cambria Math"/>
                              <a:cs typeface="Cambria Math"/>
                            </a:rPr>
                            <m:t>r</m:t>
                          </m:r>
                        </m:e>
                        <m:sub>
                          <m:r>
                            <a:rPr lang="en-US" sz="1950" dirty="0">
                              <a:solidFill>
                                <a:srgbClr val="10243A"/>
                              </a:solidFill>
                              <a:latin typeface="Cambria Math"/>
                              <a:ea typeface="Cambria Math"/>
                              <a:cs typeface="Cambria Math"/>
                            </a:rPr>
                            <m:t>2</m:t>
                          </m:r>
                        </m:sub>
                      </m:sSub>
                      <m:d>
                        <m:dPr>
                          <m:begChr m:val="("/>
                          <m:sepChr m:val=""/>
                          <m:endChr m:val=")"/>
                          <m:grow m:val="on"/>
                          <m:ctrlPr>
                            <a:rPr lang="en-US" sz="1950" dirty="0">
                              <a:solidFill>
                                <a:srgbClr val="10243A"/>
                              </a:solidFill>
                              <a:latin typeface="Cambria Math"/>
                              <a:ea typeface="Cambria Math"/>
                              <a:cs typeface="Cambria Math"/>
                            </a:rPr>
                          </m:ctrlPr>
                        </m:dPr>
                        <m:e>
                          <m:r>
                            <a:rPr lang="en-US" sz="1950" dirty="0">
                              <a:solidFill>
                                <a:srgbClr val="10243A"/>
                              </a:solidFill>
                              <a:latin typeface="Cambria Math"/>
                              <a:ea typeface="Cambria Math"/>
                              <a:cs typeface="Cambria Math"/>
                            </a:rPr>
                            <m:t>v</m:t>
                          </m:r>
                        </m:e>
                      </m:d>
                      <m:r>
                        <m:rPr>
                          <m:sty m:val="p"/>
                        </m:rPr>
                        <a:rPr lang="en-US" sz="1950" dirty="0">
                          <a:solidFill>
                            <a:srgbClr val="10243A"/>
                          </a:solidFill>
                          <a:latin typeface="Cambria Math"/>
                          <a:ea typeface="Cambria Math"/>
                          <a:cs typeface="Cambria Math"/>
                        </a:rPr>
                        <m:t>−</m:t>
                      </m:r>
                      <m:sSub>
                        <m:e>
                          <m:r>
                            <m:rPr>
                              <m:sty m:val="p"/>
                            </m:rPr>
                            <a:rPr lang="en-US" sz="1950" dirty="0">
                              <a:solidFill>
                                <a:srgbClr val="10243A"/>
                              </a:solidFill>
                              <a:latin typeface="Cambria Math"/>
                              <a:ea typeface="Cambria Math"/>
                              <a:cs typeface="Cambria Math"/>
                            </a:rPr>
                            <m:t>∇</m:t>
                          </m:r>
                        </m:e>
                        <m:sub>
                          <m:r>
                            <a:rPr lang="en-US" sz="1950" dirty="0">
                              <a:solidFill>
                                <a:srgbClr val="10243A"/>
                              </a:solidFill>
                              <a:latin typeface="Cambria Math"/>
                              <a:ea typeface="Cambria Math"/>
                              <a:cs typeface="Cambria Math"/>
                            </a:rPr>
                            <m:t>θ</m:t>
                          </m:r>
                        </m:sub>
                      </m:sSub>
                      <m:sSub>
                        <m:e>
                          <m:r>
                            <a:rPr lang="en-US" sz="1950" dirty="0">
                              <a:solidFill>
                                <a:srgbClr val="10243A"/>
                              </a:solidFill>
                              <a:latin typeface="Cambria Math"/>
                              <a:ea typeface="Cambria Math"/>
                              <a:cs typeface="Cambria Math"/>
                            </a:rPr>
                            <m:t>r</m:t>
                          </m:r>
                        </m:e>
                        <m:sub>
                          <m:r>
                            <a:rPr lang="en-US" sz="1950" dirty="0">
                              <a:solidFill>
                                <a:srgbClr val="10243A"/>
                              </a:solidFill>
                              <a:latin typeface="Cambria Math"/>
                              <a:ea typeface="Cambria Math"/>
                              <a:cs typeface="Cambria Math"/>
                            </a:rPr>
                            <m:t>1</m:t>
                          </m:r>
                        </m:sub>
                      </m:sSub>
                      <m:d>
                        <m:dPr>
                          <m:begChr m:val="("/>
                          <m:sepChr m:val=""/>
                          <m:endChr m:val=")"/>
                          <m:grow m:val="on"/>
                          <m:ctrlPr>
                            <a:rPr lang="en-US" sz="1950" dirty="0">
                              <a:solidFill>
                                <a:srgbClr val="10243A"/>
                              </a:solidFill>
                              <a:latin typeface="Cambria Math"/>
                              <a:ea typeface="Cambria Math"/>
                              <a:cs typeface="Cambria Math"/>
                            </a:rPr>
                          </m:ctrlPr>
                        </m:dPr>
                        <m:e>
                          <m:sSubSup>
                            <m:e>
                              <m:r>
                                <a:rPr lang="en-US" sz="1950" dirty="0">
                                  <a:solidFill>
                                    <a:srgbClr val="10243A"/>
                                  </a:solidFill>
                                  <a:latin typeface="Cambria Math"/>
                                  <a:ea typeface="Cambria Math"/>
                                  <a:cs typeface="Cambria Math"/>
                                </a:rPr>
                                <m:t>v</m:t>
                              </m:r>
                            </m:e>
                            <m:sub>
                              <m:r>
                                <a:rPr lang="en-US" sz="1950" dirty="0">
                                  <a:solidFill>
                                    <a:srgbClr val="10243A"/>
                                  </a:solidFill>
                                  <a:latin typeface="Cambria Math"/>
                                  <a:ea typeface="Cambria Math"/>
                                  <a:cs typeface="Cambria Math"/>
                                </a:rPr>
                                <m:t>1</m:t>
                              </m:r>
                            </m:sub>
                            <m:sup>
                              <m:r>
                                <m:rPr>
                                  <m:sty m:val="p"/>
                                </m:rPr>
                                <a:rPr lang="en-US" sz="1950" dirty="0">
                                  <a:solidFill>
                                    <a:srgbClr val="10243A"/>
                                  </a:solidFill>
                                  <a:latin typeface="Cambria Math"/>
                                  <a:ea typeface="Cambria Math"/>
                                  <a:cs typeface="Cambria Math"/>
                                </a:rPr>
                                <m:t>⋆</m:t>
                              </m:r>
                            </m:sup>
                          </m:sSubSup>
                        </m:e>
                      </m:d>
                      <m:r>
                        <m:rPr>
                          <m:sty m:val="p"/>
                        </m:rPr>
                        <a:rPr lang="en-US" sz="1950" dirty="0">
                          <a:solidFill>
                            <a:srgbClr val="10243A"/>
                          </a:solidFill>
                          <a:latin typeface="Cambria Math"/>
                          <a:ea typeface="Cambria Math"/>
                          <a:cs typeface="Cambria Math"/>
                        </a:rPr>
                        <m:t>∈</m:t>
                      </m:r>
                      <m:sSup>
                        <m:e>
                          <m:r>
                            <m:rPr>
                              <m:scr m:val="double-struck"/>
                              <m:sty m:val="p"/>
                            </m:rPr>
                            <a:rPr lang="en-US" sz="1950" dirty="0">
                              <a:solidFill>
                                <a:srgbClr val="10243A"/>
                              </a:solidFill>
                              <a:latin typeface="Cambria Math"/>
                              <a:ea typeface="Cambria Math"/>
                              <a:cs typeface="Cambria Math"/>
                            </a:rPr>
                            <m:t>R</m:t>
                          </m:r>
                        </m:e>
                        <m:sup>
                          <m:r>
                            <a:rPr lang="en-US" sz="1950" dirty="0">
                              <a:solidFill>
                                <a:srgbClr val="10243A"/>
                              </a:solidFill>
                              <a:latin typeface="Cambria Math"/>
                              <a:ea typeface="Cambria Math"/>
                              <a:cs typeface="Cambria Math"/>
                            </a:rPr>
                            <m:t>P</m:t>
                          </m:r>
                        </m:sup>
                      </m:sSup>
                    </m:oMath>
                  </m:oMathPara>
                </a14:m>
              </a:p>
            </p:txBody>
          </p:sp>
        </mc:Choice>
      </mc:AlternateContent>
      <p:grpSp>
        <p:nvGrpSpPr>
          <p:cNvPr id="18" name="uncertainty-meaning"/>
          <p:cNvGrpSpPr/>
          <p:nvPr/>
        </p:nvGrpSpPr>
        <p:grpSpPr>
          <a:xfrm>
            <a:off x="601218" y="4946332"/>
            <a:ext cx="9248429" cy="322707"/>
            <a:chOff x="601218" y="4946332"/>
            <a:chExt cx="9248429" cy="322707"/>
          </a:xfrm>
        </p:grpSpPr>
        <p:sp>
          <p:nvSpPr>
            <p:cNvPr id="17" name="TextBox 17"/>
            <p:cNvSpPr txBox="1"/>
            <p:nvPr/>
          </p:nvSpPr>
          <p:spPr>
            <a:xfrm>
              <a:off x="601218" y="4946332"/>
              <a:ext cx="924842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P = RM parameter count. V tracks covered directions; the reference is the exploitation winner.</a:t>
              </a:r>
            </a:p>
          </p:txBody>
        </p:sp>
      </p:grpSp>
      <mc:AlternateContent xmlns:mc="http://schemas.openxmlformats.org/markup-compatibility/2006">
        <mc:Choice xmlns:a14="http://schemas.microsoft.com/office/drawing/2010/main" Requires="a14">
          <p:sp>
            <p:nvSpPr>
              <p:cNvPr id="19" name="state-update"/>
              <p:cNvSpPr txBox="1">
                <a:spLocks noGrp="1"/>
              </p:cNvSpPr>
              <p:nvPr/>
            </p:nvSpPr>
            <p:spPr>
              <a:xfrm>
                <a:off x="609600" y="5286375"/>
                <a:ext cx="5181600" cy="6000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δ</m:t>
                      </m:r>
                      <m:sSup>
                        <m:e>
                          <m:r>
                            <a:rPr lang="en-US" sz="2100" dirty="0">
                              <a:solidFill>
                                <a:srgbClr val="10243A"/>
                              </a:solidFill>
                              <a:latin typeface="Cambria Math"/>
                              <a:ea typeface="Cambria Math"/>
                              <a:cs typeface="Cambria Math"/>
                            </a:rPr>
                            <m:t>δ</m:t>
                          </m:r>
                        </m:e>
                        <m:sup>
                          <m:r>
                            <m:rPr>
                              <m:sty m:val="p"/>
                            </m:rPr>
                            <a:rPr lang="en-US" sz="2100" dirty="0">
                              <a:solidFill>
                                <a:srgbClr val="10243A"/>
                              </a:solidFill>
                              <a:latin typeface="Cambria Math"/>
                              <a:ea typeface="Cambria Math"/>
                              <a:cs typeface="Cambria Math"/>
                            </a:rPr>
                            <m:t>⊤</m:t>
                          </m:r>
                        </m:sup>
                      </m:sSup>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 xml:space="preserve"> </m:t>
                      </m:r>
                      <m:r>
                        <a:rPr lang="en-US" sz="2100" dirty="0">
                          <a:solidFill>
                            <a:srgbClr val="10243A"/>
                          </a:solidFill>
                          <a:latin typeface="Cambria Math"/>
                          <a:ea typeface="Cambria Math"/>
                          <a:cs typeface="Cambria Math"/>
                        </a:rPr>
                        <m:t>δ</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z</m:t>
                      </m:r>
                      <m:d>
                        <m:dPr>
                          <m:begChr m:val="("/>
                          <m:sepChr m:val=""/>
                          <m:endChr m:val=")"/>
                          <m:grow m:val="on"/>
                          <m:ctrlPr>
                            <a:rPr lang="en-US" sz="2100" dirty="0">
                              <a:solidFill>
                                <a:srgbClr val="10243A"/>
                              </a:solidFill>
                              <a:latin typeface="Cambria Math"/>
                              <a:ea typeface="Cambria Math"/>
                              <a:cs typeface="Cambria Math"/>
                            </a:rPr>
                          </m:ctrlPr>
                        </m:dPr>
                        <m:e>
                          <m:sSubSup>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2</m:t>
                              </m:r>
                            </m:sub>
                            <m:sup>
                              <m:r>
                                <m:rPr>
                                  <m:sty m:val="p"/>
                                </m:rPr>
                                <a:rPr lang="en-US" sz="2100" dirty="0">
                                  <a:solidFill>
                                    <a:srgbClr val="10243A"/>
                                  </a:solidFill>
                                  <a:latin typeface="Cambria Math"/>
                                  <a:ea typeface="Cambria Math"/>
                                  <a:cs typeface="Cambria Math"/>
                                </a:rPr>
                                <m:t>⋆</m:t>
                              </m:r>
                            </m:sup>
                          </m:sSubSup>
                        </m:e>
                      </m:d>
                    </m:oMath>
                  </m:oMathPara>
                </a14:m>
              </a:p>
            </p:txBody>
          </p:sp>
        </mc:Choice>
      </mc:AlternateContent>
      <p:grpSp>
        <p:nvGrpSpPr>
          <p:cNvPr id="21" name="update-timing"/>
          <p:cNvGrpSpPr/>
          <p:nvPr/>
        </p:nvGrpSpPr>
        <p:grpSpPr>
          <a:xfrm>
            <a:off x="6087618" y="5336858"/>
            <a:ext cx="3964979" cy="608457"/>
            <a:chOff x="6087618" y="5336858"/>
            <a:chExt cx="3964979" cy="608457"/>
          </a:xfrm>
        </p:grpSpPr>
        <p:sp>
          <p:nvSpPr>
            <p:cNvPr id="20" name="TextBox 20"/>
            <p:cNvSpPr txBox="1"/>
            <p:nvPr/>
          </p:nvSpPr>
          <p:spPr>
            <a:xfrm>
              <a:off x="6087618" y="5336858"/>
              <a:ext cx="3964979" cy="608457"/>
            </a:xfrm>
            <a:prstGeom prst="rect">
              <a:avLst/>
            </a:prstGeom>
            <a:noFill/>
            <a:ln>
              <a:noFill/>
            </a:ln>
          </p:spPr>
          <p:txBody>
            <a:bodyPr wrap="none" lIns="0" tIns="0" rIns="0" bIns="0" anchor="t" anchorCtr="0">
              <a:spAutoFit/>
            </a:bodyPr>
            <a:lstStyle/>
            <a:p>
              <a:pPr algn="l">
                <a:lnSpc>
                  <a:spcPts val="2250"/>
                </a:lnSpc>
              </a:pPr>
              <a:r>
                <a:rPr lang="el-GR" sz="1650" dirty="0">
                  <a:solidFill>
                    <a:schemeClr val="accent1"/>
                  </a:solidFill>
                  <a:latin typeface="+mn-lt"/>
                  <a:ea typeface="+mn-ea"/>
                  <a:cs typeface="+mn-cs"/>
                </a:rPr>
                <a:t>Each token pair updates V, not θ.</a:t>
              </a:r>
              <a:br/>
              <a:r>
                <a:rPr lang="en-US" sz="1650" dirty="0">
                  <a:solidFill>
                    <a:schemeClr val="accent1"/>
                  </a:solidFill>
                  <a:latin typeface="+mn-lt"/>
                  <a:ea typeface="+mn-ea"/>
                  <a:cs typeface="+mn-cs"/>
                </a:rPr>
                <a:t>RM training waits for full-answer feedback.</a:t>
              </a:r>
            </a:p>
          </p:txBody>
        </p:sp>
      </p:grpSp>
      <p:grpSp>
        <p:nvGrpSpPr>
          <p:cNvPr id="23" name="repeat"/>
          <p:cNvGrpSpPr/>
          <p:nvPr/>
        </p:nvGrpSpPr>
        <p:grpSpPr>
          <a:xfrm>
            <a:off x="601218" y="6013132"/>
            <a:ext cx="7923399" cy="322707"/>
            <a:chOff x="601218" y="6013132"/>
            <a:chExt cx="7923399" cy="322707"/>
          </a:xfrm>
        </p:grpSpPr>
        <p:sp>
          <p:nvSpPr>
            <p:cNvPr id="22" name="TextBox 22"/>
            <p:cNvSpPr txBox="1"/>
            <p:nvPr/>
          </p:nvSpPr>
          <p:spPr>
            <a:xfrm>
              <a:off x="601218" y="6013132"/>
              <a:ext cx="792339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Append one token per branch and repeat until the answer pair is complete.</a:t>
              </a: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6853211"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Eqs. (1), (4)–(6); Algorithm 1 · δ uses the opposite sign to the printed algorithm; δδᵀ is identical.</a:t>
              </a: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379498" cy="971169"/>
            <a:chOff x="592836" y="461010"/>
            <a:chExt cx="9379498" cy="971169"/>
          </a:xfrm>
        </p:grpSpPr>
        <p:sp>
          <p:nvSpPr>
            <p:cNvPr id="2" name="TextBox 2"/>
            <p:cNvSpPr txBox="1"/>
            <p:nvPr/>
          </p:nvSpPr>
          <p:spPr>
            <a:xfrm>
              <a:off x="603504" y="461010"/>
              <a:ext cx="41470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EXPERIMENTS · MAIN RESULT AND TWO CHECKS</a:t>
              </a:r>
            </a:p>
          </p:txBody>
        </p:sp>
        <p:sp>
          <p:nvSpPr>
            <p:cNvPr id="3" name="TextBox 3"/>
            <p:cNvSpPr txBox="1"/>
            <p:nvPr/>
          </p:nvSpPr>
          <p:spPr>
            <a:xfrm>
              <a:off x="592836" y="786765"/>
              <a:ext cx="937949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Evidence: stronger alignment, uneven gains</a:t>
              </a:r>
            </a:p>
          </p:txBody>
        </p:sp>
      </p:grpSp>
      <p:grpSp>
        <p:nvGrpSpPr>
          <p:cNvPr id="6" name="metric"/>
          <p:cNvGrpSpPr/>
          <p:nvPr/>
        </p:nvGrpSpPr>
        <p:grpSpPr>
          <a:xfrm>
            <a:off x="601218" y="1717358"/>
            <a:ext cx="7174107" cy="322707"/>
            <a:chOff x="601218" y="1717358"/>
            <a:chExt cx="7174107" cy="322707"/>
          </a:xfrm>
        </p:grpSpPr>
        <p:sp>
          <p:nvSpPr>
            <p:cNvPr id="5" name="TextBox 5"/>
            <p:cNvSpPr txBox="1"/>
            <p:nvPr/>
          </p:nvSpPr>
          <p:spPr>
            <a:xfrm>
              <a:off x="601218" y="1717358"/>
              <a:ext cx="717410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ArmoRM score across four preference attributes · Higher is better.</a:t>
              </a:r>
            </a:p>
          </p:txBody>
        </p:sp>
      </p:grpSp>
      <p:graphicFrame>
        <p:nvGraphicFramePr>
          <p:cNvPr id="7" name="alignment-scores"/>
          <p:cNvGraphicFramePr>
            <a:graphicFrameLocks noGrp="1"/>
          </p:cNvGraphicFramePr>
          <p:nvPr/>
        </p:nvGraphicFramePr>
        <p:xfrm>
          <a:off x="609600" y="2266950"/>
          <a:ext cx="6743700" cy="2343150"/>
        </p:xfrm>
        <a:graphic>
          <a:graphicData uri="http://schemas.openxmlformats.org/drawingml/2006/table">
            <a:tbl>
              <a:tblPr firstRow="1" bandRow="0">
                <a:tableStyleId>{5C22544A-7EE6-4342-B048-85BDC9FD1C3A}</a:tableStyleId>
              </a:tblPr>
              <a:tblGrid>
                <a:gridCol w="2286000"/>
                <a:gridCol w="1390650"/>
                <a:gridCol w="1476375"/>
                <a:gridCol w="1590675"/>
              </a:tblGrid>
              <a:tr h="457200">
                <a:tc>
                  <a:txBody>
                    <a:bodyPr/>
                    <a:lstStyle/>
                    <a:p>
                      <a:pPr/>
                      <a:r>
                        <a:rPr lang="en-US" sz="1650" b="1">
                          <a:solidFill>
                            <a:schemeClr val="accent5"/>
                          </a:solidFill>
                          <a:latin typeface="Arial"/>
                          <a:ea typeface="Microsoft YaHei"/>
                          <a:cs typeface="Arial"/>
                        </a:rPr>
                        <a:t>Backbone</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Base</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AMULET</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rgbClr val="FFFFFF"/>
                          </a:solidFill>
                          <a:latin typeface="Arial"/>
                          <a:ea typeface="Microsoft YaHei"/>
                          <a:cs typeface="Arial"/>
                        </a:rPr>
                        <a:t>T-POP</a:t>
                      </a:r>
                    </a:p>
                  </a:txBody>
                  <a:tcPr anchor="ctr" marL="171450" marR="171450" marT="81915" marB="81915">
                    <a:lnL>
                      <a:noFill/>
                    </a:lnL>
                    <a:lnR>
                      <a:noFill/>
                    </a:lnR>
                    <a:lnT>
                      <a:noFill/>
                    </a:lnT>
                    <a:lnB w="9525">
                      <a:solidFill>
                        <a:schemeClr val="accent6"/>
                      </a:solidFill>
                      <a:prstDash val="solid"/>
                    </a:lnB>
                    <a:solidFill>
                      <a:schemeClr val="accent2"/>
                    </a:solidFill>
                  </a:tcPr>
                </a:tc>
              </a:tr>
              <a:tr h="628650">
                <a:tc>
                  <a:txBody>
                    <a:bodyPr/>
                    <a:lstStyle/>
                    <a:p>
                      <a:pPr/>
                      <a:r>
                        <a:rPr lang="en-US" sz="1800" b="0">
                          <a:solidFill>
                            <a:schemeClr val="dk1"/>
                          </a:solidFill>
                          <a:latin typeface="Arial"/>
                          <a:ea typeface="Microsoft YaHei"/>
                          <a:cs typeface="Arial"/>
                        </a:rPr>
                        <a:t>Mistral-7B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0.3550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0.4150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0.4975</a:t>
                      </a:r>
                    </a:p>
                  </a:txBody>
                  <a:tcPr anchor="ctr" marL="171450" marR="171450" marT="95250" marB="95250">
                    <a:lnL>
                      <a:noFill/>
                    </a:lnL>
                    <a:lnR>
                      <a:noFill/>
                    </a:lnR>
                    <a:lnT>
                      <a:noFill/>
                    </a:lnT>
                    <a:lnB w="9525">
                      <a:solidFill>
                        <a:schemeClr val="accent6"/>
                      </a:solidFill>
                      <a:prstDash val="solid"/>
                    </a:lnB>
                    <a:solidFill>
                      <a:srgbClr val="E6F2F3"/>
                    </a:solidFill>
                  </a:tcPr>
                </a:tc>
              </a:tr>
              <a:tr h="628650">
                <a:tc>
                  <a:txBody>
                    <a:bodyPr/>
                    <a:lstStyle/>
                    <a:p>
                      <a:pPr/>
                      <a:r>
                        <a:rPr lang="en-US" sz="1800" b="0">
                          <a:solidFill>
                            <a:schemeClr val="dk1"/>
                          </a:solidFill>
                          <a:latin typeface="Arial"/>
                          <a:ea typeface="Microsoft YaHei"/>
                          <a:cs typeface="Arial"/>
                        </a:rPr>
                        <a:t>Qwen2-7B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0.3575</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0.4100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0.5250</a:t>
                      </a:r>
                    </a:p>
                  </a:txBody>
                  <a:tcPr anchor="ctr" marL="171450" marR="171450" marT="95250" marB="95250">
                    <a:lnL>
                      <a:noFill/>
                    </a:lnL>
                    <a:lnR>
                      <a:noFill/>
                    </a:lnR>
                    <a:lnT>
                      <a:noFill/>
                    </a:lnT>
                    <a:lnB w="9525">
                      <a:solidFill>
                        <a:schemeClr val="accent6"/>
                      </a:solidFill>
                      <a:prstDash val="solid"/>
                    </a:lnB>
                    <a:solidFill>
                      <a:srgbClr val="E6F2F3"/>
                    </a:solidFill>
                  </a:tcPr>
                </a:tc>
              </a:tr>
              <a:tr h="628650">
                <a:tc>
                  <a:txBody>
                    <a:bodyPr/>
                    <a:lstStyle/>
                    <a:p>
                      <a:pPr/>
                      <a:r>
                        <a:rPr lang="en-US" sz="1800" b="0">
                          <a:solidFill>
                            <a:schemeClr val="dk1"/>
                          </a:solidFill>
                          <a:latin typeface="Arial"/>
                          <a:ea typeface="Microsoft YaHei"/>
                          <a:cs typeface="Arial"/>
                        </a:rPr>
                        <a:t>Llama-3.1-8B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0.3450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0.5325</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0.5350</a:t>
                      </a:r>
                    </a:p>
                  </a:txBody>
                  <a:tcPr anchor="ctr" marL="171450" marR="171450" marT="95250" marB="95250">
                    <a:lnL>
                      <a:noFill/>
                    </a:lnL>
                    <a:lnR>
                      <a:noFill/>
                    </a:lnR>
                    <a:lnT>
                      <a:noFill/>
                    </a:lnT>
                    <a:lnB w="9525">
                      <a:solidFill>
                        <a:schemeClr val="accent6"/>
                      </a:solidFill>
                      <a:prstDash val="solid"/>
                    </a:lnB>
                    <a:solidFill>
                      <a:srgbClr val="E6F2F3"/>
                    </a:solidFill>
                  </a:tcPr>
                </a:tc>
              </a:tr>
            </a:tbl>
          </a:graphicData>
        </a:graphic>
      </p:graphicFrame>
      <p:grpSp>
        <p:nvGrpSpPr>
          <p:cNvPr id="11" name="early-adaptation"/>
          <p:cNvGrpSpPr/>
          <p:nvPr/>
        </p:nvGrpSpPr>
        <p:grpSpPr>
          <a:xfrm>
            <a:off x="7780782" y="2241232"/>
            <a:ext cx="2977552" cy="1484757"/>
            <a:chOff x="7780782" y="2241232"/>
            <a:chExt cx="2977552" cy="1484757"/>
          </a:xfrm>
        </p:grpSpPr>
        <p:sp>
          <p:nvSpPr>
            <p:cNvPr id="8" name="TextBox 8"/>
            <p:cNvSpPr txBox="1"/>
            <p:nvPr/>
          </p:nvSpPr>
          <p:spPr>
            <a:xfrm>
              <a:off x="7783068" y="2241232"/>
              <a:ext cx="241587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EARLY ADAPTATION</a:t>
              </a:r>
            </a:p>
          </p:txBody>
        </p:sp>
        <p:sp>
          <p:nvSpPr>
            <p:cNvPr id="9" name="TextBox 9"/>
            <p:cNvSpPr txBox="1"/>
            <p:nvPr/>
          </p:nvSpPr>
          <p:spPr>
            <a:xfrm>
              <a:off x="7780782" y="2611755"/>
              <a:ext cx="2586350" cy="763143"/>
            </a:xfrm>
            <a:prstGeom prst="rect">
              <a:avLst/>
            </a:prstGeom>
            <a:noFill/>
            <a:ln>
              <a:noFill/>
            </a:ln>
          </p:spPr>
          <p:txBody>
            <a:bodyPr wrap="none" lIns="0" tIns="0" rIns="0" bIns="0" anchor="t" anchorCtr="0">
              <a:spAutoFit/>
            </a:bodyPr>
            <a:lstStyle/>
            <a:p>
              <a:pPr algn="l">
                <a:lnSpc>
                  <a:spcPts val="2775"/>
                </a:lnSpc>
              </a:pPr>
              <a:r>
                <a:rPr lang="en-US" sz="2100" dirty="0">
                  <a:solidFill>
                    <a:schemeClr val="dk1"/>
                  </a:solidFill>
                  <a:latin typeface="+mn-lt"/>
                  <a:ea typeface="+mn-ea"/>
                  <a:cs typeface="+mn-cs"/>
                </a:rPr>
                <a:t>Fast gains in the first</a:t>
              </a:r>
              <a:br/>
              <a:r>
                <a:rPr lang="en-US" sz="2100" dirty="0">
                  <a:solidFill>
                    <a:schemeClr val="dk1"/>
                  </a:solidFill>
                  <a:latin typeface="+mn-lt"/>
                  <a:ea typeface="+mn-ea"/>
                  <a:cs typeface="+mn-cs"/>
                </a:rPr>
                <a:t>20 interaction rounds.</a:t>
              </a:r>
            </a:p>
          </p:txBody>
        </p:sp>
        <p:sp>
          <p:nvSpPr>
            <p:cNvPr id="10" name="TextBox 10"/>
            <p:cNvSpPr txBox="1"/>
            <p:nvPr/>
          </p:nvSpPr>
          <p:spPr>
            <a:xfrm>
              <a:off x="7783068" y="3403282"/>
              <a:ext cx="297526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Fig. 2 · concise · two datasets</a:t>
              </a:r>
            </a:p>
          </p:txBody>
        </p:sp>
      </p:grpSp>
      <p:grpSp>
        <p:nvGrpSpPr>
          <p:cNvPr id="14" name="exploration-evidence"/>
          <p:cNvGrpSpPr/>
          <p:nvPr/>
        </p:nvGrpSpPr>
        <p:grpSpPr>
          <a:xfrm>
            <a:off x="7783068" y="3946208"/>
            <a:ext cx="2911364" cy="998981"/>
            <a:chOff x="7783068" y="3946208"/>
            <a:chExt cx="2911364" cy="998981"/>
          </a:xfrm>
        </p:grpSpPr>
        <p:sp>
          <p:nvSpPr>
            <p:cNvPr id="12" name="TextBox 12"/>
            <p:cNvSpPr txBox="1"/>
            <p:nvPr/>
          </p:nvSpPr>
          <p:spPr>
            <a:xfrm>
              <a:off x="7783068" y="3946208"/>
              <a:ext cx="291136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MATTERS</a:t>
              </a:r>
            </a:p>
          </p:txBody>
        </p:sp>
        <p:sp>
          <p:nvSpPr>
            <p:cNvPr id="13" name="TextBox 13"/>
            <p:cNvSpPr txBox="1"/>
            <p:nvPr/>
          </p:nvSpPr>
          <p:spPr>
            <a:xfrm>
              <a:off x="7783068" y="4317682"/>
              <a:ext cx="25327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Beats entropy / Boltzmann.</a:t>
              </a:r>
              <a:br/>
              <a:r>
                <a:rPr lang="en-US" sz="1650" dirty="0">
                  <a:solidFill>
                    <a:schemeClr val="dk1"/>
                  </a:solidFill>
                  <a:latin typeface="+mn-lt"/>
                  <a:ea typeface="+mn-ea"/>
                  <a:cs typeface="+mn-cs"/>
                </a:rPr>
                <a:t>Llama · Personal · concise</a:t>
              </a:r>
            </a:p>
          </p:txBody>
        </p:sp>
      </p:grpSp>
      <p:grpSp>
        <p:nvGrpSpPr>
          <p:cNvPr id="17" name="evidence-takeaway"/>
          <p:cNvGrpSpPr/>
          <p:nvPr/>
        </p:nvGrpSpPr>
        <p:grpSpPr>
          <a:xfrm>
            <a:off x="598932" y="5250180"/>
            <a:ext cx="7383871" cy="925068"/>
            <a:chOff x="598932" y="5250180"/>
            <a:chExt cx="7383871" cy="925068"/>
          </a:xfrm>
        </p:grpSpPr>
        <p:sp>
          <p:nvSpPr>
            <p:cNvPr id="15" name="TextBox 15"/>
            <p:cNvSpPr txBox="1"/>
            <p:nvPr/>
          </p:nvSpPr>
          <p:spPr>
            <a:xfrm>
              <a:off x="598932" y="5250180"/>
              <a:ext cx="609313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Qwen: +28.0% · Mistral: +19.9%</a:t>
              </a:r>
              <a:r>
                <a:rPr lang="en-US" sz="2100" dirty="0">
                  <a:solidFill>
                    <a:schemeClr val="accent1"/>
                  </a:solidFill>
                  <a:latin typeface="+mn-lt"/>
                  <a:ea typeface="+mn-ea"/>
                  <a:cs typeface="+mn-cs"/>
                </a:rPr>
                <a:t xml:space="preserve"> vs. AMULET.</a:t>
              </a:r>
            </a:p>
          </p:txBody>
        </p:sp>
        <p:sp>
          <p:nvSpPr>
            <p:cNvPr id="16" name="TextBox 16"/>
            <p:cNvSpPr txBox="1"/>
            <p:nvPr/>
          </p:nvSpPr>
          <p:spPr>
            <a:xfrm>
              <a:off x="598932" y="5764530"/>
              <a:ext cx="738387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Llama is near a tie; gains are not uniform across attributes.</a:t>
              </a: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72994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Table 1: means calculated from its four “Average” rows per model; Fig. 2; Table 8 (20-round ablation).</a:t>
              </a: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7452458" cy="971169"/>
            <a:chOff x="592836" y="461010"/>
            <a:chExt cx="7452458" cy="971169"/>
          </a:xfrm>
        </p:grpSpPr>
        <p:sp>
          <p:nvSpPr>
            <p:cNvPr id="2" name="TextBox 2"/>
            <p:cNvSpPr txBox="1"/>
            <p:nvPr/>
          </p:nvSpPr>
          <p:spPr>
            <a:xfrm>
              <a:off x="603504" y="461010"/>
              <a:ext cx="466828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DISCUSSION / INSIGHTS · LIMITATIONS · FUTURE WORK</a:t>
              </a:r>
            </a:p>
          </p:txBody>
        </p:sp>
        <p:sp>
          <p:nvSpPr>
            <p:cNvPr id="3" name="TextBox 3"/>
            <p:cNvSpPr txBox="1"/>
            <p:nvPr/>
          </p:nvSpPr>
          <p:spPr>
            <a:xfrm>
              <a:off x="592836" y="786765"/>
              <a:ext cx="745245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Insights, limits, and next questions</a:t>
              </a:r>
            </a:p>
          </p:txBody>
        </p:sp>
      </p:grpSp>
      <p:grpSp>
        <p:nvGrpSpPr>
          <p:cNvPr id="7" name="main-insight"/>
          <p:cNvGrpSpPr/>
          <p:nvPr/>
        </p:nvGrpSpPr>
        <p:grpSpPr>
          <a:xfrm>
            <a:off x="597408" y="1693545"/>
            <a:ext cx="9651538" cy="909828"/>
            <a:chOff x="597408" y="1693545"/>
            <a:chExt cx="9651538" cy="909828"/>
          </a:xfrm>
        </p:grpSpPr>
        <p:sp>
          <p:nvSpPr>
            <p:cNvPr id="5" name="TextBox 5"/>
            <p:cNvSpPr txBox="1"/>
            <p:nvPr/>
          </p:nvSpPr>
          <p:spPr>
            <a:xfrm>
              <a:off x="597408" y="1693545"/>
              <a:ext cx="965153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Learn a personal reward. Choose comparisons that improve it.</a:t>
              </a:r>
            </a:p>
          </p:txBody>
        </p:sp>
        <p:sp>
          <p:nvSpPr>
            <p:cNvPr id="6" name="TextBox 6"/>
            <p:cNvSpPr txBox="1"/>
            <p:nvPr/>
          </p:nvSpPr>
          <p:spPr>
            <a:xfrm>
              <a:off x="598932" y="2192655"/>
              <a:ext cx="854276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Data acquisition and generation form one loop, with the LLM frozen.</a:t>
              </a:r>
            </a:p>
          </p:txBody>
        </p:sp>
      </p:grpSp>
      <p:grpSp>
        <p:nvGrpSpPr>
          <p:cNvPr id="10" name="human-evidence"/>
          <p:cNvGrpSpPr/>
          <p:nvPr/>
        </p:nvGrpSpPr>
        <p:grpSpPr>
          <a:xfrm>
            <a:off x="598932" y="2926080"/>
            <a:ext cx="9584398" cy="637984"/>
            <a:chOff x="598932" y="2926080"/>
            <a:chExt cx="9584398" cy="637984"/>
          </a:xfrm>
        </p:grpSpPr>
        <p:sp>
          <p:nvSpPr>
            <p:cNvPr id="8" name="TextBox 8"/>
            <p:cNvSpPr txBox="1"/>
            <p:nvPr/>
          </p:nvSpPr>
          <p:spPr>
            <a:xfrm>
              <a:off x="598932" y="2926080"/>
              <a:ext cx="22140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Simulated users</a:t>
              </a:r>
            </a:p>
          </p:txBody>
        </p:sp>
        <p:sp>
          <p:nvSpPr>
            <p:cNvPr id="9" name="TextBox 9"/>
            <p:cNvSpPr txBox="1"/>
            <p:nvPr/>
          </p:nvSpPr>
          <p:spPr>
            <a:xfrm>
              <a:off x="3411093" y="2927032"/>
              <a:ext cx="6772237"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Main feedback is simulated; cross-judge checks remain model-mediated.</a:t>
              </a:r>
              <a:br/>
              <a:r>
                <a:rPr lang="en-US" sz="1650" dirty="0">
                  <a:solidFill>
                    <a:schemeClr val="dk1"/>
                  </a:solidFill>
                  <a:latin typeface="+mn-lt"/>
                  <a:ea typeface="+mn-ea"/>
                  <a:cs typeface="+mn-cs"/>
                </a:rPr>
                <a:t>Our next test: longitudinal studies with real users.</a:t>
              </a:r>
            </a:p>
          </p:txBody>
        </p:sp>
      </p:grpSp>
      <p:grpSp>
        <p:nvGrpSpPr>
          <p:cNvPr id="13" name="prefix-transfer"/>
          <p:cNvGrpSpPr/>
          <p:nvPr/>
        </p:nvGrpSpPr>
        <p:grpSpPr>
          <a:xfrm>
            <a:off x="598932" y="3840480"/>
            <a:ext cx="9351630" cy="637984"/>
            <a:chOff x="598932" y="3840480"/>
            <a:chExt cx="9351630" cy="637984"/>
          </a:xfrm>
        </p:grpSpPr>
        <p:sp>
          <p:nvSpPr>
            <p:cNvPr id="11" name="TextBox 11"/>
            <p:cNvSpPr txBox="1"/>
            <p:nvPr/>
          </p:nvSpPr>
          <p:spPr>
            <a:xfrm>
              <a:off x="598932" y="3840480"/>
              <a:ext cx="249641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Credit assignment</a:t>
              </a:r>
            </a:p>
          </p:txBody>
        </p:sp>
        <p:sp>
          <p:nvSpPr>
            <p:cNvPr id="12" name="TextBox 12"/>
            <p:cNvSpPr txBox="1"/>
            <p:nvPr/>
          </p:nvSpPr>
          <p:spPr>
            <a:xfrm>
              <a:off x="3411093" y="3841432"/>
              <a:ext cx="6539469"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Training labels compare full answers; decoding scores partial prefixes.</a:t>
              </a:r>
              <a:br/>
              <a:r>
                <a:rPr lang="en-US" sz="1650" dirty="0">
                  <a:solidFill>
                    <a:schemeClr val="dk1"/>
                  </a:solidFill>
                  <a:latin typeface="+mn-lt"/>
                  <a:ea typeface="+mn-ea"/>
                  <a:cs typeface="+mn-cs"/>
                </a:rPr>
                <a:t>Our next test: when does this supervision transfer reliably?</a:t>
              </a:r>
            </a:p>
          </p:txBody>
        </p:sp>
      </p:grpSp>
      <p:grpSp>
        <p:nvGrpSpPr>
          <p:cNvPr id="16" name="compute-cost"/>
          <p:cNvGrpSpPr/>
          <p:nvPr/>
        </p:nvGrpSpPr>
        <p:grpSpPr>
          <a:xfrm>
            <a:off x="598932" y="4754880"/>
            <a:ext cx="8815098" cy="637984"/>
            <a:chOff x="598932" y="4754880"/>
            <a:chExt cx="8815098" cy="637984"/>
          </a:xfrm>
        </p:grpSpPr>
        <p:sp>
          <p:nvSpPr>
            <p:cNvPr id="14" name="TextBox 14"/>
            <p:cNvSpPr txBox="1"/>
            <p:nvPr/>
          </p:nvSpPr>
          <p:spPr>
            <a:xfrm>
              <a:off x="598932" y="4754880"/>
              <a:ext cx="2166733"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Online compute</a:t>
              </a:r>
            </a:p>
          </p:txBody>
        </p:sp>
        <p:sp>
          <p:nvSpPr>
            <p:cNvPr id="15" name="TextBox 15"/>
            <p:cNvSpPr txBox="1"/>
            <p:nvPr/>
          </p:nvSpPr>
          <p:spPr>
            <a:xfrm>
              <a:off x="3411093" y="4755832"/>
              <a:ext cx="6002937"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Reported query latency: 23.26 s (T-POP) vs. 11.25 s (AMULET).</a:t>
              </a:r>
              <a:br/>
              <a:r>
                <a:rPr lang="en-US" sz="1650" dirty="0">
                  <a:solidFill>
                    <a:schemeClr val="dk1"/>
                  </a:solidFill>
                  <a:latin typeface="+mn-lt"/>
                  <a:ea typeface="+mn-ea"/>
                  <a:cs typeface="+mn-cs"/>
                </a:rPr>
                <a:t>Our next step: reduce the cost of repeated reward scoring.</a:t>
              </a:r>
            </a:p>
          </p:txBody>
        </p:sp>
      </p:grpSp>
      <p:grpSp>
        <p:nvGrpSpPr>
          <p:cNvPr id="19" name="future-work"/>
          <p:cNvGrpSpPr/>
          <p:nvPr/>
        </p:nvGrpSpPr>
        <p:grpSpPr>
          <a:xfrm>
            <a:off x="609600" y="5705475"/>
            <a:ext cx="10972800" cy="523875"/>
            <a:chOff x="609600" y="5705475"/>
            <a:chExt cx="10972800" cy="523875"/>
          </a:xfrm>
        </p:grpSpPr>
        <p:sp>
          <p:nvSpPr>
            <p:cNvPr id="17" name="Rectangle 17"/>
            <p:cNvSpPr/>
            <p:nvPr/>
          </p:nvSpPr>
          <p:spPr>
            <a:xfrm>
              <a:off x="609600" y="5705475"/>
              <a:ext cx="10972800" cy="523875"/>
            </a:xfrm>
            <a:prstGeom prst="rect">
              <a:avLst/>
            </a:prstGeom>
            <a:solidFill>
              <a:schemeClr val="lt2"/>
            </a:solidFill>
            <a:ln>
              <a:noFill/>
            </a:ln>
          </p:spPr>
        </p:sp>
        <p:sp>
          <p:nvSpPr>
            <p:cNvPr id="18" name="TextBox 18"/>
            <p:cNvSpPr txBox="1"/>
            <p:nvPr/>
          </p:nvSpPr>
          <p:spPr>
            <a:xfrm>
              <a:off x="771906" y="5854065"/>
              <a:ext cx="816404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Paper's future directions:</a:t>
              </a:r>
              <a:r>
                <a:rPr lang="en-US" sz="1800" dirty="0">
                  <a:solidFill>
                    <a:schemeClr val="accent1"/>
                  </a:solidFill>
                  <a:latin typeface="+mn-lt"/>
                  <a:ea typeface="+mn-ea"/>
                  <a:cs typeface="+mn-cs"/>
                </a:rPr>
                <a:t xml:space="preserve"> richer feedback and long-term preference shifts.</a:t>
              </a:r>
            </a:p>
          </p:txBody>
        </p:sp>
      </p:grpSp>
      <p:grpSp>
        <p:nvGrpSpPr>
          <p:cNvPr id="22" name="footer"/>
          <p:cNvGrpSpPr/>
          <p:nvPr/>
        </p:nvGrpSpPr>
        <p:grpSpPr>
          <a:xfrm>
            <a:off x="603504" y="6404610"/>
            <a:ext cx="10984992" cy="234696"/>
            <a:chOff x="603504" y="6404610"/>
            <a:chExt cx="10984992" cy="234696"/>
          </a:xfrm>
        </p:grpSpPr>
        <p:sp>
          <p:nvSpPr>
            <p:cNvPr id="20" name="TextBox 20"/>
            <p:cNvSpPr txBox="1"/>
            <p:nvPr/>
          </p:nvSpPr>
          <p:spPr>
            <a:xfrm>
              <a:off x="603504" y="6404610"/>
              <a:ext cx="684541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§7; Appendix B, C.3, C.6; Table 13 · “Our” items are discussion proposals, not reported results.</a:t>
              </a:r>
            </a:p>
          </p:txBody>
        </p:sp>
        <p:sp>
          <p:nvSpPr>
            <p:cNvPr id="21" name="TextBox 21"/>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POP_v2">
  <a:themeElements>
    <a:clrScheme name="TPOP_v2">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2">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POP_v2">
  <a:themeElements>
    <a:clrScheme name="TPOP_v2">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2">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2026-09-28T08:18:33Z</dcterms:created>
  <dcterms:modified xsi:type="dcterms:W3CDTF">2026-09-28T08:18:33Z</dcterms:modified>
  <cp:category/>
  <cp:contentStatus/>
</cp:coreProperties>
</file>